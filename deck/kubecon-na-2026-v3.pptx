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8" r:id="rId7"/>
    <p:sldId id="259" r:id="rId8"/>
    <p:sldId id="260" r:id="rId9"/>
    <p:sldId id="261" r:id="rId6"/>
    <p:sldId id="262" r:id="rId5"/>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6858000" cx="12192000"/>
  <p:notesSz cx="6858000" cy="9144000"/>
  <p:embeddedFontLst>
    <p:embeddedFont>
      <p:font typeface="Montserrat"/>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g4BA/UZBL+y+GJRU4m7UPD850u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font" Target="fonts/Montserrat-regular.fntdata"/><Relationship Id="rId11" Type="http://schemas.openxmlformats.org/officeDocument/2006/relationships/font" Target="fonts/Montserrat-bold.fntdata"/><Relationship Id="rId12" Type="http://schemas.openxmlformats.org/officeDocument/2006/relationships/font" Target="fonts/Montserrat-italic.fntdata"/><Relationship Id="rId13" Type="http://schemas.openxmlformats.org/officeDocument/2006/relationships/font" Target="fonts/Montserrat-boldItalic.fntdata"/><Relationship Id="rId14" Type="http://customschemas.google.com/relationships/presentationmetadata" Target="metadata"/><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2 starts here, 5 min total for 4a-4c. Every serious LLM server pre-allocates its KV cache pool at start-up. vLLM calls it --gpu-memory-utilization. So the framebuffer counter jumps to the configured fraction in the first 30 seconds and never moves again, whether the server is idle or melting. Our constrained pod shows 3.6 GB, the over-provisioned one 20.5 GB, both perfectly flat. The one with less memory is the one that will get into trouble, and this counter cannot tell you that.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 min. Open with the incident, not the architecture. p99 doubled at 02:14. You open three tabs: GPU util 95%, framebuffer 90% used, both flat for an hour. The model is healthy, the pods are Ready, nothing is throttled. Then the hook: across the industry the average production GPU runs at around 5% utilisation. Those two numbers come from the same counter. One says 'saturated', the other says 'idle', and neither tells you anything about the inference work. That is the black box.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GPU_UTIL means 'at least one kernel was running during the sample window'. A single thread spinning counts as 100%. Inference has two phases with opposite profiles: prefill is compute-bound (big matmuls over the prompt), decode is memory-bandwidth-bound (one token per step, re-reading the whole KV cache). Elastic measured a vLLM server at 99.8% engine-active while the tensor cores were busy 16.6% of the time and the memory bus 80.4%. Bandwidth-bound, not compute-saturated. The training world has moved to MFU and MBU, model FLOPs and bandwidth utilisation; 99% util with 15 to 40% MFU is normal. vLLM 0.30 can even emit MFU itself (--enable-mfu-metrics). The counter on your dashboard is the least informative one the hardware offers.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slide of vocabulary the room can take home. Left column: what most GPU dashboards show. Right column: what actually describes the work. SM_ACTIVE and SM_OCCUPANCY say how much of the compute is busy, DRAM_ACTIVE says whether you are bandwidth-bound, PIPE_TENSOR_ACTIVE whether the tensor cores are doing the matmuls, POWER vs TDP is the cheapest sanity check. And the punchline at the bottom: none of these counters know what a token is. The GPU cannot tell you about queue depth or KV cache pressure, because those are concepts of the serving framework, not the silicon.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3, 3 min for slides 5 to 6b. If you take one architectural idea home, take this one. DCGM knows which pod holds the GPU (via the kubelet pod-resources socket). Fluent Bit knows which pod wrote the log line. The OTel Collector stamps k8s.pod.name on every span. Nothing else is shared across the three. So you keep the pod name on every signal and you join at query time. Footnote for the people on newer clusters: Kubernetes 1.35 made Dynamic Resource Allocation stable, and dcgm-exporter 4.8.4 added a pod_uid label and ResourceSlice tracking because the old device-plugin mapping breaks under DRA. The idea survives, the plumbing changes.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dcgm-exporter in Kubernetes mode asks the kubelet which pod owns each GPU and stamps exported_pod on every counter. That gives you two things: which pod is on which GPU, and whether that silicon is busy. It does not give you why. On EKS Auto Mode you run the exporter standalone as a DaemonSet with the pod-resources hostPath, because the GPU Operator is not supported there. Seven counters in our counters.csv, and that smallness is deliberate, next slide explains why.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thing we broke was Prometheus. dcgm-exporter can copy every pod label onto every counter (ENABLE_POD_LABELS). Do the arithmetic at fleet scale: 1,000 nodes, 8 GPUs each, the default 60 or so counters, three label dimensions, and you are at 1.4 million series before a single pod or job label is added. One ECC-per-block metric on MI300X alone adds 320 thousand. Pod names churn on every rollout, so every label you add multiplies by churn. The rule that fixed it: identity on logs, stable dimensions on metrics, join at query time. We ship seven counters and one identity label.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4 is the centre of the talk, 6 min for 7a to 7c. This is one line of vLLM stdout. Every 10 seconds while it is busy. Read the fields: prompt and generation throughput, running requests, waiting requests, KV cache usage, prefix cache hit rate. And when the scheduler starts evicting work because the cache is full, a Preemptions field appears. Five fields, six under stress, and not one of them exists in any GPU counter. The two lines are the same rig: idle-ish over-provisioned pod, and the constrained pod during the demo load.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Fluent Bit tails the container log, the kubernetes filter attaches the pod name (that is the join key arriving), the Lua filter does five string.match calls and promotes pod_name to a top-level field, grep drops everything that is not a stats line, log_to_metrics turns the fields into gauges labelled by pod_name, and prometheus_exporter serves them on :2021 for the same Prometheus that scrapes DCGM. Now the honest caveat, say it before someone asks: vLLM exposes all of this natively on /metrics, kv_cache_usage_perc, num_requests_waiting, request_queue_time_seconds. vLLM is the demo vehicle. This technique is for everything that does not: custom servers, vendor images you cannot touch, log-only pipelines, the TGI or Triton you inherited. Same fifteen lines, different regex.</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LIVE DEMO. Start the loadgen before this slide (kubectl apply loadgen-job.yaml), it runs 12 minutes. Grafana row 1: FB_USED flat on both pods, GPU_UTIL pegged on both. Row 2: the constrained pod's KV cache goes to 100%, waiting climbs to around 100, p95 queue time jumps from 0.3 s to 4.8 s. Row 3 cross-check agrees with the log-derived numbers. Be precise about row 1: GPU_UTIL did go to 100% and SM_ACTIVE to 90% on the constrained pod, so DCGM does say 'busy'. What it cannot say is why, or how much headroom is left: FB_USED is 3.6 GB before, during and after. The over-provisioned pod shows 55% util and 0.2% KV cache under its own load, so it has 99% of its cache free, and no GPU counter tells you that either. Preemptions stayed at zero in this run (vLLM queues rather than evicts at max-num-seqs 256); if they appear, that is the scheduler evicting running work.</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5, 3 min. vLLM emits one span per request natively, you point it at the OTel Collector. The k8sattributes processor stamps k8s.pod.name on every span by looking up the source IP. A slow span on its own tells you a request was slow. A slow span on the pod whose KV cache was at 100% at that second, with 116 requests waiting, tells you why. Gotcha worth saying out loud: tracing disappeared in the vLLM V1 engine rewrite and came back in PR 20372, so you need 0.10.2 or later. We run 0.30. If your traces vanished after an upgrade, that is why. Abstract wording: we show traces from the serving path, one span per request; multi-hop waterfalls are a flag away but not the point. Bonus in 0.30: vLLM also emits start-up spans (Load weights, Allocate KV cache, Compile graph), so cold-start time is traceable too.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6, 2 min. This is the slide the whole talk builds to. One Grafana dashboard, one pod variable, three data sources that never heard of each other. Point at the timestamps: KV cache pegs, waiting climbs, span latency jumps, and the DCGM row above is unchanged. That is the black box opened. You did not need a new agent, a new vendor or eBPF. You needed the pod name on every signal and the discipline to keep it there.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pick the first one if short on time. EKS Auto Mode ships NVIDIA drivers and the device plugin on its GPU AMIs, but does not support the GPU Operator or the NVIDIA DRA driver. Every DCGM how-to assumes the Operator. So: standalone dcgm-exporter DaemonSet, pod-resources hostPath, SYS_ADMIN cap. Second: Fluent Bit's kubernetes filter needs Kube_Tag_Prefix to match the tail tag exactly, or the pod name silently never arrives and your join key is empty. Third, from this morning: one GPU per pod and a NodePool capped at two GPUs means a RollingUpdate can never surge; the new pod sits Pending forever. strategy: Recreate.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Three things to know before someone asks 'isn't this solved'. One: disaggregated prefill/decode (llm-d, NVIDIA Dynamo, llm-d-aws) splits a request across two pods, with the KV cache shipped between them over NIXL and EFA; AWS reports up to 70% more tokens per second at concurrency 128. The pod is no longer the whole request, so the join key becomes request id plus pod. Two: the Gateway API Inference Extension's endpoint picker and Dynamo's KV-aware router consume exactly these signals, queue depth and KV cache, to route. The join is moving from Grafana into the router. Three: AWS's OTel-native Container Insights, June 2026, packages signal 1 for EKS out of the box. Signals 2 and 3 are still yours to wire.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Three counters, one filter, one rule. SM_ACTIVE instead of GPU_UTIL. KV cache percent and queue time from the serving framework, by log or by /metrics, whichever you have. Pod name on every signal, nothing else on the metrics. Everything in the repo deploys with one terraform apply on EKS Auto Mode. Attribution: this session was designed by [original author]; I rebuilt it from the abstract and broke different things along the way.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the room, point at the repo, ask for feedback via the CNCF QR. Q&amp;A. Likely questions: 'why not just scrape vLLM /metrics' (answered on 7b, repeat it), 'what about MIG or time-slicing' (dcgm-exporter 4.5+ has per-process metrics, narrows but does not close the gap), 'SGLang / TGI field names' (same technique, verify the regex against your log line), 'hardware faults' (fourth signal class, out of scope).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991346"/>
        </a:solidFill>
      </p:bgPr>
    </p:bg>
    <p:spTree>
      <p:nvGrpSpPr>
        <p:cNvPr id="11" name="Shape 11"/>
        <p:cNvGrpSpPr/>
        <p:nvPr/>
      </p:nvGrpSpPr>
      <p:grpSpPr>
        <a:xfrm>
          <a:off x="0" y="0"/>
          <a:ext cx="0" cy="0"/>
          <a:chOff x="0" y="0"/>
          <a:chExt cx="0" cy="0"/>
        </a:xfrm>
      </p:grpSpPr>
      <p:pic>
        <p:nvPicPr>
          <p:cNvPr id="12" name="Google Shape;12;p8"/>
          <p:cNvPicPr preferRelativeResize="0"/>
          <p:nvPr/>
        </p:nvPicPr>
        <p:blipFill rotWithShape="1">
          <a:blip r:embed="rId2">
            <a:alphaModFix/>
          </a:blip>
          <a:srcRect b="0" l="0" r="0" t="0"/>
          <a:stretch/>
        </p:blipFill>
        <p:spPr>
          <a:xfrm>
            <a:off x="1403927" y="278179"/>
            <a:ext cx="9384146" cy="609845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991346"/>
        </a:solidFill>
      </p:bgPr>
    </p:bg>
    <p:spTree>
      <p:nvGrpSpPr>
        <p:cNvPr id="13" name="Shape 13"/>
        <p:cNvGrpSpPr/>
        <p:nvPr/>
      </p:nvGrpSpPr>
      <p:grpSpPr>
        <a:xfrm>
          <a:off x="0" y="0"/>
          <a:ext cx="0" cy="0"/>
          <a:chOff x="0" y="0"/>
          <a:chExt cx="0" cy="0"/>
        </a:xfrm>
      </p:grpSpPr>
      <p:pic>
        <p:nvPicPr>
          <p:cNvPr id="14" name="Google Shape;14;p9"/>
          <p:cNvPicPr preferRelativeResize="0"/>
          <p:nvPr/>
        </p:nvPicPr>
        <p:blipFill rotWithShape="1">
          <a:blip r:embed="rId2">
            <a:alphaModFix/>
          </a:blip>
          <a:srcRect b="0" l="0" r="0" t="0"/>
          <a:stretch/>
        </p:blipFill>
        <p:spPr>
          <a:xfrm>
            <a:off x="8982742" y="-281699"/>
            <a:ext cx="2977544" cy="193500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15" name="Shape 15"/>
        <p:cNvGrpSpPr/>
        <p:nvPr/>
      </p:nvGrpSpPr>
      <p:grpSpPr>
        <a:xfrm>
          <a:off x="0" y="0"/>
          <a:ext cx="0" cy="0"/>
          <a:chOff x="0" y="0"/>
          <a:chExt cx="0" cy="0"/>
        </a:xfrm>
      </p:grpSpPr>
      <p:pic>
        <p:nvPicPr>
          <p:cNvPr descr="Graphical user interface&#10;&#10;Description automatically generated with medium confidence" id="16" name="Google Shape;16;p11"/>
          <p:cNvPicPr preferRelativeResize="0"/>
          <p:nvPr/>
        </p:nvPicPr>
        <p:blipFill rotWithShape="1">
          <a:blip r:embed="rId2">
            <a:alphaModFix/>
          </a:blip>
          <a:srcRect b="0" l="0" r="0" t="0"/>
          <a:stretch/>
        </p:blipFill>
        <p:spPr>
          <a:xfrm>
            <a:off x="10319515" y="1195753"/>
            <a:ext cx="1591131" cy="705401"/>
          </a:xfrm>
          <a:prstGeom prst="rect">
            <a:avLst/>
          </a:prstGeom>
          <a:noFill/>
          <a:ln>
            <a:noFill/>
          </a:ln>
        </p:spPr>
      </p:pic>
      <p:pic>
        <p:nvPicPr>
          <p:cNvPr descr="A colorful background with a few rectangles&#10;&#10;Description automatically generated with medium confidence" id="17" name="Google Shape;17;p11"/>
          <p:cNvPicPr preferRelativeResize="0"/>
          <p:nvPr/>
        </p:nvPicPr>
        <p:blipFill rotWithShape="1">
          <a:blip r:embed="rId3">
            <a:alphaModFix/>
          </a:blip>
          <a:srcRect b="84051" l="0" r="0" t="0"/>
          <a:stretch/>
        </p:blipFill>
        <p:spPr>
          <a:xfrm>
            <a:off x="0" y="0"/>
            <a:ext cx="12192000" cy="973013"/>
          </a:xfrm>
          <a:prstGeom prst="rect">
            <a:avLst/>
          </a:prstGeom>
          <a:solidFill>
            <a:srgbClr val="466BB0"/>
          </a:solidFill>
          <a:ln>
            <a:noFill/>
          </a:ln>
        </p:spPr>
      </p:pic>
      <p:sp>
        <p:nvSpPr>
          <p:cNvPr id="18" name="Google Shape;18;p11"/>
          <p:cNvSpPr/>
          <p:nvPr/>
        </p:nvSpPr>
        <p:spPr>
          <a:xfrm>
            <a:off x="0" y="0"/>
            <a:ext cx="12192000" cy="973013"/>
          </a:xfrm>
          <a:prstGeom prst="rect">
            <a:avLst/>
          </a:prstGeom>
          <a:solidFill>
            <a:srgbClr val="9913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 name="Google Shape;19;p11"/>
          <p:cNvPicPr preferRelativeResize="0"/>
          <p:nvPr/>
        </p:nvPicPr>
        <p:blipFill rotWithShape="1">
          <a:blip r:embed="rId4">
            <a:alphaModFix/>
          </a:blip>
          <a:srcRect b="0" l="0" r="0" t="0"/>
          <a:stretch/>
        </p:blipFill>
        <p:spPr>
          <a:xfrm>
            <a:off x="9408810" y="-360174"/>
            <a:ext cx="2605700" cy="16933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rgbClr val="991346"/>
        </a:solidFill>
      </p:bgPr>
    </p:bg>
    <p:spTree>
      <p:nvGrpSpPr>
        <p:cNvPr id="20" name="Shape 20"/>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p:bg>
      <p:bgPr>
        <a:solidFill>
          <a:srgbClr val="991346"/>
        </a:solidFill>
      </p:bgPr>
    </p:bg>
    <p:spTree>
      <p:nvGrpSpPr>
        <p:cNvPr id="21" name="Shape 21"/>
        <p:cNvGrpSpPr/>
        <p:nvPr/>
      </p:nvGrpSpPr>
      <p:grpSpPr>
        <a:xfrm>
          <a:off x="0" y="0"/>
          <a:ext cx="0" cy="0"/>
          <a:chOff x="0" y="0"/>
          <a:chExt cx="0" cy="0"/>
        </a:xfrm>
      </p:grpSpPr>
      <p:sp>
        <p:nvSpPr>
          <p:cNvPr id="22" name="Google Shape;22;p12"/>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12"/>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4" name="Google Shape;24;p12"/>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2">
    <p:bg>
      <p:bgPr>
        <a:solidFill>
          <a:srgbClr val="991346"/>
        </a:solidFill>
      </p:bgPr>
    </p:bg>
    <p:spTree>
      <p:nvGrpSpPr>
        <p:cNvPr id="25" name="Shape 25"/>
        <p:cNvGrpSpPr/>
        <p:nvPr/>
      </p:nvGrpSpPr>
      <p:grpSpPr>
        <a:xfrm>
          <a:off x="0" y="0"/>
          <a:ext cx="0" cy="0"/>
          <a:chOff x="0" y="0"/>
          <a:chExt cx="0" cy="0"/>
        </a:xfrm>
      </p:grpSpPr>
      <p:sp>
        <p:nvSpPr>
          <p:cNvPr id="26" name="Google Shape;26;p15"/>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 name="Google Shape;27;p15"/>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8" name="Google Shape;28;p15"/>
          <p:cNvPicPr preferRelativeResize="0"/>
          <p:nvPr/>
        </p:nvPicPr>
        <p:blipFill rotWithShape="1">
          <a:blip r:embed="rId2">
            <a:alphaModFix/>
          </a:blip>
          <a:srcRect b="0" l="0" r="0" t="0"/>
          <a:stretch/>
        </p:blipFill>
        <p:spPr>
          <a:xfrm>
            <a:off x="2866941" y="3001197"/>
            <a:ext cx="6406456" cy="141538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3">
    <p:bg>
      <p:bgPr>
        <a:solidFill>
          <a:srgbClr val="991346"/>
        </a:solidFill>
      </p:bgPr>
    </p:bg>
    <p:spTree>
      <p:nvGrpSpPr>
        <p:cNvPr id="29" name="Shape 29"/>
        <p:cNvGrpSpPr/>
        <p:nvPr/>
      </p:nvGrpSpPr>
      <p:grpSpPr>
        <a:xfrm>
          <a:off x="0" y="0"/>
          <a:ext cx="0" cy="0"/>
          <a:chOff x="0" y="0"/>
          <a:chExt cx="0" cy="0"/>
        </a:xfrm>
      </p:grpSpPr>
      <p:sp>
        <p:nvSpPr>
          <p:cNvPr id="30" name="Google Shape;30;p13"/>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 name="Google Shape;31;p13"/>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2" name="Google Shape;32;p13"/>
          <p:cNvPicPr preferRelativeResize="0"/>
          <p:nvPr/>
        </p:nvPicPr>
        <p:blipFill rotWithShape="1">
          <a:blip r:embed="rId2">
            <a:alphaModFix/>
          </a:blip>
          <a:srcRect b="0" l="0" r="0" t="0"/>
          <a:stretch/>
        </p:blipFill>
        <p:spPr>
          <a:xfrm>
            <a:off x="3745628" y="2798064"/>
            <a:ext cx="4700744" cy="186537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4">
    <p:bg>
      <p:bgPr>
        <a:solidFill>
          <a:srgbClr val="991346"/>
        </a:solidFill>
      </p:bgPr>
    </p:bg>
    <p:spTree>
      <p:nvGrpSpPr>
        <p:cNvPr id="33" name="Shape 33"/>
        <p:cNvGrpSpPr/>
        <p:nvPr/>
      </p:nvGrpSpPr>
      <p:grpSpPr>
        <a:xfrm>
          <a:off x="0" y="0"/>
          <a:ext cx="0" cy="0"/>
          <a:chOff x="0" y="0"/>
          <a:chExt cx="0" cy="0"/>
        </a:xfrm>
      </p:grpSpPr>
      <p:sp>
        <p:nvSpPr>
          <p:cNvPr id="34" name="Google Shape;34;p14"/>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 name="Google Shape;35;p14"/>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6" name="Google Shape;36;p14"/>
          <p:cNvPicPr preferRelativeResize="0"/>
          <p:nvPr/>
        </p:nvPicPr>
        <p:blipFill rotWithShape="1">
          <a:blip r:embed="rId2">
            <a:alphaModFix/>
          </a:blip>
          <a:srcRect b="0" l="0" r="0" t="0"/>
          <a:stretch/>
        </p:blipFill>
        <p:spPr>
          <a:xfrm>
            <a:off x="3266632" y="2935051"/>
            <a:ext cx="5658736" cy="148167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5">
    <p:bg>
      <p:bgPr>
        <a:solidFill>
          <a:srgbClr val="991346"/>
        </a:solidFill>
      </p:bgPr>
    </p:bg>
    <p:spTree>
      <p:nvGrpSpPr>
        <p:cNvPr id="37" name="Shape 37"/>
        <p:cNvGrpSpPr/>
        <p:nvPr/>
      </p:nvGrpSpPr>
      <p:grpSpPr>
        <a:xfrm>
          <a:off x="0" y="0"/>
          <a:ext cx="0" cy="0"/>
          <a:chOff x="0" y="0"/>
          <a:chExt cx="0" cy="0"/>
        </a:xfrm>
      </p:grpSpPr>
      <p:sp>
        <p:nvSpPr>
          <p:cNvPr id="38" name="Google Shape;38;p17"/>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 name="Google Shape;39;p17"/>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40" name="Google Shape;40;p17"/>
          <p:cNvPicPr preferRelativeResize="0"/>
          <p:nvPr/>
        </p:nvPicPr>
        <p:blipFill rotWithShape="1">
          <a:blip r:embed="rId2">
            <a:alphaModFix/>
          </a:blip>
          <a:srcRect b="0" l="0" r="0" t="0"/>
          <a:stretch/>
        </p:blipFill>
        <p:spPr>
          <a:xfrm>
            <a:off x="3252292" y="3053751"/>
            <a:ext cx="5652911" cy="125945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6">
    <p:bg>
      <p:bgPr>
        <a:solidFill>
          <a:srgbClr val="991346"/>
        </a:solidFill>
      </p:bgPr>
    </p:bg>
    <p:spTree>
      <p:nvGrpSpPr>
        <p:cNvPr id="41" name="Shape 41"/>
        <p:cNvGrpSpPr/>
        <p:nvPr/>
      </p:nvGrpSpPr>
      <p:grpSpPr>
        <a:xfrm>
          <a:off x="0" y="0"/>
          <a:ext cx="0" cy="0"/>
          <a:chOff x="0" y="0"/>
          <a:chExt cx="0" cy="0"/>
        </a:xfrm>
      </p:grpSpPr>
      <p:sp>
        <p:nvSpPr>
          <p:cNvPr id="42" name="Google Shape;42;p16"/>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 name="Google Shape;43;p16"/>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Sponsors!</a:t>
            </a:r>
            <a:endParaRPr b="0" i="0" sz="600" u="none" cap="none" strike="noStrike">
              <a:solidFill>
                <a:srgbClr val="000000"/>
              </a:solidFill>
              <a:latin typeface="Montserrat"/>
              <a:ea typeface="Montserrat"/>
              <a:cs typeface="Montserrat"/>
              <a:sym typeface="Montserrat"/>
            </a:endParaRPr>
          </a:p>
        </p:txBody>
      </p:sp>
      <p:pic>
        <p:nvPicPr>
          <p:cNvPr id="44" name="Google Shape;44;p16"/>
          <p:cNvPicPr preferRelativeResize="0"/>
          <p:nvPr/>
        </p:nvPicPr>
        <p:blipFill rotWithShape="1">
          <a:blip r:embed="rId2">
            <a:alphaModFix/>
          </a:blip>
          <a:srcRect b="0" l="0" r="0" t="0"/>
          <a:stretch/>
        </p:blipFill>
        <p:spPr>
          <a:xfrm>
            <a:off x="1133089" y="2338977"/>
            <a:ext cx="2681328" cy="917769"/>
          </a:xfrm>
          <a:prstGeom prst="rect">
            <a:avLst/>
          </a:prstGeom>
          <a:noFill/>
          <a:ln>
            <a:noFill/>
          </a:ln>
        </p:spPr>
      </p:pic>
      <p:pic>
        <p:nvPicPr>
          <p:cNvPr id="45" name="Google Shape;45;p16"/>
          <p:cNvPicPr preferRelativeResize="0"/>
          <p:nvPr/>
        </p:nvPicPr>
        <p:blipFill rotWithShape="1">
          <a:blip r:embed="rId3">
            <a:alphaModFix/>
          </a:blip>
          <a:srcRect b="0" l="0" r="0" t="0"/>
          <a:stretch/>
        </p:blipFill>
        <p:spPr>
          <a:xfrm>
            <a:off x="8377580" y="2376970"/>
            <a:ext cx="2335677" cy="926857"/>
          </a:xfrm>
          <a:prstGeom prst="rect">
            <a:avLst/>
          </a:prstGeom>
          <a:noFill/>
          <a:ln>
            <a:noFill/>
          </a:ln>
        </p:spPr>
      </p:pic>
      <p:pic>
        <p:nvPicPr>
          <p:cNvPr id="46" name="Google Shape;46;p16"/>
          <p:cNvPicPr preferRelativeResize="0"/>
          <p:nvPr/>
        </p:nvPicPr>
        <p:blipFill rotWithShape="1">
          <a:blip r:embed="rId4">
            <a:alphaModFix/>
          </a:blip>
          <a:srcRect b="0" l="0" r="0" t="0"/>
          <a:stretch/>
        </p:blipFill>
        <p:spPr>
          <a:xfrm>
            <a:off x="2408578" y="4285905"/>
            <a:ext cx="2811678" cy="736205"/>
          </a:xfrm>
          <a:prstGeom prst="rect">
            <a:avLst/>
          </a:prstGeom>
          <a:noFill/>
          <a:ln>
            <a:noFill/>
          </a:ln>
        </p:spPr>
      </p:pic>
      <p:pic>
        <p:nvPicPr>
          <p:cNvPr id="47" name="Google Shape;47;p16"/>
          <p:cNvPicPr preferRelativeResize="0"/>
          <p:nvPr/>
        </p:nvPicPr>
        <p:blipFill rotWithShape="1">
          <a:blip r:embed="rId5">
            <a:alphaModFix/>
          </a:blip>
          <a:srcRect b="0" l="0" r="0" t="0"/>
          <a:stretch/>
        </p:blipFill>
        <p:spPr>
          <a:xfrm>
            <a:off x="6296843" y="4330017"/>
            <a:ext cx="3106371" cy="692093"/>
          </a:xfrm>
          <a:prstGeom prst="rect">
            <a:avLst/>
          </a:prstGeom>
          <a:noFill/>
          <a:ln>
            <a:noFill/>
          </a:ln>
        </p:spPr>
      </p:pic>
      <p:pic>
        <p:nvPicPr>
          <p:cNvPr id="48" name="Google Shape;48;p16"/>
          <p:cNvPicPr preferRelativeResize="0"/>
          <p:nvPr/>
        </p:nvPicPr>
        <p:blipFill rotWithShape="1">
          <a:blip r:embed="rId6">
            <a:alphaModFix/>
          </a:blip>
          <a:srcRect b="0" l="0" r="0" t="0"/>
          <a:stretch/>
        </p:blipFill>
        <p:spPr>
          <a:xfrm>
            <a:off x="4485737" y="2495115"/>
            <a:ext cx="3191774" cy="7051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7">
    <p:bg>
      <p:bgPr>
        <a:solidFill>
          <a:srgbClr val="991346"/>
        </a:solidFill>
      </p:bgPr>
    </p:bg>
    <p:spTree>
      <p:nvGrpSpPr>
        <p:cNvPr id="49" name="Shape 49"/>
        <p:cNvGrpSpPr/>
        <p:nvPr/>
      </p:nvGrpSpPr>
      <p:grpSpPr>
        <a:xfrm>
          <a:off x="0" y="0"/>
          <a:ext cx="0" cy="0"/>
          <a:chOff x="0" y="0"/>
          <a:chExt cx="0" cy="0"/>
        </a:xfrm>
      </p:grpSpPr>
      <p:sp>
        <p:nvSpPr>
          <p:cNvPr id="50" name="Google Shape;50;p18"/>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18"/>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ctr">
              <a:lnSpc>
                <a:spcPct val="90000"/>
              </a:lnSpc>
              <a:spcBef>
                <a:spcPts val="0"/>
              </a:spcBef>
              <a:spcAft>
                <a:spcPts val="0"/>
              </a:spcAft>
              <a:buClr>
                <a:schemeClr val="lt1"/>
              </a:buClr>
              <a:buSzPct val="245098"/>
              <a:buFont typeface="Arial"/>
              <a:buNone/>
            </a:pPr>
            <a:r>
              <a:rPr b="1" i="0" lang="en-CA" sz="3600" u="none" cap="none" strike="noStrike">
                <a:solidFill>
                  <a:schemeClr val="lt1"/>
                </a:solidFill>
                <a:latin typeface="Montserrat"/>
                <a:ea typeface="Montserrat"/>
                <a:cs typeface="Montserrat"/>
                <a:sym typeface="Montserrat"/>
              </a:rPr>
              <a:t>Thank you to our SESSION RECORDING Sponsor!</a:t>
            </a:r>
            <a:endParaRPr b="0" i="0" sz="600" u="none" cap="none" strike="noStrike">
              <a:solidFill>
                <a:srgbClr val="000000"/>
              </a:solidFill>
              <a:latin typeface="Montserrat"/>
              <a:ea typeface="Montserrat"/>
              <a:cs typeface="Montserrat"/>
              <a:sym typeface="Montserrat"/>
            </a:endParaRPr>
          </a:p>
        </p:txBody>
      </p:sp>
      <p:pic>
        <p:nvPicPr>
          <p:cNvPr id="52" name="Google Shape;52;p18"/>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nvSpPr>
        <p:spPr>
          <a:xfrm>
            <a:off x="729046" y="3574272"/>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3600"/>
              <a:buFont typeface="Arial"/>
              <a:buNone/>
            </a:pPr>
            <a:r>
              <a:rPr b="0" i="1" lang="en-CA" sz="1800" u="none" cap="none" strike="noStrike">
                <a:solidFill>
                  <a:schemeClr val="lt1"/>
                </a:solidFill>
                <a:latin typeface="Arial"/>
                <a:ea typeface="Arial"/>
                <a:cs typeface="Arial"/>
                <a:sym typeface="Arial"/>
              </a:rPr>
              <a:t>Danilo Souza, Senior Delivery Consultant, DevOps, AWS Professional Services</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3600"/>
              <a:buFont typeface="Arial"/>
              <a:buNone/>
            </a:pPr>
            <a:r>
              <a:rPr b="0" i="1" lang="en-CA" sz="1800" u="none" cap="none" strike="noStrike">
                <a:solidFill>
                  <a:schemeClr val="lt1"/>
                </a:solidFill>
                <a:latin typeface="Arial"/>
                <a:ea typeface="Arial"/>
                <a:cs typeface="Arial"/>
                <a:sym typeface="Arial"/>
              </a:rPr>
              <a:t>Henrique Santana, Principal Cloud Support Engineer, AWS</a:t>
            </a:r>
            <a:endParaRPr b="0" i="0" sz="1400" u="none" cap="none" strike="noStrike">
              <a:solidFill>
                <a:schemeClr val="lt1"/>
              </a:solidFill>
              <a:latin typeface="Arial"/>
              <a:ea typeface="Arial"/>
              <a:cs typeface="Arial"/>
              <a:sym typeface="Arial"/>
            </a:endParaRPr>
          </a:p>
          <a:p>
            <a:pPr algn="l"/>
            <a:r>
              <a:rPr b="0" i="1" lang="en-CA" sz="1400" u="none" cap="none" strike="noStrike">
                <a:solidFill>
                  <a:schemeClr val="lt1"/>
                </a:solidFill>
                <a:latin typeface="Arial"/>
                <a:ea typeface="Arial"/>
                <a:cs typeface="Arial"/>
                <a:sym typeface="Arial"/>
              </a:rPr>
              <a:t>Observability Day North America, Salt Lake City, 9 November 2026</a:t>
            </a:r>
          </a:p>
        </p:txBody>
      </p:sp>
      <p:sp>
        <p:nvSpPr>
          <p:cNvPr id="80" name="Google Shape;80;p2"/>
          <p:cNvSpPr txBox="1"/>
          <p:nvPr/>
        </p:nvSpPr>
        <p:spPr>
          <a:xfrm>
            <a:off x="627791" y="2098709"/>
            <a:ext cx="10515600" cy="150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7500"/>
              <a:buFont typeface="Arial"/>
              <a:buNone/>
            </a:pPr>
            <a:r>
              <a:rPr b="1" i="0" lang="en-CA" sz="4000" u="none" cap="none" strike="noStrike">
                <a:solidFill>
                  <a:schemeClr val="lt1"/>
                </a:solidFill>
                <a:latin typeface="Arial"/>
                <a:ea typeface="Arial"/>
                <a:cs typeface="Arial"/>
                <a:sym typeface="Arial"/>
              </a:rPr>
              <a:t>Inference Is a Black Box</a:t>
            </a:r>
            <a:endParaRPr b="0" i="0" sz="1400" u="none" cap="none" strike="noStrike">
              <a:solidFill>
                <a:schemeClr val="lt1"/>
              </a:solidFill>
              <a:latin typeface="Arial"/>
              <a:ea typeface="Arial"/>
              <a:cs typeface="Arial"/>
              <a:sym typeface="Arial"/>
            </a:endParaRPr>
          </a:p>
          <a:p>
            <a:pPr algn="l"/>
            <a:r>
              <a:rPr b="0" i="0" lang="en-CA" sz="2200" u="none" cap="none" strike="noStrike">
                <a:solidFill>
                  <a:schemeClr val="lt1"/>
                </a:solidFill>
                <a:latin typeface="Arial"/>
                <a:ea typeface="Arial"/>
                <a:cs typeface="Arial"/>
                <a:sym typeface="Arial"/>
              </a:rPr>
              <a:t>How We Built GPU-Aware Observability with Fluent Bit and OpenTelemetry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page fires. Every GPU chart is green.</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Industry average production GPU utilisation ~5%: Cast AI, State of GPU utilisation 2026 (cast.ai/blog/fractional-gpu-kubernetes)</a:t>
            </a:r>
          </a:p>
        </p:txBody>
      </p:sp>
      <p:sp>
        <p:nvSpPr>
          <p:cNvPr id="4" name="TextBox 3"/>
          <p:cNvSpPr txBox="1"/>
          <p:nvPr/>
        </p:nvSpPr>
        <p:spPr>
          <a:xfrm>
            <a:off x="403682" y="1250000"/>
            <a:ext cx="5542318" cy="4800000"/>
          </a:xfrm>
          <a:prstGeom prst="rect">
            <a:avLst/>
          </a:prstGeom>
          <a:noFill/>
        </p:spPr>
        <p:txBody>
          <a:bodyPr wrap="square" anchor="t">
            <a:spAutoFit/>
          </a:bodyPr>
          <a:lstStyle/>
          <a:p>
            <a:pPr algn="l">
              <a:spcAft>
                <a:spcPts val="1200"/>
              </a:spcAft>
            </a:pPr>
            <a:r>
              <a:rPr sz="2600" b="1" i="0">
                <a:solidFill>
                  <a:srgbClr val="991346"/>
                </a:solidFill>
                <a:latin typeface="Arial"/>
              </a:rPr>
              <a:t>02:14  p99 latency doubles</a:t>
            </a:r>
          </a:p>
          <a:p>
            <a:pPr algn="l" marL="285750" indent="-285750">
              <a:spcAft>
                <a:spcPts val="1200"/>
              </a:spcAft>
              <a:buChar char="•"/>
            </a:pPr>
            <a:r>
              <a:rPr sz="2000" b="0" i="0">
                <a:solidFill>
                  <a:srgbClr val="262626"/>
                </a:solidFill>
                <a:latin typeface="Arial"/>
              </a:rPr>
              <a:t>GPU utilisation: 95%, flat for an hour</a:t>
            </a:r>
          </a:p>
          <a:p>
            <a:pPr algn="l" marL="285750" indent="-285750">
              <a:spcAft>
                <a:spcPts val="1200"/>
              </a:spcAft>
              <a:buChar char="•"/>
            </a:pPr>
            <a:r>
              <a:rPr sz="2000" b="0" i="0">
                <a:solidFill>
                  <a:srgbClr val="262626"/>
                </a:solidFill>
                <a:latin typeface="Arial"/>
              </a:rPr>
              <a:t>GPU memory used: 90%, flat since the pod started</a:t>
            </a:r>
          </a:p>
          <a:p>
            <a:pPr algn="l" marL="285750" indent="-285750">
              <a:spcAft>
                <a:spcPts val="1200"/>
              </a:spcAft>
              <a:buChar char="•"/>
            </a:pPr>
            <a:r>
              <a:rPr sz="2000" b="0" i="0">
                <a:solidFill>
                  <a:srgbClr val="262626"/>
                </a:solidFill>
                <a:latin typeface="Arial"/>
              </a:rPr>
              <a:t>Pods Ready, no throttling, no OOM, no restarts</a:t>
            </a:r>
          </a:p>
          <a:p>
            <a:pPr algn="l">
              <a:spcAft>
                <a:spcPts val="0"/>
              </a:spcAft>
            </a:pPr>
            <a:r>
              <a:rPr sz="2400" b="1" i="0">
                <a:solidFill>
                  <a:srgbClr val="262626"/>
                </a:solidFill>
                <a:latin typeface="Arial"/>
              </a:rPr>
              <a:t>Nobody knows why.</a:t>
            </a:r>
          </a:p>
        </p:txBody>
      </p:sp>
      <p:sp>
        <p:nvSpPr>
          <p:cNvPr id="5" name="TextBox 4"/>
          <p:cNvSpPr txBox="1"/>
          <p:nvPr/>
        </p:nvSpPr>
        <p:spPr>
          <a:xfrm>
            <a:off x="6246000" y="1250000"/>
            <a:ext cx="5542318" cy="4800000"/>
          </a:xfrm>
          <a:prstGeom prst="rect">
            <a:avLst/>
          </a:prstGeom>
          <a:noFill/>
        </p:spPr>
        <p:txBody>
          <a:bodyPr wrap="square" anchor="ctr">
            <a:spAutoFit/>
          </a:bodyPr>
          <a:lstStyle/>
          <a:p>
            <a:pPr algn="ctr">
              <a:spcAft>
                <a:spcPts val="600"/>
              </a:spcAft>
            </a:pPr>
            <a:r>
              <a:rPr sz="1800" b="0" i="0">
                <a:solidFill>
                  <a:srgbClr val="6B6B6B"/>
                </a:solidFill>
                <a:latin typeface="Arial"/>
              </a:rPr>
              <a:t>Meanwhile, industry-wide</a:t>
            </a:r>
          </a:p>
          <a:p>
            <a:pPr algn="ctr">
              <a:spcAft>
                <a:spcPts val="0"/>
              </a:spcAft>
            </a:pPr>
            <a:r>
              <a:rPr sz="9600" b="1" i="0">
                <a:solidFill>
                  <a:srgbClr val="991346"/>
                </a:solidFill>
                <a:latin typeface="Arial"/>
              </a:rPr>
              <a:t>~5%</a:t>
            </a:r>
          </a:p>
          <a:p>
            <a:pPr algn="ctr">
              <a:spcAft>
                <a:spcPts val="600"/>
              </a:spcAft>
            </a:pPr>
            <a:r>
              <a:rPr sz="1800" b="0" i="0">
                <a:solidFill>
                  <a:srgbClr val="6B6B6B"/>
                </a:solidFill>
                <a:latin typeface="Arial"/>
              </a:rPr>
              <a:t>average production GPU utilisation</a:t>
            </a:r>
          </a:p>
          <a:p>
            <a:pPr algn="ctr">
              <a:spcAft>
                <a:spcPts val="0"/>
              </a:spcAft>
            </a:pPr>
            <a:r>
              <a:rPr sz="1800" b="0" i="0">
                <a:solidFill>
                  <a:srgbClr val="262626"/>
                </a:solidFill>
                <a:latin typeface="Arial"/>
              </a:rPr>
              <a:t>Same counter. One fleet looks saturated, the other looks idle. Neither number says anything about the inference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vLLM grabs the memory before request one.</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Live rig: two vLLM pods, facebook/opt-125m, EKS Auto Mode, g5.xlarge (A10G 24 GB), DCGM_FI_DEV_FB_USED</a:t>
            </a:r>
          </a:p>
        </p:txBody>
      </p:sp>
      <p:sp>
        <p:nvSpPr>
          <p:cNvPr id="4" name="TextBox 3"/>
          <p:cNvSpPr txBox="1"/>
          <p:nvPr/>
        </p:nvSpPr>
        <p:spPr>
          <a:xfrm>
            <a:off x="403682" y="1250000"/>
            <a:ext cx="5542318" cy="4800000"/>
          </a:xfrm>
          <a:prstGeom prst="rect">
            <a:avLst/>
          </a:prstGeom>
          <a:noFill/>
        </p:spPr>
        <p:txBody>
          <a:bodyPr wrap="square" anchor="t">
            <a:spAutoFit/>
          </a:bodyPr>
          <a:lstStyle/>
          <a:p>
            <a:pPr algn="l">
              <a:spcAft>
                <a:spcPts val="1000"/>
              </a:spcAft>
            </a:pPr>
            <a:r>
              <a:rPr sz="1800" b="0" i="0">
                <a:solidFill>
                  <a:srgbClr val="6B6B6B"/>
                </a:solidFill>
                <a:latin typeface="Arial"/>
              </a:rPr>
              <a:t>The counter everyone watches</a:t>
            </a:r>
          </a:p>
          <a:p>
            <a:pPr algn="l">
              <a:spcAft>
                <a:spcPts val="1000"/>
              </a:spcAft>
            </a:pPr>
            <a:r>
              <a:rPr sz="2600" b="1" i="0">
                <a:solidFill>
                  <a:srgbClr val="991346"/>
                </a:solidFill>
                <a:latin typeface="Courier New"/>
              </a:rPr>
              <a:t>DCGM_FI_DEV_FB_USED</a:t>
            </a:r>
          </a:p>
          <a:p>
            <a:pPr algn="l" marL="285750" indent="-285750">
              <a:spcAft>
                <a:spcPts val="1000"/>
              </a:spcAft>
              <a:buChar char="•"/>
            </a:pPr>
            <a:r>
              <a:rPr sz="1800" b="0" i="0">
                <a:solidFill>
                  <a:srgbClr val="262626"/>
                </a:solidFill>
                <a:latin typeface="Arial"/>
              </a:rPr>
              <a:t>Pre-allocated KV cache pool, sized by --gpu-memory-utilization</a:t>
            </a:r>
          </a:p>
          <a:p>
            <a:pPr algn="l" marL="285750" indent="-285750">
              <a:spcAft>
                <a:spcPts val="1000"/>
              </a:spcAft>
              <a:buChar char="•"/>
            </a:pPr>
            <a:r>
              <a:rPr sz="1800" b="0" i="0">
                <a:solidFill>
                  <a:srgbClr val="262626"/>
                </a:solidFill>
                <a:latin typeface="Arial"/>
              </a:rPr>
              <a:t>Jumps to the configured fraction at start-up</a:t>
            </a:r>
          </a:p>
          <a:p>
            <a:pPr algn="l" marL="285750" indent="-285750">
              <a:spcAft>
                <a:spcPts val="1000"/>
              </a:spcAft>
              <a:buChar char="•"/>
            </a:pPr>
            <a:r>
              <a:rPr sz="1800" b="0" i="0">
                <a:solidFill>
                  <a:srgbClr val="262626"/>
                </a:solidFill>
                <a:latin typeface="Arial"/>
              </a:rPr>
              <a:t>Then flat. Idle or saturated, same number.</a:t>
            </a:r>
          </a:p>
          <a:p>
            <a:pPr algn="l">
              <a:spcAft>
                <a:spcPts val="0"/>
              </a:spcAft>
            </a:pPr>
            <a:r>
              <a:rPr sz="2200" b="1" i="0">
                <a:solidFill>
                  <a:srgbClr val="262626"/>
                </a:solidFill>
                <a:latin typeface="Arial"/>
              </a:rPr>
              <a:t>It measures a config value, not a workload.</a:t>
            </a:r>
          </a:p>
        </p:txBody>
      </p:sp>
      <p:graphicFrame>
        <p:nvGraphicFramePr>
          <p:cNvPr id="5" name="Table 4"/>
          <p:cNvGraphicFramePr>
            <a:graphicFrameLocks noGrp="1"/>
          </p:cNvGraphicFramePr>
          <p:nvPr/>
        </p:nvGraphicFramePr>
        <p:xfrm>
          <a:off x="6246000" y="1450000"/>
          <a:ext cx="5542318" cy="1900000"/>
        </p:xfrm>
        <a:graphic>
          <a:graphicData uri="http://schemas.openxmlformats.org/drawingml/2006/table">
            <a:tbl>
              <a:tblPr firstRow="1" bandRow="1">
                <a:tableStyleId>{5C22544A-7EE6-4342-B048-85BDC9FD1C3A}</a:tableStyleId>
              </a:tblPr>
              <a:tblGrid>
                <a:gridCol w="1900000"/>
                <a:gridCol w="1300000"/>
                <a:gridCol w="1200000"/>
                <a:gridCol w="1142318"/>
              </a:tblGrid>
              <a:tr h="633333">
                <a:tc>
                  <a:txBody>
                    <a:bodyPr/>
                    <a:lstStyle/>
                    <a:p>
                      <a:r>
                        <a:rPr sz="1400" b="1" i="0">
                          <a:solidFill>
                            <a:srgbClr val="FFFFFF"/>
                          </a:solidFill>
                          <a:latin typeface="Arial"/>
                        </a:rPr>
                        <a:t>pod</a:t>
                      </a:r>
                    </a:p>
                  </a:txBody>
                  <a:tcPr marL="91440" marR="91440" marT="45720" marB="45720">
                    <a:solidFill>
                      <a:srgbClr val="991346"/>
                    </a:solidFill>
                  </a:tcPr>
                </a:tc>
                <a:tc>
                  <a:txBody>
                    <a:bodyPr/>
                    <a:lstStyle/>
                    <a:p>
                      <a:r>
                        <a:rPr sz="1400" b="1" i="0">
                          <a:solidFill>
                            <a:srgbClr val="FFFFFF"/>
                          </a:solidFill>
                          <a:latin typeface="Arial"/>
                        </a:rPr>
                        <a:t>gpu-mem-util</a:t>
                      </a:r>
                    </a:p>
                  </a:txBody>
                  <a:tcPr marL="91440" marR="91440" marT="45720" marB="45720">
                    <a:solidFill>
                      <a:srgbClr val="991346"/>
                    </a:solidFill>
                  </a:tcPr>
                </a:tc>
                <a:tc>
                  <a:txBody>
                    <a:bodyPr/>
                    <a:lstStyle/>
                    <a:p>
                      <a:r>
                        <a:rPr sz="1400" b="1" i="0">
                          <a:solidFill>
                            <a:srgbClr val="FFFFFF"/>
                          </a:solidFill>
                          <a:latin typeface="Arial"/>
                        </a:rPr>
                        <a:t>FB_USED</a:t>
                      </a:r>
                    </a:p>
                  </a:txBody>
                  <a:tcPr marL="91440" marR="91440" marT="45720" marB="45720">
                    <a:solidFill>
                      <a:srgbClr val="991346"/>
                    </a:solidFill>
                  </a:tcPr>
                </a:tc>
                <a:tc>
                  <a:txBody>
                    <a:bodyPr/>
                    <a:lstStyle/>
                    <a:p>
                      <a:r>
                        <a:rPr sz="1400" b="1" i="0">
                          <a:solidFill>
                            <a:srgbClr val="FFFFFF"/>
                          </a:solidFill>
                          <a:latin typeface="Arial"/>
                        </a:rPr>
                        <a:t>moves under load?</a:t>
                      </a:r>
                    </a:p>
                  </a:txBody>
                  <a:tcPr marL="91440" marR="91440" marT="45720" marB="45720">
                    <a:solidFill>
                      <a:srgbClr val="991346"/>
                    </a:solidFill>
                  </a:tcPr>
                </a:tc>
              </a:tr>
              <a:tr h="633333">
                <a:tc>
                  <a:txBody>
                    <a:bodyPr/>
                    <a:lstStyle/>
                    <a:p>
                      <a:r>
                        <a:rPr sz="1400" b="0" i="0">
                          <a:solidFill>
                            <a:srgbClr val="262626"/>
                          </a:solidFill>
                          <a:latin typeface="Arial"/>
                        </a:rPr>
                        <a:t>vllm-constrained</a:t>
                      </a:r>
                    </a:p>
                  </a:txBody>
                  <a:tcPr marL="91440" marR="91440" marT="45720" marB="45720">
                    <a:solidFill>
                      <a:srgbClr val="FFFFFF"/>
                    </a:solidFill>
                  </a:tcPr>
                </a:tc>
                <a:tc>
                  <a:txBody>
                    <a:bodyPr/>
                    <a:lstStyle/>
                    <a:p>
                      <a:r>
                        <a:rPr sz="1400" b="0" i="0">
                          <a:solidFill>
                            <a:srgbClr val="262626"/>
                          </a:solidFill>
                          <a:latin typeface="Arial"/>
                        </a:rPr>
                        <a:t>0.15</a:t>
                      </a:r>
                    </a:p>
                  </a:txBody>
                  <a:tcPr marL="91440" marR="91440" marT="45720" marB="45720">
                    <a:solidFill>
                      <a:srgbClr val="FFFFFF"/>
                    </a:solidFill>
                  </a:tcPr>
                </a:tc>
                <a:tc>
                  <a:txBody>
                    <a:bodyPr/>
                    <a:lstStyle/>
                    <a:p>
                      <a:r>
                        <a:rPr sz="1400" b="0" i="0">
                          <a:solidFill>
                            <a:srgbClr val="262626"/>
                          </a:solidFill>
                          <a:latin typeface="Arial"/>
                        </a:rPr>
                        <a:t>3.6 GB</a:t>
                      </a:r>
                    </a:p>
                  </a:txBody>
                  <a:tcPr marL="91440" marR="91440" marT="45720" marB="45720">
                    <a:solidFill>
                      <a:srgbClr val="FFFFFF"/>
                    </a:solidFill>
                  </a:tcPr>
                </a:tc>
                <a:tc>
                  <a:txBody>
                    <a:bodyPr/>
                    <a:lstStyle/>
                    <a:p>
                      <a:r>
                        <a:rPr sz="1400" b="0" i="0">
                          <a:solidFill>
                            <a:srgbClr val="262626"/>
                          </a:solidFill>
                          <a:latin typeface="Arial"/>
                        </a:rPr>
                        <a:t>no</a:t>
                      </a:r>
                    </a:p>
                  </a:txBody>
                  <a:tcPr marL="91440" marR="91440" marT="45720" marB="45720">
                    <a:solidFill>
                      <a:srgbClr val="FFFFFF"/>
                    </a:solidFill>
                  </a:tcPr>
                </a:tc>
              </a:tr>
              <a:tr h="633334">
                <a:tc>
                  <a:txBody>
                    <a:bodyPr/>
                    <a:lstStyle/>
                    <a:p>
                      <a:r>
                        <a:rPr sz="1400" b="0" i="0">
                          <a:solidFill>
                            <a:srgbClr val="262626"/>
                          </a:solidFill>
                          <a:latin typeface="Arial"/>
                        </a:rPr>
                        <a:t>vllm-overprov</a:t>
                      </a:r>
                    </a:p>
                  </a:txBody>
                  <a:tcPr marL="91440" marR="91440" marT="45720" marB="45720">
                    <a:solidFill>
                      <a:srgbClr val="F3F3F3"/>
                    </a:solidFill>
                  </a:tcPr>
                </a:tc>
                <a:tc>
                  <a:txBody>
                    <a:bodyPr/>
                    <a:lstStyle/>
                    <a:p>
                      <a:r>
                        <a:rPr sz="1400" b="0" i="0">
                          <a:solidFill>
                            <a:srgbClr val="262626"/>
                          </a:solidFill>
                          <a:latin typeface="Arial"/>
                        </a:rPr>
                        <a:t>0.90</a:t>
                      </a:r>
                    </a:p>
                  </a:txBody>
                  <a:tcPr marL="91440" marR="91440" marT="45720" marB="45720">
                    <a:solidFill>
                      <a:srgbClr val="F3F3F3"/>
                    </a:solidFill>
                  </a:tcPr>
                </a:tc>
                <a:tc>
                  <a:txBody>
                    <a:bodyPr/>
                    <a:lstStyle/>
                    <a:p>
                      <a:r>
                        <a:rPr sz="1400" b="0" i="0">
                          <a:solidFill>
                            <a:srgbClr val="262626"/>
                          </a:solidFill>
                          <a:latin typeface="Arial"/>
                        </a:rPr>
                        <a:t>20.5 GB</a:t>
                      </a:r>
                    </a:p>
                  </a:txBody>
                  <a:tcPr marL="91440" marR="91440" marT="45720" marB="45720">
                    <a:solidFill>
                      <a:srgbClr val="F3F3F3"/>
                    </a:solidFill>
                  </a:tcPr>
                </a:tc>
                <a:tc>
                  <a:txBody>
                    <a:bodyPr/>
                    <a:lstStyle/>
                    <a:p>
                      <a:r>
                        <a:rPr sz="1400" b="0" i="0">
                          <a:solidFill>
                            <a:srgbClr val="262626"/>
                          </a:solidFill>
                          <a:latin typeface="Arial"/>
                        </a:rPr>
                        <a:t>no</a:t>
                      </a:r>
                    </a:p>
                  </a:txBody>
                  <a:tcPr marL="91440" marR="91440" marT="45720" marB="45720">
                    <a:solidFill>
                      <a:srgbClr val="F3F3F3"/>
                    </a:solidFill>
                  </a:tcPr>
                </a:tc>
              </a:tr>
            </a:tbl>
          </a:graphicData>
        </a:graphic>
      </p:graphicFrame>
      <p:sp>
        <p:nvSpPr>
          <p:cNvPr id="6" name="TextBox 5"/>
          <p:cNvSpPr txBox="1"/>
          <p:nvPr/>
        </p:nvSpPr>
        <p:spPr>
          <a:xfrm>
            <a:off x="6246000" y="3650000"/>
            <a:ext cx="5542318" cy="1600000"/>
          </a:xfrm>
          <a:prstGeom prst="rect">
            <a:avLst/>
          </a:prstGeom>
          <a:noFill/>
        </p:spPr>
        <p:txBody>
          <a:bodyPr wrap="square" anchor="t">
            <a:spAutoFit/>
          </a:bodyPr>
          <a:lstStyle/>
          <a:p>
            <a:pPr algn="l">
              <a:spcAft>
                <a:spcPts val="600"/>
              </a:spcAft>
            </a:pPr>
            <a:r>
              <a:rPr sz="2000" b="1" i="0">
                <a:solidFill>
                  <a:srgbClr val="262626"/>
                </a:solidFill>
                <a:latin typeface="Arial"/>
              </a:rPr>
              <a:t>Which one is about to fall over?</a:t>
            </a:r>
          </a:p>
          <a:p>
            <a:pPr algn="l">
              <a:spcAft>
                <a:spcPts val="0"/>
              </a:spcAft>
            </a:pPr>
            <a:r>
              <a:rPr sz="1800" b="0" i="0">
                <a:solidFill>
                  <a:srgbClr val="6B6B6B"/>
                </a:solidFill>
                <a:latin typeface="Arial"/>
              </a:rPr>
              <a:t>The smaller one. The memory counter says the opposite.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GPU util % cannot tell prefill from decode.</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Measured on vLLM by Elastic Observability Labs (2025): GR_ENGINE_ACTIVE 99.8%, PIPE_TENSOR_ACTIVE 16.6%, DRAM_ACTIVE 80.4%. MFU/MBU framing: Lightbits, The Utilization Illusion.</a:t>
            </a:r>
          </a:p>
        </p:txBody>
      </p:sp>
      <p:sp>
        <p:nvSpPr>
          <p:cNvPr id="4" name="TextBox 3"/>
          <p:cNvSpPr txBox="1"/>
          <p:nvPr/>
        </p:nvSpPr>
        <p:spPr>
          <a:xfrm>
            <a:off x="403682" y="1250000"/>
            <a:ext cx="5542318" cy="2300000"/>
          </a:xfrm>
          <a:prstGeom prst="rect">
            <a:avLst/>
          </a:prstGeom>
          <a:noFill/>
        </p:spPr>
        <p:txBody>
          <a:bodyPr wrap="square" anchor="t">
            <a:spAutoFit/>
          </a:bodyPr>
          <a:lstStyle/>
          <a:p>
            <a:pPr algn="l">
              <a:spcAft>
                <a:spcPts val="400"/>
              </a:spcAft>
            </a:pPr>
            <a:r>
              <a:rPr sz="2400" b="1" i="0">
                <a:solidFill>
                  <a:srgbClr val="991346"/>
                </a:solidFill>
                <a:latin typeface="Arial"/>
              </a:rPr>
              <a:t>Prefill</a:t>
            </a:r>
          </a:p>
          <a:p>
            <a:pPr algn="l">
              <a:spcAft>
                <a:spcPts val="400"/>
              </a:spcAft>
            </a:pPr>
            <a:r>
              <a:rPr sz="1800" b="0" i="0">
                <a:solidFill>
                  <a:srgbClr val="262626"/>
                </a:solidFill>
                <a:latin typeface="Arial"/>
              </a:rPr>
              <a:t>Whole prompt in one pass. Large matmuls. Compute-bound.</a:t>
            </a:r>
          </a:p>
          <a:p>
            <a:pPr algn="l">
              <a:spcAft>
                <a:spcPts val="400"/>
              </a:spcAft>
            </a:pPr>
            <a:r>
              <a:rPr sz="2400" b="1" i="0">
                <a:solidFill>
                  <a:srgbClr val="991346"/>
                </a:solidFill>
                <a:latin typeface="Arial"/>
              </a:rPr>
              <a:t>Decode</a:t>
            </a:r>
          </a:p>
          <a:p>
            <a:pPr algn="l">
              <a:spcAft>
                <a:spcPts val="0"/>
              </a:spcAft>
            </a:pPr>
            <a:r>
              <a:rPr sz="1800" b="0" i="0">
                <a:solidFill>
                  <a:srgbClr val="262626"/>
                </a:solidFill>
                <a:latin typeface="Arial"/>
              </a:rPr>
              <a:t>One token per step, re-reads the entire KV cache. Memory-bandwidth-bound.</a:t>
            </a:r>
          </a:p>
        </p:txBody>
      </p:sp>
      <p:sp>
        <p:nvSpPr>
          <p:cNvPr id="5" name="TextBox 4"/>
          <p:cNvSpPr txBox="1"/>
          <p:nvPr/>
        </p:nvSpPr>
        <p:spPr>
          <a:xfrm>
            <a:off x="403682" y="3750000"/>
            <a:ext cx="5542318" cy="2300000"/>
          </a:xfrm>
          <a:prstGeom prst="rect">
            <a:avLst/>
          </a:prstGeom>
          <a:noFill/>
        </p:spPr>
        <p:txBody>
          <a:bodyPr wrap="square" anchor="t">
            <a:spAutoFit/>
          </a:bodyPr>
          <a:lstStyle/>
          <a:p>
            <a:pPr algn="l">
              <a:spcAft>
                <a:spcPts val="600"/>
              </a:spcAft>
            </a:pPr>
            <a:r>
              <a:rPr sz="1600" b="0" i="0">
                <a:solidFill>
                  <a:srgbClr val="262626"/>
                </a:solidFill>
                <a:latin typeface="Courier New"/>
              </a:rPr>
              <a:t>DCGM_FI_DEV_GPU_UTIL = "a kernel was running in the sample window"</a:t>
            </a:r>
          </a:p>
          <a:p>
            <a:pPr algn="l">
              <a:spcAft>
                <a:spcPts val="0"/>
              </a:spcAft>
            </a:pPr>
            <a:r>
              <a:rPr sz="1800" b="0" i="0">
                <a:solidFill>
                  <a:srgbClr val="262626"/>
                </a:solidFill>
                <a:latin typeface="Arial"/>
              </a:rPr>
              <a:t>One busy thread = 100%. It cannot see which phase you are in, or how much of the silicon is working.</a:t>
            </a:r>
          </a:p>
        </p:txBody>
      </p:sp>
      <p:graphicFrame>
        <p:nvGraphicFramePr>
          <p:cNvPr id="6" name="Table 5"/>
          <p:cNvGraphicFramePr>
            <a:graphicFrameLocks noGrp="1"/>
          </p:cNvGraphicFramePr>
          <p:nvPr/>
        </p:nvGraphicFramePr>
        <p:xfrm>
          <a:off x="6246000" y="1350000"/>
          <a:ext cx="5542318" cy="2000000"/>
        </p:xfrm>
        <a:graphic>
          <a:graphicData uri="http://schemas.openxmlformats.org/drawingml/2006/table">
            <a:tbl>
              <a:tblPr firstRow="1" bandRow="1">
                <a:tableStyleId>{5C22544A-7EE6-4342-B048-85BDC9FD1C3A}</a:tableStyleId>
              </a:tblPr>
              <a:tblGrid>
                <a:gridCol w="4042318"/>
                <a:gridCol w="1500000"/>
              </a:tblGrid>
              <a:tr h="500000">
                <a:tc>
                  <a:txBody>
                    <a:bodyPr/>
                    <a:lstStyle/>
                    <a:p>
                      <a:r>
                        <a:rPr sz="1600" b="1" i="0">
                          <a:solidFill>
                            <a:srgbClr val="FFFFFF"/>
                          </a:solidFill>
                          <a:latin typeface="Arial"/>
                        </a:rPr>
                        <a:t>vLLM under load, same second</a:t>
                      </a:r>
                    </a:p>
                  </a:txBody>
                  <a:tcPr marL="91440" marR="91440" marT="45720" marB="45720">
                    <a:solidFill>
                      <a:srgbClr val="991346"/>
                    </a:solidFill>
                  </a:tcPr>
                </a:tc>
                <a:tc>
                  <a:txBody>
                    <a:bodyPr/>
                    <a:lstStyle/>
                    <a:p>
                      <a:r>
                        <a:rPr sz="1600" b="1" i="0">
                          <a:solidFill>
                            <a:srgbClr val="FFFFFF"/>
                          </a:solidFill>
                          <a:latin typeface="Arial"/>
                        </a:rPr>
                        <a:t>value</a:t>
                      </a:r>
                    </a:p>
                  </a:txBody>
                  <a:tcPr marL="91440" marR="91440" marT="45720" marB="45720">
                    <a:solidFill>
                      <a:srgbClr val="991346"/>
                    </a:solidFill>
                  </a:tcPr>
                </a:tc>
              </a:tr>
              <a:tr h="500000">
                <a:tc>
                  <a:txBody>
                    <a:bodyPr/>
                    <a:lstStyle/>
                    <a:p>
                      <a:r>
                        <a:rPr sz="1600" b="0" i="0">
                          <a:solidFill>
                            <a:srgbClr val="262626"/>
                          </a:solidFill>
                          <a:latin typeface="Arial"/>
                        </a:rPr>
                        <a:t>GR_ENGINE_ACTIVE ("utilisation")</a:t>
                      </a:r>
                    </a:p>
                  </a:txBody>
                  <a:tcPr marL="91440" marR="91440" marT="45720" marB="45720">
                    <a:solidFill>
                      <a:srgbClr val="FFFFFF"/>
                    </a:solidFill>
                  </a:tcPr>
                </a:tc>
                <a:tc>
                  <a:txBody>
                    <a:bodyPr/>
                    <a:lstStyle/>
                    <a:p>
                      <a:r>
                        <a:rPr sz="1600" b="0" i="0">
                          <a:solidFill>
                            <a:srgbClr val="262626"/>
                          </a:solidFill>
                          <a:latin typeface="Arial"/>
                        </a:rPr>
                        <a:t>99.8%</a:t>
                      </a:r>
                    </a:p>
                  </a:txBody>
                  <a:tcPr marL="91440" marR="91440" marT="45720" marB="45720">
                    <a:solidFill>
                      <a:srgbClr val="FFFFFF"/>
                    </a:solidFill>
                  </a:tcPr>
                </a:tc>
              </a:tr>
              <a:tr h="500000">
                <a:tc>
                  <a:txBody>
                    <a:bodyPr/>
                    <a:lstStyle/>
                    <a:p>
                      <a:r>
                        <a:rPr sz="1600" b="0" i="0">
                          <a:solidFill>
                            <a:srgbClr val="262626"/>
                          </a:solidFill>
                          <a:latin typeface="Arial"/>
                        </a:rPr>
                        <a:t>PIPE_TENSOR_ACTIVE (tensor cores)</a:t>
                      </a:r>
                    </a:p>
                  </a:txBody>
                  <a:tcPr marL="91440" marR="91440" marT="45720" marB="45720">
                    <a:solidFill>
                      <a:srgbClr val="F3F3F3"/>
                    </a:solidFill>
                  </a:tcPr>
                </a:tc>
                <a:tc>
                  <a:txBody>
                    <a:bodyPr/>
                    <a:lstStyle/>
                    <a:p>
                      <a:r>
                        <a:rPr sz="1600" b="0" i="0">
                          <a:solidFill>
                            <a:srgbClr val="262626"/>
                          </a:solidFill>
                          <a:latin typeface="Arial"/>
                        </a:rPr>
                        <a:t>16.6%</a:t>
                      </a:r>
                    </a:p>
                  </a:txBody>
                  <a:tcPr marL="91440" marR="91440" marT="45720" marB="45720">
                    <a:solidFill>
                      <a:srgbClr val="F3F3F3"/>
                    </a:solidFill>
                  </a:tcPr>
                </a:tc>
              </a:tr>
              <a:tr h="500000">
                <a:tc>
                  <a:txBody>
                    <a:bodyPr/>
                    <a:lstStyle/>
                    <a:p>
                      <a:r>
                        <a:rPr sz="1600" b="0" i="0">
                          <a:solidFill>
                            <a:srgbClr val="262626"/>
                          </a:solidFill>
                          <a:latin typeface="Arial"/>
                        </a:rPr>
                        <a:t>DRAM_ACTIVE (memory bus)</a:t>
                      </a:r>
                    </a:p>
                  </a:txBody>
                  <a:tcPr marL="91440" marR="91440" marT="45720" marB="45720">
                    <a:solidFill>
                      <a:srgbClr val="FFFFFF"/>
                    </a:solidFill>
                  </a:tcPr>
                </a:tc>
                <a:tc>
                  <a:txBody>
                    <a:bodyPr/>
                    <a:lstStyle/>
                    <a:p>
                      <a:r>
                        <a:rPr sz="1600" b="0" i="0">
                          <a:solidFill>
                            <a:srgbClr val="262626"/>
                          </a:solidFill>
                          <a:latin typeface="Arial"/>
                        </a:rPr>
                        <a:t>80.4%</a:t>
                      </a:r>
                    </a:p>
                  </a:txBody>
                  <a:tcPr marL="91440" marR="91440" marT="45720" marB="45720">
                    <a:solidFill>
                      <a:srgbClr val="FFFFFF"/>
                    </a:solidFill>
                  </a:tcPr>
                </a:tc>
              </a:tr>
            </a:tbl>
          </a:graphicData>
        </a:graphic>
      </p:graphicFrame>
      <p:sp>
        <p:nvSpPr>
          <p:cNvPr id="7" name="TextBox 6"/>
          <p:cNvSpPr txBox="1"/>
          <p:nvPr/>
        </p:nvSpPr>
        <p:spPr>
          <a:xfrm>
            <a:off x="6246000" y="3650000"/>
            <a:ext cx="5542318" cy="2200000"/>
          </a:xfrm>
          <a:prstGeom prst="rect">
            <a:avLst/>
          </a:prstGeom>
          <a:noFill/>
        </p:spPr>
        <p:txBody>
          <a:bodyPr wrap="square" anchor="t">
            <a:spAutoFit/>
          </a:bodyPr>
          <a:lstStyle/>
          <a:p>
            <a:pPr algn="l">
              <a:spcAft>
                <a:spcPts val="600"/>
              </a:spcAft>
            </a:pPr>
            <a:r>
              <a:rPr sz="1800" b="1" i="0">
                <a:solidFill>
                  <a:srgbClr val="262626"/>
                </a:solidFill>
                <a:latin typeface="Arial"/>
              </a:rPr>
              <a:t>Bandwidth-bound, not compute-saturated. "Utilisation" said neither.</a:t>
            </a:r>
          </a:p>
          <a:p>
            <a:pPr algn="l">
              <a:spcAft>
                <a:spcPts val="0"/>
              </a:spcAft>
            </a:pPr>
            <a:r>
              <a:rPr sz="1600" b="0" i="0">
                <a:solidFill>
                  <a:srgbClr val="6B6B6B"/>
                </a:solidFill>
                <a:latin typeface="Arial"/>
              </a:rPr>
              <a:t>The field now talks MFU / MBU: 99% util with 15 to 40% model-FLOPs utilisation is normal for serving.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Counters that mislead, counters that matter.</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DCGM field IDs: docs.nvidia.com/datacenter/dcgm. Profiling (PROF_*) fields need a profiling-capable GPU and DCGM &gt;= 2.x.</a:t>
            </a:r>
          </a:p>
        </p:txBody>
      </p:sp>
      <p:graphicFrame>
        <p:nvGraphicFramePr>
          <p:cNvPr id="4" name="Table 3"/>
          <p:cNvGraphicFramePr>
            <a:graphicFrameLocks noGrp="1"/>
          </p:cNvGraphicFramePr>
          <p:nvPr/>
        </p:nvGraphicFramePr>
        <p:xfrm>
          <a:off x="403682" y="1250000"/>
          <a:ext cx="11384636" cy="3300000"/>
        </p:xfrm>
        <a:graphic>
          <a:graphicData uri="http://schemas.openxmlformats.org/drawingml/2006/table">
            <a:tbl>
              <a:tblPr firstRow="1" bandRow="1">
                <a:tableStyleId>{5C22544A-7EE6-4342-B048-85BDC9FD1C3A}</a:tableStyleId>
              </a:tblPr>
              <a:tblGrid>
                <a:gridCol w="3000000"/>
                <a:gridCol w="2100000"/>
                <a:gridCol w="3500000"/>
                <a:gridCol w="2784636"/>
              </a:tblGrid>
              <a:tr h="550000">
                <a:tc>
                  <a:txBody>
                    <a:bodyPr/>
                    <a:lstStyle/>
                    <a:p>
                      <a:r>
                        <a:rPr sz="1300" b="1" i="0">
                          <a:solidFill>
                            <a:srgbClr val="FFFFFF"/>
                          </a:solidFill>
                          <a:latin typeface="Arial"/>
                        </a:rPr>
                        <a:t>Misleading on an inference server</a:t>
                      </a:r>
                    </a:p>
                  </a:txBody>
                  <a:tcPr marL="91440" marR="91440" marT="45720" marB="45720">
                    <a:solidFill>
                      <a:srgbClr val="991346"/>
                    </a:solidFill>
                  </a:tcPr>
                </a:tc>
                <a:tc>
                  <a:txBody>
                    <a:bodyPr/>
                    <a:lstStyle/>
                    <a:p>
                      <a:r>
                        <a:rPr sz="1300" b="1" i="0">
                          <a:solidFill>
                            <a:srgbClr val="FFFFFF"/>
                          </a:solidFill>
                          <a:latin typeface="Arial"/>
                        </a:rPr>
                        <a:t>Why</a:t>
                      </a:r>
                    </a:p>
                  </a:txBody>
                  <a:tcPr marL="91440" marR="91440" marT="45720" marB="45720">
                    <a:solidFill>
                      <a:srgbClr val="991346"/>
                    </a:solidFill>
                  </a:tcPr>
                </a:tc>
                <a:tc>
                  <a:txBody>
                    <a:bodyPr/>
                    <a:lstStyle/>
                    <a:p>
                      <a:r>
                        <a:rPr sz="1300" b="1" i="0">
                          <a:solidFill>
                            <a:srgbClr val="FFFFFF"/>
                          </a:solidFill>
                          <a:latin typeface="Arial"/>
                        </a:rPr>
                        <a:t>Meaningful</a:t>
                      </a:r>
                    </a:p>
                  </a:txBody>
                  <a:tcPr marL="91440" marR="91440" marT="45720" marB="45720">
                    <a:solidFill>
                      <a:srgbClr val="991346"/>
                    </a:solidFill>
                  </a:tcPr>
                </a:tc>
                <a:tc>
                  <a:txBody>
                    <a:bodyPr/>
                    <a:lstStyle/>
                    <a:p>
                      <a:r>
                        <a:rPr sz="1300" b="1" i="0">
                          <a:solidFill>
                            <a:srgbClr val="FFFFFF"/>
                          </a:solidFill>
                          <a:latin typeface="Arial"/>
                        </a:rPr>
                        <a:t>What it tells you</a:t>
                      </a:r>
                    </a:p>
                  </a:txBody>
                  <a:tcPr marL="91440" marR="91440" marT="45720" marB="45720">
                    <a:solidFill>
                      <a:srgbClr val="991346"/>
                    </a:solidFill>
                  </a:tcPr>
                </a:tc>
              </a:tr>
              <a:tr h="550000">
                <a:tc>
                  <a:txBody>
                    <a:bodyPr/>
                    <a:lstStyle/>
                    <a:p>
                      <a:r>
                        <a:rPr sz="1300" b="0" i="0">
                          <a:solidFill>
                            <a:srgbClr val="262626"/>
                          </a:solidFill>
                          <a:latin typeface="Arial"/>
                        </a:rPr>
                        <a:t>DCGM_FI_DEV_GPU_UTIL</a:t>
                      </a:r>
                    </a:p>
                  </a:txBody>
                  <a:tcPr marL="91440" marR="91440" marT="45720" marB="45720">
                    <a:solidFill>
                      <a:srgbClr val="FFFFFF"/>
                    </a:solidFill>
                  </a:tcPr>
                </a:tc>
                <a:tc>
                  <a:txBody>
                    <a:bodyPr/>
                    <a:lstStyle/>
                    <a:p>
                      <a:r>
                        <a:rPr sz="1300" b="0" i="0">
                          <a:solidFill>
                            <a:srgbClr val="262626"/>
                          </a:solidFill>
                          <a:latin typeface="Arial"/>
                        </a:rPr>
                        <a:t>any kernel = busy</a:t>
                      </a:r>
                    </a:p>
                  </a:txBody>
                  <a:tcPr marL="91440" marR="91440" marT="45720" marB="45720">
                    <a:solidFill>
                      <a:srgbClr val="FFFFFF"/>
                    </a:solidFill>
                  </a:tcPr>
                </a:tc>
                <a:tc>
                  <a:txBody>
                    <a:bodyPr/>
                    <a:lstStyle/>
                    <a:p>
                      <a:r>
                        <a:rPr sz="1300" b="0" i="0">
                          <a:solidFill>
                            <a:srgbClr val="262626"/>
                          </a:solidFill>
                          <a:latin typeface="Arial"/>
                        </a:rPr>
                        <a:t>DCGM_FI_PROF_SM_ACTIVE</a:t>
                      </a:r>
                    </a:p>
                  </a:txBody>
                  <a:tcPr marL="91440" marR="91440" marT="45720" marB="45720">
                    <a:solidFill>
                      <a:srgbClr val="FFFFFF"/>
                    </a:solidFill>
                  </a:tcPr>
                </a:tc>
                <a:tc>
                  <a:txBody>
                    <a:bodyPr/>
                    <a:lstStyle/>
                    <a:p>
                      <a:r>
                        <a:rPr sz="1300" b="0" i="0">
                          <a:solidFill>
                            <a:srgbClr val="262626"/>
                          </a:solidFill>
                          <a:latin typeface="Arial"/>
                        </a:rPr>
                        <a:t>share of SMs doing work</a:t>
                      </a:r>
                    </a:p>
                  </a:txBody>
                  <a:tcPr marL="91440" marR="91440" marT="45720" marB="45720">
                    <a:solidFill>
                      <a:srgbClr val="FFFFFF"/>
                    </a:solidFill>
                  </a:tcPr>
                </a:tc>
              </a:tr>
              <a:tr h="550000">
                <a:tc>
                  <a:txBody>
                    <a:bodyPr/>
                    <a:lstStyle/>
                    <a:p>
                      <a:r>
                        <a:rPr sz="1300" b="0" i="0">
                          <a:solidFill>
                            <a:srgbClr val="262626"/>
                          </a:solidFill>
                          <a:latin typeface="Arial"/>
                        </a:rPr>
                        <a:t>DCGM_FI_DEV_FB_USED</a:t>
                      </a:r>
                    </a:p>
                  </a:txBody>
                  <a:tcPr marL="91440" marR="91440" marT="45720" marB="45720">
                    <a:solidFill>
                      <a:srgbClr val="F3F3F3"/>
                    </a:solidFill>
                  </a:tcPr>
                </a:tc>
                <a:tc>
                  <a:txBody>
                    <a:bodyPr/>
                    <a:lstStyle/>
                    <a:p>
                      <a:r>
                        <a:rPr sz="1300" b="0" i="0">
                          <a:solidFill>
                            <a:srgbClr val="262626"/>
                          </a:solidFill>
                          <a:latin typeface="Arial"/>
                        </a:rPr>
                        <a:t>pre-allocated, flat</a:t>
                      </a:r>
                    </a:p>
                  </a:txBody>
                  <a:tcPr marL="91440" marR="91440" marT="45720" marB="45720">
                    <a:solidFill>
                      <a:srgbClr val="F3F3F3"/>
                    </a:solidFill>
                  </a:tcPr>
                </a:tc>
                <a:tc>
                  <a:txBody>
                    <a:bodyPr/>
                    <a:lstStyle/>
                    <a:p>
                      <a:r>
                        <a:rPr sz="1300" b="0" i="0">
                          <a:solidFill>
                            <a:srgbClr val="262626"/>
                          </a:solidFill>
                          <a:latin typeface="Arial"/>
                        </a:rPr>
                        <a:t>DCGM_FI_PROF_SM_OCCUPANCY</a:t>
                      </a:r>
                    </a:p>
                  </a:txBody>
                  <a:tcPr marL="91440" marR="91440" marT="45720" marB="45720">
                    <a:solidFill>
                      <a:srgbClr val="F3F3F3"/>
                    </a:solidFill>
                  </a:tcPr>
                </a:tc>
                <a:tc>
                  <a:txBody>
                    <a:bodyPr/>
                    <a:lstStyle/>
                    <a:p>
                      <a:r>
                        <a:rPr sz="1300" b="0" i="0">
                          <a:solidFill>
                            <a:srgbClr val="262626"/>
                          </a:solidFill>
                          <a:latin typeface="Arial"/>
                        </a:rPr>
                        <a:t>warps resident per SM</a:t>
                      </a:r>
                    </a:p>
                  </a:txBody>
                  <a:tcPr marL="91440" marR="91440" marT="45720" marB="45720">
                    <a:solidFill>
                      <a:srgbClr val="F3F3F3"/>
                    </a:solidFill>
                  </a:tcPr>
                </a:tc>
              </a:tr>
              <a:tr h="550000">
                <a:tc>
                  <a:txBody>
                    <a:bodyPr/>
                    <a:lstStyle/>
                    <a:p>
                      <a:r>
                        <a:rPr sz="1300" b="0" i="0">
                          <a:solidFill>
                            <a:srgbClr val="262626"/>
                          </a:solidFill>
                          <a:latin typeface="Arial"/>
                        </a:rPr>
                        <a:t>DCGM_FI_DEV_MEM_COPY_UTIL</a:t>
                      </a:r>
                    </a:p>
                  </a:txBody>
                  <a:tcPr marL="91440" marR="91440" marT="45720" marB="45720">
                    <a:solidFill>
                      <a:srgbClr val="FFFFFF"/>
                    </a:solidFill>
                  </a:tcPr>
                </a:tc>
                <a:tc>
                  <a:txBody>
                    <a:bodyPr/>
                    <a:lstStyle/>
                    <a:p>
                      <a:r>
                        <a:rPr sz="1300" b="0" i="0">
                          <a:solidFill>
                            <a:srgbClr val="262626"/>
                          </a:solidFill>
                          <a:latin typeface="Arial"/>
                        </a:rPr>
                        <a:t>copy engine only</a:t>
                      </a:r>
                    </a:p>
                  </a:txBody>
                  <a:tcPr marL="91440" marR="91440" marT="45720" marB="45720">
                    <a:solidFill>
                      <a:srgbClr val="FFFFFF"/>
                    </a:solidFill>
                  </a:tcPr>
                </a:tc>
                <a:tc>
                  <a:txBody>
                    <a:bodyPr/>
                    <a:lstStyle/>
                    <a:p>
                      <a:r>
                        <a:rPr sz="1300" b="0" i="0">
                          <a:solidFill>
                            <a:srgbClr val="262626"/>
                          </a:solidFill>
                          <a:latin typeface="Arial"/>
                        </a:rPr>
                        <a:t>DCGM_FI_PROF_DRAM_ACTIVE</a:t>
                      </a:r>
                    </a:p>
                  </a:txBody>
                  <a:tcPr marL="91440" marR="91440" marT="45720" marB="45720">
                    <a:solidFill>
                      <a:srgbClr val="FFFFFF"/>
                    </a:solidFill>
                  </a:tcPr>
                </a:tc>
                <a:tc>
                  <a:txBody>
                    <a:bodyPr/>
                    <a:lstStyle/>
                    <a:p>
                      <a:r>
                        <a:rPr sz="1300" b="0" i="0">
                          <a:solidFill>
                            <a:srgbClr val="262626"/>
                          </a:solidFill>
                          <a:latin typeface="Arial"/>
                        </a:rPr>
                        <a:t>memory-bandwidth-bound?</a:t>
                      </a:r>
                    </a:p>
                  </a:txBody>
                  <a:tcPr marL="91440" marR="91440" marT="45720" marB="45720">
                    <a:solidFill>
                      <a:srgbClr val="FFFFFF"/>
                    </a:solidFill>
                  </a:tcPr>
                </a:tc>
              </a:tr>
              <a:tr h="550000">
                <a:tc>
                  <a:txBody>
                    <a:bodyPr/>
                    <a:lstStyle/>
                    <a:p>
                      <a:r>
                        <a:rPr sz="1300" b="0" i="0">
                          <a:solidFill>
                            <a:srgbClr val="262626"/>
                          </a:solidFill>
                          <a:latin typeface="Arial"/>
                        </a:rPr>
                        <a:t>nvidia-smi "Volatile GPU-Util"</a:t>
                      </a:r>
                    </a:p>
                  </a:txBody>
                  <a:tcPr marL="91440" marR="91440" marT="45720" marB="45720">
                    <a:solidFill>
                      <a:srgbClr val="F3F3F3"/>
                    </a:solidFill>
                  </a:tcPr>
                </a:tc>
                <a:tc>
                  <a:txBody>
                    <a:bodyPr/>
                    <a:lstStyle/>
                    <a:p>
                      <a:r>
                        <a:rPr sz="1300" b="0" i="0">
                          <a:solidFill>
                            <a:srgbClr val="262626"/>
                          </a:solidFill>
                          <a:latin typeface="Arial"/>
                        </a:rPr>
                        <a:t>same as GPU_UTIL</a:t>
                      </a:r>
                    </a:p>
                  </a:txBody>
                  <a:tcPr marL="91440" marR="91440" marT="45720" marB="45720">
                    <a:solidFill>
                      <a:srgbClr val="F3F3F3"/>
                    </a:solidFill>
                  </a:tcPr>
                </a:tc>
                <a:tc>
                  <a:txBody>
                    <a:bodyPr/>
                    <a:lstStyle/>
                    <a:p>
                      <a:r>
                        <a:rPr sz="1300" b="0" i="0">
                          <a:solidFill>
                            <a:srgbClr val="262626"/>
                          </a:solidFill>
                          <a:latin typeface="Arial"/>
                        </a:rPr>
                        <a:t>DCGM_FI_PROF_PIPE_TENSOR_ACTIVE</a:t>
                      </a:r>
                    </a:p>
                  </a:txBody>
                  <a:tcPr marL="91440" marR="91440" marT="45720" marB="45720">
                    <a:solidFill>
                      <a:srgbClr val="F3F3F3"/>
                    </a:solidFill>
                  </a:tcPr>
                </a:tc>
                <a:tc>
                  <a:txBody>
                    <a:bodyPr/>
                    <a:lstStyle/>
                    <a:p>
                      <a:r>
                        <a:rPr sz="1300" b="0" i="0">
                          <a:solidFill>
                            <a:srgbClr val="262626"/>
                          </a:solidFill>
                          <a:latin typeface="Arial"/>
                        </a:rPr>
                        <a:t>tensor cores actually used</a:t>
                      </a:r>
                    </a:p>
                  </a:txBody>
                  <a:tcPr marL="91440" marR="91440" marT="45720" marB="45720">
                    <a:solidFill>
                      <a:srgbClr val="F3F3F3"/>
                    </a:solidFill>
                  </a:tcPr>
                </a:tc>
              </a:tr>
              <a:tr h="550000">
                <a:tc>
                  <a:txBody>
                    <a:bodyPr/>
                    <a:lstStyle/>
                    <a:p>
                      <a:r>
                        <a:rPr sz="1300" b="0" i="0">
                          <a:solidFill>
                            <a:srgbClr val="262626"/>
                          </a:solidFill>
                          <a:latin typeface="Arial"/>
                        </a:rPr>
                        <a:t/>
                      </a:r>
                    </a:p>
                  </a:txBody>
                  <a:tcPr marL="91440" marR="91440" marT="45720" marB="45720">
                    <a:solidFill>
                      <a:srgbClr val="FFFFFF"/>
                    </a:solidFill>
                  </a:tcPr>
                </a:tc>
                <a:tc>
                  <a:txBody>
                    <a:bodyPr/>
                    <a:lstStyle/>
                    <a:p>
                      <a:r>
                        <a:rPr sz="1300" b="0" i="0">
                          <a:solidFill>
                            <a:srgbClr val="262626"/>
                          </a:solidFill>
                          <a:latin typeface="Arial"/>
                        </a:rPr>
                        <a:t/>
                      </a:r>
                    </a:p>
                  </a:txBody>
                  <a:tcPr marL="91440" marR="91440" marT="45720" marB="45720">
                    <a:solidFill>
                      <a:srgbClr val="FFFFFF"/>
                    </a:solidFill>
                  </a:tcPr>
                </a:tc>
                <a:tc>
                  <a:txBody>
                    <a:bodyPr/>
                    <a:lstStyle/>
                    <a:p>
                      <a:r>
                        <a:rPr sz="1300" b="0" i="0">
                          <a:solidFill>
                            <a:srgbClr val="262626"/>
                          </a:solidFill>
                          <a:latin typeface="Arial"/>
                        </a:rPr>
                        <a:t>DCGM_FI_DEV_POWER_USAGE vs TDP</a:t>
                      </a:r>
                    </a:p>
                  </a:txBody>
                  <a:tcPr marL="91440" marR="91440" marT="45720" marB="45720">
                    <a:solidFill>
                      <a:srgbClr val="FFFFFF"/>
                    </a:solidFill>
                  </a:tcPr>
                </a:tc>
                <a:tc>
                  <a:txBody>
                    <a:bodyPr/>
                    <a:lstStyle/>
                    <a:p>
                      <a:r>
                        <a:rPr sz="1300" b="0" i="0">
                          <a:solidFill>
                            <a:srgbClr val="262626"/>
                          </a:solidFill>
                          <a:latin typeface="Arial"/>
                        </a:rPr>
                        <a:t>cheapest idle detector</a:t>
                      </a:r>
                    </a:p>
                  </a:txBody>
                  <a:tcPr marL="91440" marR="91440" marT="45720" marB="45720">
                    <a:solidFill>
                      <a:srgbClr val="FFFFFF"/>
                    </a:solidFill>
                  </a:tcPr>
                </a:tc>
              </a:tr>
            </a:tbl>
          </a:graphicData>
        </a:graphic>
      </p:graphicFrame>
      <p:sp>
        <p:nvSpPr>
          <p:cNvPr id="5" name="TextBox 4"/>
          <p:cNvSpPr txBox="1"/>
          <p:nvPr/>
        </p:nvSpPr>
        <p:spPr>
          <a:xfrm>
            <a:off x="403682" y="4750000"/>
            <a:ext cx="11384636" cy="1200000"/>
          </a:xfrm>
          <a:prstGeom prst="rect">
            <a:avLst/>
          </a:prstGeom>
          <a:noFill/>
        </p:spPr>
        <p:txBody>
          <a:bodyPr wrap="square" anchor="t">
            <a:spAutoFit/>
          </a:bodyPr>
          <a:lstStyle/>
          <a:p>
            <a:pPr algn="l">
              <a:spcAft>
                <a:spcPts val="600"/>
              </a:spcAft>
            </a:pPr>
            <a:r>
              <a:rPr sz="2800" b="1" i="0">
                <a:solidFill>
                  <a:srgbClr val="991346"/>
                </a:solidFill>
                <a:latin typeface="Arial"/>
              </a:rPr>
              <a:t>And none of them know what a token is.</a:t>
            </a:r>
          </a:p>
          <a:p>
            <a:pPr algn="l">
              <a:spcAft>
                <a:spcPts val="0"/>
              </a:spcAft>
            </a:pPr>
            <a:r>
              <a:rPr sz="1800" b="0" i="0">
                <a:solidFill>
                  <a:srgbClr val="262626"/>
                </a:solidFill>
                <a:latin typeface="Arial"/>
              </a:rPr>
              <a:t>Queue depth, KV cache pressure, tokens per second: those belong to the serving framework, not the silicon.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1700000"/>
            <a:ext cx="11384636" cy="3400000"/>
          </a:xfrm>
          <a:prstGeom prst="rect">
            <a:avLst/>
          </a:prstGeom>
          <a:noFill/>
        </p:spPr>
        <p:txBody>
          <a:bodyPr wrap="square" anchor="ctr">
            <a:spAutoFit/>
          </a:bodyPr>
          <a:lstStyle/>
          <a:p>
            <a:pPr algn="l">
              <a:spcAft>
                <a:spcPts val="1800"/>
              </a:spcAft>
            </a:pPr>
            <a:r>
              <a:rPr sz="5400" b="1" i="0">
                <a:solidFill>
                  <a:srgbClr val="FFFFFF"/>
                </a:solidFill>
                <a:latin typeface="Arial"/>
              </a:rPr>
              <a:t>The pod is the join key.</a:t>
            </a:r>
          </a:p>
          <a:p>
            <a:pPr algn="l">
              <a:spcAft>
                <a:spcPts val="0"/>
              </a:spcAft>
            </a:pPr>
            <a:r>
              <a:rPr sz="2200" b="0" i="0">
                <a:solidFill>
                  <a:srgbClr val="FFFFFF"/>
                </a:solidFill>
                <a:latin typeface="Arial"/>
              </a:rPr>
              <a:t>Hardware counters, serving logs and traces each know the pod name. Nothing else is common to all three.</a:t>
            </a:r>
          </a:p>
        </p:txBody>
      </p:sp>
      <p:sp>
        <p:nvSpPr>
          <p:cNvPr id="3" name="TextBox 2"/>
          <p:cNvSpPr txBox="1"/>
          <p:nvPr/>
        </p:nvSpPr>
        <p:spPr>
          <a:xfrm>
            <a:off x="403682" y="5600000"/>
            <a:ext cx="11384636" cy="700000"/>
          </a:xfrm>
          <a:prstGeom prst="rect">
            <a:avLst/>
          </a:prstGeom>
          <a:noFill/>
        </p:spPr>
        <p:txBody>
          <a:bodyPr wrap="square" anchor="t">
            <a:spAutoFit/>
          </a:bodyPr>
          <a:lstStyle/>
          <a:p>
            <a:pPr algn="l">
              <a:spcAft>
                <a:spcPts val="0"/>
              </a:spcAft>
            </a:pPr>
            <a:r>
              <a:rPr sz="1300" b="0" i="0">
                <a:solidFill>
                  <a:srgbClr val="FFFFFF"/>
                </a:solidFill>
                <a:latin typeface="Arial"/>
              </a:rPr>
              <a:t>K8s 1.35: Dynamic Resource Allocation is stable; dcgm-exporter 4.8.4 adds pod_uid + ResourceSlice mapping. Same join key, new plumbing.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Signal 1: DCGM, per pod.</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dcgm-exporter --kubernetes reads /var/lib/kubelet/pod-resources. EKS Auto Mode: standalone dcgm-exporter, not the GPU Operator (see slide 15).</a:t>
            </a:r>
          </a:p>
        </p:txBody>
      </p:sp>
      <p:sp>
        <p:nvSpPr>
          <p:cNvPr id="4" name="TextBox 3"/>
          <p:cNvSpPr txBox="1"/>
          <p:nvPr/>
        </p:nvSpPr>
        <p:spPr>
          <a:xfrm>
            <a:off x="403682" y="1250000"/>
            <a:ext cx="5542318" cy="2300000"/>
          </a:xfrm>
          <a:prstGeom prst="rect">
            <a:avLst/>
          </a:prstGeom>
          <a:solidFill>
            <a:srgbClr val="F3F3F3"/>
          </a:solidFill>
        </p:spPr>
        <p:txBody>
          <a:bodyPr wrap="square" anchor="t">
            <a:spAutoFit/>
          </a:bodyPr>
          <a:lstStyle/>
          <a:p>
            <a:pPr algn="l">
              <a:spcAft>
                <a:spcPts val="0"/>
              </a:spcAft>
            </a:pPr>
            <a:r>
              <a:rPr sz="1000" b="0" i="0">
                <a:solidFill>
                  <a:srgbClr val="262626"/>
                </a:solidFill>
                <a:latin typeface="Courier New"/>
              </a:rPr>
              <a:t>args:</a:t>
            </a:r>
          </a:p>
          <a:p>
            <a:pPr algn="l">
              <a:spcAft>
                <a:spcPts val="0"/>
              </a:spcAft>
            </a:pPr>
            <a:r>
              <a:rPr sz="1000" b="0" i="0">
                <a:solidFill>
                  <a:srgbClr val="262626"/>
                </a:solidFill>
                <a:latin typeface="Courier New"/>
              </a:rPr>
              <a:t>  - -f /etc/dcgm-exporter/counters.csv</a:t>
            </a:r>
          </a:p>
          <a:p>
            <a:pPr algn="l">
              <a:spcAft>
                <a:spcPts val="0"/>
              </a:spcAft>
            </a:pPr>
            <a:r>
              <a:rPr sz="1000" b="0" i="0">
                <a:solidFill>
                  <a:srgbClr val="262626"/>
                </a:solidFill>
                <a:latin typeface="Courier New"/>
              </a:rPr>
              <a:t>  - --kubernetes=true</a:t>
            </a:r>
          </a:p>
          <a:p>
            <a:pPr algn="l">
              <a:spcAft>
                <a:spcPts val="0"/>
              </a:spcAft>
            </a:pPr>
            <a:r>
              <a:rPr sz="1000" b="0" i="0">
                <a:solidFill>
                  <a:srgbClr val="262626"/>
                </a:solidFill>
                <a:latin typeface="Courier New"/>
              </a:rPr>
              <a:t>  - --kubernetes-gpu-id-type=uid</a:t>
            </a:r>
          </a:p>
          <a:p>
            <a:pPr algn="l">
              <a:spcAft>
                <a:spcPts val="0"/>
              </a:spcAft>
            </a:pPr>
            <a:r>
              <a:rPr sz="1000" b="0" i="0">
                <a:solidFill>
                  <a:srgbClr val="262626"/>
                </a:solidFill>
                <a:latin typeface="Courier New"/>
              </a:rPr>
              <a:t>env:</a:t>
            </a:r>
          </a:p>
          <a:p>
            <a:pPr algn="l">
              <a:spcAft>
                <a:spcPts val="0"/>
              </a:spcAft>
            </a:pPr>
            <a:r>
              <a:rPr sz="1000" b="0" i="0">
                <a:solidFill>
                  <a:srgbClr val="262626"/>
                </a:solidFill>
                <a:latin typeface="Courier New"/>
              </a:rPr>
              <a:t>  DCGM_EXPORTER_KUBERNETES_ENABLE_POD_LABELS: "false"</a:t>
            </a:r>
          </a:p>
          <a:p>
            <a:pPr algn="l">
              <a:spcAft>
                <a:spcPts val="0"/>
              </a:spcAft>
            </a:pPr>
            <a:r>
              <a:rPr sz="1000" b="0" i="0">
                <a:solidFill>
                  <a:srgbClr val="262626"/>
                </a:solidFill>
                <a:latin typeface="Courier New"/>
              </a:rPr>
              <a:t>volumeMounts:</a:t>
            </a:r>
          </a:p>
          <a:p>
            <a:pPr algn="l">
              <a:spcAft>
                <a:spcPts val="0"/>
              </a:spcAft>
            </a:pPr>
            <a:r>
              <a:rPr sz="1000" b="0" i="0">
                <a:solidFill>
                  <a:srgbClr val="262626"/>
                </a:solidFill>
                <a:latin typeface="Courier New"/>
              </a:rPr>
              <a:t>  - /var/lib/kubelet/pod-resources  (ro)</a:t>
            </a:r>
          </a:p>
        </p:txBody>
      </p:sp>
      <p:sp>
        <p:nvSpPr>
          <p:cNvPr id="5" name="TextBox 4"/>
          <p:cNvSpPr txBox="1"/>
          <p:nvPr/>
        </p:nvSpPr>
        <p:spPr>
          <a:xfrm>
            <a:off x="403682" y="3700000"/>
            <a:ext cx="5542318" cy="1500000"/>
          </a:xfrm>
          <a:prstGeom prst="rect">
            <a:avLst/>
          </a:prstGeom>
          <a:solidFill>
            <a:srgbClr val="F3F3F3"/>
          </a:solidFill>
        </p:spPr>
        <p:txBody>
          <a:bodyPr wrap="square" anchor="t">
            <a:spAutoFit/>
          </a:bodyPr>
          <a:lstStyle/>
          <a:p>
            <a:pPr algn="l">
              <a:spcAft>
                <a:spcPts val="0"/>
              </a:spcAft>
            </a:pPr>
            <a:r>
              <a:rPr sz="1000" b="0" i="0">
                <a:solidFill>
                  <a:srgbClr val="262626"/>
                </a:solidFill>
                <a:latin typeface="Courier New"/>
              </a:rPr>
              <a:t>DCGM_FI_DEV_FB_USED{exported_pod="vllm-constrained-7f9f...",</a:t>
            </a:r>
          </a:p>
          <a:p>
            <a:pPr algn="l">
              <a:spcAft>
                <a:spcPts val="0"/>
              </a:spcAft>
            </a:pPr>
            <a:r>
              <a:rPr sz="1000" b="0" i="0">
                <a:solidFill>
                  <a:srgbClr val="262626"/>
                </a:solidFill>
                <a:latin typeface="Courier New"/>
              </a:rPr>
              <a:t>                    exported_namespace="inference",</a:t>
            </a:r>
          </a:p>
          <a:p>
            <a:pPr algn="l">
              <a:spcAft>
                <a:spcPts val="0"/>
              </a:spcAft>
            </a:pPr>
            <a:r>
              <a:rPr sz="1000" b="0" i="0">
                <a:solidFill>
                  <a:srgbClr val="262626"/>
                </a:solidFill>
                <a:latin typeface="Courier New"/>
              </a:rPr>
              <a:t>                    gpu="0", modelName="NVIDIA A10G"} 3606</a:t>
            </a:r>
          </a:p>
        </p:txBody>
      </p:sp>
      <p:sp>
        <p:nvSpPr>
          <p:cNvPr id="6" name="TextBox 5"/>
          <p:cNvSpPr txBox="1"/>
          <p:nvPr/>
        </p:nvSpPr>
        <p:spPr>
          <a:xfrm>
            <a:off x="6246000" y="1250000"/>
            <a:ext cx="5542318" cy="4800000"/>
          </a:xfrm>
          <a:prstGeom prst="rect">
            <a:avLst/>
          </a:prstGeom>
          <a:noFill/>
        </p:spPr>
        <p:txBody>
          <a:bodyPr wrap="square" anchor="t">
            <a:spAutoFit/>
          </a:bodyPr>
          <a:lstStyle/>
          <a:p>
            <a:pPr algn="l">
              <a:spcAft>
                <a:spcPts val="800"/>
              </a:spcAft>
            </a:pPr>
            <a:r>
              <a:rPr sz="2000" b="1" i="0">
                <a:solidFill>
                  <a:srgbClr val="991346"/>
                </a:solidFill>
                <a:latin typeface="Arial"/>
              </a:rPr>
              <a:t>What it tells you</a:t>
            </a:r>
          </a:p>
          <a:p>
            <a:pPr algn="l" marL="285750" indent="-285750">
              <a:spcAft>
                <a:spcPts val="800"/>
              </a:spcAft>
              <a:buChar char="•"/>
            </a:pPr>
            <a:r>
              <a:rPr sz="1800" b="0" i="0">
                <a:solidFill>
                  <a:srgbClr val="262626"/>
                </a:solidFill>
                <a:latin typeface="Arial"/>
              </a:rPr>
              <a:t>Which pod holds which GPU</a:t>
            </a:r>
          </a:p>
          <a:p>
            <a:pPr algn="l" marL="285750" indent="-285750">
              <a:spcAft>
                <a:spcPts val="800"/>
              </a:spcAft>
              <a:buChar char="•"/>
            </a:pPr>
            <a:r>
              <a:rPr sz="1800" b="0" i="0">
                <a:solidFill>
                  <a:srgbClr val="262626"/>
                </a:solidFill>
                <a:latin typeface="Arial"/>
              </a:rPr>
              <a:t>Whether the silicon is busy (SM_ACTIVE, DRAM_ACTIVE)</a:t>
            </a:r>
          </a:p>
          <a:p>
            <a:pPr algn="l" marL="285750" indent="-285750">
              <a:spcAft>
                <a:spcPts val="800"/>
              </a:spcAft>
              <a:buChar char="•"/>
            </a:pPr>
            <a:r>
              <a:rPr sz="1800" b="0" i="0">
                <a:solidFill>
                  <a:srgbClr val="262626"/>
                </a:solidFill>
                <a:latin typeface="Arial"/>
              </a:rPr>
              <a:t>Power, temperature, memory pool size</a:t>
            </a:r>
          </a:p>
          <a:p>
            <a:pPr algn="l">
              <a:spcAft>
                <a:spcPts val="800"/>
              </a:spcAft>
            </a:pPr>
            <a:r>
              <a:rPr sz="2000" b="1" i="0">
                <a:solidFill>
                  <a:srgbClr val="991346"/>
                </a:solidFill>
                <a:latin typeface="Arial"/>
              </a:rPr>
              <a:t>What it cannot tell you</a:t>
            </a:r>
          </a:p>
          <a:p>
            <a:pPr algn="l" marL="285750" indent="-285750">
              <a:spcAft>
                <a:spcPts val="800"/>
              </a:spcAft>
              <a:buChar char="•"/>
            </a:pPr>
            <a:r>
              <a:rPr sz="1800" b="0" i="0">
                <a:solidFill>
                  <a:srgbClr val="262626"/>
                </a:solidFill>
                <a:latin typeface="Arial"/>
              </a:rPr>
              <a:t>Why the GPU is busy</a:t>
            </a:r>
          </a:p>
          <a:p>
            <a:pPr algn="l" marL="285750" indent="-285750">
              <a:spcAft>
                <a:spcPts val="800"/>
              </a:spcAft>
              <a:buChar char="•"/>
            </a:pPr>
            <a:r>
              <a:rPr sz="1800" b="0" i="0">
                <a:solidFill>
                  <a:srgbClr val="262626"/>
                </a:solidFill>
                <a:latin typeface="Arial"/>
              </a:rPr>
              <a:t>How many requests are queued</a:t>
            </a:r>
          </a:p>
          <a:p>
            <a:pPr algn="l" marL="285750" indent="-285750">
              <a:spcAft>
                <a:spcPts val="800"/>
              </a:spcAft>
              <a:buChar char="•"/>
            </a:pPr>
            <a:r>
              <a:rPr sz="1800" b="0" i="0">
                <a:solidFill>
                  <a:srgbClr val="262626"/>
                </a:solidFill>
                <a:latin typeface="Arial"/>
              </a:rPr>
              <a:t>Whether the KV cache is full</a:t>
            </a:r>
          </a:p>
          <a:p>
            <a:pPr algn="l" marL="285750" indent="-285750">
              <a:spcAft>
                <a:spcPts val="0"/>
              </a:spcAft>
              <a:buChar char="•"/>
            </a:pPr>
            <a:r>
              <a:rPr sz="1800" b="0" i="0">
                <a:solidFill>
                  <a:srgbClr val="262626"/>
                </a:solidFill>
                <a:latin typeface="Arial"/>
              </a:rPr>
              <a:t>Anything about tokens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Keep the join key. Drop every other label.</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Series math: Last9, 10,000 GPUs, one TSDB (last9.io/blog/10-000-gpus-one-tsdb-cardinality-at-gpu-scale). Rig: 7 counters, pod labels off.</a:t>
            </a:r>
          </a:p>
        </p:txBody>
      </p:sp>
      <p:sp>
        <p:nvSpPr>
          <p:cNvPr id="4" name="TextBox 3"/>
          <p:cNvSpPr txBox="1"/>
          <p:nvPr/>
        </p:nvSpPr>
        <p:spPr>
          <a:xfrm>
            <a:off x="403682" y="1250000"/>
            <a:ext cx="5542318" cy="2200000"/>
          </a:xfrm>
          <a:prstGeom prst="rect">
            <a:avLst/>
          </a:prstGeom>
          <a:noFill/>
        </p:spPr>
        <p:txBody>
          <a:bodyPr wrap="square" anchor="t">
            <a:spAutoFit/>
          </a:bodyPr>
          <a:lstStyle/>
          <a:p>
            <a:pPr algn="l">
              <a:spcAft>
                <a:spcPts val="600"/>
              </a:spcAft>
            </a:pPr>
            <a:r>
              <a:rPr sz="1800" b="0" i="0">
                <a:solidFill>
                  <a:srgbClr val="262626"/>
                </a:solidFill>
                <a:latin typeface="Courier New"/>
              </a:rPr>
              <a:t>1,000 nodes x 8 GPUs x 60 counters x 3 labels</a:t>
            </a:r>
          </a:p>
          <a:p>
            <a:pPr algn="l">
              <a:spcAft>
                <a:spcPts val="0"/>
              </a:spcAft>
            </a:pPr>
            <a:r>
              <a:rPr sz="4400" b="1" i="0">
                <a:solidFill>
                  <a:srgbClr val="991346"/>
                </a:solidFill>
                <a:latin typeface="Arial"/>
              </a:rPr>
              <a:t>= 1.4M series</a:t>
            </a:r>
          </a:p>
          <a:p>
            <a:pPr algn="l">
              <a:spcAft>
                <a:spcPts val="600"/>
              </a:spcAft>
            </a:pPr>
            <a:r>
              <a:rPr sz="1600" b="0" i="0">
                <a:solidFill>
                  <a:srgbClr val="6B6B6B"/>
                </a:solidFill>
                <a:latin typeface="Arial"/>
              </a:rPr>
              <a:t>before a single pod or job label. One ECC-per-block metric alone: +320k.</a:t>
            </a:r>
          </a:p>
        </p:txBody>
      </p:sp>
      <p:sp>
        <p:nvSpPr>
          <p:cNvPr id="5" name="TextBox 4"/>
          <p:cNvSpPr txBox="1"/>
          <p:nvPr/>
        </p:nvSpPr>
        <p:spPr>
          <a:xfrm>
            <a:off x="403682" y="3650000"/>
            <a:ext cx="5542318" cy="2400000"/>
          </a:xfrm>
          <a:prstGeom prst="rect">
            <a:avLst/>
          </a:prstGeom>
          <a:noFill/>
        </p:spPr>
        <p:txBody>
          <a:bodyPr wrap="square" anchor="t">
            <a:spAutoFit/>
          </a:bodyPr>
          <a:lstStyle/>
          <a:p>
            <a:pPr algn="l">
              <a:spcAft>
                <a:spcPts val="600"/>
              </a:spcAft>
            </a:pPr>
            <a:r>
              <a:rPr sz="1800" b="0" i="0">
                <a:solidFill>
                  <a:srgbClr val="262626"/>
                </a:solidFill>
                <a:latin typeface="Arial"/>
              </a:rPr>
              <a:t>Pod names churn on every rollout. Every extra label multiplies by that churn.</a:t>
            </a:r>
          </a:p>
          <a:p>
            <a:pPr algn="l">
              <a:spcAft>
                <a:spcPts val="0"/>
              </a:spcAft>
            </a:pPr>
            <a:r>
              <a:rPr sz="1800" b="1" i="0">
                <a:solidFill>
                  <a:srgbClr val="262626"/>
                </a:solidFill>
                <a:latin typeface="Arial"/>
              </a:rPr>
              <a:t>ENABLE_POD_LABELS=true is how you find out.</a:t>
            </a:r>
          </a:p>
        </p:txBody>
      </p:sp>
      <p:sp>
        <p:nvSpPr>
          <p:cNvPr id="6" name="TextBox 5"/>
          <p:cNvSpPr txBox="1"/>
          <p:nvPr/>
        </p:nvSpPr>
        <p:spPr>
          <a:xfrm>
            <a:off x="6246000" y="1250000"/>
            <a:ext cx="5542318" cy="4800000"/>
          </a:xfrm>
          <a:prstGeom prst="rect">
            <a:avLst/>
          </a:prstGeom>
          <a:noFill/>
        </p:spPr>
        <p:txBody>
          <a:bodyPr wrap="square" anchor="t">
            <a:spAutoFit/>
          </a:bodyPr>
          <a:lstStyle/>
          <a:p>
            <a:pPr algn="l">
              <a:spcAft>
                <a:spcPts val="1000"/>
              </a:spcAft>
            </a:pPr>
            <a:r>
              <a:rPr sz="2000" b="1" i="0">
                <a:solidFill>
                  <a:srgbClr val="991346"/>
                </a:solidFill>
                <a:latin typeface="Arial"/>
              </a:rPr>
              <a:t>The rule</a:t>
            </a:r>
          </a:p>
          <a:p>
            <a:pPr algn="l" marL="285750" indent="-285750">
              <a:spcAft>
                <a:spcPts val="1000"/>
              </a:spcAft>
              <a:buChar char="•"/>
            </a:pPr>
            <a:r>
              <a:rPr sz="2200" b="0" i="0">
                <a:solidFill>
                  <a:srgbClr val="262626"/>
                </a:solidFill>
                <a:latin typeface="Arial"/>
              </a:rPr>
              <a:t>Identity on logs</a:t>
            </a:r>
          </a:p>
          <a:p>
            <a:pPr algn="l" marL="285750" indent="-285750">
              <a:spcAft>
                <a:spcPts val="1000"/>
              </a:spcAft>
              <a:buChar char="•"/>
            </a:pPr>
            <a:r>
              <a:rPr sz="2200" b="0" i="0">
                <a:solidFill>
                  <a:srgbClr val="262626"/>
                </a:solidFill>
                <a:latin typeface="Arial"/>
              </a:rPr>
              <a:t>Stable dimensions on metrics</a:t>
            </a:r>
          </a:p>
          <a:p>
            <a:pPr algn="l" marL="285750" indent="-285750">
              <a:spcAft>
                <a:spcPts val="1000"/>
              </a:spcAft>
              <a:buChar char="•"/>
            </a:pPr>
            <a:r>
              <a:rPr sz="2200" b="0" i="0">
                <a:solidFill>
                  <a:srgbClr val="262626"/>
                </a:solidFill>
                <a:latin typeface="Arial"/>
              </a:rPr>
              <a:t>Join at query time</a:t>
            </a:r>
          </a:p>
          <a:p>
            <a:pPr algn="l">
              <a:spcAft>
                <a:spcPts val="1000"/>
              </a:spcAft>
            </a:pPr>
            <a:r>
              <a:rPr sz="2000" b="1" i="0">
                <a:solidFill>
                  <a:srgbClr val="991346"/>
                </a:solidFill>
                <a:latin typeface="Arial"/>
              </a:rPr>
              <a:t>Our rig</a:t>
            </a:r>
          </a:p>
          <a:p>
            <a:pPr algn="l" marL="285750" indent="-285750">
              <a:spcAft>
                <a:spcPts val="1000"/>
              </a:spcAft>
              <a:buChar char="•"/>
            </a:pPr>
            <a:r>
              <a:rPr sz="1800" b="0" i="0">
                <a:solidFill>
                  <a:srgbClr val="262626"/>
                </a:solidFill>
                <a:latin typeface="Arial"/>
              </a:rPr>
              <a:t>7 counters in counters.csv</a:t>
            </a:r>
          </a:p>
          <a:p>
            <a:pPr algn="l" marL="285750" indent="-285750">
              <a:spcAft>
                <a:spcPts val="1000"/>
              </a:spcAft>
              <a:buChar char="•"/>
            </a:pPr>
            <a:r>
              <a:rPr sz="1800" b="0" i="0">
                <a:solidFill>
                  <a:srgbClr val="262626"/>
                </a:solidFill>
                <a:latin typeface="Arial"/>
              </a:rPr>
              <a:t>Pod labels off; exported_pod is the only identity</a:t>
            </a:r>
          </a:p>
          <a:p>
            <a:pPr algn="l" marL="285750" indent="-285750">
              <a:spcAft>
                <a:spcPts val="0"/>
              </a:spcAft>
              <a:buChar char="•"/>
            </a:pPr>
            <a:r>
              <a:rPr sz="1800" b="0" i="0">
                <a:solidFill>
                  <a:srgbClr val="262626"/>
                </a:solidFill>
                <a:latin typeface="Arial"/>
              </a:rPr>
              <a:t>Join on the fixed part of the name, never the hash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Signal 2: the serving log is the telemetry.</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vLLM V1 engine, vllm/v1/metrics/loggers.py: one stats line every 10 s while the engine is busy (DEBUG level when idle).</a:t>
            </a:r>
          </a:p>
        </p:txBody>
      </p:sp>
      <p:sp>
        <p:nvSpPr>
          <p:cNvPr id="4" name="TextBox 3"/>
          <p:cNvSpPr txBox="1"/>
          <p:nvPr/>
        </p:nvSpPr>
        <p:spPr>
          <a:xfrm>
            <a:off x="403682" y="1250000"/>
            <a:ext cx="11384636" cy="500000"/>
          </a:xfrm>
          <a:prstGeom prst="rect">
            <a:avLst/>
          </a:prstGeom>
          <a:noFill/>
        </p:spPr>
        <p:txBody>
          <a:bodyPr wrap="square" anchor="t">
            <a:spAutoFit/>
          </a:bodyPr>
          <a:lstStyle/>
          <a:p>
            <a:pPr algn="l">
              <a:spcAft>
                <a:spcPts val="0"/>
              </a:spcAft>
            </a:pPr>
            <a:r>
              <a:rPr sz="1600" b="0" i="0">
                <a:solidFill>
                  <a:srgbClr val="6B6B6B"/>
                </a:solidFill>
                <a:latin typeface="Arial"/>
              </a:rPr>
              <a:t>vllm-overprov, steady load</a:t>
            </a:r>
          </a:p>
        </p:txBody>
      </p:sp>
      <p:sp>
        <p:nvSpPr>
          <p:cNvPr id="5" name="TextBox 4"/>
          <p:cNvSpPr txBox="1"/>
          <p:nvPr/>
        </p:nvSpPr>
        <p:spPr>
          <a:xfrm>
            <a:off x="403682" y="1700000"/>
            <a:ext cx="11384636" cy="900000"/>
          </a:xfrm>
          <a:prstGeom prst="rect">
            <a:avLst/>
          </a:prstGeom>
          <a:solidFill>
            <a:srgbClr val="F3F3F3"/>
          </a:solidFill>
        </p:spPr>
        <p:txBody>
          <a:bodyPr wrap="square" anchor="t">
            <a:spAutoFit/>
          </a:bodyPr>
          <a:lstStyle/>
          <a:p>
            <a:pPr algn="l">
              <a:spcAft>
                <a:spcPts val="0"/>
              </a:spcAft>
            </a:pPr>
            <a:r>
              <a:rPr sz="1300" b="0" i="0">
                <a:solidFill>
                  <a:srgbClr val="262626"/>
                </a:solidFill>
                <a:latin typeface="Courier New"/>
              </a:rPr>
              <a:t>INFO [loggers.py] Engine 000: Avg prompt throughput: 1180.2 tokens/s, Avg generation throughput:</a:t>
            </a:r>
          </a:p>
          <a:p>
            <a:pPr algn="l">
              <a:spcAft>
                <a:spcPts val="0"/>
              </a:spcAft>
            </a:pPr>
            <a:r>
              <a:rPr sz="1300" b="0" i="0">
                <a:solidFill>
                  <a:srgbClr val="262626"/>
                </a:solidFill>
                <a:latin typeface="Courier New"/>
              </a:rPr>
              <a:t>4711.7 tokens/s, Running: 15 reqs, Waiting: 0 reqs, GPU KV cache usage: 0.1%, Prefix cache hit rate: 0.0%</a:t>
            </a:r>
          </a:p>
        </p:txBody>
      </p:sp>
      <p:sp>
        <p:nvSpPr>
          <p:cNvPr id="6" name="TextBox 5"/>
          <p:cNvSpPr txBox="1"/>
          <p:nvPr/>
        </p:nvSpPr>
        <p:spPr>
          <a:xfrm>
            <a:off x="403682" y="2750000"/>
            <a:ext cx="11384636" cy="500000"/>
          </a:xfrm>
          <a:prstGeom prst="rect">
            <a:avLst/>
          </a:prstGeom>
          <a:noFill/>
        </p:spPr>
        <p:txBody>
          <a:bodyPr wrap="square" anchor="t">
            <a:spAutoFit/>
          </a:bodyPr>
          <a:lstStyle/>
          <a:p>
            <a:pPr algn="l">
              <a:spcAft>
                <a:spcPts val="0"/>
              </a:spcAft>
            </a:pPr>
            <a:r>
              <a:rPr sz="1600" b="0" i="0">
                <a:solidFill>
                  <a:srgbClr val="6B6B6B"/>
                </a:solidFill>
                <a:latin typeface="Arial"/>
              </a:rPr>
              <a:t>vllm-constrained, saturating load</a:t>
            </a:r>
          </a:p>
        </p:txBody>
      </p:sp>
      <p:sp>
        <p:nvSpPr>
          <p:cNvPr id="7" name="TextBox 6"/>
          <p:cNvSpPr txBox="1"/>
          <p:nvPr/>
        </p:nvSpPr>
        <p:spPr>
          <a:xfrm>
            <a:off x="403682" y="3200000"/>
            <a:ext cx="11384636" cy="1100000"/>
          </a:xfrm>
          <a:prstGeom prst="rect">
            <a:avLst/>
          </a:prstGeom>
          <a:solidFill>
            <a:srgbClr val="F3F3F3"/>
          </a:solidFill>
        </p:spPr>
        <p:txBody>
          <a:bodyPr wrap="square" anchor="t">
            <a:spAutoFit/>
          </a:bodyPr>
          <a:lstStyle/>
          <a:p>
            <a:pPr algn="l">
              <a:spcAft>
                <a:spcPts val="0"/>
              </a:spcAft>
            </a:pPr>
            <a:r>
              <a:rPr sz="1300" b="0" i="0">
                <a:solidFill>
                  <a:srgbClr val="262626"/>
                </a:solidFill>
                <a:latin typeface="Courier New"/>
              </a:rPr>
              <a:t>INFO [loggers.py] Engine 000: Avg prompt throughput: 9810.4 tokens/s, Avg generation throughput:</a:t>
            </a:r>
          </a:p>
          <a:p>
            <a:pPr algn="l">
              <a:spcAft>
                <a:spcPts val="0"/>
              </a:spcAft>
            </a:pPr>
            <a:r>
              <a:rPr sz="1300" b="0" i="0">
                <a:solidFill>
                  <a:srgbClr val="262626"/>
                </a:solidFill>
                <a:latin typeface="Courier New"/>
              </a:rPr>
              <a:t>17227.0 tokens/s, Running: 76 reqs, Waiting: 116 reqs, Preemptions: 41, GPU KV cache usage: 99.6%,</a:t>
            </a:r>
          </a:p>
          <a:p>
            <a:pPr algn="l">
              <a:spcAft>
                <a:spcPts val="0"/>
              </a:spcAft>
            </a:pPr>
            <a:r>
              <a:rPr sz="1300" b="0" i="0">
                <a:solidFill>
                  <a:srgbClr val="262626"/>
                </a:solidFill>
                <a:latin typeface="Courier New"/>
              </a:rPr>
              <a:t>Prefix cache hit rate: 0.0%</a:t>
            </a:r>
          </a:p>
        </p:txBody>
      </p:sp>
      <p:sp>
        <p:nvSpPr>
          <p:cNvPr id="8" name="TextBox 7"/>
          <p:cNvSpPr txBox="1"/>
          <p:nvPr/>
        </p:nvSpPr>
        <p:spPr>
          <a:xfrm>
            <a:off x="403682" y="4500000"/>
            <a:ext cx="11384636" cy="1500000"/>
          </a:xfrm>
          <a:prstGeom prst="rect">
            <a:avLst/>
          </a:prstGeom>
          <a:noFill/>
        </p:spPr>
        <p:txBody>
          <a:bodyPr wrap="square" anchor="t">
            <a:spAutoFit/>
          </a:bodyPr>
          <a:lstStyle/>
          <a:p>
            <a:pPr algn="l">
              <a:spcAft>
                <a:spcPts val="600"/>
              </a:spcAft>
            </a:pPr>
            <a:r>
              <a:rPr sz="2000" b="1" i="0">
                <a:solidFill>
                  <a:srgbClr val="991346"/>
                </a:solidFill>
                <a:latin typeface="Arial"/>
              </a:rPr>
              <a:t>tokens/s  ·  running  ·  waiting  ·  KV cache %  ·  prefix hits  ·  preemptions</a:t>
            </a:r>
          </a:p>
          <a:p>
            <a:pPr algn="l">
              <a:spcAft>
                <a:spcPts val="0"/>
              </a:spcAft>
            </a:pPr>
            <a:r>
              <a:rPr sz="2000" b="0" i="0">
                <a:solidFill>
                  <a:srgbClr val="262626"/>
                </a:solidFill>
                <a:latin typeface="Arial"/>
              </a:rPr>
              <a:t>Six facts about the inference work. Zero of them in any GPU counter.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Fifteen lines of Lua, per-pod metrics.</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Fluent Bit 5.1: tail -&gt; kubernetes -&gt; lua -&gt; grep -&gt; log_to_metrics -&gt; prometheus_exporter. vLLM native metrics: docs.vllm.ai/en/latest/design/metrics</a:t>
            </a:r>
          </a:p>
        </p:txBody>
      </p:sp>
      <p:sp>
        <p:nvSpPr>
          <p:cNvPr id="4" name="TextBox 3"/>
          <p:cNvSpPr txBox="1"/>
          <p:nvPr/>
        </p:nvSpPr>
        <p:spPr>
          <a:xfrm>
            <a:off x="403682" y="1250000"/>
            <a:ext cx="7042318" cy="3700000"/>
          </a:xfrm>
          <a:prstGeom prst="rect">
            <a:avLst/>
          </a:prstGeom>
          <a:solidFill>
            <a:srgbClr val="F3F3F3"/>
          </a:solidFill>
        </p:spPr>
        <p:txBody>
          <a:bodyPr wrap="square" anchor="t">
            <a:spAutoFit/>
          </a:bodyPr>
          <a:lstStyle/>
          <a:p>
            <a:pPr algn="l">
              <a:spcAft>
                <a:spcPts val="0"/>
              </a:spcAft>
            </a:pPr>
            <a:r>
              <a:rPr sz="1000" b="0" i="0">
                <a:solidFill>
                  <a:srgbClr val="262626"/>
                </a:solidFill>
                <a:latin typeface="Courier New"/>
              </a:rPr>
              <a:t>function extract_vllm_metrics(tag, ts, record)</a:t>
            </a:r>
          </a:p>
          <a:p>
            <a:pPr algn="l">
              <a:spcAft>
                <a:spcPts val="0"/>
              </a:spcAft>
            </a:pPr>
            <a:r>
              <a:rPr sz="1000" b="0" i="0">
                <a:solidFill>
                  <a:srgbClr val="262626"/>
                </a:solidFill>
                <a:latin typeface="Courier New"/>
              </a:rPr>
              <a:t>  local line = record["log"] or ""</a:t>
            </a:r>
          </a:p>
          <a:p>
            <a:pPr algn="l">
              <a:spcAft>
                <a:spcPts val="0"/>
              </a:spcAft>
            </a:pPr>
            <a:r>
              <a:rPr sz="1000" b="0" i="0">
                <a:solidFill>
                  <a:srgbClr val="262626"/>
                </a:solidFill>
                <a:latin typeface="Courier New"/>
              </a:rPr>
              <a:t>  local gen = string.match(line, "generation throughput:%s*([%d%.]+)")</a:t>
            </a:r>
          </a:p>
          <a:p>
            <a:pPr algn="l">
              <a:spcAft>
                <a:spcPts val="0"/>
              </a:spcAft>
            </a:pPr>
            <a:r>
              <a:rPr sz="1000" b="0" i="0">
                <a:solidFill>
                  <a:srgbClr val="262626"/>
                </a:solidFill>
                <a:latin typeface="Courier New"/>
              </a:rPr>
              <a:t>  if gen == nil then record["vllm_parsed"] = "false"; return 1, ts, record end</a:t>
            </a:r>
          </a:p>
          <a:p>
            <a:pPr algn="l">
              <a:spcAft>
                <a:spcPts val="0"/>
              </a:spcAft>
            </a:pPr>
            <a:r>
              <a:rPr sz="1000" b="0" i="0">
                <a:solidFill>
                  <a:srgbClr val="262626"/>
                </a:solidFill>
                <a:latin typeface="Courier New"/>
              </a:rPr>
              <a:t>  record["gen_tokens_per_s"]   = tonumber(gen)</a:t>
            </a:r>
          </a:p>
          <a:p>
            <a:pPr algn="l">
              <a:spcAft>
                <a:spcPts val="0"/>
              </a:spcAft>
            </a:pPr>
            <a:r>
              <a:rPr sz="1000" b="0" i="0">
                <a:solidFill>
                  <a:srgbClr val="262626"/>
                </a:solidFill>
                <a:latin typeface="Courier New"/>
              </a:rPr>
              <a:t>  record["running_reqs"]       = tonumber(string.match(line, "Running:%s*(%d+)")) or 0</a:t>
            </a:r>
          </a:p>
          <a:p>
            <a:pPr algn="l">
              <a:spcAft>
                <a:spcPts val="0"/>
              </a:spcAft>
            </a:pPr>
            <a:r>
              <a:rPr sz="1000" b="0" i="0">
                <a:solidFill>
                  <a:srgbClr val="262626"/>
                </a:solidFill>
                <a:latin typeface="Courier New"/>
              </a:rPr>
              <a:t>  record["waiting_reqs"]       = tonumber(string.match(line, "Waiting:%s*(%d+)")) or 0</a:t>
            </a:r>
          </a:p>
          <a:p>
            <a:pPr algn="l">
              <a:spcAft>
                <a:spcPts val="0"/>
              </a:spcAft>
            </a:pPr>
            <a:r>
              <a:rPr sz="1000" b="0" i="0">
                <a:solidFill>
                  <a:srgbClr val="262626"/>
                </a:solidFill>
                <a:latin typeface="Courier New"/>
              </a:rPr>
              <a:t>  record["kv_cache_usage_pct"] = tonumber(string.match(line, "KV cache usage:%s*([%d%.]+)%%")) or 0</a:t>
            </a:r>
          </a:p>
          <a:p>
            <a:pPr algn="l">
              <a:spcAft>
                <a:spcPts val="0"/>
              </a:spcAft>
            </a:pPr>
            <a:r>
              <a:rPr sz="1000" b="0" i="0">
                <a:solidFill>
                  <a:srgbClr val="262626"/>
                </a:solidFill>
                <a:latin typeface="Courier New"/>
              </a:rPr>
              <a:t>  record["preemptions"]        = tonumber(string.match(line, "Preemptions:%s*(%d+)")) or 0</a:t>
            </a:r>
          </a:p>
          <a:p>
            <a:pPr algn="l">
              <a:spcAft>
                <a:spcPts val="0"/>
              </a:spcAft>
            </a:pPr>
            <a:r>
              <a:rPr sz="1000" b="0" i="0">
                <a:solidFill>
                  <a:srgbClr val="262626"/>
                </a:solidFill>
                <a:latin typeface="Courier New"/>
              </a:rPr>
              <a:t>  record["pod_name"]  = record["kubernetes"]["pod_name"]   -- the join key</a:t>
            </a:r>
          </a:p>
          <a:p>
            <a:pPr algn="l">
              <a:spcAft>
                <a:spcPts val="0"/>
              </a:spcAft>
            </a:pPr>
            <a:r>
              <a:rPr sz="1000" b="0" i="0">
                <a:solidFill>
                  <a:srgbClr val="262626"/>
                </a:solidFill>
                <a:latin typeface="Courier New"/>
              </a:rPr>
              <a:t>  record["vllm_parsed"] = "true"</a:t>
            </a:r>
          </a:p>
          <a:p>
            <a:pPr algn="l">
              <a:spcAft>
                <a:spcPts val="0"/>
              </a:spcAft>
            </a:pPr>
            <a:r>
              <a:rPr sz="1000" b="0" i="0">
                <a:solidFill>
                  <a:srgbClr val="262626"/>
                </a:solidFill>
                <a:latin typeface="Courier New"/>
              </a:rPr>
              <a:t>  return 2, ts, record</a:t>
            </a:r>
          </a:p>
          <a:p>
            <a:pPr algn="l">
              <a:spcAft>
                <a:spcPts val="0"/>
              </a:spcAft>
            </a:pPr>
            <a:r>
              <a:rPr sz="1000" b="0" i="0">
                <a:solidFill>
                  <a:srgbClr val="262626"/>
                </a:solidFill>
                <a:latin typeface="Courier New"/>
              </a:rPr>
              <a:t>end</a:t>
            </a:r>
          </a:p>
        </p:txBody>
      </p:sp>
      <p:sp>
        <p:nvSpPr>
          <p:cNvPr id="5" name="TextBox 4"/>
          <p:cNvSpPr txBox="1"/>
          <p:nvPr/>
        </p:nvSpPr>
        <p:spPr>
          <a:xfrm>
            <a:off x="7746000" y="1250000"/>
            <a:ext cx="4042318" cy="2300000"/>
          </a:xfrm>
          <a:prstGeom prst="rect">
            <a:avLst/>
          </a:prstGeom>
          <a:noFill/>
        </p:spPr>
        <p:txBody>
          <a:bodyPr wrap="square" anchor="t">
            <a:spAutoFit/>
          </a:bodyPr>
          <a:lstStyle/>
          <a:p>
            <a:pPr algn="l">
              <a:spcAft>
                <a:spcPts val="600"/>
              </a:spcAft>
            </a:pPr>
            <a:r>
              <a:rPr sz="1300" b="0" i="0">
                <a:solidFill>
                  <a:srgbClr val="262626"/>
                </a:solidFill>
                <a:latin typeface="Courier New"/>
              </a:rPr>
              <a:t>tail -&gt; kubernetes -&gt; lua -&gt; grep</a:t>
            </a:r>
          </a:p>
          <a:p>
            <a:pPr algn="l">
              <a:spcAft>
                <a:spcPts val="600"/>
              </a:spcAft>
            </a:pPr>
            <a:r>
              <a:rPr sz="1300" b="0" i="0">
                <a:solidFill>
                  <a:srgbClr val="262626"/>
                </a:solidFill>
                <a:latin typeface="Courier New"/>
              </a:rPr>
              <a:t>-&gt; log_to_metrics -&gt; prometheus_exporter</a:t>
            </a:r>
          </a:p>
          <a:p>
            <a:pPr algn="l">
              <a:spcAft>
                <a:spcPts val="600"/>
              </a:spcAft>
            </a:pPr>
            <a:r>
              <a:rPr sz="1200" b="0" i="0">
                <a:solidFill>
                  <a:srgbClr val="991346"/>
                </a:solidFill>
                <a:latin typeface="Courier New"/>
              </a:rPr>
              <a:t>vllm_log_kv_cache_usage_pct{pod_name=...}</a:t>
            </a:r>
          </a:p>
          <a:p>
            <a:pPr algn="l">
              <a:spcAft>
                <a:spcPts val="600"/>
              </a:spcAft>
            </a:pPr>
            <a:r>
              <a:rPr sz="1200" b="0" i="0">
                <a:solidFill>
                  <a:srgbClr val="991346"/>
                </a:solidFill>
                <a:latin typeface="Courier New"/>
              </a:rPr>
              <a:t>vllm_log_waiting_reqs{pod_name=...}</a:t>
            </a:r>
          </a:p>
          <a:p>
            <a:pPr algn="l">
              <a:spcAft>
                <a:spcPts val="0"/>
              </a:spcAft>
            </a:pPr>
            <a:r>
              <a:rPr sz="1200" b="0" i="0">
                <a:solidFill>
                  <a:srgbClr val="991346"/>
                </a:solidFill>
                <a:latin typeface="Courier New"/>
              </a:rPr>
              <a:t>vllm_log_preemptions_total{pod_name=...}</a:t>
            </a:r>
          </a:p>
        </p:txBody>
      </p:sp>
      <p:sp>
        <p:nvSpPr>
          <p:cNvPr id="6" name="TextBox 5"/>
          <p:cNvSpPr txBox="1"/>
          <p:nvPr/>
        </p:nvSpPr>
        <p:spPr>
          <a:xfrm>
            <a:off x="7746000" y="3650000"/>
            <a:ext cx="4042318" cy="2400000"/>
          </a:xfrm>
          <a:prstGeom prst="rect">
            <a:avLst/>
          </a:prstGeom>
          <a:noFill/>
        </p:spPr>
        <p:txBody>
          <a:bodyPr wrap="square" anchor="t">
            <a:spAutoFit/>
          </a:bodyPr>
          <a:lstStyle/>
          <a:p>
            <a:pPr algn="l">
              <a:spcAft>
                <a:spcPts val="600"/>
              </a:spcAft>
            </a:pPr>
            <a:r>
              <a:rPr sz="1800" b="1" i="0">
                <a:solidFill>
                  <a:srgbClr val="991346"/>
                </a:solidFill>
                <a:latin typeface="Arial"/>
              </a:rPr>
              <a:t>Honest caveat</a:t>
            </a:r>
          </a:p>
          <a:p>
            <a:pPr algn="l">
              <a:spcAft>
                <a:spcPts val="600"/>
              </a:spcAft>
            </a:pPr>
            <a:r>
              <a:rPr sz="1500" b="0" i="0">
                <a:solidFill>
                  <a:srgbClr val="262626"/>
                </a:solidFill>
                <a:latin typeface="Arial"/>
              </a:rPr>
              <a:t>vLLM already exposes these on /metrics. It is our demo vehicle.</a:t>
            </a:r>
          </a:p>
          <a:p>
            <a:pPr algn="l">
              <a:spcAft>
                <a:spcPts val="0"/>
              </a:spcAft>
            </a:pPr>
            <a:r>
              <a:rPr sz="1500" b="0" i="0">
                <a:solidFill>
                  <a:srgbClr val="262626"/>
                </a:solidFill>
                <a:latin typeface="Arial"/>
              </a:rPr>
              <a:t>This is for everything that does not: custom servers, vendor images, log-only pipelines, the TGI or Triton you inherited. Same 15 lines, different regex.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KV cache 100%. Memory counter: unchanged.</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Queue time rises before 'waiting' is visibly non-zero: Elastic Observability Labs, tuning vLLM Prometheus metrics (2025). Rig numbers from the live demo load.</a:t>
            </a:r>
          </a:p>
        </p:txBody>
      </p:sp>
      <p:pic>
        <p:nvPicPr>
          <p:cNvPr id="4" name="Picture 3" descr="grafana-rows-1-2.png"/>
          <p:cNvPicPr>
            <a:picLocks noChangeAspect="1"/>
          </p:cNvPicPr>
          <p:nvPr/>
        </p:nvPicPr>
        <p:blipFill>
          <a:blip r:embed="rId3"/>
          <a:stretch>
            <a:fillRect/>
          </a:stretch>
        </p:blipFill>
        <p:spPr>
          <a:xfrm>
            <a:off x="1056000" y="1250000"/>
            <a:ext cx="10080000" cy="3500000"/>
          </a:xfrm>
          <a:prstGeom prst="rect">
            <a:avLst/>
          </a:prstGeom>
        </p:spPr>
      </p:pic>
      <p:sp>
        <p:nvSpPr>
          <p:cNvPr id="5" name="TextBox 4"/>
          <p:cNvSpPr txBox="1"/>
          <p:nvPr/>
        </p:nvSpPr>
        <p:spPr>
          <a:xfrm>
            <a:off x="403682" y="4900000"/>
            <a:ext cx="11384636" cy="1200000"/>
          </a:xfrm>
          <a:prstGeom prst="rect">
            <a:avLst/>
          </a:prstGeom>
          <a:noFill/>
        </p:spPr>
        <p:txBody>
          <a:bodyPr wrap="square" anchor="t">
            <a:spAutoFit/>
          </a:bodyPr>
          <a:lstStyle/>
          <a:p>
            <a:pPr algn="l">
              <a:spcAft>
                <a:spcPts val="600"/>
              </a:spcAft>
            </a:pPr>
            <a:r>
              <a:rPr sz="2000" b="1" i="0">
                <a:solidFill>
                  <a:srgbClr val="991346"/>
                </a:solidFill>
                <a:latin typeface="Arial"/>
              </a:rPr>
              <a:t>Queue time first. Waiting confirms. FB_USED: 3.6 GB before, 3.6 GB after.</a:t>
            </a:r>
          </a:p>
          <a:p>
            <a:pPr algn="l">
              <a:spcAft>
                <a:spcPts val="0"/>
              </a:spcAft>
            </a:pPr>
            <a:r>
              <a:rPr sz="1800" b="0" i="0">
                <a:solidFill>
                  <a:srgbClr val="262626"/>
                </a:solidFill>
                <a:latin typeface="Arial"/>
              </a:rPr>
              <a:t>GPU_UTIL says "busy" for both pods. It cannot say that one has zero headroom and 100 requests queued, and the other 99% of its cache free.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Signal 3: a slow span with a pod name.</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vLLM --otlp-traces-endpoint -&gt; OTel Collector (k8sattributes) -&gt; Jaeger. Tracing was removed in the V1 rewrite and reinstated in vllm PR #20372: needs vLLM &gt;= 0.10.2.</a:t>
            </a:r>
          </a:p>
        </p:txBody>
      </p:sp>
      <p:sp>
        <p:nvSpPr>
          <p:cNvPr id="4" name="TextBox 3"/>
          <p:cNvSpPr txBox="1"/>
          <p:nvPr/>
        </p:nvSpPr>
        <p:spPr>
          <a:xfrm>
            <a:off x="403682" y="1250000"/>
            <a:ext cx="5542318" cy="1600000"/>
          </a:xfrm>
          <a:prstGeom prst="rect">
            <a:avLst/>
          </a:prstGeom>
          <a:solidFill>
            <a:srgbClr val="F3F3F3"/>
          </a:solidFill>
        </p:spPr>
        <p:txBody>
          <a:bodyPr wrap="square" anchor="t">
            <a:spAutoFit/>
          </a:bodyPr>
          <a:lstStyle/>
          <a:p>
            <a:pPr algn="l">
              <a:spcAft>
                <a:spcPts val="0"/>
              </a:spcAft>
            </a:pPr>
            <a:r>
              <a:rPr sz="1100" b="0" i="0">
                <a:solidFill>
                  <a:srgbClr val="262626"/>
                </a:solidFill>
                <a:latin typeface="Courier New"/>
              </a:rPr>
              <a:t># vLLM</a:t>
            </a:r>
          </a:p>
          <a:p>
            <a:pPr algn="l">
              <a:spcAft>
                <a:spcPts val="0"/>
              </a:spcAft>
            </a:pPr>
            <a:r>
              <a:rPr sz="1100" b="0" i="0">
                <a:solidFill>
                  <a:srgbClr val="262626"/>
                </a:solidFill>
                <a:latin typeface="Courier New"/>
              </a:rPr>
              <a:t>--otlp-traces-endpoint=grpc://otel-collector.observability:4317</a:t>
            </a:r>
          </a:p>
          <a:p>
            <a:pPr algn="l">
              <a:spcAft>
                <a:spcPts val="0"/>
              </a:spcAft>
            </a:pPr>
            <a:r>
              <a:rPr sz="1100" b="0" i="0">
                <a:solidFill>
                  <a:srgbClr val="262626"/>
                </a:solidFill>
                <a:latin typeface="Courier New"/>
              </a:rPr>
              <a:t/>
            </a:r>
          </a:p>
          <a:p>
            <a:pPr algn="l">
              <a:spcAft>
                <a:spcPts val="0"/>
              </a:spcAft>
            </a:pPr>
            <a:r>
              <a:rPr sz="1100" b="0" i="0">
                <a:solidFill>
                  <a:srgbClr val="262626"/>
                </a:solidFill>
                <a:latin typeface="Courier New"/>
              </a:rPr>
              <a:t># OTel Collector</a:t>
            </a:r>
          </a:p>
          <a:p>
            <a:pPr algn="l">
              <a:spcAft>
                <a:spcPts val="0"/>
              </a:spcAft>
            </a:pPr>
            <a:r>
              <a:rPr sz="1100" b="0" i="0">
                <a:solidFill>
                  <a:srgbClr val="262626"/>
                </a:solidFill>
                <a:latin typeface="Courier New"/>
              </a:rPr>
              <a:t>processors:</a:t>
            </a:r>
          </a:p>
          <a:p>
            <a:pPr algn="l">
              <a:spcAft>
                <a:spcPts val="0"/>
              </a:spcAft>
            </a:pPr>
            <a:r>
              <a:rPr sz="1100" b="0" i="0">
                <a:solidFill>
                  <a:srgbClr val="262626"/>
                </a:solidFill>
                <a:latin typeface="Courier New"/>
              </a:rPr>
              <a:t>  k8sattributes:</a:t>
            </a:r>
          </a:p>
          <a:p>
            <a:pPr algn="l">
              <a:spcAft>
                <a:spcPts val="0"/>
              </a:spcAft>
            </a:pPr>
            <a:r>
              <a:rPr sz="1100" b="0" i="0">
                <a:solidFill>
                  <a:srgbClr val="262626"/>
                </a:solidFill>
                <a:latin typeface="Courier New"/>
              </a:rPr>
              <a:t>    extract: { metadata: [k8s.pod.name, k8s.namespace.name] }</a:t>
            </a:r>
          </a:p>
        </p:txBody>
      </p:sp>
      <p:sp>
        <p:nvSpPr>
          <p:cNvPr id="5" name="TextBox 4"/>
          <p:cNvSpPr txBox="1"/>
          <p:nvPr/>
        </p:nvSpPr>
        <p:spPr>
          <a:xfrm>
            <a:off x="6246000" y="1250000"/>
            <a:ext cx="5542318" cy="1600000"/>
          </a:xfrm>
          <a:prstGeom prst="rect">
            <a:avLst/>
          </a:prstGeom>
          <a:solidFill>
            <a:srgbClr val="F3F3F3"/>
          </a:solidFill>
        </p:spPr>
        <p:txBody>
          <a:bodyPr wrap="square" anchor="t">
            <a:spAutoFit/>
          </a:bodyPr>
          <a:lstStyle/>
          <a:p>
            <a:pPr algn="l">
              <a:spcAft>
                <a:spcPts val="0"/>
              </a:spcAft>
            </a:pPr>
            <a:r>
              <a:rPr sz="1100" b="0" i="0">
                <a:solidFill>
                  <a:srgbClr val="262626"/>
                </a:solidFill>
                <a:latin typeface="Courier New"/>
              </a:rPr>
              <a:t>span: llm_request   duration: 5.73s</a:t>
            </a:r>
          </a:p>
          <a:p>
            <a:pPr algn="l">
              <a:spcAft>
                <a:spcPts val="0"/>
              </a:spcAft>
            </a:pPr>
            <a:r>
              <a:rPr sz="1100" b="0" i="0">
                <a:solidFill>
                  <a:srgbClr val="262626"/>
                </a:solidFill>
                <a:latin typeface="Courier New"/>
              </a:rPr>
              <a:t>  k8s.pod.name    = vllm-constrained-7f9fdfc497-2mjzz</a:t>
            </a:r>
          </a:p>
          <a:p>
            <a:pPr algn="l">
              <a:spcAft>
                <a:spcPts val="0"/>
              </a:spcAft>
            </a:pPr>
            <a:r>
              <a:rPr sz="1100" b="0" i="0">
                <a:solidFill>
                  <a:srgbClr val="262626"/>
                </a:solidFill>
                <a:latin typeface="Courier New"/>
              </a:rPr>
              <a:t>  gen_ai.usage.prompt_tokens      = 582</a:t>
            </a:r>
          </a:p>
          <a:p>
            <a:pPr algn="l">
              <a:spcAft>
                <a:spcPts val="0"/>
              </a:spcAft>
            </a:pPr>
            <a:r>
              <a:rPr sz="1100" b="0" i="0">
                <a:solidFill>
                  <a:srgbClr val="262626"/>
                </a:solidFill>
                <a:latin typeface="Courier New"/>
              </a:rPr>
              <a:t>  gen_ai.usage.completion_tokens  = 384</a:t>
            </a:r>
          </a:p>
          <a:p>
            <a:pPr algn="l">
              <a:spcAft>
                <a:spcPts val="0"/>
              </a:spcAft>
            </a:pPr>
            <a:r>
              <a:rPr sz="1100" b="0" i="0">
                <a:solidFill>
                  <a:srgbClr val="262626"/>
                </a:solidFill>
                <a:latin typeface="Courier New"/>
              </a:rPr>
              <a:t>  gen_ai.latency.time_in_queue    = 0.61s</a:t>
            </a:r>
          </a:p>
          <a:p>
            <a:pPr algn="l">
              <a:spcAft>
                <a:spcPts val="0"/>
              </a:spcAft>
            </a:pPr>
            <a:r>
              <a:rPr sz="1100" b="0" i="0">
                <a:solidFill>
                  <a:srgbClr val="262626"/>
                </a:solidFill>
                <a:latin typeface="Courier New"/>
              </a:rPr>
              <a:t>  gen_ai.latency.time_in_model_decode = 5.33s</a:t>
            </a:r>
          </a:p>
        </p:txBody>
      </p:sp>
      <p:pic>
        <p:nvPicPr>
          <p:cNvPr id="6" name="Picture 5" descr="jaeger-trace-detail.png"/>
          <p:cNvPicPr>
            <a:picLocks noChangeAspect="1"/>
          </p:cNvPicPr>
          <p:nvPr/>
        </p:nvPicPr>
        <p:blipFill>
          <a:blip r:embed="rId3"/>
          <a:stretch>
            <a:fillRect/>
          </a:stretch>
        </p:blipFill>
        <p:spPr>
          <a:xfrm>
            <a:off x="1480615" y="2950000"/>
            <a:ext cx="9230769" cy="2000000"/>
          </a:xfrm>
          <a:prstGeom prst="rect">
            <a:avLst/>
          </a:prstGeom>
        </p:spPr>
      </p:pic>
      <p:sp>
        <p:nvSpPr>
          <p:cNvPr id="7" name="TextBox 6"/>
          <p:cNvSpPr txBox="1"/>
          <p:nvPr/>
        </p:nvSpPr>
        <p:spPr>
          <a:xfrm>
            <a:off x="403682" y="5050000"/>
            <a:ext cx="11384636" cy="1000000"/>
          </a:xfrm>
          <a:prstGeom prst="rect">
            <a:avLst/>
          </a:prstGeom>
          <a:noFill/>
        </p:spPr>
        <p:txBody>
          <a:bodyPr wrap="square" anchor="t">
            <a:spAutoFit/>
          </a:bodyPr>
          <a:lstStyle/>
          <a:p>
            <a:pPr algn="l">
              <a:spcAft>
                <a:spcPts val="0"/>
              </a:spcAft>
            </a:pPr>
            <a:r>
              <a:rPr sz="2000" b="1" i="0">
                <a:solidFill>
                  <a:srgbClr val="991346"/>
                </a:solidFill>
                <a:latin typeface="Arial"/>
              </a:rPr>
              <a:t>Slow span: a fact. Slow span on the pod whose KV cache was 100% at that second: a diagnosis.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Same pod name. Three sources. One row.</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Grafana dashboard uid gpu-inference-obs, variable $pod matches exported_pod (DCGM), pod_name (Fluent Bit) and pod (vLLM, traces).</a:t>
            </a:r>
          </a:p>
        </p:txBody>
      </p:sp>
      <p:pic>
        <p:nvPicPr>
          <p:cNvPr id="4" name="Picture 3" descr="grafana-full.png"/>
          <p:cNvPicPr>
            <a:picLocks noChangeAspect="1"/>
          </p:cNvPicPr>
          <p:nvPr/>
        </p:nvPicPr>
        <p:blipFill>
          <a:blip r:embed="rId3"/>
          <a:stretch>
            <a:fillRect/>
          </a:stretch>
        </p:blipFill>
        <p:spPr>
          <a:xfrm>
            <a:off x="2766000" y="1250000"/>
            <a:ext cx="6660000" cy="3700000"/>
          </a:xfrm>
          <a:prstGeom prst="rect">
            <a:avLst/>
          </a:prstGeom>
        </p:spPr>
      </p:pic>
      <p:sp>
        <p:nvSpPr>
          <p:cNvPr id="5" name="TextBox 4"/>
          <p:cNvSpPr txBox="1"/>
          <p:nvPr/>
        </p:nvSpPr>
        <p:spPr>
          <a:xfrm>
            <a:off x="403682" y="5100000"/>
            <a:ext cx="11384636" cy="1000000"/>
          </a:xfrm>
          <a:prstGeom prst="rect">
            <a:avLst/>
          </a:prstGeom>
          <a:noFill/>
        </p:spPr>
        <p:txBody>
          <a:bodyPr wrap="square" anchor="t">
            <a:spAutoFit/>
          </a:bodyPr>
          <a:lstStyle/>
          <a:p>
            <a:pPr algn="l">
              <a:spcAft>
                <a:spcPts val="0"/>
              </a:spcAft>
            </a:pPr>
            <a:r>
              <a:rPr sz="2000" b="1" i="0">
                <a:solidFill>
                  <a:srgbClr val="991346"/>
                </a:solidFill>
                <a:latin typeface="Arial"/>
              </a:rPr>
              <a:t>No new agent. No vendor. No eBPF. The pod name on every signal, and the discipline to keep it there.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What silently broke along the way.</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EKS Auto Mode GPU support: docs.aws.amazon.com/eks/latest/userguide/device-management-nvidia-dra-device-plugin.html</a:t>
            </a:r>
          </a:p>
        </p:txBody>
      </p:sp>
      <p:graphicFrame>
        <p:nvGraphicFramePr>
          <p:cNvPr id="4" name="Table 3"/>
          <p:cNvGraphicFramePr>
            <a:graphicFrameLocks noGrp="1"/>
          </p:cNvGraphicFramePr>
          <p:nvPr/>
        </p:nvGraphicFramePr>
        <p:xfrm>
          <a:off x="403682" y="1250000"/>
          <a:ext cx="11384636" cy="3600000"/>
        </p:xfrm>
        <a:graphic>
          <a:graphicData uri="http://schemas.openxmlformats.org/drawingml/2006/table">
            <a:tbl>
              <a:tblPr firstRow="1" bandRow="1">
                <a:tableStyleId>{5C22544A-7EE6-4342-B048-85BDC9FD1C3A}</a:tableStyleId>
              </a:tblPr>
              <a:tblGrid>
                <a:gridCol w="3300000"/>
                <a:gridCol w="4800000"/>
                <a:gridCol w="3284636"/>
              </a:tblGrid>
              <a:tr h="900000">
                <a:tc>
                  <a:txBody>
                    <a:bodyPr/>
                    <a:lstStyle/>
                    <a:p>
                      <a:r>
                        <a:rPr sz="1300" b="1" i="0">
                          <a:solidFill>
                            <a:srgbClr val="FFFFFF"/>
                          </a:solidFill>
                          <a:latin typeface="Arial"/>
                        </a:rPr>
                        <a:t>What we expected</a:t>
                      </a:r>
                    </a:p>
                  </a:txBody>
                  <a:tcPr marL="91440" marR="91440" marT="45720" marB="45720">
                    <a:solidFill>
                      <a:srgbClr val="991346"/>
                    </a:solidFill>
                  </a:tcPr>
                </a:tc>
                <a:tc>
                  <a:txBody>
                    <a:bodyPr/>
                    <a:lstStyle/>
                    <a:p>
                      <a:r>
                        <a:rPr sz="1300" b="1" i="0">
                          <a:solidFill>
                            <a:srgbClr val="FFFFFF"/>
                          </a:solidFill>
                          <a:latin typeface="Arial"/>
                        </a:rPr>
                        <a:t>What happened</a:t>
                      </a:r>
                    </a:p>
                  </a:txBody>
                  <a:tcPr marL="91440" marR="91440" marT="45720" marB="45720">
                    <a:solidFill>
                      <a:srgbClr val="991346"/>
                    </a:solidFill>
                  </a:tcPr>
                </a:tc>
                <a:tc>
                  <a:txBody>
                    <a:bodyPr/>
                    <a:lstStyle/>
                    <a:p>
                      <a:r>
                        <a:rPr sz="1300" b="1" i="0">
                          <a:solidFill>
                            <a:srgbClr val="FFFFFF"/>
                          </a:solidFill>
                          <a:latin typeface="Arial"/>
                        </a:rPr>
                        <a:t>Fix</a:t>
                      </a:r>
                    </a:p>
                  </a:txBody>
                  <a:tcPr marL="91440" marR="91440" marT="45720" marB="45720">
                    <a:solidFill>
                      <a:srgbClr val="991346"/>
                    </a:solidFill>
                  </a:tcPr>
                </a:tc>
              </a:tr>
              <a:tr h="900000">
                <a:tc>
                  <a:txBody>
                    <a:bodyPr/>
                    <a:lstStyle/>
                    <a:p>
                      <a:r>
                        <a:rPr sz="1300" b="0" i="0">
                          <a:solidFill>
                            <a:srgbClr val="262626"/>
                          </a:solidFill>
                          <a:latin typeface="Arial"/>
                        </a:rPr>
                        <a:t>GPU Operator installs DCGM on EKS Auto Mode</a:t>
                      </a:r>
                    </a:p>
                  </a:txBody>
                  <a:tcPr marL="91440" marR="91440" marT="45720" marB="45720">
                    <a:solidFill>
                      <a:srgbClr val="FFFFFF"/>
                    </a:solidFill>
                  </a:tcPr>
                </a:tc>
                <a:tc>
                  <a:txBody>
                    <a:bodyPr/>
                    <a:lstStyle/>
                    <a:p>
                      <a:r>
                        <a:rPr sz="1300" b="0" i="0">
                          <a:solidFill>
                            <a:srgbClr val="262626"/>
                          </a:solidFill>
                          <a:latin typeface="Arial"/>
                        </a:rPr>
                        <a:t>Auto Mode supports neither the GPU Operator nor the NVIDIA DRA driver (drivers + device plugin come with the AMI)</a:t>
                      </a:r>
                    </a:p>
                  </a:txBody>
                  <a:tcPr marL="91440" marR="91440" marT="45720" marB="45720">
                    <a:solidFill>
                      <a:srgbClr val="FFFFFF"/>
                    </a:solidFill>
                  </a:tcPr>
                </a:tc>
                <a:tc>
                  <a:txBody>
                    <a:bodyPr/>
                    <a:lstStyle/>
                    <a:p>
                      <a:r>
                        <a:rPr sz="1300" b="0" i="0">
                          <a:solidFill>
                            <a:srgbClr val="262626"/>
                          </a:solidFill>
                          <a:latin typeface="Arial"/>
                        </a:rPr>
                        <a:t>Standalone dcgm-exporter DaemonSet, pod-resources hostPath, SYS_ADMIN</a:t>
                      </a:r>
                    </a:p>
                  </a:txBody>
                  <a:tcPr marL="91440" marR="91440" marT="45720" marB="45720">
                    <a:solidFill>
                      <a:srgbClr val="FFFFFF"/>
                    </a:solidFill>
                  </a:tcPr>
                </a:tc>
              </a:tr>
              <a:tr h="900000">
                <a:tc>
                  <a:txBody>
                    <a:bodyPr/>
                    <a:lstStyle/>
                    <a:p>
                      <a:r>
                        <a:rPr sz="1300" b="0" i="0">
                          <a:solidFill>
                            <a:srgbClr val="262626"/>
                          </a:solidFill>
                          <a:latin typeface="Arial"/>
                        </a:rPr>
                        <a:t>Fluent Bit kubernetes filter adds pod_name</a:t>
                      </a:r>
                    </a:p>
                  </a:txBody>
                  <a:tcPr marL="91440" marR="91440" marT="45720" marB="45720">
                    <a:solidFill>
                      <a:srgbClr val="F3F3F3"/>
                    </a:solidFill>
                  </a:tcPr>
                </a:tc>
                <a:tc>
                  <a:txBody>
                    <a:bodyPr/>
                    <a:lstStyle/>
                    <a:p>
                      <a:r>
                        <a:rPr sz="1300" b="0" i="0">
                          <a:solidFill>
                            <a:srgbClr val="262626"/>
                          </a:solidFill>
                          <a:latin typeface="Arial"/>
                        </a:rPr>
                        <a:t>Kube_Tag_Prefix did not match the tail tag; metadata silently missing, join key empty</a:t>
                      </a:r>
                    </a:p>
                  </a:txBody>
                  <a:tcPr marL="91440" marR="91440" marT="45720" marB="45720">
                    <a:solidFill>
                      <a:srgbClr val="F3F3F3"/>
                    </a:solidFill>
                  </a:tcPr>
                </a:tc>
                <a:tc>
                  <a:txBody>
                    <a:bodyPr/>
                    <a:lstStyle/>
                    <a:p>
                      <a:r>
                        <a:rPr sz="1300" b="0" i="0">
                          <a:solidFill>
                            <a:srgbClr val="262626"/>
                          </a:solidFill>
                          <a:latin typeface="Arial"/>
                        </a:rPr>
                        <a:t>Kube_Tag_Prefix kube.var.log.containers. (match the tag you actually emit)</a:t>
                      </a:r>
                    </a:p>
                  </a:txBody>
                  <a:tcPr marL="91440" marR="91440" marT="45720" marB="45720">
                    <a:solidFill>
                      <a:srgbClr val="F3F3F3"/>
                    </a:solidFill>
                  </a:tcPr>
                </a:tc>
              </a:tr>
              <a:tr h="900000">
                <a:tc>
                  <a:txBody>
                    <a:bodyPr/>
                    <a:lstStyle/>
                    <a:p>
                      <a:r>
                        <a:rPr sz="1300" b="0" i="0">
                          <a:solidFill>
                            <a:srgbClr val="262626"/>
                          </a:solidFill>
                          <a:latin typeface="Arial"/>
                        </a:rPr>
                        <a:t>Rolling update of a 1-GPU pod</a:t>
                      </a:r>
                    </a:p>
                  </a:txBody>
                  <a:tcPr marL="91440" marR="91440" marT="45720" marB="45720">
                    <a:solidFill>
                      <a:srgbClr val="FFFFFF"/>
                    </a:solidFill>
                  </a:tcPr>
                </a:tc>
                <a:tc>
                  <a:txBody>
                    <a:bodyPr/>
                    <a:lstStyle/>
                    <a:p>
                      <a:r>
                        <a:rPr sz="1300" b="0" i="0">
                          <a:solidFill>
                            <a:srgbClr val="262626"/>
                          </a:solidFill>
                          <a:latin typeface="Arial"/>
                        </a:rPr>
                        <a:t>NodePool capped at 2 GPUs: new pod Pending forever, old one never releases</a:t>
                      </a:r>
                    </a:p>
                  </a:txBody>
                  <a:tcPr marL="91440" marR="91440" marT="45720" marB="45720">
                    <a:solidFill>
                      <a:srgbClr val="FFFFFF"/>
                    </a:solidFill>
                  </a:tcPr>
                </a:tc>
                <a:tc>
                  <a:txBody>
                    <a:bodyPr/>
                    <a:lstStyle/>
                    <a:p>
                      <a:r>
                        <a:rPr sz="1300" b="0" i="0">
                          <a:solidFill>
                            <a:srgbClr val="262626"/>
                          </a:solidFill>
                          <a:latin typeface="Arial"/>
                        </a:rPr>
                        <a:t>strategy: Recreate on every GPU deployment</a:t>
                      </a:r>
                    </a:p>
                  </a:txBody>
                  <a:tcPr marL="91440" marR="91440" marT="45720" marB="4572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Where this is going.</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llm-d on AWS: aws.amazon.com/blogs/machine-learning/introducing-disaggregated-inference-on-aws-powered-by-llm-d. Gateway API Inference Extension: github.com/kubernetes-sigs/gateway-api-inference-extension. CloudWatch OTel Container Insights for EKS (June 2026).</a:t>
            </a:r>
          </a:p>
        </p:txBody>
      </p:sp>
      <p:sp>
        <p:nvSpPr>
          <p:cNvPr id="4" name="TextBox 3"/>
          <p:cNvSpPr txBox="1"/>
          <p:nvPr/>
        </p:nvSpPr>
        <p:spPr>
          <a:xfrm>
            <a:off x="403682" y="1250000"/>
            <a:ext cx="5542318" cy="4800000"/>
          </a:xfrm>
          <a:prstGeom prst="rect">
            <a:avLst/>
          </a:prstGeom>
          <a:noFill/>
        </p:spPr>
        <p:txBody>
          <a:bodyPr wrap="square" anchor="t">
            <a:spAutoFit/>
          </a:bodyPr>
          <a:lstStyle/>
          <a:p>
            <a:pPr algn="l">
              <a:spcAft>
                <a:spcPts val="800"/>
              </a:spcAft>
            </a:pPr>
            <a:r>
              <a:rPr sz="2000" b="1" i="0">
                <a:solidFill>
                  <a:srgbClr val="991346"/>
                </a:solidFill>
                <a:latin typeface="Arial"/>
              </a:rPr>
              <a:t>Disaggregated prefill / decode</a:t>
            </a:r>
          </a:p>
          <a:p>
            <a:pPr algn="l">
              <a:spcAft>
                <a:spcPts val="800"/>
              </a:spcAft>
            </a:pPr>
            <a:r>
              <a:rPr sz="1600" b="0" i="0">
                <a:solidFill>
                  <a:srgbClr val="262626"/>
                </a:solidFill>
                <a:latin typeface="Arial"/>
              </a:rPr>
              <a:t>llm-d, NVIDIA Dynamo, llm-d-aws: one request, two pods, KV cache shipped over NIXL / EFA. Up to +70% tokens/s at concurrency 128.</a:t>
            </a:r>
          </a:p>
          <a:p>
            <a:pPr algn="l">
              <a:spcAft>
                <a:spcPts val="800"/>
              </a:spcAft>
            </a:pPr>
            <a:r>
              <a:rPr sz="1600" b="1" i="0">
                <a:solidFill>
                  <a:srgbClr val="262626"/>
                </a:solidFill>
                <a:latin typeface="Arial"/>
              </a:rPr>
              <a:t>Join key becomes request id + pod.</a:t>
            </a:r>
          </a:p>
          <a:p>
            <a:pPr algn="l">
              <a:spcAft>
                <a:spcPts val="800"/>
              </a:spcAft>
            </a:pPr>
            <a:r>
              <a:rPr sz="2000" b="1" i="0">
                <a:solidFill>
                  <a:srgbClr val="991346"/>
                </a:solidFill>
                <a:latin typeface="Arial"/>
              </a:rPr>
              <a:t>Signals move into the router</a:t>
            </a:r>
          </a:p>
          <a:p>
            <a:pPr algn="l">
              <a:spcAft>
                <a:spcPts val="0"/>
              </a:spcAft>
            </a:pPr>
            <a:r>
              <a:rPr sz="1600" b="0" i="0">
                <a:solidFill>
                  <a:srgbClr val="262626"/>
                </a:solidFill>
                <a:latin typeface="Arial"/>
              </a:rPr>
              <a:t>Gateway API Inference Extension endpoint picker and Dynamo's KV-aware router route on queue depth and KV cache %. The join leaves Grafana.</a:t>
            </a:r>
          </a:p>
        </p:txBody>
      </p:sp>
      <p:sp>
        <p:nvSpPr>
          <p:cNvPr id="5" name="TextBox 4"/>
          <p:cNvSpPr txBox="1"/>
          <p:nvPr/>
        </p:nvSpPr>
        <p:spPr>
          <a:xfrm>
            <a:off x="6246000" y="1250000"/>
            <a:ext cx="5542318" cy="4800000"/>
          </a:xfrm>
          <a:prstGeom prst="rect">
            <a:avLst/>
          </a:prstGeom>
          <a:noFill/>
        </p:spPr>
        <p:txBody>
          <a:bodyPr wrap="square" anchor="t">
            <a:spAutoFit/>
          </a:bodyPr>
          <a:lstStyle/>
          <a:p>
            <a:pPr algn="l">
              <a:spcAft>
                <a:spcPts val="800"/>
              </a:spcAft>
            </a:pPr>
            <a:r>
              <a:rPr sz="2000" b="1" i="0">
                <a:solidFill>
                  <a:srgbClr val="991346"/>
                </a:solidFill>
                <a:latin typeface="Arial"/>
              </a:rPr>
              <a:t>Signal 1 is becoming a checkbox</a:t>
            </a:r>
          </a:p>
          <a:p>
            <a:pPr algn="l">
              <a:spcAft>
                <a:spcPts val="800"/>
              </a:spcAft>
            </a:pPr>
            <a:r>
              <a:rPr sz="1600" b="0" i="0">
                <a:solidFill>
                  <a:srgbClr val="262626"/>
                </a:solidFill>
                <a:latin typeface="Arial"/>
              </a:rPr>
              <a:t>CloudWatch OTel-native Container Insights for EKS (June 2026) wires DCGM into OTel with pod labels and a PromQL endpoint.</a:t>
            </a:r>
          </a:p>
          <a:p>
            <a:pPr algn="l">
              <a:spcAft>
                <a:spcPts val="800"/>
              </a:spcAft>
            </a:pPr>
            <a:r>
              <a:rPr sz="1600" b="1" i="0">
                <a:solidFill>
                  <a:srgbClr val="262626"/>
                </a:solidFill>
                <a:latin typeface="Arial"/>
              </a:rPr>
              <a:t>Signals 2 and 3 are still yours to wire.</a:t>
            </a:r>
          </a:p>
          <a:p>
            <a:pPr algn="l">
              <a:spcAft>
                <a:spcPts val="800"/>
              </a:spcAft>
            </a:pPr>
            <a:r>
              <a:rPr sz="2000" b="1" i="0">
                <a:solidFill>
                  <a:srgbClr val="6B6B6B"/>
                </a:solidFill>
                <a:latin typeface="Arial"/>
              </a:rPr>
              <a:t>Out of scope today, ask me after</a:t>
            </a:r>
          </a:p>
          <a:p>
            <a:pPr algn="l">
              <a:spcAft>
                <a:spcPts val="0"/>
              </a:spcAft>
            </a:pPr>
            <a:r>
              <a:rPr sz="1600" b="0" i="0">
                <a:solidFill>
                  <a:srgbClr val="6B6B6B"/>
                </a:solidFill>
                <a:latin typeface="Arial"/>
              </a:rPr>
              <a:t>XID / ECC / thermal faults, output quality, eBPF GPU profiling, Dynamo internals.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Steal this for your cluster.</a:t>
            </a:r>
          </a:p>
        </p:txBody>
      </p:sp>
      <p:sp>
        <p:nvSpPr>
          <p:cNvPr id="3" name="TextBox 2"/>
          <p:cNvSpPr txBox="1"/>
          <p:nvPr/>
        </p:nvSpPr>
        <p:spPr>
          <a:xfrm>
            <a:off x="403682" y="6380000"/>
            <a:ext cx="11384636" cy="380000"/>
          </a:xfrm>
          <a:prstGeom prst="rect">
            <a:avLst/>
          </a:prstGeom>
          <a:noFill/>
        </p:spPr>
        <p:txBody>
          <a:bodyPr wrap="square" anchor="t">
            <a:spAutoFit/>
          </a:bodyPr>
          <a:lstStyle/>
          <a:p>
            <a:pPr algn="l">
              <a:spcAft>
                <a:spcPts val="600"/>
              </a:spcAft>
            </a:pPr>
            <a:r>
              <a:rPr sz="1000" b="0" i="0">
                <a:solidFill>
                  <a:srgbClr val="6B6B6B"/>
                </a:solidFill>
                <a:latin typeface="Arial"/>
              </a:rPr>
              <a:t>Original session design: [original author, AWS]. Reproduced clean-room on EKS Auto Mode; all configs in the repo.</a:t>
            </a:r>
          </a:p>
        </p:txBody>
      </p:sp>
      <p:sp>
        <p:nvSpPr>
          <p:cNvPr id="4" name="TextBox 3"/>
          <p:cNvSpPr txBox="1"/>
          <p:nvPr/>
        </p:nvSpPr>
        <p:spPr>
          <a:xfrm>
            <a:off x="403682" y="1250000"/>
            <a:ext cx="5542318" cy="4800000"/>
          </a:xfrm>
          <a:prstGeom prst="rect">
            <a:avLst/>
          </a:prstGeom>
          <a:noFill/>
        </p:spPr>
        <p:txBody>
          <a:bodyPr wrap="square" anchor="t">
            <a:spAutoFit/>
          </a:bodyPr>
          <a:lstStyle/>
          <a:p>
            <a:pPr algn="l">
              <a:spcAft>
                <a:spcPts val="800"/>
              </a:spcAft>
            </a:pPr>
            <a:r>
              <a:rPr sz="2000" b="1" i="0">
                <a:solidFill>
                  <a:srgbClr val="991346"/>
                </a:solidFill>
                <a:latin typeface="Arial"/>
              </a:rPr>
              <a:t>Three counters</a:t>
            </a:r>
          </a:p>
          <a:p>
            <a:pPr algn="l" marL="285750" indent="-285750">
              <a:spcAft>
                <a:spcPts val="800"/>
              </a:spcAft>
              <a:buChar char="•"/>
            </a:pPr>
            <a:r>
              <a:rPr sz="1800" b="0" i="0">
                <a:solidFill>
                  <a:srgbClr val="262626"/>
                </a:solidFill>
                <a:latin typeface="Arial"/>
              </a:rPr>
              <a:t>DCGM_FI_PROF_SM_ACTIVE, not GPU_UTIL</a:t>
            </a:r>
          </a:p>
          <a:p>
            <a:pPr algn="l" marL="285750" indent="-285750">
              <a:spcAft>
                <a:spcPts val="800"/>
              </a:spcAft>
              <a:buChar char="•"/>
            </a:pPr>
            <a:r>
              <a:rPr sz="1800" b="0" i="0">
                <a:solidFill>
                  <a:srgbClr val="262626"/>
                </a:solidFill>
                <a:latin typeface="Arial"/>
              </a:rPr>
              <a:t>KV cache %  (log or /metrics)</a:t>
            </a:r>
          </a:p>
          <a:p>
            <a:pPr algn="l" marL="285750" indent="-285750">
              <a:spcAft>
                <a:spcPts val="800"/>
              </a:spcAft>
              <a:buChar char="•"/>
            </a:pPr>
            <a:r>
              <a:rPr sz="1800" b="0" i="0">
                <a:solidFill>
                  <a:srgbClr val="262626"/>
                </a:solidFill>
                <a:latin typeface="Arial"/>
              </a:rPr>
              <a:t>Queue time p95, then waiting</a:t>
            </a:r>
          </a:p>
          <a:p>
            <a:pPr algn="l">
              <a:spcAft>
                <a:spcPts val="800"/>
              </a:spcAft>
            </a:pPr>
            <a:r>
              <a:rPr sz="2000" b="1" i="0">
                <a:solidFill>
                  <a:srgbClr val="991346"/>
                </a:solidFill>
                <a:latin typeface="Arial"/>
              </a:rPr>
              <a:t>One filter</a:t>
            </a:r>
          </a:p>
          <a:p>
            <a:pPr algn="l" marL="285750" indent="-285750">
              <a:spcAft>
                <a:spcPts val="0"/>
              </a:spcAft>
              <a:buChar char="•"/>
            </a:pPr>
            <a:r>
              <a:rPr sz="1800" b="0" i="0">
                <a:solidFill>
                  <a:srgbClr val="262626"/>
                </a:solidFill>
                <a:latin typeface="Arial"/>
              </a:rPr>
              <a:t>15 lines of Lua + log_to_metrics. Change the regex, keep the pipeline.</a:t>
            </a:r>
          </a:p>
        </p:txBody>
      </p:sp>
      <p:sp>
        <p:nvSpPr>
          <p:cNvPr id="5" name="TextBox 4"/>
          <p:cNvSpPr txBox="1"/>
          <p:nvPr/>
        </p:nvSpPr>
        <p:spPr>
          <a:xfrm>
            <a:off x="6246000" y="1250000"/>
            <a:ext cx="5542318" cy="4800000"/>
          </a:xfrm>
          <a:prstGeom prst="rect">
            <a:avLst/>
          </a:prstGeom>
          <a:noFill/>
        </p:spPr>
        <p:txBody>
          <a:bodyPr wrap="square" anchor="t">
            <a:spAutoFit/>
          </a:bodyPr>
          <a:lstStyle/>
          <a:p>
            <a:pPr algn="l">
              <a:spcAft>
                <a:spcPts val="800"/>
              </a:spcAft>
            </a:pPr>
            <a:r>
              <a:rPr sz="2000" b="1" i="0">
                <a:solidFill>
                  <a:srgbClr val="991346"/>
                </a:solidFill>
                <a:latin typeface="Arial"/>
              </a:rPr>
              <a:t>One rule</a:t>
            </a:r>
          </a:p>
          <a:p>
            <a:pPr algn="l" marL="285750" indent="-285750">
              <a:spcAft>
                <a:spcPts val="800"/>
              </a:spcAft>
              <a:buChar char="•"/>
            </a:pPr>
            <a:r>
              <a:rPr sz="1800" b="0" i="0">
                <a:solidFill>
                  <a:srgbClr val="262626"/>
                </a:solidFill>
                <a:latin typeface="Arial"/>
              </a:rPr>
              <a:t>Pod name on every signal. Identity on logs, stable dimensions on metrics, join at query time.</a:t>
            </a:r>
          </a:p>
          <a:p>
            <a:pPr algn="l">
              <a:spcAft>
                <a:spcPts val="800"/>
              </a:spcAft>
            </a:pPr>
            <a:r>
              <a:rPr sz="2000" b="1" i="0">
                <a:solidFill>
                  <a:srgbClr val="991346"/>
                </a:solidFill>
                <a:latin typeface="Arial"/>
              </a:rPr>
              <a:t>In the repo</a:t>
            </a:r>
          </a:p>
          <a:p>
            <a:pPr algn="l" marL="285750" indent="-285750">
              <a:spcAft>
                <a:spcPts val="800"/>
              </a:spcAft>
              <a:buChar char="•"/>
            </a:pPr>
            <a:r>
              <a:rPr sz="1800" b="0" i="0">
                <a:solidFill>
                  <a:srgbClr val="262626"/>
                </a:solidFill>
                <a:latin typeface="Arial"/>
              </a:rPr>
              <a:t>Terraform for EKS Auto Mode + GPU NodePool</a:t>
            </a:r>
          </a:p>
          <a:p>
            <a:pPr algn="l" marL="285750" indent="-285750">
              <a:spcAft>
                <a:spcPts val="800"/>
              </a:spcAft>
              <a:buChar char="•"/>
            </a:pPr>
            <a:r>
              <a:rPr sz="1800" b="0" i="0">
                <a:solidFill>
                  <a:srgbClr val="262626"/>
                </a:solidFill>
                <a:latin typeface="Arial"/>
              </a:rPr>
              <a:t>dcgm-exporter, Fluent Bit, OTel Collector, Jaeger manifests</a:t>
            </a:r>
          </a:p>
          <a:p>
            <a:pPr algn="l" marL="285750" indent="-285750">
              <a:spcAft>
                <a:spcPts val="0"/>
              </a:spcAft>
              <a:buChar char="•"/>
            </a:pPr>
            <a:r>
              <a:rPr sz="1800" b="0" i="0">
                <a:solidFill>
                  <a:srgbClr val="262626"/>
                </a:solidFill>
                <a:latin typeface="Arial"/>
              </a:rPr>
              <a:t>Grafana dashboard, loadgen, validate.sh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1700000"/>
            <a:ext cx="11384636" cy="3400000"/>
          </a:xfrm>
          <a:prstGeom prst="rect">
            <a:avLst/>
          </a:prstGeom>
          <a:noFill/>
        </p:spPr>
        <p:txBody>
          <a:bodyPr wrap="square" anchor="ctr">
            <a:spAutoFit/>
          </a:bodyPr>
          <a:lstStyle/>
          <a:p>
            <a:pPr algn="l">
              <a:spcAft>
                <a:spcPts val="1800"/>
              </a:spcAft>
            </a:pPr>
            <a:r>
              <a:rPr sz="5400" b="1" i="0">
                <a:solidFill>
                  <a:srgbClr val="FFFFFF"/>
                </a:solidFill>
                <a:latin typeface="Arial"/>
              </a:rPr>
              <a:t>github.com/danilosilvase/gpu-observability-kubecon-na-2026</a:t>
            </a:r>
          </a:p>
          <a:p>
            <a:pPr algn="l">
              <a:spcAft>
                <a:spcPts val="0"/>
              </a:spcAft>
            </a:pPr>
            <a:r>
              <a:rPr sz="2200" b="0" i="0">
                <a:solidFill>
                  <a:srgbClr val="FFFFFF"/>
                </a:solidFill>
                <a:latin typeface="Arial"/>
              </a:rPr>
              <a:t>Danilo Souza, AWS Professional Services  ·  Henrique Santana, AWS
Session feedback: scan the CNCF QR code</a:t>
            </a:r>
          </a:p>
        </p:txBody>
      </p:sp>
      <p:sp>
        <p:nvSpPr>
          <p:cNvPr id="3" name="TextBox 2"/>
          <p:cNvSpPr txBox="1"/>
          <p:nvPr/>
        </p:nvSpPr>
        <p:spPr>
          <a:xfrm>
            <a:off x="9988318" y="4600000"/>
            <a:ext cx="1800000" cy="1800000"/>
          </a:xfrm>
          <a:prstGeom prst="rect">
            <a:avLst/>
          </a:prstGeom>
          <a:solidFill>
            <a:srgbClr val="F3F3F3"/>
          </a:solidFill>
        </p:spPr>
        <p:txBody>
          <a:bodyPr wrap="square" anchor="ctr">
            <a:spAutoFit/>
          </a:bodyPr>
          <a:lstStyle/>
          <a:p>
            <a:pPr algn="ctr">
              <a:spcAft>
                <a:spcPts val="600"/>
              </a:spcAft>
            </a:pPr>
            <a:r>
              <a:rPr sz="1400" b="0" i="0">
                <a:solidFill>
                  <a:srgbClr val="6B6B6B"/>
                </a:solidFill>
                <a:latin typeface="Arial"/>
              </a:rPr>
              <a:t>[screenshot: cncf-feedback-qr.png]</a:t>
            </a:r>
          </a:p>
          <a:p>
            <a:pPr algn="ctr">
              <a:spcAft>
                <a:spcPts val="600"/>
              </a:spcAft>
            </a:pPr>
            <a:r>
              <a:rPr sz="1200" b="0" i="0">
                <a:solidFill>
                  <a:srgbClr val="6B6B6B"/>
                </a:solidFill>
                <a:latin typeface="Arial"/>
              </a:rPr>
              <a:t>CNCF feedback QR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2019-07-29T21:37:05Z</dcterms:created>
  <dc:creator>Alex Contini</dc:creator>
</cp:coreProperties>
</file>