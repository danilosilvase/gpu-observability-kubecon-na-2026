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 min. Across the industry the average production GPU runs at around 5% utilisation. Our incident fleet reads 95%. Same counter, two readings. One fleet looks saturated, the other idle. On its own, the number says nothing about the actual inference work. The talk is about where that signal actually lives.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Open with the incident, not the architecture. p99 doubled at 02:14. You open the GPU dashboard: utilisation 95%, framebuffer 90% used, both flat for an hour. Pods Ready, nothing throttled, no OOM, no restart. Everything the GPU can tell you says healthy and busy. Nobody knows why. That is the black 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2 starts here, 4.5 min for slides 5 to 8. Every serious LLM server pre-allocates its memory pool at start-up: weights plus activation workspace plus the KV cache, capped by --gpu-memory-utilization. On our tiny demo model the weights are small, so the pool is effectively KV cache. The framebuffer counter jumps to the configured fraction in the first 30 seconds and never moves again, idle or melting. Constrained pod at 0.15 shows 3.6 GB, over-provisioned at 0.90 shows 20.5 GB, both perfectly flat. The one with less memory is the one that will get into trouble, and this counter cannot tell you that.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GPU_UTIL means 'at least one kernel was running during the sample window'. A single thread spinning counts as 100%. Inference has two phases with opposite profiles. Prefill: the whole prompt in one pass, big matmuls, compute-bound. Decode: one token per step, re-reading the whole KV cache every step, memory-bandwidth-bound. The same 100% util covers both. It cannot see which phase you are in or how much of the silicon is doing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 measured a vLLM server with the DCGM profiling fields, not the NVML util counter. Graphics engine active 99.8%, which is the profiler's version of 'busy'. Tensor cores, the units doing the actual matmuls, active 16.6% of the time. Memory bus 80.4%. The card is not computing, it is waiting on memory. Bandwidth-bound, not compute-saturated, and 'utilisation' never said which. If you need more throughput here you quantize before you buy hardware. People serving models are starting to borrow the training world's MFU and MBU vocabulary for exactly this reason.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Vocabulary slide, the one to photograph. Left: what most GPU dashboards show. Right: what describes the work. SM_ACTIVE says how much of the compute is busy, SM_OCCUPANCY what share of the warps an SM can hold are resident, DRAM_ACTIVE whether you are bandwidth-bound, PIPE_TENSOR_ACTIVE whether the tensor cores are doing the matmuls. Then the punchline: none of these counters know what a token is. Queue depth, KV cache pressure, tokens per second. The serving framework owns those, the silicon doesn't.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3, 2.5 min for slides 9 to 11. If you take one architectural idea home, take this one. DCGM knows which pod holds the GPU, via the kubelet pod-resources socket. Fluent Bit knows which pod wrote the log line. The OTel Collector stamps k8s.pod.name on every span. Nothing else is shared across the three. So you keep the pod name on every signal and you join at query time. Footnote for newer clusters: Kubernetes 1.35 made DRA stable and dcgm-exporter 4.8.4 added pod_uid tracking because the old device-plugin mapping breaks under DRA. The idea survives, the plumbing changes.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dcgm-exporter in Kubernetes mode asks the kubelet which pod owns each GPU and stamps exported_pod on every counter. Two things: which pod is on which GPU, and whether that silicon is busy. It does not give you why. On EKS Auto Mode you run it standalone as a DaemonSet with the pod-resources hostPath, because the GPU Operator is not supported there. Seven counters in counters.csv, and that smallness is deliberate, next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first thing we broke was Prometheus. dcgm-exporter can copy every pod label onto every counter (ENABLE_POD_LABELS). Do the arithmetic at fleet scale: 1,000 nodes, 8 GPUs each, the default 60 or so counters, three label dimensions, and you are at 1.4 million series before a single pod or job label is added. Pod names churn on every rollout, so every label you add multiplies by churn. Here's the rule that fixed it. Identity on logs, stable dimensions on metrics, join at query time. We ship seven counters and one identity label, and we join on the fixed part of the pod name, never the hash.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4 is the centre of the talk, 6 min for slides 12 to 15. This is one line of vLLM stdout, every 10 seconds while it is busy. Read the fields: prompt and generation throughput, running requests, waiting requests, KV cache usage, prefix cache hit rate. When the scheduler starts evicting work because the cache is full, a Preemptions field appears. Top line: the over-provisioned pod under steady load. Bottom: the constrained pod during the demo load. Six facts about the inference work, and not one of them shows up in a GPU counter.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Fluent Bit tails the container log, the kubernetes filter attaches the pod name (that is the join key arriving), the Lua filter does five string.match calls and promotes pod_name to a top-level field, grep drops everything that is not a stats line, log_to_metrics turns the fields into gauges labelled by pod_name, and prometheus_exporter serves them on :2021 for the same Prometheus that scrapes DCGM. Now the honest caveat, say it before someone asks: vLLM exposes all of this natively on /metrics, kv_cache_usage_perc, num_requests_waiting, request_queue_time_seconds. vLLM is the demo vehicle. This is for everything that doesn't have it: custom servers, vendor images you can't touch, log-only pipelines, the TGI or Triton you inherited. Same fifteen lines, different regex.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anchor, 1 min. Start the loadgen before this slide (kubectl apply loadgen-job.yaml), it runs 12 minutes. Tell the room what to watch before switching: row 1 is DCGM, row 2 is what the log knows. The constrained pod is about to get long prompts at concurrency 128. Watch KV cache and waiting on row 2 while FB_USED on row 1 does not move. Then switch to Grafana.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for the live demo, or the recap after it. Left, DCGM: FB_USED 3.6 GB before, during and after on the constrained pod. Right, the log: KV cache goes to 100% within a minute of the load and stays there, waiting climbs to around 100, p95 queue time jumps from 0.3 s to 4.8 s. Be precise: GPU_UTIL and SM_ACTIVE did go up on the constrained pod, so DCGM does say busy. What it can't say: one pod has zero headroom and 100 requests queued, the other has 99% of its cache sitting free. Queue time moves first, waiting confirms.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 2.5 min. vLLM emits one span per request natively, you point it at the OTel Collector. The k8sattributes processor stamps k8s.pod.name on every span by looking up the source IP. A slow span by itself is just a fact. The same slow span, on the pod whose KV cache hit 100% that second, with 116 requests waiting, is a diagnosis. Gotcha worth saying out loud: tracing disappeared in the vLLM V1 engine rewrite and came back in PR 20372, so you need 0.10.2 or later; if your traces vanished after an upgrade, that is why. Keep this honest: we show traces from the serving path, one span per request. Multi-hop waterfalls are a flag away, not the point. Bonus in 0.30: start-up spans (load weights, allocate KV cache, compile graph).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6, 2 min. This is the slide the whole talk builds to. One Grafana dashboard, one pod variable, three data sources that never heard of each other. Point at the red line, 16:56, when the load hits. KV cache pegs, queue time jumps from 0.3 to 4.8 seconds, and the DCGM row above is unchanged. That is the black box opened. No new agent, no vendor, no eBPF. Just the pod name on every signal, and the discipline to keep it there.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 min, one gotcha. EKS Auto Mode ships NVIDIA drivers and the device plugin on its GPU AMIs, but does not support the GPU Operator or the NVIDIA DRA driver. Every DCGM how-to assumes the Operator. So: standalone dcgm-exporter DaemonSet, pod-resources hostPath, SYS_ADMIN cap. Two more in the repo if asked: Fluent Bit's kubernetes filter needs Kube_Tag_Prefix to match the tail tag exactly or the pod name silently never arrives, and a 1-GPU pod on a NodePool capped at two GPUs can never RollingUpdate, use Recreate.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Three things before someone asks 'isn't this solved'. One: disaggregated prefill/decode (llm-d, NVIDIA Dynamo, llm-d-aws) splits a request across two pods, KV cache shipped between them over NIXL and EFA; AWS reports up to 70% more tokens per second at concurrency 128. The pod is no longer the whole request, so the join key becomes request id plus pod. Two: the Gateway API Inference Extension's endpoint picker and Dynamo's KV-aware router consume exactly these signals, queue depth and KV cache, to route. The join is moving from Grafana into the router. Three: AWS's OTel-native Container Insights, June 2026, packages signal 1 for EKS out of the box. Signals 2 and 3 are still yours to wire. Out of scope today, ask me after: XID/ECC/thermal faults, output quality, eBPF GPU profiling, Dynamo internals.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Three counters, one filter, one rule, that's the whole kit. SM_ACTIVE instead of GPU_UTIL. KV cache percent and queue time from the serving framework, by log or by /metrics, whichever you have. Pod name on every signal, nothing else on the metrics. Everything in the repo deploys with one terraform apply on EKS Auto Mode. Attribution: this session was designed by [original author]; we rebuilt it from the abstract and broke different things along the way.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the room, point at the repo, ask for feedback via the CNCF QR. Q&amp;A. Likely questions: 'why not just scrape vLLM /metrics' (answered on slide 13, repeat it), 'what about MIG or time-slicing' (dcgm-exporter 4.5+ has per-process metrics, narrows but does not close the gap), 'SGLang / TGI field names' (same technique, verify the regex against your log line), 'hardware faults' (fourth signal class, out of scope).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Senior Delivery Consultant, DevOps,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Support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02:14. p99 doubles. Every GPU chart is green.</a:t>
            </a:r>
          </a:p>
        </p:txBody>
      </p:sp>
      <p:sp>
        <p:nvSpPr>
          <p:cNvPr id="3" name="TextBox 2"/>
          <p:cNvSpPr txBox="1"/>
          <p:nvPr/>
        </p:nvSpPr>
        <p:spPr>
          <a:xfrm>
            <a:off x="403682" y="1550000"/>
            <a:ext cx="4300000" cy="1300000"/>
          </a:xfrm>
          <a:prstGeom prst="rect">
            <a:avLst/>
          </a:prstGeom>
          <a:noFill/>
        </p:spPr>
        <p:txBody>
          <a:bodyPr wrap="square" anchor="t">
            <a:spAutoFit/>
          </a:bodyPr>
          <a:lstStyle/>
          <a:p>
            <a:pPr algn="l">
              <a:spcAft>
                <a:spcPts val="0"/>
              </a:spcAft>
            </a:pPr>
            <a:r>
              <a:rPr sz="8000" b="1" i="0">
                <a:solidFill>
                  <a:srgbClr val="991346"/>
                </a:solidFill>
                <a:latin typeface="Arial"/>
              </a:rPr>
              <a:t>02:14</a:t>
            </a:r>
          </a:p>
          <a:p>
            <a:pPr algn="l">
              <a:spcAft>
                <a:spcPts val="0"/>
              </a:spcAft>
            </a:pPr>
            <a:r>
              <a:rPr sz="2400" b="0" i="0">
                <a:solidFill>
                  <a:srgbClr val="262626"/>
                </a:solidFill>
                <a:latin typeface="Arial"/>
              </a:rPr>
              <a:t>p99 latency doubles</a:t>
            </a:r>
          </a:p>
        </p:txBody>
      </p:sp>
      <p:sp>
        <p:nvSpPr>
          <p:cNvPr id="4" name="TextBox 3"/>
          <p:cNvSpPr txBox="1"/>
          <p:nvPr/>
        </p:nvSpPr>
        <p:spPr>
          <a:xfrm>
            <a:off x="403682" y="3150000"/>
            <a:ext cx="4300000" cy="2800000"/>
          </a:xfrm>
          <a:prstGeom prst="rect">
            <a:avLst/>
          </a:prstGeom>
          <a:noFill/>
        </p:spPr>
        <p:txBody>
          <a:bodyPr wrap="square" anchor="t">
            <a:spAutoFit/>
          </a:bodyPr>
          <a:lstStyle/>
          <a:p>
            <a:pPr algn="l">
              <a:spcAft>
                <a:spcPts val="1000"/>
              </a:spcAft>
            </a:pPr>
            <a:r>
              <a:rPr sz="2200" b="0" i="0">
                <a:solidFill>
                  <a:srgbClr val="262626"/>
                </a:solidFill>
                <a:latin typeface="Arial"/>
              </a:rPr>
              <a:t>The model is healthy.</a:t>
            </a:r>
          </a:p>
          <a:p>
            <a:pPr algn="l">
              <a:spcAft>
                <a:spcPts val="1000"/>
              </a:spcAft>
            </a:pPr>
            <a:r>
              <a:rPr sz="2200" b="0" i="0">
                <a:solidFill>
                  <a:srgbClr val="262626"/>
                </a:solidFill>
                <a:latin typeface="Arial"/>
              </a:rPr>
              <a:t>The pods are Ready.</a:t>
            </a:r>
          </a:p>
          <a:p>
            <a:pPr algn="l">
              <a:spcAft>
                <a:spcPts val="1000"/>
              </a:spcAft>
            </a:pPr>
            <a:r>
              <a:rPr sz="2200" b="0" i="0">
                <a:solidFill>
                  <a:srgbClr val="262626"/>
                </a:solidFill>
                <a:latin typeface="Arial"/>
              </a:rPr>
              <a:t>Nothing is throttled.</a:t>
            </a:r>
          </a:p>
          <a:p>
            <a:pPr algn="l">
              <a:spcAft>
                <a:spcPts val="0"/>
              </a:spcAft>
            </a:pPr>
            <a:r>
              <a:rPr sz="3200" b="1" i="0">
                <a:solidFill>
                  <a:srgbClr val="991346"/>
                </a:solidFill>
                <a:latin typeface="Arial"/>
              </a:rPr>
              <a:t>Nobody knows why.</a:t>
            </a:r>
          </a:p>
        </p:txBody>
      </p:sp>
      <p:sp>
        <p:nvSpPr>
          <p:cNvPr id="5" name="Rounded Rectangle 4"/>
          <p:cNvSpPr/>
          <p:nvPr/>
        </p:nvSpPr>
        <p:spPr>
          <a:xfrm>
            <a:off x="5103682"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6" name="TextBox 5"/>
          <p:cNvSpPr txBox="1"/>
          <p:nvPr/>
        </p:nvSpPr>
        <p:spPr>
          <a:xfrm>
            <a:off x="5103682" y="1700000"/>
            <a:ext cx="2094878" cy="3000000"/>
          </a:xfrm>
          <a:prstGeom prst="rect">
            <a:avLst/>
          </a:prstGeom>
          <a:noFill/>
        </p:spPr>
        <p:txBody>
          <a:bodyPr wrap="square" anchor="ctr">
            <a:spAutoFit/>
          </a:bodyPr>
          <a:lstStyle/>
          <a:p>
            <a:pPr algn="ctr">
              <a:spcAft>
                <a:spcPts val="1000"/>
              </a:spcAft>
            </a:pPr>
            <a:r>
              <a:rPr sz="5400" b="1" i="0">
                <a:solidFill>
                  <a:srgbClr val="2E7D32"/>
                </a:solidFill>
                <a:latin typeface="Arial"/>
              </a:rPr>
              <a:t>95%</a:t>
            </a:r>
          </a:p>
          <a:p>
            <a:pPr algn="ctr">
              <a:spcAft>
                <a:spcPts val="0"/>
              </a:spcAft>
            </a:pPr>
            <a:r>
              <a:rPr sz="1600" b="1" i="0">
                <a:solidFill>
                  <a:srgbClr val="262626"/>
                </a:solidFill>
                <a:latin typeface="Arial"/>
              </a:rPr>
              <a:t>GPU utilisation</a:t>
            </a:r>
          </a:p>
          <a:p>
            <a:pPr algn="ctr">
              <a:spcAft>
                <a:spcPts val="0"/>
              </a:spcAft>
            </a:pPr>
            <a:r>
              <a:rPr sz="1400" b="0" i="0">
                <a:solidFill>
                  <a:srgbClr val="6B6B6B"/>
                </a:solidFill>
                <a:latin typeface="Arial"/>
              </a:rPr>
              <a:t>flat for an hour</a:t>
            </a:r>
          </a:p>
        </p:txBody>
      </p:sp>
      <p:sp>
        <p:nvSpPr>
          <p:cNvPr id="7" name="Rounded Rectangle 6"/>
          <p:cNvSpPr/>
          <p:nvPr/>
        </p:nvSpPr>
        <p:spPr>
          <a:xfrm>
            <a:off x="7398560"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8" name="TextBox 7"/>
          <p:cNvSpPr txBox="1"/>
          <p:nvPr/>
        </p:nvSpPr>
        <p:spPr>
          <a:xfrm>
            <a:off x="7398560" y="1700000"/>
            <a:ext cx="2094878" cy="3000000"/>
          </a:xfrm>
          <a:prstGeom prst="rect">
            <a:avLst/>
          </a:prstGeom>
          <a:noFill/>
        </p:spPr>
        <p:txBody>
          <a:bodyPr wrap="square" anchor="ctr">
            <a:spAutoFit/>
          </a:bodyPr>
          <a:lstStyle/>
          <a:p>
            <a:pPr algn="ctr">
              <a:spcAft>
                <a:spcPts val="1000"/>
              </a:spcAft>
            </a:pPr>
            <a:r>
              <a:rPr sz="5400" b="1" i="0">
                <a:solidFill>
                  <a:srgbClr val="2E7D32"/>
                </a:solidFill>
                <a:latin typeface="Arial"/>
              </a:rPr>
              <a:t>90%</a:t>
            </a:r>
          </a:p>
          <a:p>
            <a:pPr algn="ctr">
              <a:spcAft>
                <a:spcPts val="0"/>
              </a:spcAft>
            </a:pPr>
            <a:r>
              <a:rPr sz="1600" b="1" i="0">
                <a:solidFill>
                  <a:srgbClr val="262626"/>
                </a:solidFill>
                <a:latin typeface="Arial"/>
              </a:rPr>
              <a:t>GPU memory used</a:t>
            </a:r>
          </a:p>
          <a:p>
            <a:pPr algn="ctr">
              <a:spcAft>
                <a:spcPts val="0"/>
              </a:spcAft>
            </a:pPr>
            <a:r>
              <a:rPr sz="1400" b="0" i="0">
                <a:solidFill>
                  <a:srgbClr val="6B6B6B"/>
                </a:solidFill>
                <a:latin typeface="Arial"/>
              </a:rPr>
              <a:t>flat since start</a:t>
            </a:r>
          </a:p>
        </p:txBody>
      </p:sp>
      <p:sp>
        <p:nvSpPr>
          <p:cNvPr id="9" name="Rounded Rectangle 8"/>
          <p:cNvSpPr/>
          <p:nvPr/>
        </p:nvSpPr>
        <p:spPr>
          <a:xfrm>
            <a:off x="9693438" y="1550000"/>
            <a:ext cx="2094878" cy="3300000"/>
          </a:xfrm>
          <a:prstGeom prst="roundRect">
            <a:avLst>
              <a:gd name="adj" fmla="val 8000"/>
            </a:avLst>
          </a:prstGeom>
          <a:solidFill>
            <a:srgbClr val="E3F1E4"/>
          </a:solidFill>
          <a:ln w="19050">
            <a:solidFill>
              <a:srgbClr val="2E7D32"/>
            </a:solidFill>
          </a:ln>
        </p:spPr>
        <p:txBody>
          <a:bodyPr rtlCol="0" anchor="ctr"/>
          <a:lstStyle/>
          <a:p/>
        </p:txBody>
      </p:sp>
      <p:sp>
        <p:nvSpPr>
          <p:cNvPr id="10" name="TextBox 9"/>
          <p:cNvSpPr txBox="1"/>
          <p:nvPr/>
        </p:nvSpPr>
        <p:spPr>
          <a:xfrm>
            <a:off x="9693438" y="1700000"/>
            <a:ext cx="2094878" cy="3000000"/>
          </a:xfrm>
          <a:prstGeom prst="rect">
            <a:avLst/>
          </a:prstGeom>
          <a:noFill/>
        </p:spPr>
        <p:txBody>
          <a:bodyPr wrap="square" anchor="ctr">
            <a:spAutoFit/>
          </a:bodyPr>
          <a:lstStyle/>
          <a:p>
            <a:pPr algn="ctr">
              <a:spcAft>
                <a:spcPts val="1000"/>
              </a:spcAft>
            </a:pPr>
            <a:r>
              <a:rPr sz="4000" b="1" i="0">
                <a:solidFill>
                  <a:srgbClr val="2E7D32"/>
                </a:solidFill>
                <a:latin typeface="Arial"/>
              </a:rPr>
              <a:t>Ready</a:t>
            </a:r>
          </a:p>
          <a:p>
            <a:pPr algn="ctr">
              <a:spcAft>
                <a:spcPts val="0"/>
              </a:spcAft>
            </a:pPr>
            <a:r>
              <a:rPr sz="1600" b="1" i="0">
                <a:solidFill>
                  <a:srgbClr val="262626"/>
                </a:solidFill>
                <a:latin typeface="Arial"/>
              </a:rPr>
              <a:t>all pods</a:t>
            </a:r>
          </a:p>
          <a:p>
            <a:pPr algn="ctr">
              <a:spcAft>
                <a:spcPts val="0"/>
              </a:spcAft>
            </a:pPr>
            <a:r>
              <a:rPr sz="1400" b="0" i="0">
                <a:solidFill>
                  <a:srgbClr val="6B6B6B"/>
                </a:solidFill>
                <a:latin typeface="Arial"/>
              </a:rPr>
              <a:t>0 restarts, 0 OOM</a:t>
            </a:r>
          </a:p>
        </p:txBody>
      </p:sp>
      <p:sp>
        <p:nvSpPr>
          <p:cNvPr id="11" name="TextBox 10"/>
          <p:cNvSpPr txBox="1"/>
          <p:nvPr/>
        </p:nvSpPr>
        <p:spPr>
          <a:xfrm>
            <a:off x="5103682" y="5100000"/>
            <a:ext cx="6684636" cy="900000"/>
          </a:xfrm>
          <a:prstGeom prst="rect">
            <a:avLst/>
          </a:prstGeom>
          <a:noFill/>
        </p:spPr>
        <p:txBody>
          <a:bodyPr wrap="square" anchor="t">
            <a:spAutoFit/>
          </a:bodyPr>
          <a:lstStyle/>
          <a:p>
            <a:pPr algn="ctr">
              <a:spcAft>
                <a:spcPts val="0"/>
              </a:spcAft>
            </a:pPr>
            <a:r>
              <a:rPr sz="1800" b="0" i="0">
                <a:solidFill>
                  <a:srgbClr val="6B6B6B"/>
                </a:solidFill>
                <a:latin typeface="Arial"/>
              </a:rPr>
              <a:t>Every signal the hardware gives you says: busy and healthy.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counter. Opposite story.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Industry average production GPU utilisation ~5%: Cast AI, State of GPU utilisation 2026 (cast.ai/blog/fractional-gpu-kubernetes)</a:t>
            </a:r>
          </a:p>
        </p:txBody>
      </p:sp>
      <p:sp>
        <p:nvSpPr>
          <p:cNvPr id="4" name="Rounded Rectangle 3"/>
          <p:cNvSpPr/>
          <p:nvPr/>
        </p:nvSpPr>
        <p:spPr>
          <a:xfrm>
            <a:off x="403682" y="1250000"/>
            <a:ext cx="5492318" cy="36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403682" y="1250000"/>
            <a:ext cx="5492318" cy="3600000"/>
          </a:xfrm>
          <a:prstGeom prst="rect">
            <a:avLst/>
          </a:prstGeom>
          <a:noFill/>
        </p:spPr>
        <p:txBody>
          <a:bodyPr wrap="square" anchor="ctr">
            <a:spAutoFit/>
          </a:bodyPr>
          <a:lstStyle/>
          <a:p>
            <a:pPr algn="ctr">
              <a:spcAft>
                <a:spcPts val="0"/>
              </a:spcAft>
            </a:pPr>
            <a:r>
              <a:rPr sz="13000" b="1" i="0">
                <a:solidFill>
                  <a:srgbClr val="C62828"/>
                </a:solidFill>
                <a:latin typeface="Arial"/>
              </a:rPr>
              <a:t>95%</a:t>
            </a:r>
          </a:p>
          <a:p>
            <a:pPr algn="ctr">
              <a:spcAft>
                <a:spcPts val="0"/>
              </a:spcAft>
            </a:pPr>
            <a:r>
              <a:rPr sz="2200" b="1" i="0">
                <a:solidFill>
                  <a:srgbClr val="262626"/>
                </a:solidFill>
                <a:latin typeface="Arial"/>
              </a:rPr>
              <a:t>our fleet at 02:14</a:t>
            </a:r>
          </a:p>
          <a:p>
            <a:pPr algn="ctr">
              <a:spcAft>
                <a:spcPts val="0"/>
              </a:spcAft>
            </a:pPr>
            <a:r>
              <a:rPr sz="1800" b="0" i="0">
                <a:solidFill>
                  <a:srgbClr val="6B6B6B"/>
                </a:solidFill>
                <a:latin typeface="Arial"/>
              </a:rPr>
              <a:t>looks saturated</a:t>
            </a:r>
          </a:p>
        </p:txBody>
      </p:sp>
      <p:sp>
        <p:nvSpPr>
          <p:cNvPr id="6" name="Rounded Rectangle 5"/>
          <p:cNvSpPr/>
          <p:nvPr/>
        </p:nvSpPr>
        <p:spPr>
          <a:xfrm>
            <a:off x="6296000" y="1250000"/>
            <a:ext cx="5492318" cy="3600000"/>
          </a:xfrm>
          <a:prstGeom prst="roundRect">
            <a:avLst>
              <a:gd name="adj" fmla="val 8000"/>
            </a:avLst>
          </a:prstGeom>
          <a:solidFill>
            <a:srgbClr val="E4EEF8"/>
          </a:solidFill>
          <a:ln>
            <a:noFill/>
          </a:ln>
        </p:spPr>
        <p:txBody>
          <a:bodyPr rtlCol="0" anchor="ctr"/>
          <a:lstStyle/>
          <a:p/>
        </p:txBody>
      </p:sp>
      <p:sp>
        <p:nvSpPr>
          <p:cNvPr id="7" name="TextBox 6"/>
          <p:cNvSpPr txBox="1"/>
          <p:nvPr/>
        </p:nvSpPr>
        <p:spPr>
          <a:xfrm>
            <a:off x="6296000" y="1250000"/>
            <a:ext cx="5492318" cy="3600000"/>
          </a:xfrm>
          <a:prstGeom prst="rect">
            <a:avLst/>
          </a:prstGeom>
          <a:noFill/>
        </p:spPr>
        <p:txBody>
          <a:bodyPr wrap="square" anchor="ctr">
            <a:spAutoFit/>
          </a:bodyPr>
          <a:lstStyle/>
          <a:p>
            <a:pPr algn="ctr">
              <a:spcAft>
                <a:spcPts val="0"/>
              </a:spcAft>
            </a:pPr>
            <a:r>
              <a:rPr sz="13000" b="1" i="0">
                <a:solidFill>
                  <a:srgbClr val="1F5FA8"/>
                </a:solidFill>
                <a:latin typeface="Arial"/>
              </a:rPr>
              <a:t>~5%</a:t>
            </a:r>
          </a:p>
          <a:p>
            <a:pPr algn="ctr">
              <a:spcAft>
                <a:spcPts val="0"/>
              </a:spcAft>
            </a:pPr>
            <a:r>
              <a:rPr sz="2200" b="1" i="0">
                <a:solidFill>
                  <a:srgbClr val="262626"/>
                </a:solidFill>
                <a:latin typeface="Arial"/>
              </a:rPr>
              <a:t>industry average</a:t>
            </a:r>
          </a:p>
          <a:p>
            <a:pPr algn="ctr">
              <a:spcAft>
                <a:spcPts val="0"/>
              </a:spcAft>
            </a:pPr>
            <a:r>
              <a:rPr sz="1800" b="0" i="0">
                <a:solidFill>
                  <a:srgbClr val="6B6B6B"/>
                </a:solidFill>
                <a:latin typeface="Arial"/>
              </a:rPr>
              <a:t>looks idle</a:t>
            </a:r>
          </a:p>
        </p:txBody>
      </p:sp>
      <p:sp>
        <p:nvSpPr>
          <p:cNvPr id="8" name="TextBox 7"/>
          <p:cNvSpPr txBox="1"/>
          <p:nvPr/>
        </p:nvSpPr>
        <p:spPr>
          <a:xfrm>
            <a:off x="403682" y="4900000"/>
            <a:ext cx="11384636" cy="500000"/>
          </a:xfrm>
          <a:prstGeom prst="rect">
            <a:avLst/>
          </a:prstGeom>
          <a:noFill/>
        </p:spPr>
        <p:txBody>
          <a:bodyPr wrap="square" anchor="t">
            <a:spAutoFit/>
          </a:bodyPr>
          <a:lstStyle/>
          <a:p>
            <a:pPr algn="ctr">
              <a:spcAft>
                <a:spcPts val="0"/>
              </a:spcAft>
            </a:pPr>
            <a:r>
              <a:rPr sz="1800" b="0" i="0">
                <a:solidFill>
                  <a:srgbClr val="6B6B6B"/>
                </a:solidFill>
                <a:latin typeface="Courier New"/>
              </a:rPr>
              <a:t>DCGM_FI_DEV_GPU_UTIL</a:t>
            </a:r>
          </a:p>
        </p:txBody>
      </p:sp>
      <p:sp>
        <p:nvSpPr>
          <p:cNvPr id="9" name="TextBox 8"/>
          <p:cNvSpPr txBox="1"/>
          <p:nvPr/>
        </p:nvSpPr>
        <p:spPr>
          <a:xfrm>
            <a:off x="403682" y="5450000"/>
            <a:ext cx="11384636" cy="800000"/>
          </a:xfrm>
          <a:prstGeom prst="rect">
            <a:avLst/>
          </a:prstGeom>
          <a:noFill/>
        </p:spPr>
        <p:txBody>
          <a:bodyPr wrap="square" anchor="ctr">
            <a:spAutoFit/>
          </a:bodyPr>
          <a:lstStyle/>
          <a:p>
            <a:pPr algn="l">
              <a:spcAft>
                <a:spcPts val="0"/>
              </a:spcAft>
            </a:pPr>
            <a:r>
              <a:rPr sz="2400" b="1" i="0">
                <a:solidFill>
                  <a:srgbClr val="991346"/>
                </a:solidFill>
                <a:latin typeface="Arial"/>
              </a:rPr>
              <a:t>On its own, this number says nothing about the inference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vLLM grabs the memory before request one.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Live rig, Oct 6 2026: two vLLM pods, facebook/opt-125m, EKS Auto Mode, g5.xlarge (A10G 24 GB). 0.90 x 24 GB = 21.6 GB; the gap to 20.5 GB is CUDA context and driver overhead.</a:t>
            </a:r>
          </a:p>
        </p:txBody>
      </p:sp>
      <p:pic>
        <p:nvPicPr>
          <p:cNvPr id="4" name="Picture 3" descr="panel-2.png"/>
          <p:cNvPicPr>
            <a:picLocks noChangeAspect="1"/>
          </p:cNvPicPr>
          <p:nvPr/>
        </p:nvPicPr>
        <p:blipFill>
          <a:blip r:embed="rId3"/>
          <a:stretch>
            <a:fillRect/>
          </a:stretch>
        </p:blipFill>
        <p:spPr>
          <a:xfrm>
            <a:off x="403682" y="1711429"/>
            <a:ext cx="7400000" cy="3277142"/>
          </a:xfrm>
          <a:prstGeom prst="rect">
            <a:avLst/>
          </a:prstGeom>
        </p:spPr>
      </p:pic>
      <p:sp>
        <p:nvSpPr>
          <p:cNvPr id="5" name="Rectangle 4"/>
          <p:cNvSpPr/>
          <p:nvPr/>
        </p:nvSpPr>
        <p:spPr>
          <a:xfrm>
            <a:off x="403682" y="1711429"/>
            <a:ext cx="7400000" cy="3277142"/>
          </a:xfrm>
          <a:prstGeom prst="rect">
            <a:avLst/>
          </a:prstGeom>
          <a:noFill/>
          <a:ln w="9525">
            <a:solidFill>
              <a:srgbClr val="DDDDDD"/>
            </a:solidFill>
          </a:ln>
        </p:spPr>
        <p:txBody>
          <a:bodyPr rtlCol="0" anchor="ctr"/>
          <a:lstStyle/>
          <a:p>
            <a:pPr algn="ctr"/>
          </a:p>
        </p:txBody>
      </p:sp>
      <p:sp>
        <p:nvSpPr>
          <p:cNvPr id="6" name="Rounded Rectangle 5"/>
          <p:cNvSpPr/>
          <p:nvPr/>
        </p:nvSpPr>
        <p:spPr>
          <a:xfrm>
            <a:off x="5503682" y="2170228"/>
            <a:ext cx="2100000" cy="620000"/>
          </a:xfrm>
          <a:prstGeom prst="roundRect">
            <a:avLst>
              <a:gd name="adj" fmla="val 12000"/>
            </a:avLst>
          </a:prstGeom>
          <a:solidFill>
            <a:srgbClr val="2E7D32"/>
          </a:solidFill>
          <a:ln>
            <a:noFill/>
          </a:ln>
        </p:spPr>
        <p:txBody>
          <a:bodyPr rtlCol="0" anchor="ctr"/>
          <a:lstStyle/>
          <a:p/>
        </p:txBody>
      </p:sp>
      <p:sp>
        <p:nvSpPr>
          <p:cNvPr id="7" name="TextBox 6"/>
          <p:cNvSpPr txBox="1"/>
          <p:nvPr/>
        </p:nvSpPr>
        <p:spPr>
          <a:xfrm>
            <a:off x="5503682" y="2170228"/>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20.5 GB, flat</a:t>
            </a:r>
          </a:p>
          <a:p>
            <a:pPr algn="ctr">
              <a:spcAft>
                <a:spcPts val="0"/>
              </a:spcAft>
            </a:pPr>
            <a:r>
              <a:rPr sz="1400" b="0" i="0">
                <a:solidFill>
                  <a:srgbClr val="FFFFFF"/>
                </a:solidFill>
                <a:latin typeface="Arial"/>
              </a:rPr>
              <a:t>gpu-mem-util 0.90</a:t>
            </a:r>
          </a:p>
        </p:txBody>
      </p:sp>
      <p:sp>
        <p:nvSpPr>
          <p:cNvPr id="8" name="Rounded Rectangle 7"/>
          <p:cNvSpPr/>
          <p:nvPr/>
        </p:nvSpPr>
        <p:spPr>
          <a:xfrm>
            <a:off x="5503682" y="3743257"/>
            <a:ext cx="2100000" cy="620000"/>
          </a:xfrm>
          <a:prstGeom prst="roundRect">
            <a:avLst>
              <a:gd name="adj" fmla="val 12000"/>
            </a:avLst>
          </a:prstGeom>
          <a:solidFill>
            <a:srgbClr val="1F5FA8"/>
          </a:solidFill>
          <a:ln>
            <a:noFill/>
          </a:ln>
        </p:spPr>
        <p:txBody>
          <a:bodyPr rtlCol="0" anchor="ctr"/>
          <a:lstStyle/>
          <a:p/>
        </p:txBody>
      </p:sp>
      <p:sp>
        <p:nvSpPr>
          <p:cNvPr id="9" name="TextBox 8"/>
          <p:cNvSpPr txBox="1"/>
          <p:nvPr/>
        </p:nvSpPr>
        <p:spPr>
          <a:xfrm>
            <a:off x="5503682" y="3743257"/>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3.6 GB, flat</a:t>
            </a:r>
          </a:p>
          <a:p>
            <a:pPr algn="ctr">
              <a:spcAft>
                <a:spcPts val="0"/>
              </a:spcAft>
            </a:pPr>
            <a:r>
              <a:rPr sz="1400" b="0" i="0">
                <a:solidFill>
                  <a:srgbClr val="FFFFFF"/>
                </a:solidFill>
                <a:latin typeface="Arial"/>
              </a:rPr>
              <a:t>gpu-mem-util 0.15</a:t>
            </a:r>
          </a:p>
        </p:txBody>
      </p:sp>
      <p:sp>
        <p:nvSpPr>
          <p:cNvPr id="10" name="TextBox 9"/>
          <p:cNvSpPr txBox="1"/>
          <p:nvPr/>
        </p:nvSpPr>
        <p:spPr>
          <a:xfrm>
            <a:off x="8103682" y="1250000"/>
            <a:ext cx="3684636" cy="4200000"/>
          </a:xfrm>
          <a:prstGeom prst="rect">
            <a:avLst/>
          </a:prstGeom>
          <a:noFill/>
        </p:spPr>
        <p:txBody>
          <a:bodyPr wrap="square" anchor="t">
            <a:spAutoFit/>
          </a:bodyPr>
          <a:lstStyle/>
          <a:p>
            <a:pPr algn="l">
              <a:spcAft>
                <a:spcPts val="1000"/>
              </a:spcAft>
            </a:pPr>
            <a:r>
              <a:rPr sz="1700" b="1" i="0">
                <a:solidFill>
                  <a:srgbClr val="991346"/>
                </a:solidFill>
                <a:latin typeface="Courier New"/>
              </a:rPr>
              <a:t>DCGM_FI_DEV_FB_USED</a:t>
            </a:r>
          </a:p>
          <a:p>
            <a:pPr algn="l">
              <a:spcAft>
                <a:spcPts val="1000"/>
              </a:spcAft>
            </a:pPr>
            <a:r>
              <a:rPr sz="1600" b="0" i="0">
                <a:solidFill>
                  <a:srgbClr val="6B6B6B"/>
                </a:solidFill>
                <a:latin typeface="Arial"/>
              </a:rPr>
              <a:t>The counter everyone watches.</a:t>
            </a:r>
          </a:p>
          <a:p>
            <a:pPr algn="l" marL="285750" indent="-285750">
              <a:spcAft>
                <a:spcPts val="1000"/>
              </a:spcAft>
              <a:buChar char="•"/>
            </a:pPr>
            <a:r>
              <a:rPr sz="1700" b="0" i="0">
                <a:solidFill>
                  <a:srgbClr val="262626"/>
                </a:solidFill>
                <a:latin typeface="Arial"/>
              </a:rPr>
              <a:t>Pre-allocated pool: weights, activations, KV cache. Sized by --gpu-memory-utilization.</a:t>
            </a:r>
          </a:p>
          <a:p>
            <a:pPr algn="l" marL="285750" indent="-285750">
              <a:spcAft>
                <a:spcPts val="1000"/>
              </a:spcAft>
              <a:buChar char="•"/>
            </a:pPr>
            <a:r>
              <a:rPr sz="1700" b="0" i="0">
                <a:solidFill>
                  <a:srgbClr val="262626"/>
                </a:solidFill>
                <a:latin typeface="Arial"/>
              </a:rPr>
              <a:t>Jumps to the configured fraction at start-up.</a:t>
            </a:r>
          </a:p>
          <a:p>
            <a:pPr algn="l" marL="285750" indent="-285750">
              <a:spcAft>
                <a:spcPts val="1000"/>
              </a:spcAft>
              <a:buChar char="•"/>
            </a:pPr>
            <a:r>
              <a:rPr sz="1700" b="0" i="0">
                <a:solidFill>
                  <a:srgbClr val="262626"/>
                </a:solidFill>
                <a:latin typeface="Arial"/>
              </a:rPr>
              <a:t>Then flat. Idle or saturated, same number.</a:t>
            </a:r>
          </a:p>
          <a:p>
            <a:pPr algn="l">
              <a:spcAft>
                <a:spcPts val="0"/>
              </a:spcAft>
            </a:pPr>
            <a:r>
              <a:rPr sz="1700" b="1" i="0">
                <a:solidFill>
                  <a:srgbClr val="262626"/>
                </a:solidFill>
                <a:latin typeface="Arial"/>
              </a:rPr>
              <a:t>Which one is about to fall over? The smaller one. The counter says the opposite.</a:t>
            </a:r>
          </a:p>
        </p:txBody>
      </p:sp>
      <p:sp>
        <p:nvSpPr>
          <p:cNvPr id="11" name="TextBox 10"/>
          <p:cNvSpPr txBox="1"/>
          <p:nvPr/>
        </p:nvSpPr>
        <p:spPr>
          <a:xfrm>
            <a:off x="403682" y="555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It measures a config value. Never the workload sitting on top of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DCGM_FI_DEV_GPU_UTIL (field 203) is NVML-polled: 'a kernel ran during the sample window'. The profiling fields on the next slide come from the GPU's hardware profiler.</a:t>
            </a:r>
          </a:p>
        </p:txBody>
      </p:sp>
      <p:sp>
        <p:nvSpPr>
          <p:cNvPr id="4" name="Rounded Rectangle 3"/>
          <p:cNvSpPr/>
          <p:nvPr/>
        </p:nvSpPr>
        <p:spPr>
          <a:xfrm>
            <a:off x="403682" y="1250000"/>
            <a:ext cx="5492318" cy="2900000"/>
          </a:xfrm>
          <a:prstGeom prst="roundRect">
            <a:avLst>
              <a:gd name="adj" fmla="val 8000"/>
            </a:avLst>
          </a:prstGeom>
          <a:solidFill>
            <a:srgbClr val="F6E3EA"/>
          </a:solidFill>
          <a:ln>
            <a:noFill/>
          </a:ln>
        </p:spPr>
        <p:txBody>
          <a:bodyPr rtlCol="0" anchor="ctr"/>
          <a:lstStyle/>
          <a:p/>
        </p:txBody>
      </p:sp>
      <p:sp>
        <p:nvSpPr>
          <p:cNvPr id="5" name="TextBox 4"/>
          <p:cNvSpPr txBox="1"/>
          <p:nvPr/>
        </p:nvSpPr>
        <p:spPr>
          <a:xfrm>
            <a:off x="463682"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Prefill</a:t>
            </a:r>
          </a:p>
          <a:p>
            <a:pPr algn="l">
              <a:spcAft>
                <a:spcPts val="800"/>
              </a:spcAft>
            </a:pPr>
            <a:r>
              <a:rPr sz="2200" b="0" i="0">
                <a:solidFill>
                  <a:srgbClr val="262626"/>
                </a:solidFill>
                <a:latin typeface="Arial"/>
              </a:rPr>
              <a:t>Whole prompt in one pass.</a:t>
            </a:r>
          </a:p>
          <a:p>
            <a:pPr algn="l">
              <a:spcAft>
                <a:spcPts val="800"/>
              </a:spcAft>
            </a:pPr>
            <a:r>
              <a:rPr sz="2200" b="0" i="0">
                <a:solidFill>
                  <a:srgbClr val="262626"/>
                </a:solidFill>
                <a:latin typeface="Arial"/>
              </a:rPr>
              <a:t>Large matmuls. Compute-bound.</a:t>
            </a:r>
          </a:p>
          <a:p>
            <a:pPr algn="l">
              <a:spcAft>
                <a:spcPts val="0"/>
              </a:spcAft>
            </a:pPr>
            <a:r>
              <a:rPr sz="1800" b="0" i="0">
                <a:solidFill>
                  <a:srgbClr val="6B6B6B"/>
                </a:solidFill>
                <a:latin typeface="Arial"/>
              </a:rPr>
              <a:t>Tensor cores busy, memory bus quiet.</a:t>
            </a:r>
          </a:p>
        </p:txBody>
      </p:sp>
      <p:sp>
        <p:nvSpPr>
          <p:cNvPr id="6" name="Rounded Rectangle 5"/>
          <p:cNvSpPr/>
          <p:nvPr/>
        </p:nvSpPr>
        <p:spPr>
          <a:xfrm>
            <a:off x="6296000" y="1250000"/>
            <a:ext cx="5492318" cy="2900000"/>
          </a:xfrm>
          <a:prstGeom prst="roundRect">
            <a:avLst>
              <a:gd name="adj" fmla="val 8000"/>
            </a:avLst>
          </a:prstGeom>
          <a:solidFill>
            <a:srgbClr val="F6E3EA"/>
          </a:solidFill>
          <a:ln>
            <a:noFill/>
          </a:ln>
        </p:spPr>
        <p:txBody>
          <a:bodyPr rtlCol="0" anchor="ctr"/>
          <a:lstStyle/>
          <a:p/>
        </p:txBody>
      </p:sp>
      <p:sp>
        <p:nvSpPr>
          <p:cNvPr id="7" name="TextBox 6"/>
          <p:cNvSpPr txBox="1"/>
          <p:nvPr/>
        </p:nvSpPr>
        <p:spPr>
          <a:xfrm>
            <a:off x="6356000"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Decode</a:t>
            </a:r>
          </a:p>
          <a:p>
            <a:pPr algn="l">
              <a:spcAft>
                <a:spcPts val="800"/>
              </a:spcAft>
            </a:pPr>
            <a:r>
              <a:rPr sz="2200" b="0" i="0">
                <a:solidFill>
                  <a:srgbClr val="262626"/>
                </a:solidFill>
                <a:latin typeface="Arial"/>
              </a:rPr>
              <a:t>One token per step.</a:t>
            </a:r>
          </a:p>
          <a:p>
            <a:pPr algn="l">
              <a:spcAft>
                <a:spcPts val="800"/>
              </a:spcAft>
            </a:pPr>
            <a:r>
              <a:rPr sz="2200" b="0" i="0">
                <a:solidFill>
                  <a:srgbClr val="262626"/>
                </a:solidFill>
                <a:latin typeface="Arial"/>
              </a:rPr>
              <a:t>Re-reads the entire KV cache each step. Memory-bandwidth-bound.</a:t>
            </a:r>
          </a:p>
          <a:p>
            <a:pPr algn="l">
              <a:spcAft>
                <a:spcPts val="0"/>
              </a:spcAft>
            </a:pPr>
            <a:r>
              <a:rPr sz="1800" b="0" i="0">
                <a:solidFill>
                  <a:srgbClr val="6B6B6B"/>
                </a:solidFill>
                <a:latin typeface="Arial"/>
              </a:rPr>
              <a:t>Memory bus busy, tensor cores waiting.</a:t>
            </a:r>
          </a:p>
        </p:txBody>
      </p:sp>
      <p:sp>
        <p:nvSpPr>
          <p:cNvPr id="8" name="Rounded Rectangle 7"/>
          <p:cNvSpPr/>
          <p:nvPr/>
        </p:nvSpPr>
        <p:spPr>
          <a:xfrm>
            <a:off x="403682" y="4450000"/>
            <a:ext cx="11384636" cy="700000"/>
          </a:xfrm>
          <a:prstGeom prst="roundRect">
            <a:avLst>
              <a:gd name="adj" fmla="val 30000"/>
            </a:avLst>
          </a:prstGeom>
          <a:solidFill>
            <a:srgbClr val="F3F3F3"/>
          </a:solidFill>
          <a:ln>
            <a:noFill/>
          </a:ln>
        </p:spPr>
        <p:txBody>
          <a:bodyPr rtlCol="0" anchor="ctr"/>
          <a:lstStyle/>
          <a:p/>
        </p:txBody>
      </p:sp>
      <p:sp>
        <p:nvSpPr>
          <p:cNvPr id="9" name="Rounded Rectangle 8"/>
          <p:cNvSpPr/>
          <p:nvPr/>
        </p:nvSpPr>
        <p:spPr>
          <a:xfrm>
            <a:off x="403682" y="4450000"/>
            <a:ext cx="11384636" cy="700000"/>
          </a:xfrm>
          <a:prstGeom prst="roundRect">
            <a:avLst>
              <a:gd name="adj" fmla="val 30000"/>
            </a:avLst>
          </a:prstGeom>
          <a:solidFill>
            <a:srgbClr val="E8B4C4"/>
          </a:solidFill>
          <a:ln>
            <a:noFill/>
          </a:ln>
        </p:spPr>
        <p:txBody>
          <a:bodyPr rtlCol="0" anchor="ctr"/>
          <a:lstStyle/>
          <a:p/>
        </p:txBody>
      </p:sp>
      <p:sp>
        <p:nvSpPr>
          <p:cNvPr id="10" name="TextBox 9"/>
          <p:cNvSpPr txBox="1"/>
          <p:nvPr/>
        </p:nvSpPr>
        <p:spPr>
          <a:xfrm>
            <a:off x="403682" y="4450000"/>
            <a:ext cx="11384636" cy="700000"/>
          </a:xfrm>
          <a:prstGeom prst="rect">
            <a:avLst/>
          </a:prstGeom>
          <a:noFill/>
        </p:spPr>
        <p:txBody>
          <a:bodyPr wrap="square" anchor="ctr">
            <a:spAutoFit/>
          </a:bodyPr>
          <a:lstStyle/>
          <a:p>
            <a:pPr algn="ctr">
              <a:spcAft>
                <a:spcPts val="600"/>
              </a:spcAft>
            </a:pPr>
            <a:r>
              <a:rPr sz="1800" b="1" i="0">
                <a:solidFill>
                  <a:srgbClr val="262626"/>
                </a:solidFill>
                <a:latin typeface="Courier New"/>
              </a:rPr>
              <a:t>DCGM_FI_DEV_GPU_UTIL </a:t>
            </a:r>
            <a:r>
              <a:rPr sz="1800" b="1" i="0">
                <a:solidFill>
                  <a:srgbClr val="262626"/>
                </a:solidFill>
                <a:latin typeface="Arial"/>
              </a:rPr>
              <a:t>= 100% in both phases</a:t>
            </a:r>
          </a:p>
        </p:txBody>
      </p:sp>
      <p:sp>
        <p:nvSpPr>
          <p:cNvPr id="11" name="TextBox 10"/>
          <p:cNvSpPr txBox="1"/>
          <p:nvPr/>
        </p:nvSpPr>
        <p:spPr>
          <a:xfrm>
            <a:off x="403682" y="5300000"/>
            <a:ext cx="11384636" cy="700000"/>
          </a:xfrm>
          <a:prstGeom prst="rect">
            <a:avLst/>
          </a:prstGeom>
          <a:noFill/>
        </p:spPr>
        <p:txBody>
          <a:bodyPr wrap="square" anchor="ctr">
            <a:spAutoFit/>
          </a:bodyPr>
          <a:lstStyle/>
          <a:p>
            <a:pPr algn="l">
              <a:spcAft>
                <a:spcPts val="0"/>
              </a:spcAft>
            </a:pPr>
            <a:r>
              <a:rPr sz="2200" b="1" i="0">
                <a:solidFill>
                  <a:srgbClr val="991346"/>
                </a:solidFill>
                <a:latin typeface="Arial"/>
              </a:rPr>
              <a:t>One busy thread reads as 100%. The counter has no idea which phase you are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Three profiler counters, same second.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Measured on vLLM by Elastic Observability Labs (2025): DCGM_FI_PROF_GR_ENGINE_ACTIVE 99.8%, PIPE_TENSOR_ACTIVE 16.6%, DRAM_ACTIVE 80.4%. MFU/MBU vocabulary: Lightbits, The Utilization Illusion.</a:t>
            </a:r>
          </a:p>
        </p:txBody>
      </p:sp>
      <p:sp>
        <p:nvSpPr>
          <p:cNvPr id="4" name="Rounded Rectangle 3"/>
          <p:cNvSpPr/>
          <p:nvPr/>
        </p:nvSpPr>
        <p:spPr>
          <a:xfrm>
            <a:off x="403682" y="1250000"/>
            <a:ext cx="3594878" cy="30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250000"/>
            <a:ext cx="3594878" cy="3000000"/>
          </a:xfrm>
          <a:prstGeom prst="rect">
            <a:avLst/>
          </a:prstGeom>
          <a:noFill/>
        </p:spPr>
        <p:txBody>
          <a:bodyPr wrap="square" anchor="ctr">
            <a:spAutoFit/>
          </a:bodyPr>
          <a:lstStyle/>
          <a:p>
            <a:pPr algn="ctr">
              <a:spcAft>
                <a:spcPts val="200"/>
              </a:spcAft>
            </a:pPr>
            <a:r>
              <a:rPr sz="7200" b="1" i="0">
                <a:solidFill>
                  <a:srgbClr val="6B6B6B"/>
                </a:solidFill>
                <a:latin typeface="Arial"/>
              </a:rPr>
              <a:t>99.8%</a:t>
            </a:r>
          </a:p>
          <a:p>
            <a:pPr algn="ctr">
              <a:spcAft>
                <a:spcPts val="0"/>
              </a:spcAft>
            </a:pPr>
            <a:r>
              <a:rPr sz="1600" b="1" i="0">
                <a:solidFill>
                  <a:srgbClr val="262626"/>
                </a:solidFill>
                <a:latin typeface="Courier New"/>
              </a:rPr>
              <a:t>GR_ENGINE_ACTIVE</a:t>
            </a:r>
          </a:p>
          <a:p>
            <a:pPr algn="ctr">
              <a:spcAft>
                <a:spcPts val="0"/>
              </a:spcAft>
            </a:pPr>
            <a:r>
              <a:rPr sz="1600" b="0" i="0">
                <a:solidFill>
                  <a:srgbClr val="6B6B6B"/>
                </a:solidFill>
                <a:latin typeface="Arial"/>
              </a:rPr>
              <a:t>the profiler's 'busy'</a:t>
            </a:r>
          </a:p>
        </p:txBody>
      </p:sp>
      <p:sp>
        <p:nvSpPr>
          <p:cNvPr id="6" name="Rounded Rectangle 5"/>
          <p:cNvSpPr/>
          <p:nvPr/>
        </p:nvSpPr>
        <p:spPr>
          <a:xfrm>
            <a:off x="4298560" y="1250000"/>
            <a:ext cx="3594878" cy="30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298560" y="1250000"/>
            <a:ext cx="3594878" cy="3000000"/>
          </a:xfrm>
          <a:prstGeom prst="rect">
            <a:avLst/>
          </a:prstGeom>
          <a:noFill/>
        </p:spPr>
        <p:txBody>
          <a:bodyPr wrap="square" anchor="ctr">
            <a:spAutoFit/>
          </a:bodyPr>
          <a:lstStyle/>
          <a:p>
            <a:pPr algn="ctr">
              <a:spcAft>
                <a:spcPts val="200"/>
              </a:spcAft>
            </a:pPr>
            <a:r>
              <a:rPr sz="7200" b="1" i="0">
                <a:solidFill>
                  <a:srgbClr val="C62828"/>
                </a:solidFill>
                <a:latin typeface="Arial"/>
              </a:rPr>
              <a:t>16.6%</a:t>
            </a:r>
          </a:p>
          <a:p>
            <a:pPr algn="ctr">
              <a:spcAft>
                <a:spcPts val="0"/>
              </a:spcAft>
            </a:pPr>
            <a:r>
              <a:rPr sz="1600" b="1" i="0">
                <a:solidFill>
                  <a:srgbClr val="262626"/>
                </a:solidFill>
                <a:latin typeface="Courier New"/>
              </a:rPr>
              <a:t>PIPE_TENSOR_ACTIVE</a:t>
            </a:r>
          </a:p>
          <a:p>
            <a:pPr algn="ctr">
              <a:spcAft>
                <a:spcPts val="0"/>
              </a:spcAft>
            </a:pPr>
            <a:r>
              <a:rPr sz="1600" b="0" i="0">
                <a:solidFill>
                  <a:srgbClr val="6B6B6B"/>
                </a:solidFill>
                <a:latin typeface="Arial"/>
              </a:rPr>
              <a:t>tensor cores doing matmuls</a:t>
            </a:r>
          </a:p>
        </p:txBody>
      </p:sp>
      <p:sp>
        <p:nvSpPr>
          <p:cNvPr id="8" name="Rounded Rectangle 7"/>
          <p:cNvSpPr/>
          <p:nvPr/>
        </p:nvSpPr>
        <p:spPr>
          <a:xfrm>
            <a:off x="8193438" y="1250000"/>
            <a:ext cx="3594878" cy="300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8193438" y="1250000"/>
            <a:ext cx="3594878" cy="3000000"/>
          </a:xfrm>
          <a:prstGeom prst="rect">
            <a:avLst/>
          </a:prstGeom>
          <a:noFill/>
        </p:spPr>
        <p:txBody>
          <a:bodyPr wrap="square" anchor="ctr">
            <a:spAutoFit/>
          </a:bodyPr>
          <a:lstStyle/>
          <a:p>
            <a:pPr algn="ctr">
              <a:spcAft>
                <a:spcPts val="200"/>
              </a:spcAft>
            </a:pPr>
            <a:r>
              <a:rPr sz="7200" b="1" i="0">
                <a:solidFill>
                  <a:srgbClr val="B26A00"/>
                </a:solidFill>
                <a:latin typeface="Arial"/>
              </a:rPr>
              <a:t>80.4%</a:t>
            </a:r>
          </a:p>
          <a:p>
            <a:pPr algn="ctr">
              <a:spcAft>
                <a:spcPts val="0"/>
              </a:spcAft>
            </a:pPr>
            <a:r>
              <a:rPr sz="1600" b="1" i="0">
                <a:solidFill>
                  <a:srgbClr val="262626"/>
                </a:solidFill>
                <a:latin typeface="Courier New"/>
              </a:rPr>
              <a:t>DRAM_ACTIVE</a:t>
            </a:r>
          </a:p>
          <a:p>
            <a:pPr algn="ctr">
              <a:spcAft>
                <a:spcPts val="0"/>
              </a:spcAft>
            </a:pPr>
            <a:r>
              <a:rPr sz="1600" b="0" i="0">
                <a:solidFill>
                  <a:srgbClr val="6B6B6B"/>
                </a:solidFill>
                <a:latin typeface="Arial"/>
              </a:rPr>
              <a:t>memory bus</a:t>
            </a:r>
          </a:p>
        </p:txBody>
      </p:sp>
      <p:sp>
        <p:nvSpPr>
          <p:cNvPr id="10" name="TextBox 9"/>
          <p:cNvSpPr txBox="1"/>
          <p:nvPr/>
        </p:nvSpPr>
        <p:spPr>
          <a:xfrm>
            <a:off x="403682" y="4450000"/>
            <a:ext cx="11384636" cy="800000"/>
          </a:xfrm>
          <a:prstGeom prst="rect">
            <a:avLst/>
          </a:prstGeom>
          <a:noFill/>
        </p:spPr>
        <p:txBody>
          <a:bodyPr wrap="square" anchor="ctr">
            <a:spAutoFit/>
          </a:bodyPr>
          <a:lstStyle/>
          <a:p>
            <a:pPr algn="l">
              <a:spcAft>
                <a:spcPts val="0"/>
              </a:spcAft>
            </a:pPr>
            <a:r>
              <a:rPr sz="2100" b="1" i="0">
                <a:solidFill>
                  <a:srgbClr val="991346"/>
                </a:solidFill>
                <a:latin typeface="Arial"/>
              </a:rPr>
              <a:t>Bandwidth-bound, not compute-saturated, and "utilisation" never said which.</a:t>
            </a:r>
          </a:p>
        </p:txBody>
      </p:sp>
      <p:sp>
        <p:nvSpPr>
          <p:cNvPr id="11" name="TextBox 10"/>
          <p:cNvSpPr txBox="1"/>
          <p:nvPr/>
        </p:nvSpPr>
        <p:spPr>
          <a:xfrm>
            <a:off x="403682" y="5250000"/>
            <a:ext cx="11384636" cy="700000"/>
          </a:xfrm>
          <a:prstGeom prst="rect">
            <a:avLst/>
          </a:prstGeom>
          <a:noFill/>
        </p:spPr>
        <p:txBody>
          <a:bodyPr wrap="square" anchor="t">
            <a:spAutoFit/>
          </a:bodyPr>
          <a:lstStyle/>
          <a:p>
            <a:pPr algn="l">
              <a:spcAft>
                <a:spcPts val="0"/>
              </a:spcAft>
            </a:pPr>
            <a:r>
              <a:rPr sz="1600" b="0" i="0">
                <a:solidFill>
                  <a:srgbClr val="6B6B6B"/>
                </a:solidFill>
                <a:latin typeface="Arial"/>
              </a:rPr>
              <a:t>The counter on your dashboard is the least informative one the hardware offers. Serving teams are borrowing MFU and MBU (model FLOPs and bandwidth utilisation) from the training world to say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lie, counters you can trust.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 field IDs: docs.nvidia.com/datacenter/dcgm. PROF_* fields need a profiling-capable GPU and DCGM &gt;= 2.x. SM_OCCUPANCY is a ratio: resident warps over the SM maximum.</a:t>
            </a:r>
          </a:p>
        </p:txBody>
      </p:sp>
      <p:sp>
        <p:nvSpPr>
          <p:cNvPr id="4" name="Rounded Rectangle 3"/>
          <p:cNvSpPr/>
          <p:nvPr/>
        </p:nvSpPr>
        <p:spPr>
          <a:xfrm>
            <a:off x="403682" y="1250000"/>
            <a:ext cx="5492318" cy="29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553682" y="1350000"/>
            <a:ext cx="5192318" cy="500000"/>
          </a:xfrm>
          <a:prstGeom prst="rect">
            <a:avLst/>
          </a:prstGeom>
          <a:noFill/>
        </p:spPr>
        <p:txBody>
          <a:bodyPr wrap="square" anchor="t">
            <a:spAutoFit/>
          </a:bodyPr>
          <a:lstStyle/>
          <a:p>
            <a:pPr algn="l">
              <a:spcAft>
                <a:spcPts val="0"/>
              </a:spcAft>
            </a:pPr>
            <a:r>
              <a:rPr sz="1800" b="1" i="0">
                <a:solidFill>
                  <a:srgbClr val="C62828"/>
                </a:solidFill>
                <a:latin typeface="Arial"/>
              </a:rPr>
              <a:t>Misleading on an inference server</a:t>
            </a:r>
          </a:p>
        </p:txBody>
      </p:sp>
      <p:sp>
        <p:nvSpPr>
          <p:cNvPr id="6" name="Rounded Rectangle 5"/>
          <p:cNvSpPr/>
          <p:nvPr/>
        </p:nvSpPr>
        <p:spPr>
          <a:xfrm>
            <a:off x="553682" y="19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DCGM_FI_DEV_GPU_UTIL</a:t>
            </a:r>
          </a:p>
        </p:txBody>
      </p:sp>
      <p:sp>
        <p:nvSpPr>
          <p:cNvPr id="7" name="TextBox 6"/>
          <p:cNvSpPr txBox="1"/>
          <p:nvPr/>
        </p:nvSpPr>
        <p:spPr>
          <a:xfrm>
            <a:off x="3853682" y="19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any kernel = busy</a:t>
            </a:r>
          </a:p>
        </p:txBody>
      </p:sp>
      <p:sp>
        <p:nvSpPr>
          <p:cNvPr id="8" name="Rounded Rectangle 7"/>
          <p:cNvSpPr/>
          <p:nvPr/>
        </p:nvSpPr>
        <p:spPr>
          <a:xfrm>
            <a:off x="553682" y="26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DCGM_FI_DEV_FB_USED</a:t>
            </a:r>
          </a:p>
        </p:txBody>
      </p:sp>
      <p:sp>
        <p:nvSpPr>
          <p:cNvPr id="9" name="TextBox 8"/>
          <p:cNvSpPr txBox="1"/>
          <p:nvPr/>
        </p:nvSpPr>
        <p:spPr>
          <a:xfrm>
            <a:off x="3853682" y="26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pre-allocated, flat</a:t>
            </a:r>
          </a:p>
        </p:txBody>
      </p:sp>
      <p:sp>
        <p:nvSpPr>
          <p:cNvPr id="10" name="Rounded Rectangle 9"/>
          <p:cNvSpPr/>
          <p:nvPr/>
        </p:nvSpPr>
        <p:spPr>
          <a:xfrm>
            <a:off x="553682" y="33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nvidia-smi Volatile GPU-Util</a:t>
            </a:r>
          </a:p>
        </p:txBody>
      </p:sp>
      <p:sp>
        <p:nvSpPr>
          <p:cNvPr id="11" name="TextBox 10"/>
          <p:cNvSpPr txBox="1"/>
          <p:nvPr/>
        </p:nvSpPr>
        <p:spPr>
          <a:xfrm>
            <a:off x="3853682" y="33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same as GPU_UTIL</a:t>
            </a:r>
          </a:p>
        </p:txBody>
      </p:sp>
      <p:sp>
        <p:nvSpPr>
          <p:cNvPr id="12" name="Rounded Rectangle 11"/>
          <p:cNvSpPr/>
          <p:nvPr/>
        </p:nvSpPr>
        <p:spPr>
          <a:xfrm>
            <a:off x="6296000" y="1250000"/>
            <a:ext cx="5492318" cy="29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6446000" y="1350000"/>
            <a:ext cx="5192318" cy="500000"/>
          </a:xfrm>
          <a:prstGeom prst="rect">
            <a:avLst/>
          </a:prstGeom>
          <a:noFill/>
        </p:spPr>
        <p:txBody>
          <a:bodyPr wrap="square" anchor="t">
            <a:spAutoFit/>
          </a:bodyPr>
          <a:lstStyle/>
          <a:p>
            <a:pPr algn="l">
              <a:spcAft>
                <a:spcPts val="0"/>
              </a:spcAft>
            </a:pPr>
            <a:r>
              <a:rPr sz="1800" b="1" i="0">
                <a:solidFill>
                  <a:srgbClr val="2E7D32"/>
                </a:solidFill>
                <a:latin typeface="Arial"/>
              </a:rPr>
              <a:t>Meaningful</a:t>
            </a:r>
          </a:p>
        </p:txBody>
      </p:sp>
      <p:sp>
        <p:nvSpPr>
          <p:cNvPr id="14" name="Rounded Rectangle 13"/>
          <p:cNvSpPr/>
          <p:nvPr/>
        </p:nvSpPr>
        <p:spPr>
          <a:xfrm>
            <a:off x="6446000" y="190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DCGM_FI_PROF_SM_ACTIVE</a:t>
            </a:r>
          </a:p>
        </p:txBody>
      </p:sp>
      <p:sp>
        <p:nvSpPr>
          <p:cNvPr id="15" name="TextBox 14"/>
          <p:cNvSpPr txBox="1"/>
          <p:nvPr/>
        </p:nvSpPr>
        <p:spPr>
          <a:xfrm>
            <a:off x="9946000" y="190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share of SMs doing work</a:t>
            </a:r>
          </a:p>
        </p:txBody>
      </p:sp>
      <p:sp>
        <p:nvSpPr>
          <p:cNvPr id="16" name="Rounded Rectangle 15"/>
          <p:cNvSpPr/>
          <p:nvPr/>
        </p:nvSpPr>
        <p:spPr>
          <a:xfrm>
            <a:off x="6446000" y="244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DCGM_FI_PROF_SM_OCCUPANCY</a:t>
            </a:r>
          </a:p>
        </p:txBody>
      </p:sp>
      <p:sp>
        <p:nvSpPr>
          <p:cNvPr id="17" name="TextBox 16"/>
          <p:cNvSpPr txBox="1"/>
          <p:nvPr/>
        </p:nvSpPr>
        <p:spPr>
          <a:xfrm>
            <a:off x="9946000" y="244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resident warps / SM maximum</a:t>
            </a:r>
          </a:p>
        </p:txBody>
      </p:sp>
      <p:sp>
        <p:nvSpPr>
          <p:cNvPr id="18" name="Rounded Rectangle 17"/>
          <p:cNvSpPr/>
          <p:nvPr/>
        </p:nvSpPr>
        <p:spPr>
          <a:xfrm>
            <a:off x="6446000" y="298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DCGM_FI_PROF_DRAM_ACTIVE</a:t>
            </a:r>
          </a:p>
        </p:txBody>
      </p:sp>
      <p:sp>
        <p:nvSpPr>
          <p:cNvPr id="19" name="TextBox 18"/>
          <p:cNvSpPr txBox="1"/>
          <p:nvPr/>
        </p:nvSpPr>
        <p:spPr>
          <a:xfrm>
            <a:off x="9946000" y="298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bandwidth-bound?</a:t>
            </a:r>
          </a:p>
        </p:txBody>
      </p:sp>
      <p:sp>
        <p:nvSpPr>
          <p:cNvPr id="20" name="Rounded Rectangle 19"/>
          <p:cNvSpPr/>
          <p:nvPr/>
        </p:nvSpPr>
        <p:spPr>
          <a:xfrm>
            <a:off x="6446000" y="352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DCGM_FI_PROF_PIPE_TENSOR_ACTIVE</a:t>
            </a:r>
          </a:p>
        </p:txBody>
      </p:sp>
      <p:sp>
        <p:nvSpPr>
          <p:cNvPr id="21" name="TextBox 20"/>
          <p:cNvSpPr txBox="1"/>
          <p:nvPr/>
        </p:nvSpPr>
        <p:spPr>
          <a:xfrm>
            <a:off x="9946000" y="352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tensor cores in use</a:t>
            </a:r>
          </a:p>
        </p:txBody>
      </p:sp>
      <p:sp>
        <p:nvSpPr>
          <p:cNvPr id="22" name="TextBox 21"/>
          <p:cNvSpPr txBox="1"/>
          <p:nvPr/>
        </p:nvSpPr>
        <p:spPr>
          <a:xfrm>
            <a:off x="403682" y="4300000"/>
            <a:ext cx="11384636" cy="800000"/>
          </a:xfrm>
          <a:prstGeom prst="rect">
            <a:avLst/>
          </a:prstGeom>
          <a:noFill/>
        </p:spPr>
        <p:txBody>
          <a:bodyPr wrap="square" anchor="ctr">
            <a:spAutoFit/>
          </a:bodyPr>
          <a:lstStyle/>
          <a:p>
            <a:pPr algn="l">
              <a:spcAft>
                <a:spcPts val="0"/>
              </a:spcAft>
            </a:pPr>
            <a:r>
              <a:rPr sz="2800" b="1" i="0">
                <a:solidFill>
                  <a:srgbClr val="991346"/>
                </a:solidFill>
                <a:latin typeface="Arial"/>
              </a:rPr>
              <a:t>And none of them know what a token is.</a:t>
            </a:r>
          </a:p>
        </p:txBody>
      </p:sp>
      <p:sp>
        <p:nvSpPr>
          <p:cNvPr id="23" name="TextBox 22"/>
          <p:cNvSpPr txBox="1"/>
          <p:nvPr/>
        </p:nvSpPr>
        <p:spPr>
          <a:xfrm>
            <a:off x="403682" y="5050000"/>
            <a:ext cx="11384636" cy="600000"/>
          </a:xfrm>
          <a:prstGeom prst="rect">
            <a:avLst/>
          </a:prstGeom>
          <a:noFill/>
        </p:spPr>
        <p:txBody>
          <a:bodyPr wrap="square" anchor="t">
            <a:spAutoFit/>
          </a:bodyPr>
          <a:lstStyle/>
          <a:p>
            <a:pPr algn="l">
              <a:spcAft>
                <a:spcPts val="0"/>
              </a:spcAft>
            </a:pPr>
            <a:r>
              <a:rPr sz="1800" b="0" i="0">
                <a:solidFill>
                  <a:srgbClr val="262626"/>
                </a:solidFill>
                <a:latin typeface="Arial"/>
              </a:rPr>
              <a:t>Queue depth, KV cache pressure, tokens per second. The serving framework owns those, the silicon doesn't.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pod is the join key.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K8s 1.35: Dynamic Resource Allocation is stable; dcgm-exporter 4.8.4 adds pod_uid and ResourceSlice mapping because the device-plugin mapping breaks under DRA. Same join key, new plumbing.</a:t>
            </a:r>
          </a:p>
        </p:txBody>
      </p:sp>
      <p:sp>
        <p:nvSpPr>
          <p:cNvPr id="4" name="Rounded Rectangle 3"/>
          <p:cNvSpPr/>
          <p:nvPr/>
        </p:nvSpPr>
        <p:spPr>
          <a:xfrm>
            <a:off x="403682" y="1450000"/>
            <a:ext cx="3100000" cy="15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DCGM</a:t>
            </a:r>
          </a:p>
          <a:p>
            <a:pPr algn="ctr">
              <a:spcAft>
                <a:spcPts val="600"/>
              </a:spcAft>
            </a:pPr>
            <a:r>
              <a:rPr sz="1400" b="0" i="0">
                <a:solidFill>
                  <a:srgbClr val="6B6B6B"/>
                </a:solidFill>
                <a:latin typeface="Arial"/>
              </a:rPr>
              <a:t>dcgm-exporter --kubernetes</a:t>
            </a:r>
          </a:p>
          <a:p>
            <a:pPr algn="ctr">
              <a:spcAft>
                <a:spcPts val="0"/>
              </a:spcAft>
            </a:pPr>
            <a:r>
              <a:rPr sz="1500" b="1" i="0">
                <a:solidFill>
                  <a:srgbClr val="262626"/>
                </a:solidFill>
                <a:latin typeface="Courier New"/>
              </a:rPr>
              <a:t>exported_pod</a:t>
            </a:r>
          </a:p>
        </p:txBody>
      </p:sp>
      <p:cxnSp>
        <p:nvCxnSpPr>
          <p:cNvPr id="6" name="Connector 5"/>
          <p:cNvCxnSpPr/>
          <p:nvPr/>
        </p:nvCxnSpPr>
        <p:spPr>
          <a:xfrm>
            <a:off x="1953682" y="2950000"/>
            <a:ext cx="3451931" cy="200000"/>
          </a:xfrm>
          <a:prstGeom prst="line">
            <a:avLst/>
          </a:prstGeom>
          <a:ln w="38100">
            <a:solidFill>
              <a:srgbClr val="991346"/>
            </a:solidFill>
            <a:tailEnd type="triangle" w="med" len="med"/>
          </a:ln>
        </p:spPr>
      </p:cxnSp>
      <p:sp>
        <p:nvSpPr>
          <p:cNvPr id="7" name="Rounded Rectangle 6"/>
          <p:cNvSpPr/>
          <p:nvPr/>
        </p:nvSpPr>
        <p:spPr>
          <a:xfrm>
            <a:off x="4546000" y="1450000"/>
            <a:ext cx="3100000" cy="15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546000"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Serving log</a:t>
            </a:r>
          </a:p>
          <a:p>
            <a:pPr algn="ctr">
              <a:spcAft>
                <a:spcPts val="600"/>
              </a:spcAft>
            </a:pPr>
            <a:r>
              <a:rPr sz="1400" b="0" i="0">
                <a:solidFill>
                  <a:srgbClr val="6B6B6B"/>
                </a:solidFill>
                <a:latin typeface="Arial"/>
              </a:rPr>
              <a:t>Fluent Bit kubernetes filter</a:t>
            </a:r>
          </a:p>
          <a:p>
            <a:pPr algn="ctr">
              <a:spcAft>
                <a:spcPts val="0"/>
              </a:spcAft>
            </a:pPr>
            <a:r>
              <a:rPr sz="1500" b="1" i="0">
                <a:solidFill>
                  <a:srgbClr val="262626"/>
                </a:solidFill>
                <a:latin typeface="Courier New"/>
              </a:rPr>
              <a:t>pod_name</a:t>
            </a:r>
          </a:p>
        </p:txBody>
      </p:sp>
      <p:cxnSp>
        <p:nvCxnSpPr>
          <p:cNvPr id="9" name="Connector 8"/>
          <p:cNvCxnSpPr/>
          <p:nvPr/>
        </p:nvCxnSpPr>
        <p:spPr>
          <a:xfrm>
            <a:off x="6096000" y="2950000"/>
            <a:ext cx="0" cy="200000"/>
          </a:xfrm>
          <a:prstGeom prst="line">
            <a:avLst/>
          </a:prstGeom>
          <a:ln w="38100">
            <a:solidFill>
              <a:srgbClr val="991346"/>
            </a:solidFill>
            <a:tailEnd type="triangle" w="med" len="med"/>
          </a:ln>
        </p:spPr>
      </p:cxnSp>
      <p:sp>
        <p:nvSpPr>
          <p:cNvPr id="10" name="Rounded Rectangle 9"/>
          <p:cNvSpPr/>
          <p:nvPr/>
        </p:nvSpPr>
        <p:spPr>
          <a:xfrm>
            <a:off x="8688318" y="1450000"/>
            <a:ext cx="3100000"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8688318"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Traces</a:t>
            </a:r>
          </a:p>
          <a:p>
            <a:pPr algn="ctr">
              <a:spcAft>
                <a:spcPts val="600"/>
              </a:spcAft>
            </a:pPr>
            <a:r>
              <a:rPr sz="1400" b="0" i="0">
                <a:solidFill>
                  <a:srgbClr val="6B6B6B"/>
                </a:solidFill>
                <a:latin typeface="Arial"/>
              </a:rPr>
              <a:t>OTel Collector k8sattributes</a:t>
            </a:r>
          </a:p>
          <a:p>
            <a:pPr algn="ctr">
              <a:spcAft>
                <a:spcPts val="0"/>
              </a:spcAft>
            </a:pPr>
            <a:r>
              <a:rPr sz="1500" b="1" i="0">
                <a:solidFill>
                  <a:srgbClr val="262626"/>
                </a:solidFill>
                <a:latin typeface="Courier New"/>
              </a:rPr>
              <a:t>k8s.pod.name</a:t>
            </a:r>
          </a:p>
        </p:txBody>
      </p:sp>
      <p:cxnSp>
        <p:nvCxnSpPr>
          <p:cNvPr id="12" name="Connector 11"/>
          <p:cNvCxnSpPr/>
          <p:nvPr/>
        </p:nvCxnSpPr>
        <p:spPr>
          <a:xfrm flipH="1">
            <a:off x="6786386" y="2950000"/>
            <a:ext cx="3451932" cy="200000"/>
          </a:xfrm>
          <a:prstGeom prst="line">
            <a:avLst/>
          </a:prstGeom>
          <a:ln w="38100">
            <a:solidFill>
              <a:srgbClr val="991346"/>
            </a:solidFill>
            <a:tailEnd type="triangle" w="med" len="med"/>
          </a:ln>
        </p:spPr>
      </p:cxnSp>
      <p:sp>
        <p:nvSpPr>
          <p:cNvPr id="13" name="Rounded Rectangle 12"/>
          <p:cNvSpPr/>
          <p:nvPr/>
        </p:nvSpPr>
        <p:spPr>
          <a:xfrm>
            <a:off x="3696000" y="3150000"/>
            <a:ext cx="4800000" cy="1200000"/>
          </a:xfrm>
          <a:prstGeom prst="roundRect">
            <a:avLst>
              <a:gd name="adj" fmla="val 50000"/>
            </a:avLst>
          </a:prstGeom>
          <a:solidFill>
            <a:srgbClr val="991346"/>
          </a:solidFill>
          <a:ln>
            <a:noFill/>
          </a:ln>
        </p:spPr>
        <p:txBody>
          <a:bodyPr rtlCol="0" anchor="ctr"/>
          <a:lstStyle/>
          <a:p/>
        </p:txBody>
      </p:sp>
      <p:sp>
        <p:nvSpPr>
          <p:cNvPr id="14" name="TextBox 13"/>
          <p:cNvSpPr txBox="1"/>
          <p:nvPr/>
        </p:nvSpPr>
        <p:spPr>
          <a:xfrm>
            <a:off x="3696000" y="3150000"/>
            <a:ext cx="4800000" cy="1200000"/>
          </a:xfrm>
          <a:prstGeom prst="rect">
            <a:avLst/>
          </a:prstGeom>
          <a:noFill/>
        </p:spPr>
        <p:txBody>
          <a:bodyPr wrap="square" anchor="ctr">
            <a:spAutoFit/>
          </a:bodyPr>
          <a:lstStyle/>
          <a:p>
            <a:pPr algn="ctr">
              <a:spcAft>
                <a:spcPts val="0"/>
              </a:spcAft>
            </a:pPr>
            <a:r>
              <a:rPr sz="4000" b="1" i="0">
                <a:solidFill>
                  <a:srgbClr val="FFFFFF"/>
                </a:solidFill>
                <a:latin typeface="Courier New"/>
              </a:rPr>
              <a:t>pod_name</a:t>
            </a:r>
          </a:p>
        </p:txBody>
      </p:sp>
      <p:sp>
        <p:nvSpPr>
          <p:cNvPr id="15" name="TextBox 14"/>
          <p:cNvSpPr txBox="1"/>
          <p:nvPr/>
        </p:nvSpPr>
        <p:spPr>
          <a:xfrm>
            <a:off x="403682" y="4550000"/>
            <a:ext cx="11384636" cy="700000"/>
          </a:xfrm>
          <a:prstGeom prst="rect">
            <a:avLst/>
          </a:prstGeom>
          <a:noFill/>
        </p:spPr>
        <p:txBody>
          <a:bodyPr wrap="square" anchor="t">
            <a:spAutoFit/>
          </a:bodyPr>
          <a:lstStyle/>
          <a:p>
            <a:pPr algn="ctr">
              <a:spcAft>
                <a:spcPts val="0"/>
              </a:spcAft>
            </a:pPr>
            <a:r>
              <a:rPr sz="2000" b="1" i="0">
                <a:solidFill>
                  <a:srgbClr val="262626"/>
                </a:solidFill>
                <a:latin typeface="Arial"/>
              </a:rPr>
              <a:t>Stamp it on every metric, log record and span. Join at query time. Nothing else is common to all three.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dcgm-exporter --kubernetes reads /var/lib/kubelet/pod-resources. EKS Auto Mode: standalone dcgm-exporter, not the GPU Operator (slide 18).</a:t>
            </a:r>
          </a:p>
        </p:txBody>
      </p:sp>
      <p:pic>
        <p:nvPicPr>
          <p:cNvPr id="4" name="Picture 3" descr="panel-4.png"/>
          <p:cNvPicPr>
            <a:picLocks noChangeAspect="1"/>
          </p:cNvPicPr>
          <p:nvPr/>
        </p:nvPicPr>
        <p:blipFill>
          <a:blip r:embed="rId3"/>
          <a:stretch>
            <a:fillRect/>
          </a:stretch>
        </p:blipFill>
        <p:spPr>
          <a:xfrm>
            <a:off x="403682" y="1252143"/>
            <a:ext cx="6200000" cy="2745714"/>
          </a:xfrm>
          <a:prstGeom prst="rect">
            <a:avLst/>
          </a:prstGeom>
        </p:spPr>
      </p:pic>
      <p:sp>
        <p:nvSpPr>
          <p:cNvPr id="5" name="Rectangle 4"/>
          <p:cNvSpPr/>
          <p:nvPr/>
        </p:nvSpPr>
        <p:spPr>
          <a:xfrm>
            <a:off x="403682" y="1252143"/>
            <a:ext cx="6200000" cy="2745714"/>
          </a:xfrm>
          <a:prstGeom prst="rect">
            <a:avLst/>
          </a:prstGeom>
          <a:noFill/>
          <a:ln w="9525">
            <a:solidFill>
              <a:srgbClr val="DDDDDD"/>
            </a:solidFill>
          </a:ln>
        </p:spPr>
        <p:txBody>
          <a:bodyPr rtlCol="0" anchor="ctr"/>
          <a:lstStyle/>
          <a:p>
            <a:pPr algn="ctr"/>
          </a:p>
        </p:txBody>
      </p:sp>
      <p:sp>
        <p:nvSpPr>
          <p:cNvPr id="6" name="Rounded Rectangle 5"/>
          <p:cNvSpPr/>
          <p:nvPr/>
        </p:nvSpPr>
        <p:spPr>
          <a:xfrm>
            <a:off x="4103682" y="1801285"/>
            <a:ext cx="2300000" cy="560000"/>
          </a:xfrm>
          <a:prstGeom prst="roundRect">
            <a:avLst>
              <a:gd name="adj" fmla="val 12000"/>
            </a:avLst>
          </a:prstGeom>
          <a:solidFill>
            <a:srgbClr val="991346"/>
          </a:solidFill>
          <a:ln>
            <a:noFill/>
          </a:ln>
        </p:spPr>
        <p:txBody>
          <a:bodyPr rtlCol="0" anchor="ctr"/>
          <a:lstStyle/>
          <a:p/>
        </p:txBody>
      </p:sp>
      <p:sp>
        <p:nvSpPr>
          <p:cNvPr id="7" name="TextBox 6"/>
          <p:cNvSpPr txBox="1"/>
          <p:nvPr/>
        </p:nvSpPr>
        <p:spPr>
          <a:xfrm>
            <a:off x="4103682" y="1801285"/>
            <a:ext cx="2300000" cy="560000"/>
          </a:xfrm>
          <a:prstGeom prst="rect">
            <a:avLst/>
          </a:prstGeom>
          <a:noFill/>
        </p:spPr>
        <p:txBody>
          <a:bodyPr wrap="square" anchor="ctr">
            <a:spAutoFit/>
          </a:bodyPr>
          <a:lstStyle/>
          <a:p>
            <a:pPr algn="ctr">
              <a:spcAft>
                <a:spcPts val="0"/>
              </a:spcAft>
            </a:pPr>
            <a:r>
              <a:rPr sz="1600" b="1" i="0">
                <a:solidFill>
                  <a:srgbClr val="FFFFFF"/>
                </a:solidFill>
                <a:latin typeface="Arial"/>
              </a:rPr>
              <a:t>SM active, per pod</a:t>
            </a:r>
          </a:p>
        </p:txBody>
      </p:sp>
      <p:sp>
        <p:nvSpPr>
          <p:cNvPr id="8" name="TextBox 7"/>
          <p:cNvSpPr txBox="1"/>
          <p:nvPr/>
        </p:nvSpPr>
        <p:spPr>
          <a:xfrm>
            <a:off x="403682" y="4150000"/>
            <a:ext cx="6200000" cy="1500000"/>
          </a:xfrm>
          <a:prstGeom prst="rect">
            <a:avLst/>
          </a:prstGeom>
          <a:noFill/>
        </p:spPr>
        <p:txBody>
          <a:bodyPr wrap="square" anchor="t">
            <a:spAutoFit/>
          </a:bodyPr>
          <a:lstStyle/>
          <a:p>
            <a:pPr algn="l">
              <a:spcAft>
                <a:spcPts val="600"/>
              </a:spcAft>
            </a:pPr>
            <a:r>
              <a:rPr sz="1400" b="1" i="0">
                <a:solidFill>
                  <a:srgbClr val="262626"/>
                </a:solidFill>
                <a:latin typeface="Courier New"/>
              </a:rPr>
              <a:t>--kubernetes=true  </a:t>
            </a:r>
            <a:r>
              <a:rPr sz="1500" b="0" i="0">
                <a:solidFill>
                  <a:srgbClr val="262626"/>
                </a:solidFill>
                <a:latin typeface="Arial"/>
              </a:rPr>
              <a:t>asks the kubelet who owns each GPU</a:t>
            </a:r>
          </a:p>
          <a:p>
            <a:pPr algn="l">
              <a:spcAft>
                <a:spcPts val="600"/>
              </a:spcAft>
            </a:pPr>
            <a:r>
              <a:rPr sz="1400" b="1" i="0">
                <a:solidFill>
                  <a:srgbClr val="262626"/>
                </a:solidFill>
                <a:latin typeface="Courier New"/>
              </a:rPr>
              <a:t>ENABLE_POD_LABELS=false  </a:t>
            </a:r>
            <a:r>
              <a:rPr sz="1500" b="0" i="0">
                <a:solidFill>
                  <a:srgbClr val="262626"/>
                </a:solidFill>
                <a:latin typeface="Arial"/>
              </a:rPr>
              <a:t>keep the join key, nothing else (next slide)</a:t>
            </a:r>
          </a:p>
        </p:txBody>
      </p:sp>
      <p:sp>
        <p:nvSpPr>
          <p:cNvPr id="9" name="Rounded Rectangle 8"/>
          <p:cNvSpPr/>
          <p:nvPr/>
        </p:nvSpPr>
        <p:spPr>
          <a:xfrm>
            <a:off x="6903682" y="1250000"/>
            <a:ext cx="4884636" cy="2050000"/>
          </a:xfrm>
          <a:prstGeom prst="roundRect">
            <a:avLst>
              <a:gd name="adj" fmla="val 8000"/>
            </a:avLst>
          </a:prstGeom>
          <a:solidFill>
            <a:srgbClr val="E3F1E4"/>
          </a:solidFill>
          <a:ln>
            <a:noFill/>
          </a:ln>
        </p:spPr>
        <p:txBody>
          <a:bodyPr rtlCol="0" anchor="ctr"/>
          <a:lstStyle/>
          <a:p/>
        </p:txBody>
      </p:sp>
      <p:sp>
        <p:nvSpPr>
          <p:cNvPr id="10" name="TextBox 9"/>
          <p:cNvSpPr txBox="1"/>
          <p:nvPr/>
        </p:nvSpPr>
        <p:spPr>
          <a:xfrm>
            <a:off x="7003682" y="1330000"/>
            <a:ext cx="4684636" cy="1900000"/>
          </a:xfrm>
          <a:prstGeom prst="rect">
            <a:avLst/>
          </a:prstGeom>
          <a:noFill/>
        </p:spPr>
        <p:txBody>
          <a:bodyPr wrap="square" anchor="t">
            <a:spAutoFit/>
          </a:bodyPr>
          <a:lstStyle/>
          <a:p>
            <a:pPr algn="l">
              <a:spcAft>
                <a:spcPts val="500"/>
              </a:spcAft>
            </a:pPr>
            <a:r>
              <a:rPr sz="1800" b="1" i="0">
                <a:solidFill>
                  <a:srgbClr val="2E7D32"/>
                </a:solidFill>
                <a:latin typeface="Arial"/>
              </a:rPr>
              <a:t>What it tells you</a:t>
            </a:r>
          </a:p>
          <a:p>
            <a:pPr algn="l" marL="285750" indent="-285750">
              <a:spcAft>
                <a:spcPts val="500"/>
              </a:spcAft>
              <a:buChar char="•"/>
            </a:pPr>
            <a:r>
              <a:rPr sz="1600" b="0" i="0">
                <a:solidFill>
                  <a:srgbClr val="262626"/>
                </a:solidFill>
                <a:latin typeface="Arial"/>
              </a:rPr>
              <a:t>Which pod holds which GPU</a:t>
            </a:r>
          </a:p>
          <a:p>
            <a:pPr algn="l" marL="285750" indent="-285750">
              <a:spcAft>
                <a:spcPts val="500"/>
              </a:spcAft>
              <a:buChar char="•"/>
            </a:pPr>
            <a:r>
              <a:rPr sz="1600" b="0" i="0">
                <a:solidFill>
                  <a:srgbClr val="262626"/>
                </a:solidFill>
                <a:latin typeface="Arial"/>
              </a:rPr>
              <a:t>Whether the silicon is busy (SM_ACTIVE, DRAM_ACTIVE)</a:t>
            </a:r>
          </a:p>
          <a:p>
            <a:pPr algn="l" marL="285750" indent="-285750">
              <a:spcAft>
                <a:spcPts val="0"/>
              </a:spcAft>
              <a:buChar char="•"/>
            </a:pPr>
            <a:r>
              <a:rPr sz="1600" b="0" i="0">
                <a:solidFill>
                  <a:srgbClr val="262626"/>
                </a:solidFill>
                <a:latin typeface="Arial"/>
              </a:rPr>
              <a:t>Power, temperature, pool size</a:t>
            </a:r>
          </a:p>
        </p:txBody>
      </p:sp>
      <p:sp>
        <p:nvSpPr>
          <p:cNvPr id="11" name="Rounded Rectangle 10"/>
          <p:cNvSpPr/>
          <p:nvPr/>
        </p:nvSpPr>
        <p:spPr>
          <a:xfrm>
            <a:off x="6903682" y="3450000"/>
            <a:ext cx="4884636" cy="2300000"/>
          </a:xfrm>
          <a:prstGeom prst="roundRect">
            <a:avLst>
              <a:gd name="adj" fmla="val 8000"/>
            </a:avLst>
          </a:prstGeom>
          <a:solidFill>
            <a:srgbClr val="FBE5E5"/>
          </a:solidFill>
          <a:ln>
            <a:noFill/>
          </a:ln>
        </p:spPr>
        <p:txBody>
          <a:bodyPr rtlCol="0" anchor="ctr"/>
          <a:lstStyle/>
          <a:p/>
        </p:txBody>
      </p:sp>
      <p:sp>
        <p:nvSpPr>
          <p:cNvPr id="12" name="TextBox 11"/>
          <p:cNvSpPr txBox="1"/>
          <p:nvPr/>
        </p:nvSpPr>
        <p:spPr>
          <a:xfrm>
            <a:off x="7003682" y="3530000"/>
            <a:ext cx="4684636" cy="2150000"/>
          </a:xfrm>
          <a:prstGeom prst="rect">
            <a:avLst/>
          </a:prstGeom>
          <a:noFill/>
        </p:spPr>
        <p:txBody>
          <a:bodyPr wrap="square" anchor="t">
            <a:spAutoFit/>
          </a:bodyPr>
          <a:lstStyle/>
          <a:p>
            <a:pPr algn="l">
              <a:spcAft>
                <a:spcPts val="500"/>
              </a:spcAft>
            </a:pPr>
            <a:r>
              <a:rPr sz="1800" b="1" i="0">
                <a:solidFill>
                  <a:srgbClr val="C62828"/>
                </a:solidFill>
                <a:latin typeface="Arial"/>
              </a:rPr>
              <a:t>What it has no idea about</a:t>
            </a:r>
          </a:p>
          <a:p>
            <a:pPr algn="l" marL="285750" indent="-285750">
              <a:spcAft>
                <a:spcPts val="500"/>
              </a:spcAft>
              <a:buChar char="•"/>
            </a:pPr>
            <a:r>
              <a:rPr sz="1600" b="0" i="0">
                <a:solidFill>
                  <a:srgbClr val="262626"/>
                </a:solidFill>
                <a:latin typeface="Arial"/>
              </a:rPr>
              <a:t>Why the GPU is busy</a:t>
            </a:r>
          </a:p>
          <a:p>
            <a:pPr algn="l" marL="285750" indent="-285750">
              <a:spcAft>
                <a:spcPts val="500"/>
              </a:spcAft>
              <a:buChar char="•"/>
            </a:pPr>
            <a:r>
              <a:rPr sz="1600" b="0" i="0">
                <a:solidFill>
                  <a:srgbClr val="262626"/>
                </a:solidFill>
                <a:latin typeface="Arial"/>
              </a:rPr>
              <a:t>How many requests are queued</a:t>
            </a:r>
          </a:p>
          <a:p>
            <a:pPr algn="l" marL="285750" indent="-285750">
              <a:spcAft>
                <a:spcPts val="500"/>
              </a:spcAft>
              <a:buChar char="•"/>
            </a:pPr>
            <a:r>
              <a:rPr sz="1600" b="0" i="0">
                <a:solidFill>
                  <a:srgbClr val="262626"/>
                </a:solidFill>
                <a:latin typeface="Arial"/>
              </a:rPr>
              <a:t>Whether the KV cache is full</a:t>
            </a:r>
          </a:p>
          <a:p>
            <a:pPr algn="l" marL="285750" indent="-285750">
              <a:spcAft>
                <a:spcPts val="0"/>
              </a:spcAft>
              <a:buChar char="•"/>
            </a:pPr>
            <a:r>
              <a:rPr sz="1600" b="0" i="0">
                <a:solidFill>
                  <a:srgbClr val="262626"/>
                </a:solidFill>
                <a:latin typeface="Arial"/>
              </a:rPr>
              <a:t>Anything about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Keep the join key. Drop every other label.</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Series math: Last9, 10,000 GPUs, one TSDB (last9.io/blog/10-000-gpus-one-tsdb-cardinality-at-gpu-scale). Our rig: 7 counters, pod labels off, exported_pod is the only identity.</a:t>
            </a:r>
          </a:p>
        </p:txBody>
      </p:sp>
      <p:sp>
        <p:nvSpPr>
          <p:cNvPr id="4" name="TextBox 3"/>
          <p:cNvSpPr txBox="1"/>
          <p:nvPr/>
        </p:nvSpPr>
        <p:spPr>
          <a:xfrm>
            <a:off x="403682" y="1250000"/>
            <a:ext cx="11384636" cy="700000"/>
          </a:xfrm>
          <a:prstGeom prst="rect">
            <a:avLst/>
          </a:prstGeom>
          <a:noFill/>
        </p:spPr>
        <p:txBody>
          <a:bodyPr wrap="square" anchor="ctr">
            <a:spAutoFit/>
          </a:bodyPr>
          <a:lstStyle/>
          <a:p>
            <a:pPr algn="ctr">
              <a:spcAft>
                <a:spcPts val="0"/>
              </a:spcAft>
            </a:pPr>
            <a:r>
              <a:rPr sz="2200" b="0" i="0">
                <a:solidFill>
                  <a:srgbClr val="6B6B6B"/>
                </a:solidFill>
                <a:latin typeface="Courier New"/>
              </a:rPr>
              <a:t>1,000 nodes  x  8 GPUs  x  60 counters  x  3 labels</a:t>
            </a:r>
          </a:p>
        </p:txBody>
      </p:sp>
      <p:sp>
        <p:nvSpPr>
          <p:cNvPr id="5" name="TextBox 4"/>
          <p:cNvSpPr txBox="1"/>
          <p:nvPr/>
        </p:nvSpPr>
        <p:spPr>
          <a:xfrm>
            <a:off x="403682" y="1900000"/>
            <a:ext cx="11384636" cy="1500000"/>
          </a:xfrm>
          <a:prstGeom prst="rect">
            <a:avLst/>
          </a:prstGeom>
          <a:noFill/>
        </p:spPr>
        <p:txBody>
          <a:bodyPr wrap="square" anchor="ctr">
            <a:spAutoFit/>
          </a:bodyPr>
          <a:lstStyle/>
          <a:p>
            <a:pPr algn="ctr">
              <a:spcAft>
                <a:spcPts val="0"/>
              </a:spcAft>
            </a:pPr>
            <a:r>
              <a:rPr sz="9600" b="1" i="0">
                <a:solidFill>
                  <a:srgbClr val="991346"/>
                </a:solidFill>
                <a:latin typeface="Arial"/>
              </a:rPr>
              <a:t>= 1.4M series</a:t>
            </a:r>
          </a:p>
        </p:txBody>
      </p:sp>
      <p:sp>
        <p:nvSpPr>
          <p:cNvPr id="6" name="TextBox 5"/>
          <p:cNvSpPr txBox="1"/>
          <p:nvPr/>
        </p:nvSpPr>
        <p:spPr>
          <a:xfrm>
            <a:off x="403682" y="3400000"/>
            <a:ext cx="11384636" cy="500000"/>
          </a:xfrm>
          <a:prstGeom prst="rect">
            <a:avLst/>
          </a:prstGeom>
          <a:noFill/>
        </p:spPr>
        <p:txBody>
          <a:bodyPr wrap="square" anchor="t">
            <a:spAutoFit/>
          </a:bodyPr>
          <a:lstStyle/>
          <a:p>
            <a:pPr algn="ctr">
              <a:spcAft>
                <a:spcPts val="0"/>
              </a:spcAft>
            </a:pPr>
            <a:r>
              <a:rPr sz="1800" b="0" i="0">
                <a:solidFill>
                  <a:srgbClr val="6B6B6B"/>
                </a:solidFill>
                <a:latin typeface="Arial"/>
              </a:rPr>
              <a:t>before a single pod or job label. Every label you add multiplies by pod churn.</a:t>
            </a:r>
          </a:p>
        </p:txBody>
      </p:sp>
      <p:sp>
        <p:nvSpPr>
          <p:cNvPr id="7" name="Rounded Rectangle 6"/>
          <p:cNvSpPr/>
          <p:nvPr/>
        </p:nvSpPr>
        <p:spPr>
          <a:xfrm>
            <a:off x="403682" y="4150000"/>
            <a:ext cx="3594878" cy="13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Identity</a:t>
            </a:r>
          </a:p>
          <a:p>
            <a:pPr algn="ctr">
              <a:spcAft>
                <a:spcPts val="0"/>
              </a:spcAft>
            </a:pPr>
            <a:r>
              <a:rPr sz="2000" b="0" i="0">
                <a:solidFill>
                  <a:srgbClr val="262626"/>
                </a:solidFill>
                <a:latin typeface="Arial"/>
              </a:rPr>
              <a:t>on logs</a:t>
            </a:r>
          </a:p>
        </p:txBody>
      </p:sp>
      <p:sp>
        <p:nvSpPr>
          <p:cNvPr id="9" name="Rounded Rectangle 8"/>
          <p:cNvSpPr/>
          <p:nvPr/>
        </p:nvSpPr>
        <p:spPr>
          <a:xfrm>
            <a:off x="4298560" y="4150000"/>
            <a:ext cx="3594878" cy="13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98560"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Stable dimensions</a:t>
            </a:r>
          </a:p>
          <a:p>
            <a:pPr algn="ctr">
              <a:spcAft>
                <a:spcPts val="0"/>
              </a:spcAft>
            </a:pPr>
            <a:r>
              <a:rPr sz="2000" b="0" i="0">
                <a:solidFill>
                  <a:srgbClr val="262626"/>
                </a:solidFill>
                <a:latin typeface="Arial"/>
              </a:rPr>
              <a:t>on metrics</a:t>
            </a:r>
          </a:p>
        </p:txBody>
      </p:sp>
      <p:sp>
        <p:nvSpPr>
          <p:cNvPr id="11" name="Rounded Rectangle 10"/>
          <p:cNvSpPr/>
          <p:nvPr/>
        </p:nvSpPr>
        <p:spPr>
          <a:xfrm>
            <a:off x="8193438" y="4150000"/>
            <a:ext cx="3594878" cy="13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93438"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Join</a:t>
            </a:r>
          </a:p>
          <a:p>
            <a:pPr algn="ctr">
              <a:spcAft>
                <a:spcPts val="0"/>
              </a:spcAft>
            </a:pPr>
            <a:r>
              <a:rPr sz="2000" b="0" i="0">
                <a:solidFill>
                  <a:srgbClr val="262626"/>
                </a:solidFill>
                <a:latin typeface="Arial"/>
              </a:rPr>
              <a:t>at query time</a:t>
            </a:r>
          </a:p>
        </p:txBody>
      </p:sp>
      <p:sp>
        <p:nvSpPr>
          <p:cNvPr id="13" name="TextBox 12"/>
          <p:cNvSpPr txBox="1"/>
          <p:nvPr/>
        </p:nvSpPr>
        <p:spPr>
          <a:xfrm>
            <a:off x="403682" y="5600000"/>
            <a:ext cx="11384636" cy="500000"/>
          </a:xfrm>
          <a:prstGeom prst="rect">
            <a:avLst/>
          </a:prstGeom>
          <a:noFill/>
        </p:spPr>
        <p:txBody>
          <a:bodyPr wrap="square" anchor="t">
            <a:spAutoFit/>
          </a:bodyPr>
          <a:lstStyle/>
          <a:p>
            <a:pPr algn="ctr">
              <a:spcAft>
                <a:spcPts val="600"/>
              </a:spcAft>
            </a:pPr>
            <a:r>
              <a:rPr sz="1600" b="1" i="0">
                <a:solidFill>
                  <a:srgbClr val="C62828"/>
                </a:solidFill>
                <a:latin typeface="Courier New"/>
              </a:rPr>
              <a:t>ENABLE_POD_LABELS=true</a:t>
            </a:r>
            <a:r>
              <a:rPr sz="1600" b="0" i="0">
                <a:solidFill>
                  <a:srgbClr val="262626"/>
                </a:solidFill>
                <a:latin typeface="Arial"/>
              </a:rPr>
              <a:t>  is how you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2: the serving log is the telemetry.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V1 engine, vllm/v1/metrics/loggers.py: one stats line every 10 s while the engine is busy (DEBUG level when idle). Both lines from the live rig.</a:t>
            </a:r>
          </a:p>
        </p:txBody>
      </p:sp>
      <p:sp>
        <p:nvSpPr>
          <p:cNvPr id="4" name="TextBox 3"/>
          <p:cNvSpPr txBox="1"/>
          <p:nvPr/>
        </p:nvSpPr>
        <p:spPr>
          <a:xfrm>
            <a:off x="403682" y="125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vllm-overprov, steady load</a:t>
            </a:r>
          </a:p>
        </p:txBody>
      </p:sp>
      <p:sp>
        <p:nvSpPr>
          <p:cNvPr id="5" name="TextBox 4"/>
          <p:cNvSpPr txBox="1"/>
          <p:nvPr/>
        </p:nvSpPr>
        <p:spPr>
          <a:xfrm>
            <a:off x="403682" y="1630000"/>
            <a:ext cx="11384636" cy="9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1180.2 tokens/s, Avg generation throughput: </a:t>
            </a:r>
            <a:r>
              <a:rPr sz="1500" b="1" i="0">
                <a:solidFill>
                  <a:srgbClr val="991346"/>
                </a:solidFill>
                <a:latin typeface="Courier New"/>
              </a:rPr>
              <a:t>4711.7 tokens/s</a:t>
            </a:r>
            <a:r>
              <a:rPr sz="1500" b="0" i="0">
                <a:solidFill>
                  <a:srgbClr val="6B6B6B"/>
                </a:solidFill>
                <a:latin typeface="Courier New"/>
              </a:rPr>
              <a:t>, </a:t>
            </a:r>
            <a:r>
              <a:rPr sz="1500" b="1" i="0">
                <a:solidFill>
                  <a:srgbClr val="991346"/>
                </a:solidFill>
                <a:latin typeface="Courier New"/>
              </a:rPr>
              <a:t>Running: 15 reqs</a:t>
            </a:r>
            <a:r>
              <a:rPr sz="1500" b="0" i="0">
                <a:solidFill>
                  <a:srgbClr val="6B6B6B"/>
                </a:solidFill>
                <a:latin typeface="Courier New"/>
              </a:rPr>
              <a:t>, </a:t>
            </a:r>
            <a:r>
              <a:rPr sz="1500" b="1" i="0">
                <a:solidFill>
                  <a:srgbClr val="991346"/>
                </a:solidFill>
                <a:latin typeface="Courier New"/>
              </a:rPr>
              <a:t>Waiting: 0 reqs</a:t>
            </a:r>
            <a:r>
              <a:rPr sz="1500" b="0" i="0">
                <a:solidFill>
                  <a:srgbClr val="6B6B6B"/>
                </a:solidFill>
                <a:latin typeface="Courier New"/>
              </a:rPr>
              <a:t>, </a:t>
            </a:r>
            <a:r>
              <a:rPr sz="1500" b="1" i="0">
                <a:solidFill>
                  <a:srgbClr val="991346"/>
                </a:solidFill>
                <a:latin typeface="Courier New"/>
              </a:rPr>
              <a:t>GPU KV cache usage: 0.1%</a:t>
            </a:r>
            <a:r>
              <a:rPr sz="1500" b="0" i="0">
                <a:solidFill>
                  <a:srgbClr val="6B6B6B"/>
                </a:solidFill>
                <a:latin typeface="Courier New"/>
              </a:rPr>
              <a:t>, Prefix cache hit rate: 0.0%</a:t>
            </a:r>
          </a:p>
        </p:txBody>
      </p:sp>
      <p:sp>
        <p:nvSpPr>
          <p:cNvPr id="6" name="TextBox 5"/>
          <p:cNvSpPr txBox="1"/>
          <p:nvPr/>
        </p:nvSpPr>
        <p:spPr>
          <a:xfrm>
            <a:off x="403682" y="290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vllm-constrained, saturating load</a:t>
            </a:r>
          </a:p>
        </p:txBody>
      </p:sp>
      <p:sp>
        <p:nvSpPr>
          <p:cNvPr id="7" name="TextBox 6"/>
          <p:cNvSpPr txBox="1"/>
          <p:nvPr/>
        </p:nvSpPr>
        <p:spPr>
          <a:xfrm>
            <a:off x="403682" y="3280000"/>
            <a:ext cx="11384636" cy="11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9810.4 tokens/s, Avg generation throughput: </a:t>
            </a:r>
            <a:r>
              <a:rPr sz="1500" b="1" i="0">
                <a:solidFill>
                  <a:srgbClr val="991346"/>
                </a:solidFill>
                <a:latin typeface="Courier New"/>
              </a:rPr>
              <a:t>17227.0 tokens/s</a:t>
            </a:r>
            <a:r>
              <a:rPr sz="1500" b="0" i="0">
                <a:solidFill>
                  <a:srgbClr val="6B6B6B"/>
                </a:solidFill>
                <a:latin typeface="Courier New"/>
              </a:rPr>
              <a:t>, </a:t>
            </a:r>
            <a:r>
              <a:rPr sz="1500" b="1" i="0">
                <a:solidFill>
                  <a:srgbClr val="991346"/>
                </a:solidFill>
                <a:latin typeface="Courier New"/>
              </a:rPr>
              <a:t>Running: 76 reqs</a:t>
            </a:r>
            <a:r>
              <a:rPr sz="1500" b="0" i="0">
                <a:solidFill>
                  <a:srgbClr val="6B6B6B"/>
                </a:solidFill>
                <a:latin typeface="Courier New"/>
              </a:rPr>
              <a:t>, </a:t>
            </a:r>
            <a:r>
              <a:rPr sz="1500" b="1" i="0">
                <a:solidFill>
                  <a:srgbClr val="991346"/>
                </a:solidFill>
                <a:latin typeface="Courier New"/>
              </a:rPr>
              <a:t>Waiting: 116 reqs</a:t>
            </a:r>
            <a:r>
              <a:rPr sz="1500" b="0" i="0">
                <a:solidFill>
                  <a:srgbClr val="6B6B6B"/>
                </a:solidFill>
                <a:latin typeface="Courier New"/>
              </a:rPr>
              <a:t>, </a:t>
            </a:r>
            <a:r>
              <a:rPr sz="1500" b="1" i="0">
                <a:solidFill>
                  <a:srgbClr val="991346"/>
                </a:solidFill>
                <a:latin typeface="Courier New"/>
              </a:rPr>
              <a:t>Preemptions: 41</a:t>
            </a:r>
            <a:r>
              <a:rPr sz="1500" b="0" i="0">
                <a:solidFill>
                  <a:srgbClr val="6B6B6B"/>
                </a:solidFill>
                <a:latin typeface="Courier New"/>
              </a:rPr>
              <a:t>, </a:t>
            </a:r>
            <a:r>
              <a:rPr sz="1500" b="1" i="0">
                <a:solidFill>
                  <a:srgbClr val="991346"/>
                </a:solidFill>
                <a:latin typeface="Courier New"/>
              </a:rPr>
              <a:t>GPU KV cache usage: 99.6%</a:t>
            </a:r>
            <a:r>
              <a:rPr sz="1500" b="0" i="0">
                <a:solidFill>
                  <a:srgbClr val="6B6B6B"/>
                </a:solidFill>
                <a:latin typeface="Courier New"/>
              </a:rPr>
              <a:t>, Prefix cache hit rate: 0.0%</a:t>
            </a:r>
          </a:p>
        </p:txBody>
      </p:sp>
      <p:sp>
        <p:nvSpPr>
          <p:cNvPr id="8" name="Rounded Rectangle 7"/>
          <p:cNvSpPr/>
          <p:nvPr/>
        </p:nvSpPr>
        <p:spPr>
          <a:xfrm>
            <a:off x="403682"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tokens/s</a:t>
            </a:r>
          </a:p>
        </p:txBody>
      </p:sp>
      <p:sp>
        <p:nvSpPr>
          <p:cNvPr id="9" name="Rounded Rectangle 8"/>
          <p:cNvSpPr/>
          <p:nvPr/>
        </p:nvSpPr>
        <p:spPr>
          <a:xfrm>
            <a:off x="2326121"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running</a:t>
            </a:r>
          </a:p>
        </p:txBody>
      </p:sp>
      <p:sp>
        <p:nvSpPr>
          <p:cNvPr id="10" name="Rounded Rectangle 9"/>
          <p:cNvSpPr/>
          <p:nvPr/>
        </p:nvSpPr>
        <p:spPr>
          <a:xfrm>
            <a:off x="4248560"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waiting</a:t>
            </a:r>
          </a:p>
        </p:txBody>
      </p:sp>
      <p:sp>
        <p:nvSpPr>
          <p:cNvPr id="11" name="Rounded Rectangle 10"/>
          <p:cNvSpPr/>
          <p:nvPr/>
        </p:nvSpPr>
        <p:spPr>
          <a:xfrm>
            <a:off x="6170999"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KV cache %</a:t>
            </a:r>
          </a:p>
        </p:txBody>
      </p:sp>
      <p:sp>
        <p:nvSpPr>
          <p:cNvPr id="12" name="Rounded Rectangle 11"/>
          <p:cNvSpPr/>
          <p:nvPr/>
        </p:nvSpPr>
        <p:spPr>
          <a:xfrm>
            <a:off x="8093438"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prefix hits</a:t>
            </a:r>
          </a:p>
        </p:txBody>
      </p:sp>
      <p:sp>
        <p:nvSpPr>
          <p:cNvPr id="13" name="Rounded Rectangle 12"/>
          <p:cNvSpPr/>
          <p:nvPr/>
        </p:nvSpPr>
        <p:spPr>
          <a:xfrm>
            <a:off x="10015877"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preemptions</a:t>
            </a:r>
          </a:p>
        </p:txBody>
      </p:sp>
      <p:sp>
        <p:nvSpPr>
          <p:cNvPr id="14" name="TextBox 13"/>
          <p:cNvSpPr txBox="1"/>
          <p:nvPr/>
        </p:nvSpPr>
        <p:spPr>
          <a:xfrm>
            <a:off x="403682" y="540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Six facts about the inference work, and not one of them shows up in a GPU counter.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Fifteen lines of Lua turn it into per-pod metrics.</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Fluent Bit 5.1. Full filter and pipeline config in the repo. vLLM native metrics: docs.vllm.ai/en/latest/design/metrics</a:t>
            </a:r>
          </a:p>
        </p:txBody>
      </p:sp>
      <p:sp>
        <p:nvSpPr>
          <p:cNvPr id="4" name="Rounded Rectangle 3"/>
          <p:cNvSpPr/>
          <p:nvPr/>
        </p:nvSpPr>
        <p:spPr>
          <a:xfrm>
            <a:off x="403682" y="1400000"/>
            <a:ext cx="1747439" cy="900000"/>
          </a:xfrm>
          <a:prstGeom prst="roundRect">
            <a:avLst>
              <a:gd name="adj" fmla="val 15000"/>
            </a:avLst>
          </a:prstGeom>
          <a:solidFill>
            <a:srgbClr val="F3F3F3"/>
          </a:solidFill>
          <a:ln>
            <a:noFill/>
          </a:ln>
        </p:spPr>
        <p:txBody>
          <a:bodyPr rtlCol="0" anchor="ctr"/>
          <a:lstStyle/>
          <a:p/>
        </p:txBody>
      </p:sp>
      <p:sp>
        <p:nvSpPr>
          <p:cNvPr id="5" name="TextBox 4"/>
          <p:cNvSpPr txBox="1"/>
          <p:nvPr/>
        </p:nvSpPr>
        <p:spPr>
          <a:xfrm>
            <a:off x="403682"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tail</a:t>
            </a:r>
          </a:p>
          <a:p>
            <a:pPr algn="ctr">
              <a:spcAft>
                <a:spcPts val="0"/>
              </a:spcAft>
            </a:pPr>
            <a:r>
              <a:rPr sz="1200" b="0" i="0">
                <a:solidFill>
                  <a:srgbClr val="6B6B6B"/>
                </a:solidFill>
                <a:latin typeface="Arial"/>
              </a:rPr>
              <a:t>container log</a:t>
            </a:r>
          </a:p>
        </p:txBody>
      </p:sp>
      <p:cxnSp>
        <p:nvCxnSpPr>
          <p:cNvPr id="6" name="Connector 5"/>
          <p:cNvCxnSpPr/>
          <p:nvPr/>
        </p:nvCxnSpPr>
        <p:spPr>
          <a:xfrm>
            <a:off x="2151121" y="1850000"/>
            <a:ext cx="180000" cy="0"/>
          </a:xfrm>
          <a:prstGeom prst="line">
            <a:avLst/>
          </a:prstGeom>
          <a:ln w="25400">
            <a:solidFill>
              <a:srgbClr val="6B6B6B"/>
            </a:solidFill>
            <a:tailEnd type="triangle" w="med" len="med"/>
          </a:ln>
        </p:spPr>
      </p:cxnSp>
      <p:sp>
        <p:nvSpPr>
          <p:cNvPr id="7" name="Rounded Rectangle 6"/>
          <p:cNvSpPr/>
          <p:nvPr/>
        </p:nvSpPr>
        <p:spPr>
          <a:xfrm>
            <a:off x="2331121" y="1400000"/>
            <a:ext cx="1747439" cy="900000"/>
          </a:xfrm>
          <a:prstGeom prst="roundRect">
            <a:avLst>
              <a:gd name="adj" fmla="val 15000"/>
            </a:avLst>
          </a:prstGeom>
          <a:solidFill>
            <a:srgbClr val="991346"/>
          </a:solidFill>
          <a:ln>
            <a:noFill/>
          </a:ln>
        </p:spPr>
        <p:txBody>
          <a:bodyPr rtlCol="0" anchor="ctr"/>
          <a:lstStyle/>
          <a:p/>
        </p:txBody>
      </p:sp>
      <p:sp>
        <p:nvSpPr>
          <p:cNvPr id="8" name="TextBox 7"/>
          <p:cNvSpPr txBox="1"/>
          <p:nvPr/>
        </p:nvSpPr>
        <p:spPr>
          <a:xfrm>
            <a:off x="2331121"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kubernetes</a:t>
            </a:r>
          </a:p>
          <a:p>
            <a:pPr algn="ctr">
              <a:spcAft>
                <a:spcPts val="0"/>
              </a:spcAft>
            </a:pPr>
            <a:r>
              <a:rPr sz="1200" b="0" i="0">
                <a:solidFill>
                  <a:srgbClr val="FFFFFF"/>
                </a:solidFill>
                <a:latin typeface="Arial"/>
              </a:rPr>
              <a:t>+ pod_name</a:t>
            </a:r>
          </a:p>
        </p:txBody>
      </p:sp>
      <p:cxnSp>
        <p:nvCxnSpPr>
          <p:cNvPr id="9" name="Connector 8"/>
          <p:cNvCxnSpPr/>
          <p:nvPr/>
        </p:nvCxnSpPr>
        <p:spPr>
          <a:xfrm>
            <a:off x="4078560" y="1850000"/>
            <a:ext cx="180000" cy="0"/>
          </a:xfrm>
          <a:prstGeom prst="line">
            <a:avLst/>
          </a:prstGeom>
          <a:ln w="25400">
            <a:solidFill>
              <a:srgbClr val="6B6B6B"/>
            </a:solidFill>
            <a:tailEnd type="triangle" w="med" len="med"/>
          </a:ln>
        </p:spPr>
      </p:cxnSp>
      <p:sp>
        <p:nvSpPr>
          <p:cNvPr id="10" name="Rounded Rectangle 9"/>
          <p:cNvSpPr/>
          <p:nvPr/>
        </p:nvSpPr>
        <p:spPr>
          <a:xfrm>
            <a:off x="4258560" y="1400000"/>
            <a:ext cx="1747439" cy="900000"/>
          </a:xfrm>
          <a:prstGeom prst="roundRect">
            <a:avLst>
              <a:gd name="adj" fmla="val 15000"/>
            </a:avLst>
          </a:prstGeom>
          <a:solidFill>
            <a:srgbClr val="991346"/>
          </a:solidFill>
          <a:ln>
            <a:noFill/>
          </a:ln>
        </p:spPr>
        <p:txBody>
          <a:bodyPr rtlCol="0" anchor="ctr"/>
          <a:lstStyle/>
          <a:p/>
        </p:txBody>
      </p:sp>
      <p:sp>
        <p:nvSpPr>
          <p:cNvPr id="11" name="TextBox 10"/>
          <p:cNvSpPr txBox="1"/>
          <p:nvPr/>
        </p:nvSpPr>
        <p:spPr>
          <a:xfrm>
            <a:off x="4258560"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lua</a:t>
            </a:r>
          </a:p>
          <a:p>
            <a:pPr algn="ctr">
              <a:spcAft>
                <a:spcPts val="0"/>
              </a:spcAft>
            </a:pPr>
            <a:r>
              <a:rPr sz="1200" b="0" i="0">
                <a:solidFill>
                  <a:srgbClr val="FFFFFF"/>
                </a:solidFill>
                <a:latin typeface="Arial"/>
              </a:rPr>
              <a:t>5 x string.match</a:t>
            </a:r>
          </a:p>
        </p:txBody>
      </p:sp>
      <p:cxnSp>
        <p:nvCxnSpPr>
          <p:cNvPr id="12" name="Connector 11"/>
          <p:cNvCxnSpPr/>
          <p:nvPr/>
        </p:nvCxnSpPr>
        <p:spPr>
          <a:xfrm>
            <a:off x="6005999" y="1850000"/>
            <a:ext cx="180000" cy="0"/>
          </a:xfrm>
          <a:prstGeom prst="line">
            <a:avLst/>
          </a:prstGeom>
          <a:ln w="25400">
            <a:solidFill>
              <a:srgbClr val="6B6B6B"/>
            </a:solidFill>
            <a:tailEnd type="triangle" w="med" len="med"/>
          </a:ln>
        </p:spPr>
      </p:cxnSp>
      <p:sp>
        <p:nvSpPr>
          <p:cNvPr id="13" name="Rounded Rectangle 12"/>
          <p:cNvSpPr/>
          <p:nvPr/>
        </p:nvSpPr>
        <p:spPr>
          <a:xfrm>
            <a:off x="6185999" y="1400000"/>
            <a:ext cx="1747439" cy="900000"/>
          </a:xfrm>
          <a:prstGeom prst="roundRect">
            <a:avLst>
              <a:gd name="adj" fmla="val 15000"/>
            </a:avLst>
          </a:prstGeom>
          <a:solidFill>
            <a:srgbClr val="F3F3F3"/>
          </a:solidFill>
          <a:ln>
            <a:noFill/>
          </a:ln>
        </p:spPr>
        <p:txBody>
          <a:bodyPr rtlCol="0" anchor="ctr"/>
          <a:lstStyle/>
          <a:p/>
        </p:txBody>
      </p:sp>
      <p:sp>
        <p:nvSpPr>
          <p:cNvPr id="14" name="TextBox 13"/>
          <p:cNvSpPr txBox="1"/>
          <p:nvPr/>
        </p:nvSpPr>
        <p:spPr>
          <a:xfrm>
            <a:off x="6185999"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grep</a:t>
            </a:r>
          </a:p>
          <a:p>
            <a:pPr algn="ctr">
              <a:spcAft>
                <a:spcPts val="0"/>
              </a:spcAft>
            </a:pPr>
            <a:r>
              <a:rPr sz="1200" b="0" i="0">
                <a:solidFill>
                  <a:srgbClr val="6B6B6B"/>
                </a:solidFill>
                <a:latin typeface="Arial"/>
              </a:rPr>
              <a:t>stats lines only</a:t>
            </a:r>
          </a:p>
        </p:txBody>
      </p:sp>
      <p:cxnSp>
        <p:nvCxnSpPr>
          <p:cNvPr id="15" name="Connector 14"/>
          <p:cNvCxnSpPr/>
          <p:nvPr/>
        </p:nvCxnSpPr>
        <p:spPr>
          <a:xfrm>
            <a:off x="7933438" y="1850000"/>
            <a:ext cx="180000" cy="0"/>
          </a:xfrm>
          <a:prstGeom prst="line">
            <a:avLst/>
          </a:prstGeom>
          <a:ln w="25400">
            <a:solidFill>
              <a:srgbClr val="6B6B6B"/>
            </a:solidFill>
            <a:tailEnd type="triangle" w="med" len="med"/>
          </a:ln>
        </p:spPr>
      </p:cxnSp>
      <p:sp>
        <p:nvSpPr>
          <p:cNvPr id="16" name="Rounded Rectangle 15"/>
          <p:cNvSpPr/>
          <p:nvPr/>
        </p:nvSpPr>
        <p:spPr>
          <a:xfrm>
            <a:off x="8113438" y="1400000"/>
            <a:ext cx="1747439" cy="900000"/>
          </a:xfrm>
          <a:prstGeom prst="roundRect">
            <a:avLst>
              <a:gd name="adj" fmla="val 15000"/>
            </a:avLst>
          </a:prstGeom>
          <a:solidFill>
            <a:srgbClr val="F3F3F3"/>
          </a:solidFill>
          <a:ln>
            <a:noFill/>
          </a:ln>
        </p:spPr>
        <p:txBody>
          <a:bodyPr rtlCol="0" anchor="ctr"/>
          <a:lstStyle/>
          <a:p/>
        </p:txBody>
      </p:sp>
      <p:sp>
        <p:nvSpPr>
          <p:cNvPr id="17" name="TextBox 16"/>
          <p:cNvSpPr txBox="1"/>
          <p:nvPr/>
        </p:nvSpPr>
        <p:spPr>
          <a:xfrm>
            <a:off x="8113438"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log_to_metrics</a:t>
            </a:r>
          </a:p>
          <a:p>
            <a:pPr algn="ctr">
              <a:spcAft>
                <a:spcPts val="0"/>
              </a:spcAft>
            </a:pPr>
            <a:r>
              <a:rPr sz="1200" b="0" i="0">
                <a:solidFill>
                  <a:srgbClr val="6B6B6B"/>
                </a:solidFill>
                <a:latin typeface="Arial"/>
              </a:rPr>
              <a:t>fields -&gt; gauges</a:t>
            </a:r>
          </a:p>
        </p:txBody>
      </p:sp>
      <p:cxnSp>
        <p:nvCxnSpPr>
          <p:cNvPr id="18" name="Connector 17"/>
          <p:cNvCxnSpPr/>
          <p:nvPr/>
        </p:nvCxnSpPr>
        <p:spPr>
          <a:xfrm>
            <a:off x="9860877" y="1850000"/>
            <a:ext cx="180000" cy="0"/>
          </a:xfrm>
          <a:prstGeom prst="line">
            <a:avLst/>
          </a:prstGeom>
          <a:ln w="25400">
            <a:solidFill>
              <a:srgbClr val="6B6B6B"/>
            </a:solidFill>
            <a:tailEnd type="triangle" w="med" len="med"/>
          </a:ln>
        </p:spPr>
      </p:cxnSp>
      <p:sp>
        <p:nvSpPr>
          <p:cNvPr id="19" name="Rounded Rectangle 18"/>
          <p:cNvSpPr/>
          <p:nvPr/>
        </p:nvSpPr>
        <p:spPr>
          <a:xfrm>
            <a:off x="10040877" y="1400000"/>
            <a:ext cx="1747439" cy="900000"/>
          </a:xfrm>
          <a:prstGeom prst="roundRect">
            <a:avLst>
              <a:gd name="adj" fmla="val 15000"/>
            </a:avLst>
          </a:prstGeom>
          <a:solidFill>
            <a:srgbClr val="F3F3F3"/>
          </a:solidFill>
          <a:ln>
            <a:noFill/>
          </a:ln>
        </p:spPr>
        <p:txBody>
          <a:bodyPr rtlCol="0" anchor="ctr"/>
          <a:lstStyle/>
          <a:p/>
        </p:txBody>
      </p:sp>
      <p:sp>
        <p:nvSpPr>
          <p:cNvPr id="20" name="TextBox 19"/>
          <p:cNvSpPr txBox="1"/>
          <p:nvPr/>
        </p:nvSpPr>
        <p:spPr>
          <a:xfrm>
            <a:off x="10040877"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prometheus_exporter</a:t>
            </a:r>
          </a:p>
          <a:p>
            <a:pPr algn="ctr">
              <a:spcAft>
                <a:spcPts val="0"/>
              </a:spcAft>
            </a:pPr>
            <a:r>
              <a:rPr sz="1200" b="0" i="0">
                <a:solidFill>
                  <a:srgbClr val="6B6B6B"/>
                </a:solidFill>
                <a:latin typeface="Arial"/>
              </a:rPr>
              <a:t>:2021</a:t>
            </a:r>
          </a:p>
        </p:txBody>
      </p:sp>
      <p:sp>
        <p:nvSpPr>
          <p:cNvPr id="21" name="Oval 20"/>
          <p:cNvSpPr/>
          <p:nvPr/>
        </p:nvSpPr>
        <p:spPr>
          <a:xfrm>
            <a:off x="3114840" y="2530000"/>
            <a:ext cx="180000" cy="180000"/>
          </a:xfrm>
          <a:prstGeom prst="ellipse">
            <a:avLst/>
          </a:prstGeom>
          <a:solidFill>
            <a:srgbClr val="991346"/>
          </a:solidFill>
          <a:ln>
            <a:noFill/>
          </a:ln>
        </p:spPr>
        <p:txBody>
          <a:bodyPr rtlCol="0" anchor="ctr"/>
          <a:lstStyle/>
          <a:p>
            <a:pPr algn="ctr"/>
          </a:p>
        </p:txBody>
      </p:sp>
      <p:sp>
        <p:nvSpPr>
          <p:cNvPr id="22" name="Oval 21"/>
          <p:cNvSpPr/>
          <p:nvPr/>
        </p:nvSpPr>
        <p:spPr>
          <a:xfrm>
            <a:off x="5042279" y="2530000"/>
            <a:ext cx="180000" cy="180000"/>
          </a:xfrm>
          <a:prstGeom prst="ellipse">
            <a:avLst/>
          </a:prstGeom>
          <a:solidFill>
            <a:srgbClr val="991346"/>
          </a:solidFill>
          <a:ln>
            <a:noFill/>
          </a:ln>
        </p:spPr>
        <p:txBody>
          <a:bodyPr rtlCol="0" anchor="ctr"/>
          <a:lstStyle/>
          <a:p>
            <a:pPr algn="ctr"/>
          </a:p>
        </p:txBody>
      </p:sp>
      <p:sp>
        <p:nvSpPr>
          <p:cNvPr id="23" name="Oval 22"/>
          <p:cNvSpPr/>
          <p:nvPr/>
        </p:nvSpPr>
        <p:spPr>
          <a:xfrm>
            <a:off x="6969718" y="2530000"/>
            <a:ext cx="180000" cy="180000"/>
          </a:xfrm>
          <a:prstGeom prst="ellipse">
            <a:avLst/>
          </a:prstGeom>
          <a:solidFill>
            <a:srgbClr val="991346"/>
          </a:solidFill>
          <a:ln>
            <a:noFill/>
          </a:ln>
        </p:spPr>
        <p:txBody>
          <a:bodyPr rtlCol="0" anchor="ctr"/>
          <a:lstStyle/>
          <a:p>
            <a:pPr algn="ctr"/>
          </a:p>
        </p:txBody>
      </p:sp>
      <p:sp>
        <p:nvSpPr>
          <p:cNvPr id="24" name="Oval 23"/>
          <p:cNvSpPr/>
          <p:nvPr/>
        </p:nvSpPr>
        <p:spPr>
          <a:xfrm>
            <a:off x="8897157" y="2530000"/>
            <a:ext cx="180000" cy="180000"/>
          </a:xfrm>
          <a:prstGeom prst="ellipse">
            <a:avLst/>
          </a:prstGeom>
          <a:solidFill>
            <a:srgbClr val="991346"/>
          </a:solidFill>
          <a:ln>
            <a:noFill/>
          </a:ln>
        </p:spPr>
        <p:txBody>
          <a:bodyPr rtlCol="0" anchor="ctr"/>
          <a:lstStyle/>
          <a:p>
            <a:pPr algn="ctr"/>
          </a:p>
        </p:txBody>
      </p:sp>
      <p:sp>
        <p:nvSpPr>
          <p:cNvPr id="25" name="Oval 24"/>
          <p:cNvSpPr/>
          <p:nvPr/>
        </p:nvSpPr>
        <p:spPr>
          <a:xfrm>
            <a:off x="10824596" y="2530000"/>
            <a:ext cx="180000" cy="180000"/>
          </a:xfrm>
          <a:prstGeom prst="ellipse">
            <a:avLst/>
          </a:prstGeom>
          <a:solidFill>
            <a:srgbClr val="991346"/>
          </a:solidFill>
          <a:ln>
            <a:noFill/>
          </a:ln>
        </p:spPr>
        <p:txBody>
          <a:bodyPr rtlCol="0" anchor="ctr"/>
          <a:lstStyle/>
          <a:p>
            <a:pPr algn="ctr"/>
          </a:p>
        </p:txBody>
      </p:sp>
      <p:sp>
        <p:nvSpPr>
          <p:cNvPr id="26" name="TextBox 25"/>
          <p:cNvSpPr txBox="1"/>
          <p:nvPr/>
        </p:nvSpPr>
        <p:spPr>
          <a:xfrm>
            <a:off x="2331121" y="2730000"/>
            <a:ext cx="9457197" cy="350000"/>
          </a:xfrm>
          <a:prstGeom prst="rect">
            <a:avLst/>
          </a:prstGeom>
          <a:noFill/>
        </p:spPr>
        <p:txBody>
          <a:bodyPr wrap="square" anchor="t">
            <a:spAutoFit/>
          </a:bodyPr>
          <a:lstStyle/>
          <a:p>
            <a:pPr algn="l">
              <a:spcAft>
                <a:spcPts val="0"/>
              </a:spcAft>
            </a:pPr>
            <a:r>
              <a:rPr sz="1300" b="0" i="0">
                <a:solidFill>
                  <a:srgbClr val="991346"/>
                </a:solidFill>
                <a:latin typeface="Arial"/>
              </a:rPr>
              <a:t>pod_name rides along from the kubernetes filter onwards: the join key</a:t>
            </a:r>
          </a:p>
        </p:txBody>
      </p:sp>
      <p:sp>
        <p:nvSpPr>
          <p:cNvPr id="27" name="Rounded Rectangle 26"/>
          <p:cNvSpPr/>
          <p:nvPr/>
        </p:nvSpPr>
        <p:spPr>
          <a:xfrm>
            <a:off x="403682" y="3250000"/>
            <a:ext cx="11384636" cy="1250000"/>
          </a:xfrm>
          <a:prstGeom prst="roundRect">
            <a:avLst>
              <a:gd name="adj" fmla="val 8000"/>
            </a:avLst>
          </a:prstGeom>
          <a:solidFill>
            <a:srgbClr val="F3F3F3"/>
          </a:solidFill>
          <a:ln>
            <a:noFill/>
          </a:ln>
        </p:spPr>
        <p:txBody>
          <a:bodyPr rtlCol="0" anchor="ctr"/>
          <a:lstStyle/>
          <a:p/>
        </p:txBody>
      </p:sp>
      <p:sp>
        <p:nvSpPr>
          <p:cNvPr id="28" name="TextBox 27"/>
          <p:cNvSpPr txBox="1"/>
          <p:nvPr/>
        </p:nvSpPr>
        <p:spPr>
          <a:xfrm>
            <a:off x="403682" y="3250000"/>
            <a:ext cx="11384636" cy="1250000"/>
          </a:xfrm>
          <a:prstGeom prst="rect">
            <a:avLst/>
          </a:prstGeom>
          <a:noFill/>
        </p:spPr>
        <p:txBody>
          <a:bodyPr wrap="square" anchor="ctr" lIns="200000" rIns="200000">
            <a:spAutoFit/>
          </a:bodyPr>
          <a:lstStyle/>
          <a:p>
            <a:pPr algn="l">
              <a:spcAft>
                <a:spcPts val="400"/>
              </a:spcAft>
            </a:pPr>
            <a:r>
              <a:rPr sz="1700" b="0" i="0">
                <a:solidFill>
                  <a:srgbClr val="6B6B6B"/>
                </a:solidFill>
                <a:latin typeface="Courier New"/>
              </a:rPr>
              <a:t>record[</a:t>
            </a:r>
            <a:r>
              <a:rPr sz="1700" b="1" i="0">
                <a:solidFill>
                  <a:srgbClr val="991346"/>
                </a:solidFill>
                <a:latin typeface="Courier New"/>
              </a:rPr>
              <a:t>"kv_cache_usage_pct"</a:t>
            </a:r>
            <a:r>
              <a:rPr sz="1700" b="0" i="0">
                <a:solidFill>
                  <a:srgbClr val="6B6B6B"/>
                </a:solidFill>
                <a:latin typeface="Courier New"/>
              </a:rPr>
              <a:t>] =</a:t>
            </a:r>
          </a:p>
          <a:p>
            <a:pPr algn="l">
              <a:spcAft>
                <a:spcPts val="400"/>
              </a:spcAft>
            </a:pPr>
            <a:r>
              <a:rPr sz="1700" b="0" i="0">
                <a:solidFill>
                  <a:srgbClr val="6B6B6B"/>
                </a:solidFill>
                <a:latin typeface="Courier New"/>
              </a:rPr>
              <a:t>    tonumber(string.match(line, </a:t>
            </a:r>
            <a:r>
              <a:rPr sz="1700" b="1" i="0">
                <a:solidFill>
                  <a:srgbClr val="1F5FA8"/>
                </a:solidFill>
                <a:latin typeface="Courier New"/>
              </a:rPr>
              <a:t>"KV cache usage:%s*([%d%.]+)%%"</a:t>
            </a:r>
            <a:r>
              <a:rPr sz="1700" b="0" i="0">
                <a:solidFill>
                  <a:srgbClr val="6B6B6B"/>
                </a:solidFill>
                <a:latin typeface="Courier New"/>
              </a:rPr>
              <a:t>))</a:t>
            </a:r>
          </a:p>
          <a:p>
            <a:pPr algn="l">
              <a:spcAft>
                <a:spcPts val="400"/>
              </a:spcAft>
            </a:pPr>
            <a:r>
              <a:rPr sz="1700" b="0" i="0">
                <a:solidFill>
                  <a:srgbClr val="6B6B6B"/>
                </a:solidFill>
                <a:latin typeface="Courier New"/>
              </a:rPr>
              <a:t>record[</a:t>
            </a:r>
            <a:r>
              <a:rPr sz="1700" b="1" i="0">
                <a:solidFill>
                  <a:srgbClr val="991346"/>
                </a:solidFill>
                <a:latin typeface="Courier New"/>
              </a:rPr>
              <a:t>"pod_name"</a:t>
            </a:r>
            <a:r>
              <a:rPr sz="1700" b="0" i="0">
                <a:solidFill>
                  <a:srgbClr val="6B6B6B"/>
                </a:solidFill>
                <a:latin typeface="Courier New"/>
              </a:rPr>
              <a:t>] = record["kubernetes"]["pod_name"]</a:t>
            </a:r>
            <a:r>
              <a:rPr sz="1700" b="1" i="0">
                <a:solidFill>
                  <a:srgbClr val="2E7D32"/>
                </a:solidFill>
                <a:latin typeface="Courier New"/>
              </a:rPr>
              <a:t>   -- the join key</a:t>
            </a:r>
          </a:p>
        </p:txBody>
      </p:sp>
      <p:sp>
        <p:nvSpPr>
          <p:cNvPr id="29" name="TextBox 28"/>
          <p:cNvSpPr txBox="1"/>
          <p:nvPr/>
        </p:nvSpPr>
        <p:spPr>
          <a:xfrm>
            <a:off x="403682" y="4550000"/>
            <a:ext cx="11384636" cy="400000"/>
          </a:xfrm>
          <a:prstGeom prst="rect">
            <a:avLst/>
          </a:prstGeom>
          <a:noFill/>
        </p:spPr>
        <p:txBody>
          <a:bodyPr wrap="square" anchor="t">
            <a:spAutoFit/>
          </a:bodyPr>
          <a:lstStyle/>
          <a:p>
            <a:pPr algn="l">
              <a:spcAft>
                <a:spcPts val="600"/>
              </a:spcAft>
            </a:pPr>
            <a:r>
              <a:rPr sz="1300" b="1" i="0">
                <a:solidFill>
                  <a:srgbClr val="991346"/>
                </a:solidFill>
                <a:latin typeface="Courier New"/>
              </a:rPr>
              <a:t>field name</a:t>
            </a:r>
            <a:r>
              <a:rPr sz="1300" b="0" i="0">
                <a:solidFill>
                  <a:srgbClr val="262626"/>
                </a:solidFill>
                <a:latin typeface="Courier New"/>
              </a:rPr>
              <a:t>   </a:t>
            </a:r>
            <a:r>
              <a:rPr sz="1300" b="1" i="0">
                <a:solidFill>
                  <a:srgbClr val="1F5FA8"/>
                </a:solidFill>
                <a:latin typeface="Courier New"/>
              </a:rPr>
              <a:t>pattern against the log line</a:t>
            </a:r>
            <a:r>
              <a:rPr sz="1300" b="0" i="0">
                <a:solidFill>
                  <a:srgbClr val="262626"/>
                </a:solidFill>
                <a:latin typeface="Courier New"/>
              </a:rPr>
              <a:t>   </a:t>
            </a:r>
            <a:r>
              <a:rPr sz="1300" b="1" i="0">
                <a:solidFill>
                  <a:srgbClr val="2E7D32"/>
                </a:solidFill>
                <a:latin typeface="Courier New"/>
              </a:rPr>
              <a:t>identity from the kubernetes filter</a:t>
            </a:r>
            <a:r>
              <a:rPr sz="1300" b="0" i="0">
                <a:solidFill>
                  <a:srgbClr val="6B6B6B"/>
                </a:solidFill>
                <a:latin typeface="Arial"/>
              </a:rPr>
              <a:t>      13 more lines in the repo, same shape.</a:t>
            </a:r>
          </a:p>
        </p:txBody>
      </p:sp>
      <p:sp>
        <p:nvSpPr>
          <p:cNvPr id="30" name="Rounded Rectangle 29"/>
          <p:cNvSpPr/>
          <p:nvPr/>
        </p:nvSpPr>
        <p:spPr>
          <a:xfrm>
            <a:off x="403682"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vllm_log_kv_cache_usage_pct{pod_name}</a:t>
            </a:r>
          </a:p>
        </p:txBody>
      </p:sp>
      <p:sp>
        <p:nvSpPr>
          <p:cNvPr id="31" name="Rounded Rectangle 30"/>
          <p:cNvSpPr/>
          <p:nvPr/>
        </p:nvSpPr>
        <p:spPr>
          <a:xfrm>
            <a:off x="4248560"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vllm_log_waiting_reqs{pod_name}</a:t>
            </a:r>
          </a:p>
        </p:txBody>
      </p:sp>
      <p:sp>
        <p:nvSpPr>
          <p:cNvPr id="32" name="Rounded Rectangle 31"/>
          <p:cNvSpPr/>
          <p:nvPr/>
        </p:nvSpPr>
        <p:spPr>
          <a:xfrm>
            <a:off x="8093438"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vllm_log_preemptions_total{pod_name}</a:t>
            </a:r>
          </a:p>
        </p:txBody>
      </p:sp>
      <p:sp>
        <p:nvSpPr>
          <p:cNvPr id="33" name="Rounded Rectangle 32"/>
          <p:cNvSpPr/>
          <p:nvPr/>
        </p:nvSpPr>
        <p:spPr>
          <a:xfrm>
            <a:off x="403682" y="5630000"/>
            <a:ext cx="11384636" cy="750000"/>
          </a:xfrm>
          <a:prstGeom prst="roundRect">
            <a:avLst>
              <a:gd name="adj" fmla="val 8000"/>
            </a:avLst>
          </a:prstGeom>
          <a:solidFill>
            <a:srgbClr val="F6E3EA"/>
          </a:solidFill>
          <a:ln>
            <a:noFill/>
          </a:ln>
        </p:spPr>
        <p:txBody>
          <a:bodyPr rtlCol="0" anchor="ctr"/>
          <a:lstStyle/>
          <a:p/>
        </p:txBody>
      </p:sp>
      <p:sp>
        <p:nvSpPr>
          <p:cNvPr id="34" name="TextBox 33"/>
          <p:cNvSpPr txBox="1"/>
          <p:nvPr/>
        </p:nvSpPr>
        <p:spPr>
          <a:xfrm>
            <a:off x="403682" y="5630000"/>
            <a:ext cx="11384636" cy="750000"/>
          </a:xfrm>
          <a:prstGeom prst="rect">
            <a:avLst/>
          </a:prstGeom>
          <a:noFill/>
        </p:spPr>
        <p:txBody>
          <a:bodyPr wrap="square" anchor="ctr" lIns="150000" rIns="150000">
            <a:spAutoFit/>
          </a:bodyPr>
          <a:lstStyle/>
          <a:p>
            <a:pPr algn="l">
              <a:spcAft>
                <a:spcPts val="600"/>
              </a:spcAft>
            </a:pPr>
            <a:r>
              <a:rPr sz="1500" b="1" i="0">
                <a:solidFill>
                  <a:srgbClr val="991346"/>
                </a:solidFill>
                <a:latin typeface="Arial"/>
              </a:rPr>
              <a:t>Honest caveat: </a:t>
            </a:r>
            <a:r>
              <a:rPr sz="1500" b="0" i="0">
                <a:solidFill>
                  <a:srgbClr val="262626"/>
                </a:solidFill>
                <a:latin typeface="Arial"/>
              </a:rPr>
              <a:t>vLLM already exposes these on /metrics; it is our demo vehicle. The filter is for everything that doesn't: custom servers, vendor images you can't touch, log-only pipelines, the TGI or Triton you inherited. Same lines, different regex.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Live: two pods, one is about to run out.</a:t>
            </a:r>
          </a:p>
        </p:txBody>
      </p:sp>
      <p:sp>
        <p:nvSpPr>
          <p:cNvPr id="3" name="Rounded Rectangle 2"/>
          <p:cNvSpPr/>
          <p:nvPr/>
        </p:nvSpPr>
        <p:spPr>
          <a:xfrm>
            <a:off x="403682" y="1250000"/>
            <a:ext cx="5492318" cy="2200000"/>
          </a:xfrm>
          <a:prstGeom prst="roundRect">
            <a:avLst>
              <a:gd name="adj" fmla="val 8000"/>
            </a:avLst>
          </a:prstGeom>
          <a:solidFill>
            <a:srgbClr val="E4EEF8"/>
          </a:solidFill>
          <a:ln>
            <a:noFill/>
          </a:ln>
        </p:spPr>
        <p:txBody>
          <a:bodyPr rtlCol="0" anchor="ctr"/>
          <a:lstStyle/>
          <a:p/>
        </p:txBody>
      </p:sp>
      <p:sp>
        <p:nvSpPr>
          <p:cNvPr id="4" name="TextBox 3"/>
          <p:cNvSpPr txBox="1"/>
          <p:nvPr/>
        </p:nvSpPr>
        <p:spPr>
          <a:xfrm>
            <a:off x="403682" y="1250000"/>
            <a:ext cx="5492318" cy="2200000"/>
          </a:xfrm>
          <a:prstGeom prst="rect">
            <a:avLst/>
          </a:prstGeom>
          <a:noFill/>
        </p:spPr>
        <p:txBody>
          <a:bodyPr wrap="square" anchor="ctr">
            <a:spAutoFit/>
          </a:bodyPr>
          <a:lstStyle/>
          <a:p>
            <a:pPr algn="ctr">
              <a:spcAft>
                <a:spcPts val="400"/>
              </a:spcAft>
            </a:pPr>
            <a:r>
              <a:rPr sz="2800" b="1" i="0">
                <a:solidFill>
                  <a:srgbClr val="1F5FA8"/>
                </a:solidFill>
                <a:latin typeface="Courier New"/>
              </a:rPr>
              <a:t>vllm-constrained</a:t>
            </a:r>
          </a:p>
          <a:p>
            <a:pPr algn="ctr">
              <a:spcAft>
                <a:spcPts val="200"/>
              </a:spcAft>
            </a:pPr>
            <a:r>
              <a:rPr sz="1800" b="0" i="0">
                <a:solidFill>
                  <a:srgbClr val="262626"/>
                </a:solidFill>
                <a:latin typeface="Arial"/>
              </a:rPr>
              <a:t>gpu-mem-util 0.15, 3.6 GB</a:t>
            </a:r>
          </a:p>
          <a:p>
            <a:pPr algn="ctr">
              <a:spcAft>
                <a:spcPts val="0"/>
              </a:spcAft>
            </a:pPr>
            <a:r>
              <a:rPr sz="1800" b="0" i="0">
                <a:solidFill>
                  <a:srgbClr val="6B6B6B"/>
                </a:solidFill>
                <a:latin typeface="Arial"/>
              </a:rPr>
              <a:t>gets the saturating load</a:t>
            </a:r>
          </a:p>
        </p:txBody>
      </p:sp>
      <p:sp>
        <p:nvSpPr>
          <p:cNvPr id="5" name="Rounded Rectangle 4"/>
          <p:cNvSpPr/>
          <p:nvPr/>
        </p:nvSpPr>
        <p:spPr>
          <a:xfrm>
            <a:off x="6296000" y="1250000"/>
            <a:ext cx="5492318" cy="2200000"/>
          </a:xfrm>
          <a:prstGeom prst="roundRect">
            <a:avLst>
              <a:gd name="adj" fmla="val 8000"/>
            </a:avLst>
          </a:prstGeom>
          <a:solidFill>
            <a:srgbClr val="E3F1E4"/>
          </a:solidFill>
          <a:ln>
            <a:noFill/>
          </a:ln>
        </p:spPr>
        <p:txBody>
          <a:bodyPr rtlCol="0" anchor="ctr"/>
          <a:lstStyle/>
          <a:p/>
        </p:txBody>
      </p:sp>
      <p:sp>
        <p:nvSpPr>
          <p:cNvPr id="6" name="TextBox 5"/>
          <p:cNvSpPr txBox="1"/>
          <p:nvPr/>
        </p:nvSpPr>
        <p:spPr>
          <a:xfrm>
            <a:off x="6296000" y="1250000"/>
            <a:ext cx="5492318" cy="2200000"/>
          </a:xfrm>
          <a:prstGeom prst="rect">
            <a:avLst/>
          </a:prstGeom>
          <a:noFill/>
        </p:spPr>
        <p:txBody>
          <a:bodyPr wrap="square" anchor="ctr">
            <a:spAutoFit/>
          </a:bodyPr>
          <a:lstStyle/>
          <a:p>
            <a:pPr algn="ctr">
              <a:spcAft>
                <a:spcPts val="400"/>
              </a:spcAft>
            </a:pPr>
            <a:r>
              <a:rPr sz="2800" b="1" i="0">
                <a:solidFill>
                  <a:srgbClr val="2E7D32"/>
                </a:solidFill>
                <a:latin typeface="Courier New"/>
              </a:rPr>
              <a:t>vllm-overprov</a:t>
            </a:r>
          </a:p>
          <a:p>
            <a:pPr algn="ctr">
              <a:spcAft>
                <a:spcPts val="200"/>
              </a:spcAft>
            </a:pPr>
            <a:r>
              <a:rPr sz="1800" b="0" i="0">
                <a:solidFill>
                  <a:srgbClr val="262626"/>
                </a:solidFill>
                <a:latin typeface="Arial"/>
              </a:rPr>
              <a:t>gpu-mem-util 0.90, 20.5 GB</a:t>
            </a:r>
          </a:p>
          <a:p>
            <a:pPr algn="ctr">
              <a:spcAft>
                <a:spcPts val="0"/>
              </a:spcAft>
            </a:pPr>
            <a:r>
              <a:rPr sz="1800" b="0" i="0">
                <a:solidFill>
                  <a:srgbClr val="6B6B6B"/>
                </a:solidFill>
                <a:latin typeface="Arial"/>
              </a:rPr>
              <a:t>steady load, the control</a:t>
            </a:r>
          </a:p>
        </p:txBody>
      </p:sp>
      <p:sp>
        <p:nvSpPr>
          <p:cNvPr id="7" name="TextBox 6"/>
          <p:cNvSpPr txBox="1"/>
          <p:nvPr/>
        </p:nvSpPr>
        <p:spPr>
          <a:xfrm>
            <a:off x="403682" y="3700000"/>
            <a:ext cx="11384636" cy="500000"/>
          </a:xfrm>
          <a:prstGeom prst="rect">
            <a:avLst/>
          </a:prstGeom>
          <a:noFill/>
        </p:spPr>
        <p:txBody>
          <a:bodyPr wrap="square" anchor="t">
            <a:spAutoFit/>
          </a:bodyPr>
          <a:lstStyle/>
          <a:p>
            <a:pPr algn="ctr">
              <a:spcAft>
                <a:spcPts val="0"/>
              </a:spcAft>
            </a:pPr>
            <a:r>
              <a:rPr sz="1600" b="0" i="0">
                <a:solidFill>
                  <a:srgbClr val="6B6B6B"/>
                </a:solidFill>
                <a:latin typeface="Arial"/>
              </a:rPr>
              <a:t>facebook/opt-125m on both  ·  long prompts, concurrency 128, 12 minutes</a:t>
            </a:r>
          </a:p>
        </p:txBody>
      </p:sp>
      <p:sp>
        <p:nvSpPr>
          <p:cNvPr id="8" name="Rounded Rectangle 7"/>
          <p:cNvSpPr/>
          <p:nvPr/>
        </p:nvSpPr>
        <p:spPr>
          <a:xfrm>
            <a:off x="403682" y="4300000"/>
            <a:ext cx="11384636" cy="1500000"/>
          </a:xfrm>
          <a:prstGeom prst="roundRect">
            <a:avLst>
              <a:gd name="adj" fmla="val 8000"/>
            </a:avLst>
          </a:prstGeom>
          <a:solidFill>
            <a:srgbClr val="991346"/>
          </a:solidFill>
          <a:ln>
            <a:noFill/>
          </a:ln>
        </p:spPr>
        <p:txBody>
          <a:bodyPr rtlCol="0" anchor="ctr"/>
          <a:lstStyle/>
          <a:p/>
        </p:txBody>
      </p:sp>
      <p:sp>
        <p:nvSpPr>
          <p:cNvPr id="9" name="TextBox 8"/>
          <p:cNvSpPr txBox="1"/>
          <p:nvPr/>
        </p:nvSpPr>
        <p:spPr>
          <a:xfrm>
            <a:off x="403682" y="4300000"/>
            <a:ext cx="11384636" cy="1500000"/>
          </a:xfrm>
          <a:prstGeom prst="rect">
            <a:avLst/>
          </a:prstGeom>
          <a:noFill/>
        </p:spPr>
        <p:txBody>
          <a:bodyPr wrap="square" anchor="ctr">
            <a:spAutoFit/>
          </a:bodyPr>
          <a:lstStyle/>
          <a:p>
            <a:pPr algn="ctr">
              <a:spcAft>
                <a:spcPts val="600"/>
              </a:spcAft>
            </a:pPr>
            <a:r>
              <a:rPr sz="2200" b="1" i="0">
                <a:solidFill>
                  <a:srgbClr val="FFFFFF"/>
                </a:solidFill>
                <a:latin typeface="Arial"/>
              </a:rPr>
              <a:t>Watch two rows.</a:t>
            </a:r>
          </a:p>
          <a:p>
            <a:pPr algn="ctr">
              <a:spcAft>
                <a:spcPts val="0"/>
              </a:spcAft>
            </a:pPr>
            <a:r>
              <a:rPr sz="2000" b="0" i="0">
                <a:solidFill>
                  <a:srgbClr val="FFFFFF"/>
                </a:solidFill>
                <a:latin typeface="Arial"/>
              </a:rPr>
              <a:t>Row 1, DCGM: GPU memory stays flat.   Row 2, the log: KV cache and waiting take off.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KV cache 100%. Memory counter: unchanged.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Rig numbers, Oct 6 2026 16:56 to 17:08. Queue time rises before 'waiting' is visibly non-zero: Elastic Observability Labs, tuning vLLM Prometheus metrics (2025).</a:t>
            </a:r>
          </a:p>
        </p:txBody>
      </p:sp>
      <p:pic>
        <p:nvPicPr>
          <p:cNvPr id="4" name="Picture 3" descr="panel-2.png"/>
          <p:cNvPicPr>
            <a:picLocks noChangeAspect="1"/>
          </p:cNvPicPr>
          <p:nvPr/>
        </p:nvPicPr>
        <p:blipFill>
          <a:blip r:embed="rId3"/>
          <a:stretch>
            <a:fillRect/>
          </a:stretch>
        </p:blipFill>
        <p:spPr>
          <a:xfrm>
            <a:off x="403682" y="1522772"/>
            <a:ext cx="5542318" cy="2454455"/>
          </a:xfrm>
          <a:prstGeom prst="rect">
            <a:avLst/>
          </a:prstGeom>
        </p:spPr>
      </p:pic>
      <p:sp>
        <p:nvSpPr>
          <p:cNvPr id="5" name="Rectangle 4"/>
          <p:cNvSpPr/>
          <p:nvPr/>
        </p:nvSpPr>
        <p:spPr>
          <a:xfrm>
            <a:off x="403682" y="1522772"/>
            <a:ext cx="5542318" cy="2454455"/>
          </a:xfrm>
          <a:prstGeom prst="rect">
            <a:avLst/>
          </a:prstGeom>
          <a:noFill/>
          <a:ln w="9525">
            <a:solidFill>
              <a:srgbClr val="DDDDDD"/>
            </a:solidFill>
          </a:ln>
        </p:spPr>
        <p:txBody>
          <a:bodyPr rtlCol="0" anchor="ctr"/>
          <a:lstStyle/>
          <a:p>
            <a:pPr algn="ctr"/>
          </a:p>
        </p:txBody>
      </p:sp>
      <p:sp>
        <p:nvSpPr>
          <p:cNvPr id="6" name="Rounded Rectangle 5"/>
          <p:cNvSpPr/>
          <p:nvPr/>
        </p:nvSpPr>
        <p:spPr>
          <a:xfrm>
            <a:off x="3446000" y="2946355"/>
            <a:ext cx="2300000" cy="700000"/>
          </a:xfrm>
          <a:prstGeom prst="roundRect">
            <a:avLst>
              <a:gd name="adj" fmla="val 12000"/>
            </a:avLst>
          </a:prstGeom>
          <a:solidFill>
            <a:srgbClr val="1F5FA8"/>
          </a:solidFill>
          <a:ln>
            <a:noFill/>
          </a:ln>
        </p:spPr>
        <p:txBody>
          <a:bodyPr rtlCol="0" anchor="ctr"/>
          <a:lstStyle/>
          <a:p/>
        </p:txBody>
      </p:sp>
      <p:sp>
        <p:nvSpPr>
          <p:cNvPr id="7" name="TextBox 6"/>
          <p:cNvSpPr txBox="1"/>
          <p:nvPr/>
        </p:nvSpPr>
        <p:spPr>
          <a:xfrm>
            <a:off x="3446000" y="2946355"/>
            <a:ext cx="2300000" cy="700000"/>
          </a:xfrm>
          <a:prstGeom prst="rect">
            <a:avLst/>
          </a:prstGeom>
          <a:noFill/>
        </p:spPr>
        <p:txBody>
          <a:bodyPr wrap="square" anchor="ctr">
            <a:spAutoFit/>
          </a:bodyPr>
          <a:lstStyle/>
          <a:p>
            <a:pPr algn="ctr">
              <a:spcAft>
                <a:spcPts val="0"/>
              </a:spcAft>
            </a:pPr>
            <a:r>
              <a:rPr sz="1600" b="1" i="0">
                <a:solidFill>
                  <a:srgbClr val="FFFFFF"/>
                </a:solidFill>
                <a:latin typeface="Arial"/>
              </a:rPr>
              <a:t>3.6 GB before, 3.6 GB after</a:t>
            </a:r>
          </a:p>
        </p:txBody>
      </p:sp>
      <p:sp>
        <p:nvSpPr>
          <p:cNvPr id="8" name="TextBox 7"/>
          <p:cNvSpPr txBox="1"/>
          <p:nvPr/>
        </p:nvSpPr>
        <p:spPr>
          <a:xfrm>
            <a:off x="403682"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DCGM: GPU memory used</a:t>
            </a:r>
          </a:p>
        </p:txBody>
      </p:sp>
      <p:pic>
        <p:nvPicPr>
          <p:cNvPr id="9" name="Picture 8" descr="panel-6.png"/>
          <p:cNvPicPr>
            <a:picLocks noChangeAspect="1"/>
          </p:cNvPicPr>
          <p:nvPr/>
        </p:nvPicPr>
        <p:blipFill>
          <a:blip r:embed="rId4"/>
          <a:stretch>
            <a:fillRect/>
          </a:stretch>
        </p:blipFill>
        <p:spPr>
          <a:xfrm>
            <a:off x="6246000" y="1522772"/>
            <a:ext cx="5542318" cy="2454455"/>
          </a:xfrm>
          <a:prstGeom prst="rect">
            <a:avLst/>
          </a:prstGeom>
        </p:spPr>
      </p:pic>
      <p:sp>
        <p:nvSpPr>
          <p:cNvPr id="10" name="Rectangle 9"/>
          <p:cNvSpPr/>
          <p:nvPr/>
        </p:nvSpPr>
        <p:spPr>
          <a:xfrm>
            <a:off x="6246000" y="1522772"/>
            <a:ext cx="5542318" cy="2454455"/>
          </a:xfrm>
          <a:prstGeom prst="rect">
            <a:avLst/>
          </a:prstGeom>
          <a:noFill/>
          <a:ln w="9525">
            <a:solidFill>
              <a:srgbClr val="DDDDDD"/>
            </a:solidFill>
          </a:ln>
        </p:spPr>
        <p:txBody>
          <a:bodyPr rtlCol="0" anchor="ctr"/>
          <a:lstStyle/>
          <a:p>
            <a:pPr algn="ctr"/>
          </a:p>
        </p:txBody>
      </p:sp>
      <p:sp>
        <p:nvSpPr>
          <p:cNvPr id="11" name="Rounded Rectangle 10"/>
          <p:cNvSpPr/>
          <p:nvPr/>
        </p:nvSpPr>
        <p:spPr>
          <a:xfrm>
            <a:off x="6546000" y="2259108"/>
            <a:ext cx="1900000" cy="800000"/>
          </a:xfrm>
          <a:prstGeom prst="roundRect">
            <a:avLst>
              <a:gd name="adj" fmla="val 12000"/>
            </a:avLst>
          </a:prstGeom>
          <a:solidFill>
            <a:srgbClr val="991346"/>
          </a:solidFill>
          <a:ln>
            <a:noFill/>
          </a:ln>
        </p:spPr>
        <p:txBody>
          <a:bodyPr rtlCol="0" anchor="ctr"/>
          <a:lstStyle/>
          <a:p/>
        </p:txBody>
      </p:sp>
      <p:sp>
        <p:nvSpPr>
          <p:cNvPr id="12" name="TextBox 11"/>
          <p:cNvSpPr txBox="1"/>
          <p:nvPr/>
        </p:nvSpPr>
        <p:spPr>
          <a:xfrm>
            <a:off x="6546000" y="2259108"/>
            <a:ext cx="1900000" cy="800000"/>
          </a:xfrm>
          <a:prstGeom prst="rect">
            <a:avLst/>
          </a:prstGeom>
          <a:noFill/>
        </p:spPr>
        <p:txBody>
          <a:bodyPr wrap="square" anchor="ctr">
            <a:spAutoFit/>
          </a:bodyPr>
          <a:lstStyle/>
          <a:p>
            <a:pPr algn="ctr">
              <a:spcAft>
                <a:spcPts val="0"/>
              </a:spcAft>
            </a:pPr>
            <a:r>
              <a:rPr sz="3600" b="1" i="0">
                <a:solidFill>
                  <a:srgbClr val="FFFFFF"/>
                </a:solidFill>
                <a:latin typeface="Arial"/>
              </a:rPr>
              <a:t>100%</a:t>
            </a:r>
          </a:p>
          <a:p>
            <a:pPr algn="ctr">
              <a:spcAft>
                <a:spcPts val="0"/>
              </a:spcAft>
            </a:pPr>
            <a:r>
              <a:rPr sz="1400" b="0" i="0">
                <a:solidFill>
                  <a:srgbClr val="FFFFFF"/>
                </a:solidFill>
                <a:latin typeface="Arial"/>
              </a:rPr>
              <a:t>KV cache, constrained pod</a:t>
            </a:r>
          </a:p>
        </p:txBody>
      </p:sp>
      <p:sp>
        <p:nvSpPr>
          <p:cNvPr id="13" name="TextBox 12"/>
          <p:cNvSpPr txBox="1"/>
          <p:nvPr/>
        </p:nvSpPr>
        <p:spPr>
          <a:xfrm>
            <a:off x="6246000"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The log: KV cache usage, per pod</a:t>
            </a:r>
          </a:p>
        </p:txBody>
      </p:sp>
      <p:sp>
        <p:nvSpPr>
          <p:cNvPr id="14" name="Rounded Rectangle 13"/>
          <p:cNvSpPr/>
          <p:nvPr/>
        </p:nvSpPr>
        <p:spPr>
          <a:xfrm>
            <a:off x="403682" y="4800000"/>
            <a:ext cx="3594878" cy="100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403682"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4.8 s</a:t>
            </a:r>
          </a:p>
          <a:p>
            <a:pPr algn="ctr">
              <a:spcAft>
                <a:spcPts val="0"/>
              </a:spcAft>
            </a:pPr>
            <a:r>
              <a:rPr sz="1400" b="0" i="0">
                <a:solidFill>
                  <a:srgbClr val="6B6B6B"/>
                </a:solidFill>
                <a:latin typeface="Arial"/>
              </a:rPr>
              <a:t>p95 queue time, was 0.3 s</a:t>
            </a:r>
          </a:p>
        </p:txBody>
      </p:sp>
      <p:sp>
        <p:nvSpPr>
          <p:cNvPr id="16" name="Rounded Rectangle 15"/>
          <p:cNvSpPr/>
          <p:nvPr/>
        </p:nvSpPr>
        <p:spPr>
          <a:xfrm>
            <a:off x="4298560" y="4800000"/>
            <a:ext cx="3594878" cy="1000000"/>
          </a:xfrm>
          <a:prstGeom prst="roundRect">
            <a:avLst>
              <a:gd name="adj" fmla="val 8000"/>
            </a:avLst>
          </a:prstGeom>
          <a:solidFill>
            <a:srgbClr val="F3F3F3"/>
          </a:solidFill>
          <a:ln>
            <a:noFill/>
          </a:ln>
        </p:spPr>
        <p:txBody>
          <a:bodyPr rtlCol="0" anchor="ctr"/>
          <a:lstStyle/>
          <a:p/>
        </p:txBody>
      </p:sp>
      <p:sp>
        <p:nvSpPr>
          <p:cNvPr id="17" name="TextBox 16"/>
          <p:cNvSpPr txBox="1"/>
          <p:nvPr/>
        </p:nvSpPr>
        <p:spPr>
          <a:xfrm>
            <a:off x="4298560"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~100</a:t>
            </a:r>
          </a:p>
          <a:p>
            <a:pPr algn="ctr">
              <a:spcAft>
                <a:spcPts val="0"/>
              </a:spcAft>
            </a:pPr>
            <a:r>
              <a:rPr sz="1400" b="0" i="0">
                <a:solidFill>
                  <a:srgbClr val="6B6B6B"/>
                </a:solidFill>
                <a:latin typeface="Arial"/>
              </a:rPr>
              <a:t>requests waiting</a:t>
            </a:r>
          </a:p>
        </p:txBody>
      </p:sp>
      <p:sp>
        <p:nvSpPr>
          <p:cNvPr id="18" name="Rounded Rectangle 17"/>
          <p:cNvSpPr/>
          <p:nvPr/>
        </p:nvSpPr>
        <p:spPr>
          <a:xfrm>
            <a:off x="8193438" y="4800000"/>
            <a:ext cx="3594878" cy="1000000"/>
          </a:xfrm>
          <a:prstGeom prst="roundRect">
            <a:avLst>
              <a:gd name="adj" fmla="val 8000"/>
            </a:avLst>
          </a:prstGeom>
          <a:solidFill>
            <a:srgbClr val="F3F3F3"/>
          </a:solidFill>
          <a:ln>
            <a:noFill/>
          </a:ln>
        </p:spPr>
        <p:txBody>
          <a:bodyPr rtlCol="0" anchor="ctr"/>
          <a:lstStyle/>
          <a:p/>
        </p:txBody>
      </p:sp>
      <p:sp>
        <p:nvSpPr>
          <p:cNvPr id="19" name="TextBox 18"/>
          <p:cNvSpPr txBox="1"/>
          <p:nvPr/>
        </p:nvSpPr>
        <p:spPr>
          <a:xfrm>
            <a:off x="8193438"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0.2%</a:t>
            </a:r>
          </a:p>
          <a:p>
            <a:pPr algn="ctr">
              <a:spcAft>
                <a:spcPts val="0"/>
              </a:spcAft>
            </a:pPr>
            <a:r>
              <a:rPr sz="1400" b="0" i="0">
                <a:solidFill>
                  <a:srgbClr val="6B6B6B"/>
                </a:solidFill>
                <a:latin typeface="Arial"/>
              </a:rPr>
              <a:t>KV cache on the over-provisioned pod</a:t>
            </a:r>
          </a:p>
        </p:txBody>
      </p:sp>
      <p:sp>
        <p:nvSpPr>
          <p:cNvPr id="20" name="TextBox 19"/>
          <p:cNvSpPr txBox="1"/>
          <p:nvPr/>
        </p:nvSpPr>
        <p:spPr>
          <a:xfrm>
            <a:off x="403682" y="5700000"/>
            <a:ext cx="11384636" cy="600000"/>
          </a:xfrm>
          <a:prstGeom prst="rect">
            <a:avLst/>
          </a:prstGeom>
          <a:noFill/>
        </p:spPr>
        <p:txBody>
          <a:bodyPr wrap="square" anchor="ctr">
            <a:spAutoFit/>
          </a:bodyPr>
          <a:lstStyle/>
          <a:p>
            <a:pPr algn="l">
              <a:spcAft>
                <a:spcPts val="0"/>
              </a:spcAft>
            </a:pPr>
            <a:r>
              <a:rPr sz="2200" b="1" i="0">
                <a:solidFill>
                  <a:srgbClr val="991346"/>
                </a:solidFill>
                <a:latin typeface="Arial"/>
              </a:rPr>
              <a:t>Queue time first. Waiting confirms. GPU memory never moved.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3: a slow span with a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--otlp-traces-endpoint -&gt; OTel Collector (k8sattributes) -&gt; Jaeger. Tracing was removed in the V1 rewrite and reinstated in vllm PR #20372: needs vLLM &gt;= 0.10.2 (rig: 0.30).</a:t>
            </a:r>
          </a:p>
        </p:txBody>
      </p:sp>
      <p:pic>
        <p:nvPicPr>
          <p:cNvPr id="4" name="Picture 3" descr="jaeger-trace-detail.png"/>
          <p:cNvPicPr>
            <a:picLocks noChangeAspect="1"/>
          </p:cNvPicPr>
          <p:nvPr/>
        </p:nvPicPr>
        <p:blipFill>
          <a:blip r:embed="rId3"/>
          <a:stretch>
            <a:fillRect/>
          </a:stretch>
        </p:blipFill>
        <p:spPr>
          <a:xfrm>
            <a:off x="672923" y="1250000"/>
            <a:ext cx="10846153" cy="2350000"/>
          </a:xfrm>
          <a:prstGeom prst="rect">
            <a:avLst/>
          </a:prstGeom>
        </p:spPr>
      </p:pic>
      <p:sp>
        <p:nvSpPr>
          <p:cNvPr id="5" name="Rounded Rectangle 4"/>
          <p:cNvSpPr/>
          <p:nvPr/>
        </p:nvSpPr>
        <p:spPr>
          <a:xfrm>
            <a:off x="8619076" y="1400000"/>
            <a:ext cx="2700000" cy="600000"/>
          </a:xfrm>
          <a:prstGeom prst="roundRect">
            <a:avLst>
              <a:gd name="adj" fmla="val 12000"/>
            </a:avLst>
          </a:prstGeom>
          <a:solidFill>
            <a:srgbClr val="991346"/>
          </a:solidFill>
          <a:ln>
            <a:noFill/>
          </a:ln>
        </p:spPr>
        <p:txBody>
          <a:bodyPr rtlCol="0" anchor="ctr"/>
          <a:lstStyle/>
          <a:p/>
        </p:txBody>
      </p:sp>
      <p:sp>
        <p:nvSpPr>
          <p:cNvPr id="6" name="TextBox 5"/>
          <p:cNvSpPr txBox="1"/>
          <p:nvPr/>
        </p:nvSpPr>
        <p:spPr>
          <a:xfrm>
            <a:off x="8619076" y="1400000"/>
            <a:ext cx="2700000" cy="600000"/>
          </a:xfrm>
          <a:prstGeom prst="rect">
            <a:avLst/>
          </a:prstGeom>
          <a:noFill/>
        </p:spPr>
        <p:txBody>
          <a:bodyPr wrap="square" anchor="ctr">
            <a:spAutoFit/>
          </a:bodyPr>
          <a:lstStyle/>
          <a:p>
            <a:pPr algn="ctr">
              <a:spcAft>
                <a:spcPts val="0"/>
              </a:spcAft>
            </a:pPr>
            <a:r>
              <a:rPr sz="2000" b="1" i="0">
                <a:solidFill>
                  <a:srgbClr val="FFFFFF"/>
                </a:solidFill>
                <a:latin typeface="Arial"/>
              </a:rPr>
              <a:t>llm_request  5.73 s</a:t>
            </a:r>
          </a:p>
        </p:txBody>
      </p:sp>
      <p:sp>
        <p:nvSpPr>
          <p:cNvPr id="7" name="Rounded Rectangle 6"/>
          <p:cNvSpPr/>
          <p:nvPr/>
        </p:nvSpPr>
        <p:spPr>
          <a:xfrm>
            <a:off x="403682" y="3750000"/>
            <a:ext cx="3661545" cy="11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k8s.pod.name</a:t>
            </a:r>
          </a:p>
          <a:p>
            <a:pPr algn="ctr">
              <a:spcAft>
                <a:spcPts val="0"/>
              </a:spcAft>
            </a:pPr>
            <a:r>
              <a:rPr sz="1400" b="1" i="0">
                <a:solidFill>
                  <a:srgbClr val="991346"/>
                </a:solidFill>
                <a:latin typeface="Courier New"/>
              </a:rPr>
              <a:t>vllm-constrained-7f9fdfc497-2mjzz</a:t>
            </a:r>
          </a:p>
        </p:txBody>
      </p:sp>
      <p:sp>
        <p:nvSpPr>
          <p:cNvPr id="9" name="Rounded Rectangle 8"/>
          <p:cNvSpPr/>
          <p:nvPr/>
        </p:nvSpPr>
        <p:spPr>
          <a:xfrm>
            <a:off x="4265227" y="3750000"/>
            <a:ext cx="3661545" cy="11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65227"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gen_ai.latency.time_in_queue</a:t>
            </a:r>
          </a:p>
          <a:p>
            <a:pPr algn="ctr">
              <a:spcAft>
                <a:spcPts val="0"/>
              </a:spcAft>
            </a:pPr>
            <a:r>
              <a:rPr sz="1800" b="1" i="0">
                <a:solidFill>
                  <a:srgbClr val="1F5FA8"/>
                </a:solidFill>
                <a:latin typeface="Courier New"/>
              </a:rPr>
              <a:t>0.61 s</a:t>
            </a:r>
          </a:p>
        </p:txBody>
      </p:sp>
      <p:sp>
        <p:nvSpPr>
          <p:cNvPr id="11" name="Rounded Rectangle 10"/>
          <p:cNvSpPr/>
          <p:nvPr/>
        </p:nvSpPr>
        <p:spPr>
          <a:xfrm>
            <a:off x="8126772" y="3750000"/>
            <a:ext cx="3661545" cy="11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2677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gen_ai.latency.time_in_model_decode</a:t>
            </a:r>
          </a:p>
          <a:p>
            <a:pPr algn="ctr">
              <a:spcAft>
                <a:spcPts val="0"/>
              </a:spcAft>
            </a:pPr>
            <a:r>
              <a:rPr sz="1800" b="1" i="0">
                <a:solidFill>
                  <a:srgbClr val="B26A00"/>
                </a:solidFill>
                <a:latin typeface="Courier New"/>
              </a:rPr>
              <a:t>5.33 s</a:t>
            </a:r>
          </a:p>
        </p:txBody>
      </p:sp>
      <p:sp>
        <p:nvSpPr>
          <p:cNvPr id="13" name="TextBox 12"/>
          <p:cNvSpPr txBox="1"/>
          <p:nvPr/>
        </p:nvSpPr>
        <p:spPr>
          <a:xfrm>
            <a:off x="403682" y="5000000"/>
            <a:ext cx="11384636" cy="500000"/>
          </a:xfrm>
          <a:prstGeom prst="rect">
            <a:avLst/>
          </a:prstGeom>
          <a:noFill/>
        </p:spPr>
        <p:txBody>
          <a:bodyPr wrap="square" anchor="t">
            <a:spAutoFit/>
          </a:bodyPr>
          <a:lstStyle/>
          <a:p>
            <a:pPr algn="ctr">
              <a:spcAft>
                <a:spcPts val="600"/>
              </a:spcAft>
            </a:pPr>
            <a:r>
              <a:rPr sz="1400" b="0" i="0">
                <a:solidFill>
                  <a:srgbClr val="6B6B6B"/>
                </a:solidFill>
                <a:latin typeface="Courier New"/>
              </a:rPr>
              <a:t>--otlp-traces-endpoint=grpc://otel-collector.observability:4317</a:t>
            </a:r>
            <a:r>
              <a:rPr sz="1400" b="0" i="0">
                <a:solidFill>
                  <a:srgbClr val="6B6B6B"/>
                </a:solidFill>
                <a:latin typeface="Arial"/>
              </a:rPr>
              <a:t>   plus   </a:t>
            </a:r>
            <a:r>
              <a:rPr sz="1400" b="1" i="0">
                <a:solidFill>
                  <a:srgbClr val="6B6B6B"/>
                </a:solidFill>
                <a:latin typeface="Courier New"/>
              </a:rPr>
              <a:t>k8sattributes</a:t>
            </a:r>
            <a:r>
              <a:rPr sz="1400" b="0" i="0">
                <a:solidFill>
                  <a:srgbClr val="6B6B6B"/>
                </a:solidFill>
                <a:latin typeface="Arial"/>
              </a:rPr>
              <a:t> on the Collector. That is the whole wiring.</a:t>
            </a:r>
          </a:p>
        </p:txBody>
      </p:sp>
      <p:sp>
        <p:nvSpPr>
          <p:cNvPr id="14" name="TextBox 13"/>
          <p:cNvSpPr txBox="1"/>
          <p:nvPr/>
        </p:nvSpPr>
        <p:spPr>
          <a:xfrm>
            <a:off x="403682" y="5350000"/>
            <a:ext cx="11384636" cy="900000"/>
          </a:xfrm>
          <a:prstGeom prst="rect">
            <a:avLst/>
          </a:prstGeom>
          <a:noFill/>
        </p:spPr>
        <p:txBody>
          <a:bodyPr wrap="square" anchor="ctr">
            <a:spAutoFit/>
          </a:bodyPr>
          <a:lstStyle/>
          <a:p>
            <a:pPr algn="l">
              <a:spcAft>
                <a:spcPts val="0"/>
              </a:spcAft>
            </a:pPr>
            <a:r>
              <a:rPr sz="2000" b="1" i="0">
                <a:solidFill>
                  <a:srgbClr val="991346"/>
                </a:solidFill>
                <a:latin typeface="Arial"/>
              </a:rPr>
              <a:t>A slow span by itself is just a fact. The same span on the pod whose KV cache hit 100% that second is a diagnosis.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Grafana dashboard uid gpu-inference-obs, variable $pod matches exported_pod (DCGM), pod_name (Fluent Bit) and pod (vLLM, traces). Constrained pod, 16:52 to 17:09.</a:t>
            </a:r>
          </a:p>
        </p:txBody>
      </p:sp>
      <p:pic>
        <p:nvPicPr>
          <p:cNvPr id="4" name="Picture 3" descr="panel-2-wide.png"/>
          <p:cNvPicPr>
            <a:picLocks noChangeAspect="1"/>
          </p:cNvPicPr>
          <p:nvPr/>
        </p:nvPicPr>
        <p:blipFill>
          <a:blip r:embed="rId3"/>
          <a:stretch>
            <a:fillRect/>
          </a:stretch>
        </p:blipFill>
        <p:spPr>
          <a:xfrm>
            <a:off x="403682" y="1250000"/>
            <a:ext cx="7280000" cy="1560000"/>
          </a:xfrm>
          <a:prstGeom prst="rect">
            <a:avLst/>
          </a:prstGeom>
        </p:spPr>
      </p:pic>
      <p:sp>
        <p:nvSpPr>
          <p:cNvPr id="5" name="Rectangle 4"/>
          <p:cNvSpPr/>
          <p:nvPr/>
        </p:nvSpPr>
        <p:spPr>
          <a:xfrm>
            <a:off x="403682" y="1250000"/>
            <a:ext cx="7280000" cy="156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833682" y="1250000"/>
            <a:ext cx="3954636" cy="156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7833682" y="1250000"/>
            <a:ext cx="3954636" cy="1560000"/>
          </a:xfrm>
          <a:prstGeom prst="rect">
            <a:avLst/>
          </a:prstGeom>
          <a:noFill/>
        </p:spPr>
        <p:txBody>
          <a:bodyPr wrap="square" anchor="ctr">
            <a:spAutoFit/>
          </a:bodyPr>
          <a:lstStyle/>
          <a:p>
            <a:pPr algn="ctr">
              <a:spcAft>
                <a:spcPts val="200"/>
              </a:spcAft>
            </a:pPr>
            <a:r>
              <a:rPr sz="2600" b="1" i="0">
                <a:solidFill>
                  <a:srgbClr val="6B6B6B"/>
                </a:solidFill>
                <a:latin typeface="Arial"/>
              </a:rPr>
              <a:t>flat</a:t>
            </a:r>
          </a:p>
          <a:p>
            <a:pPr algn="ctr">
              <a:spcAft>
                <a:spcPts val="0"/>
              </a:spcAft>
            </a:pPr>
            <a:r>
              <a:rPr sz="1300" b="0" i="0">
                <a:solidFill>
                  <a:srgbClr val="6B6B6B"/>
                </a:solidFill>
                <a:latin typeface="Arial"/>
              </a:rPr>
              <a:t>DCGM memory</a:t>
            </a:r>
          </a:p>
        </p:txBody>
      </p:sp>
      <p:pic>
        <p:nvPicPr>
          <p:cNvPr id="8" name="Picture 7" descr="panel-6-wide.png"/>
          <p:cNvPicPr>
            <a:picLocks noChangeAspect="1"/>
          </p:cNvPicPr>
          <p:nvPr/>
        </p:nvPicPr>
        <p:blipFill>
          <a:blip r:embed="rId4"/>
          <a:stretch>
            <a:fillRect/>
          </a:stretch>
        </p:blipFill>
        <p:spPr>
          <a:xfrm>
            <a:off x="403682" y="2870000"/>
            <a:ext cx="7280000" cy="1560000"/>
          </a:xfrm>
          <a:prstGeom prst="rect">
            <a:avLst/>
          </a:prstGeom>
        </p:spPr>
      </p:pic>
      <p:sp>
        <p:nvSpPr>
          <p:cNvPr id="9" name="Rectangle 8"/>
          <p:cNvSpPr/>
          <p:nvPr/>
        </p:nvSpPr>
        <p:spPr>
          <a:xfrm>
            <a:off x="403682" y="2870000"/>
            <a:ext cx="7280000" cy="1560000"/>
          </a:xfrm>
          <a:prstGeom prst="rect">
            <a:avLst/>
          </a:prstGeom>
          <a:noFill/>
          <a:ln w="9525">
            <a:solidFill>
              <a:srgbClr val="DDDDDD"/>
            </a:solidFill>
          </a:ln>
        </p:spPr>
        <p:txBody>
          <a:bodyPr rtlCol="0" anchor="ctr"/>
          <a:lstStyle/>
          <a:p>
            <a:pPr algn="ctr"/>
          </a:p>
        </p:txBody>
      </p:sp>
      <p:sp>
        <p:nvSpPr>
          <p:cNvPr id="10" name="Rounded Rectangle 9"/>
          <p:cNvSpPr/>
          <p:nvPr/>
        </p:nvSpPr>
        <p:spPr>
          <a:xfrm>
            <a:off x="7833682" y="2870000"/>
            <a:ext cx="3954636" cy="156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7833682" y="2870000"/>
            <a:ext cx="3954636" cy="1560000"/>
          </a:xfrm>
          <a:prstGeom prst="rect">
            <a:avLst/>
          </a:prstGeom>
          <a:noFill/>
        </p:spPr>
        <p:txBody>
          <a:bodyPr wrap="square" anchor="ctr">
            <a:spAutoFit/>
          </a:bodyPr>
          <a:lstStyle/>
          <a:p>
            <a:pPr algn="ctr">
              <a:spcAft>
                <a:spcPts val="200"/>
              </a:spcAft>
            </a:pPr>
            <a:r>
              <a:rPr sz="2600" b="1" i="0">
                <a:solidFill>
                  <a:srgbClr val="991346"/>
                </a:solidFill>
                <a:latin typeface="Arial"/>
              </a:rPr>
              <a:t>100%</a:t>
            </a:r>
          </a:p>
          <a:p>
            <a:pPr algn="ctr">
              <a:spcAft>
                <a:spcPts val="0"/>
              </a:spcAft>
            </a:pPr>
            <a:r>
              <a:rPr sz="1300" b="0" i="0">
                <a:solidFill>
                  <a:srgbClr val="6B6B6B"/>
                </a:solidFill>
                <a:latin typeface="Arial"/>
              </a:rPr>
              <a:t>KV cache (log)</a:t>
            </a:r>
          </a:p>
        </p:txBody>
      </p:sp>
      <p:pic>
        <p:nvPicPr>
          <p:cNvPr id="12" name="Picture 11" descr="panel-10-wide.png"/>
          <p:cNvPicPr>
            <a:picLocks noChangeAspect="1"/>
          </p:cNvPicPr>
          <p:nvPr/>
        </p:nvPicPr>
        <p:blipFill>
          <a:blip r:embed="rId5"/>
          <a:stretch>
            <a:fillRect/>
          </a:stretch>
        </p:blipFill>
        <p:spPr>
          <a:xfrm>
            <a:off x="403682" y="4490000"/>
            <a:ext cx="7280000" cy="1560000"/>
          </a:xfrm>
          <a:prstGeom prst="rect">
            <a:avLst/>
          </a:prstGeom>
        </p:spPr>
      </p:pic>
      <p:sp>
        <p:nvSpPr>
          <p:cNvPr id="13" name="Rectangle 12"/>
          <p:cNvSpPr/>
          <p:nvPr/>
        </p:nvSpPr>
        <p:spPr>
          <a:xfrm>
            <a:off x="403682" y="4490000"/>
            <a:ext cx="7280000" cy="1560000"/>
          </a:xfrm>
          <a:prstGeom prst="rect">
            <a:avLst/>
          </a:prstGeom>
          <a:noFill/>
          <a:ln w="9525">
            <a:solidFill>
              <a:srgbClr val="DDDDDD"/>
            </a:solidFill>
          </a:ln>
        </p:spPr>
        <p:txBody>
          <a:bodyPr rtlCol="0" anchor="ctr"/>
          <a:lstStyle/>
          <a:p>
            <a:pPr algn="ctr"/>
          </a:p>
        </p:txBody>
      </p:sp>
      <p:sp>
        <p:nvSpPr>
          <p:cNvPr id="14" name="Rounded Rectangle 13"/>
          <p:cNvSpPr/>
          <p:nvPr/>
        </p:nvSpPr>
        <p:spPr>
          <a:xfrm>
            <a:off x="7833682" y="4490000"/>
            <a:ext cx="3954636" cy="156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7833682" y="4490000"/>
            <a:ext cx="3954636" cy="1560000"/>
          </a:xfrm>
          <a:prstGeom prst="rect">
            <a:avLst/>
          </a:prstGeom>
          <a:noFill/>
        </p:spPr>
        <p:txBody>
          <a:bodyPr wrap="square" anchor="ctr">
            <a:spAutoFit/>
          </a:bodyPr>
          <a:lstStyle/>
          <a:p>
            <a:pPr algn="ctr">
              <a:spcAft>
                <a:spcPts val="200"/>
              </a:spcAft>
            </a:pPr>
            <a:r>
              <a:rPr sz="1800" b="1" i="0">
                <a:solidFill>
                  <a:srgbClr val="C62828"/>
                </a:solidFill>
                <a:latin typeface="Arial"/>
              </a:rPr>
              <a:t>0.3 s to 4.8 s</a:t>
            </a:r>
          </a:p>
          <a:p>
            <a:pPr algn="ctr">
              <a:spcAft>
                <a:spcPts val="0"/>
              </a:spcAft>
            </a:pPr>
            <a:r>
              <a:rPr sz="1300" b="0" i="0">
                <a:solidFill>
                  <a:srgbClr val="6B6B6B"/>
                </a:solidFill>
                <a:latin typeface="Arial"/>
              </a:rPr>
              <a:t>queue time p95 (/metrics)</a:t>
            </a:r>
          </a:p>
        </p:txBody>
      </p:sp>
      <p:cxnSp>
        <p:nvCxnSpPr>
          <p:cNvPr id="16" name="Connector 15"/>
          <p:cNvCxnSpPr/>
          <p:nvPr/>
        </p:nvCxnSpPr>
        <p:spPr>
          <a:xfrm>
            <a:off x="2238670" y="1210000"/>
            <a:ext cx="0" cy="4880000"/>
          </a:xfrm>
          <a:prstGeom prst="line">
            <a:avLst/>
          </a:prstGeom>
          <a:ln w="31750">
            <a:solidFill>
              <a:srgbClr val="C62828"/>
            </a:solidFill>
            <a:prstDash val="dash"/>
          </a:ln>
        </p:spPr>
      </p:cxnSp>
      <p:sp>
        <p:nvSpPr>
          <p:cNvPr id="17" name="Rounded Rectangle 16"/>
          <p:cNvSpPr/>
          <p:nvPr/>
        </p:nvSpPr>
        <p:spPr>
          <a:xfrm>
            <a:off x="2318670" y="1310000"/>
            <a:ext cx="1350000" cy="300000"/>
          </a:xfrm>
          <a:prstGeom prst="roundRect">
            <a:avLst>
              <a:gd name="adj" fmla="val 50000"/>
            </a:avLst>
          </a:prstGeom>
          <a:solidFill>
            <a:srgbClr val="C62828"/>
          </a:solidFill>
          <a:ln>
            <a:noFill/>
          </a:ln>
        </p:spPr>
        <p:txBody>
          <a:bodyPr rtlCol="0" anchor="ctr" lIns="90000" rIns="90000" tIns="0" bIns="0"/>
          <a:lstStyle/>
          <a:p>
            <a:pPr algn="ctr"/>
            <a:r>
              <a:rPr sz="1100" b="1" i="0">
                <a:solidFill>
                  <a:srgbClr val="FFFFFF"/>
                </a:solidFill>
                <a:latin typeface="Arial"/>
              </a:rPr>
              <a:t>16:56  load hits</a:t>
            </a:r>
          </a:p>
        </p:txBody>
      </p:sp>
      <p:sp>
        <p:nvSpPr>
          <p:cNvPr id="18" name="TextBox 17"/>
          <p:cNvSpPr txBox="1"/>
          <p:nvPr/>
        </p:nvSpPr>
        <p:spPr>
          <a:xfrm>
            <a:off x="403682" y="6110000"/>
            <a:ext cx="11384636" cy="420000"/>
          </a:xfrm>
          <a:prstGeom prst="rect">
            <a:avLst/>
          </a:prstGeom>
          <a:noFill/>
        </p:spPr>
        <p:txBody>
          <a:bodyPr wrap="square" anchor="ctr">
            <a:spAutoFit/>
          </a:bodyPr>
          <a:lstStyle/>
          <a:p>
            <a:pPr algn="l">
              <a:spcAft>
                <a:spcPts val="0"/>
              </a:spcAft>
            </a:pPr>
            <a:r>
              <a:rPr sz="1600" b="1" i="0">
                <a:solidFill>
                  <a:srgbClr val="991346"/>
                </a:solidFill>
                <a:latin typeface="Arial"/>
              </a:rPr>
              <a:t>No new agent, no vendor, no eBPF. Just the pod name on every signal, and the discipline to keep it there.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EKS Auto Mode GPU support: docs.aws.amazon.com/eks/latest/userguide/device-management-nvidia-dra-device-plugin.html. Two more gotchas (Fluent Bit Kube_Tag_Prefix, 1-GPU RollingUpdate) in the repo README.</a:t>
            </a:r>
          </a:p>
        </p:txBody>
      </p:sp>
      <p:sp>
        <p:nvSpPr>
          <p:cNvPr id="4" name="Rounded Rectangle 3"/>
          <p:cNvSpPr/>
          <p:nvPr/>
        </p:nvSpPr>
        <p:spPr>
          <a:xfrm>
            <a:off x="403682" y="15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63682" y="1610000"/>
            <a:ext cx="3474878" cy="2480000"/>
          </a:xfrm>
          <a:prstGeom prst="rect">
            <a:avLst/>
          </a:prstGeom>
          <a:noFill/>
        </p:spPr>
        <p:txBody>
          <a:bodyPr wrap="square" anchor="t" lIns="120000" rIns="120000">
            <a:spAutoFit/>
          </a:bodyPr>
          <a:lstStyle/>
          <a:p>
            <a:pPr algn="l">
              <a:spcAft>
                <a:spcPts val="800"/>
              </a:spcAft>
            </a:pPr>
            <a:r>
              <a:rPr sz="2200" b="1" i="0">
                <a:solidFill>
                  <a:srgbClr val="6B6B6B"/>
                </a:solidFill>
                <a:latin typeface="Arial"/>
              </a:rPr>
              <a:t>What we expected</a:t>
            </a:r>
          </a:p>
          <a:p>
            <a:pPr algn="l">
              <a:spcAft>
                <a:spcPts val="0"/>
              </a:spcAft>
            </a:pPr>
            <a:r>
              <a:rPr sz="1800" b="0" i="0">
                <a:solidFill>
                  <a:srgbClr val="262626"/>
                </a:solidFill>
                <a:latin typeface="Arial"/>
              </a:rPr>
              <a:t>GPU Operator installs DCGM on EKS Auto Mode, like every how-to says.</a:t>
            </a:r>
          </a:p>
        </p:txBody>
      </p:sp>
      <p:cxnSp>
        <p:nvCxnSpPr>
          <p:cNvPr id="6" name="Connector 5"/>
          <p:cNvCxnSpPr/>
          <p:nvPr/>
        </p:nvCxnSpPr>
        <p:spPr>
          <a:xfrm>
            <a:off x="4038560" y="2850000"/>
            <a:ext cx="220000" cy="0"/>
          </a:xfrm>
          <a:prstGeom prst="line">
            <a:avLst/>
          </a:prstGeom>
          <a:ln w="31750">
            <a:solidFill>
              <a:srgbClr val="6B6B6B"/>
            </a:solidFill>
            <a:tailEnd type="triangle" w="med" len="med"/>
          </a:ln>
        </p:spPr>
      </p:cxnSp>
      <p:sp>
        <p:nvSpPr>
          <p:cNvPr id="7" name="Rounded Rectangle 6"/>
          <p:cNvSpPr/>
          <p:nvPr/>
        </p:nvSpPr>
        <p:spPr>
          <a:xfrm>
            <a:off x="4298560" y="1550000"/>
            <a:ext cx="3594878" cy="2600000"/>
          </a:xfrm>
          <a:prstGeom prst="roundRect">
            <a:avLst>
              <a:gd name="adj" fmla="val 8000"/>
            </a:avLst>
          </a:prstGeom>
          <a:solidFill>
            <a:srgbClr val="FBE5E5"/>
          </a:solidFill>
          <a:ln>
            <a:noFill/>
          </a:ln>
        </p:spPr>
        <p:txBody>
          <a:bodyPr rtlCol="0" anchor="ctr"/>
          <a:lstStyle/>
          <a:p/>
        </p:txBody>
      </p:sp>
      <p:sp>
        <p:nvSpPr>
          <p:cNvPr id="8" name="TextBox 7"/>
          <p:cNvSpPr txBox="1"/>
          <p:nvPr/>
        </p:nvSpPr>
        <p:spPr>
          <a:xfrm>
            <a:off x="4358560" y="1610000"/>
            <a:ext cx="3474878" cy="2480000"/>
          </a:xfrm>
          <a:prstGeom prst="rect">
            <a:avLst/>
          </a:prstGeom>
          <a:noFill/>
        </p:spPr>
        <p:txBody>
          <a:bodyPr wrap="square" anchor="t" lIns="120000" rIns="120000">
            <a:spAutoFit/>
          </a:bodyPr>
          <a:lstStyle/>
          <a:p>
            <a:pPr algn="l">
              <a:spcAft>
                <a:spcPts val="800"/>
              </a:spcAft>
            </a:pPr>
            <a:r>
              <a:rPr sz="2200" b="1" i="0">
                <a:solidFill>
                  <a:srgbClr val="C62828"/>
                </a:solidFill>
                <a:latin typeface="Arial"/>
              </a:rPr>
              <a:t>What happened</a:t>
            </a:r>
          </a:p>
          <a:p>
            <a:pPr algn="l">
              <a:spcAft>
                <a:spcPts val="0"/>
              </a:spcAft>
            </a:pPr>
            <a:r>
              <a:rPr sz="1800" b="0" i="0">
                <a:solidFill>
                  <a:srgbClr val="262626"/>
                </a:solidFill>
                <a:latin typeface="Arial"/>
              </a:rPr>
              <a:t>Auto Mode supports neither the GPU Operator nor the NVIDIA DRA driver. Drivers and device plugin come with the AMI.</a:t>
            </a:r>
          </a:p>
        </p:txBody>
      </p:sp>
      <p:cxnSp>
        <p:nvCxnSpPr>
          <p:cNvPr id="9" name="Connector 8"/>
          <p:cNvCxnSpPr/>
          <p:nvPr/>
        </p:nvCxnSpPr>
        <p:spPr>
          <a:xfrm>
            <a:off x="7933438" y="2850000"/>
            <a:ext cx="220000" cy="0"/>
          </a:xfrm>
          <a:prstGeom prst="line">
            <a:avLst/>
          </a:prstGeom>
          <a:ln w="31750">
            <a:solidFill>
              <a:srgbClr val="6B6B6B"/>
            </a:solidFill>
            <a:tailEnd type="triangle" w="med" len="med"/>
          </a:ln>
        </p:spPr>
      </p:cxnSp>
      <p:sp>
        <p:nvSpPr>
          <p:cNvPr id="10" name="Rounded Rectangle 9"/>
          <p:cNvSpPr/>
          <p:nvPr/>
        </p:nvSpPr>
        <p:spPr>
          <a:xfrm>
            <a:off x="8193438" y="1550000"/>
            <a:ext cx="3594878" cy="2600000"/>
          </a:xfrm>
          <a:prstGeom prst="roundRect">
            <a:avLst>
              <a:gd name="adj" fmla="val 8000"/>
            </a:avLst>
          </a:prstGeom>
          <a:solidFill>
            <a:srgbClr val="E3F1E4"/>
          </a:solidFill>
          <a:ln>
            <a:noFill/>
          </a:ln>
        </p:spPr>
        <p:txBody>
          <a:bodyPr rtlCol="0" anchor="ctr"/>
          <a:lstStyle/>
          <a:p/>
        </p:txBody>
      </p:sp>
      <p:sp>
        <p:nvSpPr>
          <p:cNvPr id="11" name="TextBox 10"/>
          <p:cNvSpPr txBox="1"/>
          <p:nvPr/>
        </p:nvSpPr>
        <p:spPr>
          <a:xfrm>
            <a:off x="8253438" y="1610000"/>
            <a:ext cx="3474878" cy="2480000"/>
          </a:xfrm>
          <a:prstGeom prst="rect">
            <a:avLst/>
          </a:prstGeom>
          <a:noFill/>
        </p:spPr>
        <p:txBody>
          <a:bodyPr wrap="square" anchor="t" lIns="120000" rIns="120000">
            <a:spAutoFit/>
          </a:bodyPr>
          <a:lstStyle/>
          <a:p>
            <a:pPr algn="l">
              <a:spcAft>
                <a:spcPts val="800"/>
              </a:spcAft>
            </a:pPr>
            <a:r>
              <a:rPr sz="2200" b="1" i="0">
                <a:solidFill>
                  <a:srgbClr val="2E7D32"/>
                </a:solidFill>
                <a:latin typeface="Arial"/>
              </a:rPr>
              <a:t>Fix</a:t>
            </a:r>
          </a:p>
          <a:p>
            <a:pPr algn="l">
              <a:spcAft>
                <a:spcPts val="0"/>
              </a:spcAft>
            </a:pPr>
            <a:r>
              <a:rPr sz="1800" b="0" i="0">
                <a:solidFill>
                  <a:srgbClr val="262626"/>
                </a:solidFill>
                <a:latin typeface="Arial"/>
              </a:rPr>
              <a:t>Standalone dcgm-exporter DaemonSet, pod-resources hostPath, SYS_ADMIN. Seven counters.</a:t>
            </a:r>
          </a:p>
        </p:txBody>
      </p:sp>
      <p:sp>
        <p:nvSpPr>
          <p:cNvPr id="12" name="TextBox 11"/>
          <p:cNvSpPr txBox="1"/>
          <p:nvPr/>
        </p:nvSpPr>
        <p:spPr>
          <a:xfrm>
            <a:off x="403682" y="4550000"/>
            <a:ext cx="11384636" cy="1200000"/>
          </a:xfrm>
          <a:prstGeom prst="rect">
            <a:avLst/>
          </a:prstGeom>
          <a:noFill/>
        </p:spPr>
        <p:txBody>
          <a:bodyPr wrap="square" anchor="t">
            <a:spAutoFit/>
          </a:bodyPr>
          <a:lstStyle/>
          <a:p>
            <a:pPr algn="l">
              <a:spcAft>
                <a:spcPts val="0"/>
              </a:spcAft>
            </a:pPr>
            <a:r>
              <a:rPr sz="1500" b="0" i="0">
                <a:solidFill>
                  <a:srgbClr val="6B6B6B"/>
                </a:solidFill>
                <a:latin typeface="Arial"/>
              </a:rPr>
              <a:t>Also in the repo: Fluent Bit Kube_Tag_Prefix must match the tail tag or the join key arrives empty; a 1-GPU pod on a 2-GPU NodePool never finishes a RollingUpdate, use Recreate.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Where this is going.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 CloudWatch OTel Container Insights for EKS (June 2026).</a:t>
            </a:r>
          </a:p>
        </p:txBody>
      </p:sp>
      <p:sp>
        <p:nvSpPr>
          <p:cNvPr id="4" name="Rounded Rectangle 3"/>
          <p:cNvSpPr/>
          <p:nvPr/>
        </p:nvSpPr>
        <p:spPr>
          <a:xfrm>
            <a:off x="403682" y="1450000"/>
            <a:ext cx="3594878" cy="29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83682" y="1530000"/>
            <a:ext cx="3434878" cy="2750000"/>
          </a:xfrm>
          <a:prstGeom prst="rect">
            <a:avLst/>
          </a:prstGeom>
          <a:noFill/>
        </p:spPr>
        <p:txBody>
          <a:bodyPr wrap="square" anchor="t" lIns="120000" rIns="120000">
            <a:spAutoFit/>
          </a:bodyPr>
          <a:lstStyle/>
          <a:p>
            <a:pPr algn="l">
              <a:spcAft>
                <a:spcPts val="200"/>
              </a:spcAft>
            </a:pPr>
            <a:r>
              <a:rPr sz="2000" b="1" i="0">
                <a:solidFill>
                  <a:srgbClr val="6B6B6B"/>
                </a:solidFill>
                <a:latin typeface="Arial"/>
              </a:rPr>
              <a:t>Today</a:t>
            </a:r>
          </a:p>
          <a:p>
            <a:pPr algn="l">
              <a:spcAft>
                <a:spcPts val="1000"/>
              </a:spcAft>
            </a:pPr>
            <a:r>
              <a:rPr sz="1700" b="1" i="0">
                <a:solidFill>
                  <a:srgbClr val="262626"/>
                </a:solidFill>
                <a:latin typeface="Arial"/>
              </a:rPr>
              <a:t>Join in Grafana</a:t>
            </a:r>
          </a:p>
          <a:p>
            <a:pPr algn="l">
              <a:spcAft>
                <a:spcPts val="0"/>
              </a:spcAft>
            </a:pPr>
            <a:r>
              <a:rPr sz="1500" b="0" i="0">
                <a:solidFill>
                  <a:srgbClr val="262626"/>
                </a:solidFill>
                <a:latin typeface="Arial"/>
              </a:rPr>
              <a:t>Pod name on every signal, one dashboard variable.</a:t>
            </a:r>
          </a:p>
        </p:txBody>
      </p:sp>
      <p:cxnSp>
        <p:nvCxnSpPr>
          <p:cNvPr id="6" name="Connector 5"/>
          <p:cNvCxnSpPr/>
          <p:nvPr/>
        </p:nvCxnSpPr>
        <p:spPr>
          <a:xfrm>
            <a:off x="4038560" y="2900000"/>
            <a:ext cx="220000" cy="0"/>
          </a:xfrm>
          <a:prstGeom prst="line">
            <a:avLst/>
          </a:prstGeom>
          <a:ln w="38100">
            <a:solidFill>
              <a:srgbClr val="991346"/>
            </a:solidFill>
            <a:tailEnd type="triangle" w="med" len="med"/>
          </a:ln>
        </p:spPr>
      </p:cxnSp>
      <p:sp>
        <p:nvSpPr>
          <p:cNvPr id="7" name="Rounded Rectangle 6"/>
          <p:cNvSpPr/>
          <p:nvPr/>
        </p:nvSpPr>
        <p:spPr>
          <a:xfrm>
            <a:off x="4298560" y="1450000"/>
            <a:ext cx="3594878" cy="2900000"/>
          </a:xfrm>
          <a:prstGeom prst="roundRect">
            <a:avLst>
              <a:gd name="adj" fmla="val 8000"/>
            </a:avLst>
          </a:prstGeom>
          <a:solidFill>
            <a:srgbClr val="F6E3EA"/>
          </a:solidFill>
          <a:ln>
            <a:noFill/>
          </a:ln>
        </p:spPr>
        <p:txBody>
          <a:bodyPr rtlCol="0" anchor="ctr"/>
          <a:lstStyle/>
          <a:p/>
        </p:txBody>
      </p:sp>
      <p:sp>
        <p:nvSpPr>
          <p:cNvPr id="8" name="TextBox 7"/>
          <p:cNvSpPr txBox="1"/>
          <p:nvPr/>
        </p:nvSpPr>
        <p:spPr>
          <a:xfrm>
            <a:off x="4378560" y="1530000"/>
            <a:ext cx="3434878" cy="2750000"/>
          </a:xfrm>
          <a:prstGeom prst="rect">
            <a:avLst/>
          </a:prstGeom>
          <a:noFill/>
        </p:spPr>
        <p:txBody>
          <a:bodyPr wrap="square" anchor="t" lIns="120000" rIns="120000">
            <a:spAutoFit/>
          </a:bodyPr>
          <a:lstStyle/>
          <a:p>
            <a:pPr algn="l">
              <a:spcAft>
                <a:spcPts val="200"/>
              </a:spcAft>
            </a:pPr>
            <a:r>
              <a:rPr sz="2000" b="1" i="0">
                <a:solidFill>
                  <a:srgbClr val="991346"/>
                </a:solidFill>
                <a:latin typeface="Arial"/>
              </a:rPr>
              <a:t>Disaggregated prefill / decode</a:t>
            </a:r>
          </a:p>
          <a:p>
            <a:pPr algn="l">
              <a:spcAft>
                <a:spcPts val="1000"/>
              </a:spcAft>
            </a:pPr>
            <a:r>
              <a:rPr sz="1700" b="1" i="0">
                <a:solidFill>
                  <a:srgbClr val="262626"/>
                </a:solidFill>
                <a:latin typeface="Arial"/>
              </a:rPr>
              <a:t>Join key = request id + pod</a:t>
            </a:r>
          </a:p>
          <a:p>
            <a:pPr algn="l">
              <a:spcAft>
                <a:spcPts val="0"/>
              </a:spcAft>
            </a:pPr>
            <a:r>
              <a:rPr sz="1500" b="0" i="0">
                <a:solidFill>
                  <a:srgbClr val="262626"/>
                </a:solidFill>
                <a:latin typeface="Arial"/>
              </a:rPr>
              <a:t>llm-d, Dynamo, llm-d-aws: one request, two pods, KV cache over NIXL / EFA. Up to +70% tokens/s at concurrency 128.</a:t>
            </a:r>
          </a:p>
        </p:txBody>
      </p:sp>
      <p:cxnSp>
        <p:nvCxnSpPr>
          <p:cNvPr id="9" name="Connector 8"/>
          <p:cNvCxnSpPr/>
          <p:nvPr/>
        </p:nvCxnSpPr>
        <p:spPr>
          <a:xfrm>
            <a:off x="7933438" y="2900000"/>
            <a:ext cx="220000" cy="0"/>
          </a:xfrm>
          <a:prstGeom prst="line">
            <a:avLst/>
          </a:prstGeom>
          <a:ln w="38100">
            <a:solidFill>
              <a:srgbClr val="991346"/>
            </a:solidFill>
            <a:tailEnd type="triangle" w="med" len="med"/>
          </a:ln>
        </p:spPr>
      </p:cxnSp>
      <p:sp>
        <p:nvSpPr>
          <p:cNvPr id="10" name="Rounded Rectangle 9"/>
          <p:cNvSpPr/>
          <p:nvPr/>
        </p:nvSpPr>
        <p:spPr>
          <a:xfrm>
            <a:off x="8193438" y="1450000"/>
            <a:ext cx="3594878" cy="29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8273438" y="1530000"/>
            <a:ext cx="3434878" cy="2750000"/>
          </a:xfrm>
          <a:prstGeom prst="rect">
            <a:avLst/>
          </a:prstGeom>
          <a:noFill/>
        </p:spPr>
        <p:txBody>
          <a:bodyPr wrap="square" anchor="t" lIns="120000" rIns="120000">
            <a:spAutoFit/>
          </a:bodyPr>
          <a:lstStyle/>
          <a:p>
            <a:pPr algn="l">
              <a:spcAft>
                <a:spcPts val="200"/>
              </a:spcAft>
            </a:pPr>
            <a:r>
              <a:rPr sz="2000" b="1" i="0">
                <a:solidFill>
                  <a:srgbClr val="FFFFFF"/>
                </a:solidFill>
                <a:latin typeface="Arial"/>
              </a:rPr>
              <a:t>Routers consume the signals</a:t>
            </a:r>
          </a:p>
          <a:p>
            <a:pPr algn="l">
              <a:spcAft>
                <a:spcPts val="1000"/>
              </a:spcAft>
            </a:pPr>
            <a:r>
              <a:rPr sz="1700" b="1" i="0">
                <a:solidFill>
                  <a:srgbClr val="FFFFFF"/>
                </a:solidFill>
                <a:latin typeface="Arial"/>
              </a:rPr>
              <a:t>Join leaves Grafana</a:t>
            </a:r>
          </a:p>
          <a:p>
            <a:pPr algn="l">
              <a:spcAft>
                <a:spcPts val="0"/>
              </a:spcAft>
            </a:pPr>
            <a:r>
              <a:rPr sz="1500" b="0" i="0">
                <a:solidFill>
                  <a:srgbClr val="FFFFFF"/>
                </a:solidFill>
                <a:latin typeface="Arial"/>
              </a:rPr>
              <a:t>Gateway API Inference Extension endpoint picker and Dynamo's KV-aware router route on queue depth and KV cache %.</a:t>
            </a:r>
          </a:p>
        </p:txBody>
      </p:sp>
      <p:sp>
        <p:nvSpPr>
          <p:cNvPr id="12" name="Rounded Rectangle 11"/>
          <p:cNvSpPr/>
          <p:nvPr/>
        </p:nvSpPr>
        <p:spPr>
          <a:xfrm>
            <a:off x="403682" y="4600000"/>
            <a:ext cx="11384636" cy="10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03682" y="4600000"/>
            <a:ext cx="11384636" cy="1000000"/>
          </a:xfrm>
          <a:prstGeom prst="rect">
            <a:avLst/>
          </a:prstGeom>
          <a:noFill/>
        </p:spPr>
        <p:txBody>
          <a:bodyPr wrap="square" anchor="ctr" lIns="150000" rIns="150000">
            <a:spAutoFit/>
          </a:bodyPr>
          <a:lstStyle/>
          <a:p>
            <a:pPr algn="l">
              <a:spcAft>
                <a:spcPts val="600"/>
              </a:spcAft>
            </a:pPr>
            <a:r>
              <a:rPr sz="1600" b="1" i="0">
                <a:solidFill>
                  <a:srgbClr val="262626"/>
                </a:solidFill>
                <a:latin typeface="Arial"/>
              </a:rPr>
              <a:t>Signal 1 is becoming a checkbox. </a:t>
            </a:r>
            <a:r>
              <a:rPr sz="1600" b="0" i="0">
                <a:solidFill>
                  <a:srgbClr val="262626"/>
                </a:solidFill>
                <a:latin typeface="Arial"/>
              </a:rPr>
              <a:t>CloudWatch OTel-native Container Insights for EKS (June 2026) wires DCGM into OTel with pod labels and a PromQL endpoint. Signals 2 and 3 are still yours to wire.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Original session design: [original author, AWS]. Reproduced clean-room on EKS Auto Mode; all configs in the repo.</a:t>
            </a:r>
          </a:p>
        </p:txBody>
      </p:sp>
      <p:sp>
        <p:nvSpPr>
          <p:cNvPr id="4" name="Rounded Rectangle 3"/>
          <p:cNvSpPr/>
          <p:nvPr/>
        </p:nvSpPr>
        <p:spPr>
          <a:xfrm>
            <a:off x="403682" y="1250000"/>
            <a:ext cx="3594878" cy="43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3 counters</a:t>
            </a:r>
          </a:p>
        </p:txBody>
      </p:sp>
      <p:sp>
        <p:nvSpPr>
          <p:cNvPr id="6" name="Rounded Rectangle 5"/>
          <p:cNvSpPr/>
          <p:nvPr/>
        </p:nvSpPr>
        <p:spPr>
          <a:xfrm>
            <a:off x="553682" y="2400000"/>
            <a:ext cx="3294878" cy="850000"/>
          </a:xfrm>
          <a:prstGeom prst="roundRect">
            <a:avLst>
              <a:gd name="adj" fmla="val 8000"/>
            </a:avLst>
          </a:prstGeom>
          <a:solidFill>
            <a:srgbClr val="FFFFFF"/>
          </a:solidFill>
          <a:ln>
            <a:noFill/>
          </a:ln>
        </p:spPr>
        <p:txBody>
          <a:bodyPr rtlCol="0" anchor="ctr"/>
          <a:lstStyle/>
          <a:p/>
        </p:txBody>
      </p:sp>
      <p:sp>
        <p:nvSpPr>
          <p:cNvPr id="7" name="TextBox 6"/>
          <p:cNvSpPr txBox="1"/>
          <p:nvPr/>
        </p:nvSpPr>
        <p:spPr>
          <a:xfrm>
            <a:off x="553682" y="2400000"/>
            <a:ext cx="3294878" cy="850000"/>
          </a:xfrm>
          <a:prstGeom prst="rect">
            <a:avLst/>
          </a:prstGeom>
          <a:noFill/>
        </p:spPr>
        <p:txBody>
          <a:bodyPr wrap="square" anchor="ctr">
            <a:spAutoFit/>
          </a:bodyPr>
          <a:lstStyle/>
          <a:p>
            <a:pPr algn="ctr">
              <a:spcAft>
                <a:spcPts val="0"/>
              </a:spcAft>
            </a:pPr>
            <a:r>
              <a:rPr sz="1600" b="1" i="0">
                <a:solidFill>
                  <a:srgbClr val="262626"/>
                </a:solidFill>
                <a:latin typeface="Courier New"/>
              </a:rPr>
              <a:t>DCGM_FI_PROF_SM_ACTIVE</a:t>
            </a:r>
          </a:p>
          <a:p>
            <a:pPr algn="ctr">
              <a:spcAft>
                <a:spcPts val="0"/>
              </a:spcAft>
            </a:pPr>
            <a:r>
              <a:rPr sz="1400" b="0" i="0">
                <a:solidFill>
                  <a:srgbClr val="6B6B6B"/>
                </a:solidFill>
                <a:latin typeface="Arial"/>
              </a:rPr>
              <a:t>instead of GPU_UTIL</a:t>
            </a:r>
          </a:p>
        </p:txBody>
      </p:sp>
      <p:sp>
        <p:nvSpPr>
          <p:cNvPr id="8" name="Rounded Rectangle 7"/>
          <p:cNvSpPr/>
          <p:nvPr/>
        </p:nvSpPr>
        <p:spPr>
          <a:xfrm>
            <a:off x="553682" y="3400000"/>
            <a:ext cx="3294878" cy="850000"/>
          </a:xfrm>
          <a:prstGeom prst="roundRect">
            <a:avLst>
              <a:gd name="adj" fmla="val 8000"/>
            </a:avLst>
          </a:prstGeom>
          <a:solidFill>
            <a:srgbClr val="FFFFFF"/>
          </a:solidFill>
          <a:ln>
            <a:noFill/>
          </a:ln>
        </p:spPr>
        <p:txBody>
          <a:bodyPr rtlCol="0" anchor="ctr"/>
          <a:lstStyle/>
          <a:p/>
        </p:txBody>
      </p:sp>
      <p:sp>
        <p:nvSpPr>
          <p:cNvPr id="9" name="TextBox 8"/>
          <p:cNvSpPr txBox="1"/>
          <p:nvPr/>
        </p:nvSpPr>
        <p:spPr>
          <a:xfrm>
            <a:off x="553682"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KV cache %</a:t>
            </a:r>
          </a:p>
          <a:p>
            <a:pPr algn="ctr">
              <a:spcAft>
                <a:spcPts val="0"/>
              </a:spcAft>
            </a:pPr>
            <a:r>
              <a:rPr sz="1400" b="0" i="0">
                <a:solidFill>
                  <a:srgbClr val="6B6B6B"/>
                </a:solidFill>
                <a:latin typeface="Arial"/>
              </a:rPr>
              <a:t>log or /metrics</a:t>
            </a:r>
          </a:p>
        </p:txBody>
      </p:sp>
      <p:sp>
        <p:nvSpPr>
          <p:cNvPr id="10" name="Rounded Rectangle 9"/>
          <p:cNvSpPr/>
          <p:nvPr/>
        </p:nvSpPr>
        <p:spPr>
          <a:xfrm>
            <a:off x="553682" y="4400000"/>
            <a:ext cx="3294878" cy="850000"/>
          </a:xfrm>
          <a:prstGeom prst="roundRect">
            <a:avLst>
              <a:gd name="adj" fmla="val 8000"/>
            </a:avLst>
          </a:prstGeom>
          <a:solidFill>
            <a:srgbClr val="FFFFFF"/>
          </a:solidFill>
          <a:ln>
            <a:noFill/>
          </a:ln>
        </p:spPr>
        <p:txBody>
          <a:bodyPr rtlCol="0" anchor="ctr"/>
          <a:lstStyle/>
          <a:p/>
        </p:txBody>
      </p:sp>
      <p:sp>
        <p:nvSpPr>
          <p:cNvPr id="11" name="TextBox 10"/>
          <p:cNvSpPr txBox="1"/>
          <p:nvPr/>
        </p:nvSpPr>
        <p:spPr>
          <a:xfrm>
            <a:off x="553682"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queue time p95</a:t>
            </a:r>
          </a:p>
          <a:p>
            <a:pPr algn="ctr">
              <a:spcAft>
                <a:spcPts val="0"/>
              </a:spcAft>
            </a:pPr>
            <a:r>
              <a:rPr sz="1400" b="0" i="0">
                <a:solidFill>
                  <a:srgbClr val="6B6B6B"/>
                </a:solidFill>
                <a:latin typeface="Arial"/>
              </a:rPr>
              <a:t>then waiting</a:t>
            </a:r>
          </a:p>
        </p:txBody>
      </p:sp>
      <p:sp>
        <p:nvSpPr>
          <p:cNvPr id="12" name="Rounded Rectangle 11"/>
          <p:cNvSpPr/>
          <p:nvPr/>
        </p:nvSpPr>
        <p:spPr>
          <a:xfrm>
            <a:off x="4298560" y="1250000"/>
            <a:ext cx="3594878" cy="43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298560"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filter</a:t>
            </a:r>
          </a:p>
        </p:txBody>
      </p:sp>
      <p:sp>
        <p:nvSpPr>
          <p:cNvPr id="14" name="Rounded Rectangle 13"/>
          <p:cNvSpPr/>
          <p:nvPr/>
        </p:nvSpPr>
        <p:spPr>
          <a:xfrm>
            <a:off x="4448560" y="2400000"/>
            <a:ext cx="3294878" cy="850000"/>
          </a:xfrm>
          <a:prstGeom prst="roundRect">
            <a:avLst>
              <a:gd name="adj" fmla="val 8000"/>
            </a:avLst>
          </a:prstGeom>
          <a:solidFill>
            <a:srgbClr val="FFFFFF"/>
          </a:solidFill>
          <a:ln>
            <a:noFill/>
          </a:ln>
        </p:spPr>
        <p:txBody>
          <a:bodyPr rtlCol="0" anchor="ctr"/>
          <a:lstStyle/>
          <a:p/>
        </p:txBody>
      </p:sp>
      <p:sp>
        <p:nvSpPr>
          <p:cNvPr id="15" name="TextBox 14"/>
          <p:cNvSpPr txBox="1"/>
          <p:nvPr/>
        </p:nvSpPr>
        <p:spPr>
          <a:xfrm>
            <a:off x="4448560"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15 lines of Lua</a:t>
            </a:r>
          </a:p>
          <a:p>
            <a:pPr algn="ctr">
              <a:spcAft>
                <a:spcPts val="0"/>
              </a:spcAft>
            </a:pPr>
            <a:r>
              <a:rPr sz="1400" b="0" i="0">
                <a:solidFill>
                  <a:srgbClr val="6B6B6B"/>
                </a:solidFill>
                <a:latin typeface="Arial"/>
              </a:rPr>
              <a:t>+ log_to_metrics</a:t>
            </a:r>
          </a:p>
        </p:txBody>
      </p:sp>
      <p:sp>
        <p:nvSpPr>
          <p:cNvPr id="16" name="Rounded Rectangle 15"/>
          <p:cNvSpPr/>
          <p:nvPr/>
        </p:nvSpPr>
        <p:spPr>
          <a:xfrm>
            <a:off x="4448560" y="3400000"/>
            <a:ext cx="3294878" cy="850000"/>
          </a:xfrm>
          <a:prstGeom prst="roundRect">
            <a:avLst>
              <a:gd name="adj" fmla="val 8000"/>
            </a:avLst>
          </a:prstGeom>
          <a:solidFill>
            <a:srgbClr val="FFFFFF"/>
          </a:solidFill>
          <a:ln>
            <a:noFill/>
          </a:ln>
        </p:spPr>
        <p:txBody>
          <a:bodyPr rtlCol="0" anchor="ctr"/>
          <a:lstStyle/>
          <a:p/>
        </p:txBody>
      </p:sp>
      <p:sp>
        <p:nvSpPr>
          <p:cNvPr id="17" name="TextBox 16"/>
          <p:cNvSpPr txBox="1"/>
          <p:nvPr/>
        </p:nvSpPr>
        <p:spPr>
          <a:xfrm>
            <a:off x="4448560"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change the regex</a:t>
            </a:r>
          </a:p>
          <a:p>
            <a:pPr algn="ctr">
              <a:spcAft>
                <a:spcPts val="0"/>
              </a:spcAft>
            </a:pPr>
            <a:r>
              <a:rPr sz="1400" b="0" i="0">
                <a:solidFill>
                  <a:srgbClr val="6B6B6B"/>
                </a:solidFill>
                <a:latin typeface="Arial"/>
              </a:rPr>
              <a:t>keep the pipeline</a:t>
            </a:r>
          </a:p>
        </p:txBody>
      </p:sp>
      <p:sp>
        <p:nvSpPr>
          <p:cNvPr id="18" name="Rounded Rectangle 17"/>
          <p:cNvSpPr/>
          <p:nvPr/>
        </p:nvSpPr>
        <p:spPr>
          <a:xfrm>
            <a:off x="4448560" y="4400000"/>
            <a:ext cx="3294878" cy="850000"/>
          </a:xfrm>
          <a:prstGeom prst="roundRect">
            <a:avLst>
              <a:gd name="adj" fmla="val 8000"/>
            </a:avLst>
          </a:prstGeom>
          <a:solidFill>
            <a:srgbClr val="FFFFFF"/>
          </a:solidFill>
          <a:ln>
            <a:noFill/>
          </a:ln>
        </p:spPr>
        <p:txBody>
          <a:bodyPr rtlCol="0" anchor="ctr"/>
          <a:lstStyle/>
          <a:p/>
        </p:txBody>
      </p:sp>
      <p:sp>
        <p:nvSpPr>
          <p:cNvPr id="19" name="TextBox 18"/>
          <p:cNvSpPr txBox="1"/>
          <p:nvPr/>
        </p:nvSpPr>
        <p:spPr>
          <a:xfrm>
            <a:off x="4448560"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works for</a:t>
            </a:r>
          </a:p>
          <a:p>
            <a:pPr algn="ctr">
              <a:spcAft>
                <a:spcPts val="0"/>
              </a:spcAft>
            </a:pPr>
            <a:r>
              <a:rPr sz="1400" b="0" i="0">
                <a:solidFill>
                  <a:srgbClr val="6B6B6B"/>
                </a:solidFill>
                <a:latin typeface="Arial"/>
              </a:rPr>
              <a:t>TGI, Triton, anything that logs</a:t>
            </a:r>
          </a:p>
        </p:txBody>
      </p:sp>
      <p:sp>
        <p:nvSpPr>
          <p:cNvPr id="20" name="Rounded Rectangle 19"/>
          <p:cNvSpPr/>
          <p:nvPr/>
        </p:nvSpPr>
        <p:spPr>
          <a:xfrm>
            <a:off x="8193438" y="1250000"/>
            <a:ext cx="3594878" cy="4300000"/>
          </a:xfrm>
          <a:prstGeom prst="roundRect">
            <a:avLst>
              <a:gd name="adj" fmla="val 8000"/>
            </a:avLst>
          </a:prstGeom>
          <a:solidFill>
            <a:srgbClr val="F3F3F3"/>
          </a:solidFill>
          <a:ln>
            <a:noFill/>
          </a:ln>
        </p:spPr>
        <p:txBody>
          <a:bodyPr rtlCol="0" anchor="ctr"/>
          <a:lstStyle/>
          <a:p/>
        </p:txBody>
      </p:sp>
      <p:sp>
        <p:nvSpPr>
          <p:cNvPr id="21" name="TextBox 20"/>
          <p:cNvSpPr txBox="1"/>
          <p:nvPr/>
        </p:nvSpPr>
        <p:spPr>
          <a:xfrm>
            <a:off x="8193438"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rule</a:t>
            </a:r>
          </a:p>
        </p:txBody>
      </p:sp>
      <p:sp>
        <p:nvSpPr>
          <p:cNvPr id="22" name="Rounded Rectangle 21"/>
          <p:cNvSpPr/>
          <p:nvPr/>
        </p:nvSpPr>
        <p:spPr>
          <a:xfrm>
            <a:off x="8343438" y="2400000"/>
            <a:ext cx="3294878" cy="850000"/>
          </a:xfrm>
          <a:prstGeom prst="roundRect">
            <a:avLst>
              <a:gd name="adj" fmla="val 8000"/>
            </a:avLst>
          </a:prstGeom>
          <a:solidFill>
            <a:srgbClr val="FFFFFF"/>
          </a:solidFill>
          <a:ln>
            <a:noFill/>
          </a:ln>
        </p:spPr>
        <p:txBody>
          <a:bodyPr rtlCol="0" anchor="ctr"/>
          <a:lstStyle/>
          <a:p/>
        </p:txBody>
      </p:sp>
      <p:sp>
        <p:nvSpPr>
          <p:cNvPr id="23" name="TextBox 22"/>
          <p:cNvSpPr txBox="1"/>
          <p:nvPr/>
        </p:nvSpPr>
        <p:spPr>
          <a:xfrm>
            <a:off x="8343438"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pod name</a:t>
            </a:r>
          </a:p>
          <a:p>
            <a:pPr algn="ctr">
              <a:spcAft>
                <a:spcPts val="0"/>
              </a:spcAft>
            </a:pPr>
            <a:r>
              <a:rPr sz="1400" b="0" i="0">
                <a:solidFill>
                  <a:srgbClr val="6B6B6B"/>
                </a:solidFill>
                <a:latin typeface="Arial"/>
              </a:rPr>
              <a:t>on every signal</a:t>
            </a:r>
          </a:p>
        </p:txBody>
      </p:sp>
      <p:sp>
        <p:nvSpPr>
          <p:cNvPr id="24" name="Rounded Rectangle 23"/>
          <p:cNvSpPr/>
          <p:nvPr/>
        </p:nvSpPr>
        <p:spPr>
          <a:xfrm>
            <a:off x="8343438" y="3400000"/>
            <a:ext cx="3294878" cy="850000"/>
          </a:xfrm>
          <a:prstGeom prst="roundRect">
            <a:avLst>
              <a:gd name="adj" fmla="val 8000"/>
            </a:avLst>
          </a:prstGeom>
          <a:solidFill>
            <a:srgbClr val="FFFFFF"/>
          </a:solidFill>
          <a:ln>
            <a:noFill/>
          </a:ln>
        </p:spPr>
        <p:txBody>
          <a:bodyPr rtlCol="0" anchor="ctr"/>
          <a:lstStyle/>
          <a:p/>
        </p:txBody>
      </p:sp>
      <p:sp>
        <p:nvSpPr>
          <p:cNvPr id="25" name="TextBox 24"/>
          <p:cNvSpPr txBox="1"/>
          <p:nvPr/>
        </p:nvSpPr>
        <p:spPr>
          <a:xfrm>
            <a:off x="8343438"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identity on logs</a:t>
            </a:r>
          </a:p>
          <a:p>
            <a:pPr algn="ctr">
              <a:spcAft>
                <a:spcPts val="0"/>
              </a:spcAft>
            </a:pPr>
            <a:r>
              <a:rPr sz="1400" b="0" i="0">
                <a:solidFill>
                  <a:srgbClr val="6B6B6B"/>
                </a:solidFill>
                <a:latin typeface="Arial"/>
              </a:rPr>
              <a:t>stable dimensions on metrics</a:t>
            </a:r>
          </a:p>
        </p:txBody>
      </p:sp>
      <p:sp>
        <p:nvSpPr>
          <p:cNvPr id="26" name="Rounded Rectangle 25"/>
          <p:cNvSpPr/>
          <p:nvPr/>
        </p:nvSpPr>
        <p:spPr>
          <a:xfrm>
            <a:off x="8343438" y="4400000"/>
            <a:ext cx="3294878" cy="850000"/>
          </a:xfrm>
          <a:prstGeom prst="roundRect">
            <a:avLst>
              <a:gd name="adj" fmla="val 8000"/>
            </a:avLst>
          </a:prstGeom>
          <a:solidFill>
            <a:srgbClr val="FFFFFF"/>
          </a:solidFill>
          <a:ln>
            <a:noFill/>
          </a:ln>
        </p:spPr>
        <p:txBody>
          <a:bodyPr rtlCol="0" anchor="ctr"/>
          <a:lstStyle/>
          <a:p/>
        </p:txBody>
      </p:sp>
      <p:sp>
        <p:nvSpPr>
          <p:cNvPr id="27" name="TextBox 26"/>
          <p:cNvSpPr txBox="1"/>
          <p:nvPr/>
        </p:nvSpPr>
        <p:spPr>
          <a:xfrm>
            <a:off x="8343438"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join</a:t>
            </a:r>
          </a:p>
          <a:p>
            <a:pPr algn="ctr">
              <a:spcAft>
                <a:spcPts val="0"/>
              </a:spcAft>
            </a:pPr>
            <a:r>
              <a:rPr sz="1400" b="0" i="0">
                <a:solidFill>
                  <a:srgbClr val="6B6B6B"/>
                </a:solidFill>
                <a:latin typeface="Arial"/>
              </a:rPr>
              <a:t>at query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500000"/>
            <a:ext cx="7200000" cy="3600000"/>
          </a:xfrm>
          <a:prstGeom prst="rect">
            <a:avLst/>
          </a:prstGeom>
          <a:noFill/>
        </p:spPr>
        <p:txBody>
          <a:bodyPr wrap="square" anchor="ctr">
            <a:spAutoFit/>
          </a:bodyPr>
          <a:lstStyle/>
          <a:p>
            <a:pPr algn="l">
              <a:spcAft>
                <a:spcPts val="1800"/>
              </a:spcAft>
            </a:pPr>
            <a:r>
              <a:rPr sz="4400" b="1" i="0">
                <a:solidFill>
                  <a:srgbClr val="FFFFFF"/>
                </a:solidFill>
                <a:latin typeface="Arial"/>
              </a:rPr>
              <a:t>Thank you.</a:t>
            </a:r>
          </a:p>
          <a:p>
            <a:pPr algn="l">
              <a:spcAft>
                <a:spcPts val="0"/>
              </a:spcAft>
            </a:pPr>
            <a:r>
              <a:rPr sz="2600" b="1" i="0">
                <a:solidFill>
                  <a:srgbClr val="FFFFFF"/>
                </a:solidFill>
                <a:latin typeface="Arial"/>
              </a:rPr>
              <a:t>github.com/danilosilvase/</a:t>
            </a:r>
          </a:p>
          <a:p>
            <a:pPr algn="l">
              <a:spcAft>
                <a:spcPts val="1800"/>
              </a:spcAft>
            </a:pPr>
            <a:r>
              <a:rPr sz="2600" b="1" i="0">
                <a:solidFill>
                  <a:srgbClr val="FFFFFF"/>
                </a:solidFill>
                <a:latin typeface="Arial"/>
              </a:rPr>
              <a:t>gpu-observability-kubecon-na-2026</a:t>
            </a:r>
          </a:p>
          <a:p>
            <a:pPr algn="l">
              <a:spcAft>
                <a:spcPts val="200"/>
              </a:spcAft>
            </a:pPr>
            <a:r>
              <a:rPr sz="1800" b="0" i="0">
                <a:solidFill>
                  <a:srgbClr val="FFFFFF"/>
                </a:solidFill>
                <a:latin typeface="Arial"/>
              </a:rPr>
              <a:t>Danilo Souza, AWS Professional Services</a:t>
            </a:r>
          </a:p>
          <a:p>
            <a:pPr algn="l">
              <a:spcAft>
                <a:spcPts val="1800"/>
              </a:spcAft>
            </a:pPr>
            <a:r>
              <a:rPr sz="1800" b="0" i="0">
                <a:solidFill>
                  <a:srgbClr val="FFFFFF"/>
                </a:solidFill>
                <a:latin typeface="Arial"/>
              </a:rPr>
              <a:t>Henrique Santana, AWS</a:t>
            </a:r>
          </a:p>
          <a:p>
            <a:pPr algn="l">
              <a:spcAft>
                <a:spcPts val="0"/>
              </a:spcAft>
            </a:pPr>
            <a:r>
              <a:rPr sz="1800" b="0" i="0">
                <a:solidFill>
                  <a:srgbClr val="FFFFFF"/>
                </a:solidFill>
                <a:latin typeface="Arial"/>
              </a:rPr>
              <a:t>Scan to rate this session.</a:t>
            </a:r>
          </a:p>
        </p:txBody>
      </p:sp>
      <p:sp>
        <p:nvSpPr>
          <p:cNvPr id="3" name="Rounded Rectangle 2"/>
          <p:cNvSpPr/>
          <p:nvPr/>
        </p:nvSpPr>
        <p:spPr>
          <a:xfrm>
            <a:off x="7988318" y="1429000"/>
            <a:ext cx="4000000" cy="4000000"/>
          </a:xfrm>
          <a:prstGeom prst="roundRect">
            <a:avLst>
              <a:gd name="adj" fmla="val 5000"/>
            </a:avLst>
          </a:prstGeom>
          <a:solidFill>
            <a:srgbClr val="FFFFFF"/>
          </a:solidFill>
          <a:ln>
            <a:noFill/>
          </a:ln>
        </p:spPr>
        <p:txBody>
          <a:bodyPr rtlCol="0" anchor="ctr"/>
          <a:lstStyle/>
          <a:p/>
        </p:txBody>
      </p:sp>
      <p:pic>
        <p:nvPicPr>
          <p:cNvPr id="4" name="Picture 3" descr="cncf-feedback-qr.png"/>
          <p:cNvPicPr>
            <a:picLocks noChangeAspect="1"/>
          </p:cNvPicPr>
          <p:nvPr/>
        </p:nvPicPr>
        <p:blipFill>
          <a:blip r:embed="rId3"/>
          <a:stretch>
            <a:fillRect/>
          </a:stretch>
        </p:blipFill>
        <p:spPr>
          <a:xfrm>
            <a:off x="8240287" y="1629000"/>
            <a:ext cx="3496062" cy="3600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