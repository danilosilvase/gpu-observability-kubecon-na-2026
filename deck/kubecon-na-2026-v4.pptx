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8" r:id="rId7"/>
    <p:sldId id="259" r:id="rId8"/>
    <p:sldId id="260" r:id="rId9"/>
    <p:sldId id="261" r:id="rId6"/>
    <p:sldId id="262" r:id="rId5"/>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y="6858000" cx="12192000"/>
  <p:notesSz cx="6858000" cy="9144000"/>
  <p:embeddedFontLst>
    <p:embeddedFont>
      <p:font typeface="Montserrat"/>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 roundtripDataSignature="AMtx7mg4BA/UZBL+y+GJRU4m7UPD850u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font" Target="fonts/Montserrat-regular.fntdata"/><Relationship Id="rId11" Type="http://schemas.openxmlformats.org/officeDocument/2006/relationships/font" Target="fonts/Montserrat-bold.fntdata"/><Relationship Id="rId12" Type="http://schemas.openxmlformats.org/officeDocument/2006/relationships/font" Target="fonts/Montserrat-italic.fntdata"/><Relationship Id="rId13" Type="http://schemas.openxmlformats.org/officeDocument/2006/relationships/font" Target="fonts/Montserrat-boldItalic.fntdata"/><Relationship Id="rId14" Type="http://customschemas.google.com/relationships/presentationmetadata" Target="metadata"/><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[2:30, 3:00] [Danilo] The hook, 30 seconds.</a:t>
            </a:r>
          </a:p>
          <a:p>
            <a:r>
              <a:t>"Here's the thing about that 95%. Across the industry the average production GPU runs at about 5% utilisation. Same counter, DCGM_FI_DEV_GPU_UTIL. One fleet looks saturated, the other looks idle. And neither number tells you anything about the inference work." Point at the counter name. "This talk is about where the signal actually lives, because it isn't here."</a:t>
            </a:r>
          </a:p>
          <a:p>
            <a:r>
              <a:t>Next: section two, why GPU metrics lie for inference. Slides 5 to 8, four minutes. Henrique takes this section.</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[1:00, 2:30] [Danilo] The incident. Open with it, not with architecture.</a:t>
            </a:r>
          </a:p>
          <a:p>
            <a:r>
              <a:t>"It's 02:14. The page fires. The dashboard is green. Nobody knows why." Let the sparkline do the rest: flat, then the step change. Pause two seconds. "Utilisation 95%, flat for an hour. Memory 90%, flat since the pod started. Pods Ready, nothing throttled, no OOM, no restarts. Every signal the hardware gives you says busy and healthy. That is the black box we're going to open."</a:t>
            </a:r>
          </a:p>
          <a:p>
            <a:r>
              <a:t>Next: same counter, opposite story.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[0:00, 0:15] [Danilo] Cover while people settle.</a:t>
            </a:r>
          </a:p>
          <a:p>
            <a:r>
              <a:t>Say nothing yet beyond a hello. Check the clicker, check Grafana is open on the second screen with the loadgen job already running.</a:t>
            </a:r>
          </a:p>
          <a:p>
            <a:r>
              <a:t>Next: title slide.</a:t>
            </a:r>
          </a:p>
        </p:txBody>
      </p:sp>
      <p:sp>
        <p:nvSpPr>
          <p:cNvPr id="73" name="Google Shape;7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[0:15, 1:00] [Danilo] Who we are, one line each, then the thesis.</a:t>
            </a:r>
          </a:p>
          <a:p>
            <a:r>
              <a:t>Danilo: "I'm Danilo, I build platforms for customers at AWS Professional Services, mostly Kubernetes and ML infrastructure." Henrique: "I'm Henrique, Principal in AWS Support, the escalation point when ECS and EKS clusters misbehave at scale, which means I see a lot of GPU incidents after the fact." Point at the two chips: "That is the talk. We tried to explain a slow inference service with the GPU dashboard and got nothing. We got the answer out of a log line."</a:t>
            </a:r>
          </a:p>
          <a:p>
            <a:r>
              <a:t>Next: the incident.</a:t>
            </a:r>
          </a:p>
        </p:txBody>
      </p:sp>
      <p:sp>
        <p:nvSpPr>
          <p:cNvPr id="77" name="Google Shape;7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[3:00, 4:00] [Henrique] Pre-allocation. The screenshot is from our rig.</a:t>
            </a:r>
          </a:p>
          <a:p>
            <a:r>
              <a:t>"Every serious LLM server grabs its GPU memory before the first request arrives. vLLM calls it gpu-memory-utilization. It's a cap on the whole pool: weights, activation workspace, and the KV cache. On our tiny demo model the weights are small, so this is essentially the KV cache." Point at the two flat lines. "Two vLLM pods, same model. One at 0.90, 20.5 gigabytes. One at 0.15, 3.6 gigabytes. Both lines are perfectly flat, from start-up, through a saturating load, and after." Then the line that is not on the slide: "Which one is about to fall over? The small one. The counter says the opposite."</a:t>
            </a:r>
          </a:p>
          <a:p>
            <a:r>
              <a:t>If asked why 0.90 of 24 is 20.5 and not 21.6: CUDA context and driver overhead.</a:t>
            </a:r>
          </a:p>
          <a:p>
            <a:r>
              <a:t>Next: utilisation.</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[4:00, 5:00] [Henrique] Utilisation and the two phases.</a:t>
            </a:r>
          </a:p>
          <a:p>
            <a:r>
              <a:t>"GPU_UTIL has a precise meaning: at least one kernel was running during the sample window. One busy thread reads as 100%." Then the phases. "Inference has two phases with opposite shapes. Prefill: the whole prompt in one pass, big matrix multiplies, compute-bound, tensor cores busy. Decode: one token per step, and every step re-reads the entire KV cache, so it's memory-bandwidth-bound, tensor cores mostly waiting." Point at the two identical stamps. "Same number on both. The counter has no idea which phase you're in or how much of the silicon is doing anything."</a:t>
            </a:r>
          </a:p>
          <a:p>
            <a:r>
              <a:t>Next: what the profiler counters say instead.</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[5:00, 6:00] [Henrique] The Elastic numbers. Be precise about which field.</a:t>
            </a:r>
          </a:p>
          <a:p>
            <a:r>
              <a:t>"These aren't our numbers, they're from Elastic Observability Labs measuring a vLLM server, and they used the DCGM profiling fields, not the NVML utilisation counter." Left to right. "Graphics engine active 99.8%: that's the profiler's version of busy. Tensor cores, the units doing the actual matmuls: 16.6%. Memory bus: 80.4%. The card is not computing. It's waiting on memory." Pause. "Bandwidth-bound, not compute-saturated, and utilisation never said which. If you needed more throughput here you'd quantize before you bought hardware." Last line, lightly: "Serving teams are starting to borrow MFU and MBU from the training world, model FLOPs and bandwidth utilisation, precisely because the dashboard counter is the least informative one the hardware offers."</a:t>
            </a:r>
          </a:p>
          <a:p>
            <a:r>
              <a:t>Next: the vocabulary slide.</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[6:00, 7:00] [Henrique] Vocabulary slide, the one people photograph. Don't read every row.</a:t>
            </a:r>
          </a:p>
          <a:p>
            <a:r>
              <a:t>"Left: what most GPU dashboards show. GPU_UTIL, framebuffer used, and nvidia-smi's Volatile GPU-Util which is the same thing. Right: what actually describes the work. SM_ACTIVE, how much of the compute is busy. SM_OCCUPANCY, what share of the warps an SM can hold are actually resident. DRAM_ACTIVE, are you bandwidth-bound. PIPE_TENSOR_ACTIVE, are the tensor cores doing matmuls." Then the punchline, slowly: "And none of them know what a token is. Queue depth, KV cache pressure, tokens per second. The serving framework owns those. The silicon doesn't."</a:t>
            </a:r>
          </a:p>
          <a:p>
            <a:r>
              <a:t>Hand back to Danilo.</a:t>
            </a:r>
          </a:p>
          <a:p>
            <a:r>
              <a:t>Next: section three, the one architectural idea.</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[7:00, 8:00] [Danilo] The join key. If they take one idea home, this is it.</a:t>
            </a:r>
          </a:p>
          <a:p>
            <a:r>
              <a:t>"Three sources that never heard of each other. DCGM knows which pod holds the GPU, because dcgm-exporter asks the kubelet. Fluent Bit knows which pod wrote the log line, because the kubernetes filter tells it. The OTel Collector stamps k8s.pod.name on every span. Nothing else is common to all three." Click: the pill appears. "Same string, three places." Click: the WHERE clause appears. "And that is the join, one predicate at query time. That's the whole architecture."</a:t>
            </a:r>
          </a:p>
          <a:p>
            <a:r>
              <a:t>Footnote only if the room is on new clusters: "Kubernetes 1.35 made Dynamic Resource Allocation stable, and dcgm-exporter 4.8.4 added pod_uid tracking because the old device-plugin mapping breaks under DRA. The idea survives, the plumbing changes."</a:t>
            </a:r>
          </a:p>
          <a:p>
            <a:r>
              <a:t>Next: signal one.</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[8:00, 8:45] [Danilo] Signal 1, DCGM per pod. Keep it short, the audience knows exporters.</a:t>
            </a:r>
          </a:p>
          <a:p>
            <a:r>
              <a:t>"dcgm-exporter in Kubernetes mode. --kubernetes=true asks the kubelet which pod owns each GPU and stamps exported_pod on every counter. That's the screenshot: SM active, per pod, during our demo." Right side: "It tells you which pod is on which GPU and whether that silicon is busy. It has no idea why, how many requests are queued, whether the KV cache is full, or anything about tokens." Point at the second config line: "ENABLE_POD_LABELS false. That one matters, next slide."</a:t>
            </a:r>
          </a:p>
          <a:p>
            <a:r>
              <a:t>On EKS Auto Mode you run it standalone as a DaemonSet with the pod-resources hostPath; the GPU Operator isn't supported there, we'll come back to that.</a:t>
            </a:r>
          </a:p>
          <a:p>
            <a:r>
              <a:t>Next: cardinality.</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[8:45, 9:30] [Danilo] Cardinality. War story one.</a:t>
            </a:r>
          </a:p>
          <a:p>
            <a:r>
              <a:t>"The first thing we broke was Prometheus. dcgm-exporter will happily copy every pod label onto every counter. Do the arithmetic at fleet scale: a thousand nodes, eight GPUs each, the default sixty-odd counters, three label dimensions." Click: the number lands. "1.4 million series, before a single pod or job label." Point at the dot cloud: "And pod names churn on every rollout, so one label becomes a cloud of dead series." The rule: "Identity on logs. Stable dimensions on metrics. Join at query time. We ship seven counters and one identity label, and we join on the fixed part of the pod name, never the hash."</a:t>
            </a:r>
          </a:p>
          <a:p>
            <a:r>
              <a:t>Next: section four, the centre of the talk, 9:30 to 16:30 for slides 12 to 15.</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[9:30, 10:45] [Danilo] The log line. Read it aloud, it is not on the slide.</a:t>
            </a:r>
          </a:p>
          <a:p>
            <a:r>
              <a:t>"This is one line of vLLM stdout. It prints every ten seconds while the engine is busy." Read the raw line for the over-provisioned pod from memory, then point at the grey row: "4,700 tokens a second, nothing waiting, cache at 0.1%." Click: the red row appears. "Constrained pod, same model, same second: 17,000 tokens a second, 116 waiting, cache at 99.6%, and a Preemptions field that only shows up once the scheduler starts evicting work." Then: "Six facts about the inference work, and not one of them shows up in a GPU counter."</a:t>
            </a:r>
          </a:p>
          <a:p>
            <a:r>
              <a:t>Next: how five lines of Lua turn that into metrics.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[10:45, 12:15] [Danilo] The Lua pipeline. Diagram only, the code is in the repo.</a:t>
            </a:r>
          </a:p>
          <a:p>
            <a:r>
              <a:t>"Fluent Bit tails the log, the kubernetes filter attaches the pod name, that's the join key arriving. Five Lua matches turn fields into numbers. grep keeps only stats lines. log_to_metrics makes gauges, labelled by pod. prometheus_exporter serves them on port 2021, to the same Prometheus that scrapes DCGM." Point along the dots: "The pod name rides along the whole way."</a:t>
            </a:r>
          </a:p>
          <a:p>
            <a:r>
              <a:t>The caveat, say it before someone asks: "vLLM already exposes most of this on /metrics, kv_cache_usage_perc, num_requests_waiting, request_queue_time_seconds. vLLM is our demo vehicle. This filter is for the servers that don't: custom servers, vendor images you can't touch, log-only pipelines, the TGI or Triton you inherited. Same lines, different regex."</a:t>
            </a:r>
          </a:p>
          <a:p>
            <a:r>
              <a:t>Next: live demo set-up. Henrique drives Grafana, Danilo narrates.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[12:15, 13:00] [Danilo narrates, Henrique drives] Demo signpost, then live demo 13:00 to 16:00.</a:t>
            </a:r>
          </a:p>
          <a:p>
            <a:r>
              <a:t>Nothing is typed live. The loadgen has been running since before the talk, both port-forwards verified at T-5.</a:t>
            </a:r>
          </a:p>
          <a:p>
            <a:r>
              <a:t>Danilo, on this slide: "Two pods, same model, facebook/opt-125m. vllm-constrained at 0.15, 3.6 gigabytes of pool, gets long prompts at concurrency 128. vllm-overprov at 0.90, 20.5 gigabytes, steady load, that's our control." Then the instruction: "Watch two rows. Row one is DCGM: GPU memory is going to stay flat. Row two is what the log knows: KV cache and waiting are going to take off."</a:t>
            </a:r>
          </a:p>
          <a:p>
            <a:r>
              <a:t>Live demo, 13:00 to 16:00. Henrique drives, Danilo narrates, one tab at a time.</a:t>
            </a:r>
          </a:p>
          <a:p>
            <a:r>
              <a:t>1. Grafana, three rows, the constrained pod selected. Danilo walks them down: GPU memory flat, KV cache climbing to 100%, queue time p95 moving from 0.3 seconds to 4.8 seconds. Be honest out loud: GPU_UTIL and SM_ACTIVE did go up, DCGM does say busy, it just cannot say why.</a:t>
            </a:r>
          </a:p>
          <a:p>
            <a:r>
              <a:t>2. Henrique switches to the pre-opened Jaeger trace, already expanded, no searching on stage. Danilo: one llm_request span, 5.73 seconds, time in queue 0.61, time in decode 5.33, and the pod name on the span.</a:t>
            </a:r>
          </a:p>
          <a:p>
            <a:r>
              <a:t>3. Henrique switches back to Grafana for the aligned spike. Danilo: "Same pod name, same second, three sources."</a:t>
            </a:r>
          </a:p>
          <a:p>
            <a:r>
              <a:t>If the live rig misbehaves: stop, flip to slide 15 and narrate the captured panels. Do not debug on stage. Hard stop 16:30 either way.</a:t>
            </a:r>
          </a:p>
          <a:p>
            <a:r>
              <a:t>Next: back to slides, the result slide.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[16:00, 16:30] [Danilo] Demo result. Recap, or fallback if the live demo failed.</a:t>
            </a:r>
          </a:p>
          <a:p>
            <a:r>
              <a:t>"Left, DCGM: GPU memory, 3.6 gigabytes before, during and after. Right, the log: KV cache goes to 100% within a minute of the load and stays there." The four numbers: "p95 queue time 4.8 seconds, was 0.3. About 100 requests waiting. The over-provisioned pod has 99.8% of its cache free the whole time. And SM_ACTIVE at 90%, because DCGM did say busy, it just could not say why." Close: "Queue time moves first. Waiting confirms. GPU memory never moved."</a:t>
            </a:r>
          </a:p>
          <a:p>
            <a:r>
              <a:t>Next: section five, traces. Henrique.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[16:30, 17:30] [Henrique] Signal 3, traces.</a:t>
            </a:r>
          </a:p>
          <a:p>
            <a:r>
              <a:t>"vLLM emits one span per request natively. You point it at the OTel Collector with --otlp-traces-endpoint. The k8sattributes processor looks up the source IP and stamps k8s.pod.name on every span. That's the whole wiring." The screenshot: "An llm_request span, 5.73 seconds, on vllm-constrained, during the saturation. Time in queue 0.61 seconds, time in decode 5.33." Point at the red chip: "A slow span by itself is just a fact. The same span, on the pod whose KV cache hit 99.6% that second, is a diagnosis."</a:t>
            </a:r>
          </a:p>
          <a:p>
            <a:r>
              <a:t>Gotcha, say it out loud: "Tracing disappeared in the vLLM V1 engine rewrite and came back in PR 20372, so you need 0.10.2 or later. We run 0.30. If your traces vanished after an upgrade, that's why."</a:t>
            </a:r>
          </a:p>
          <a:p>
            <a:r>
              <a:t>Honesty line: "We show traces from the serving path, one span per request. Multi-hop waterfalls across a gateway are a flag away, but they're not the point today." Footer, only if asked: the gen_ai attributes follow the OTel GenAI semantic conventions, still at Development status, so the names can change.</a:t>
            </a:r>
          </a:p>
          <a:p>
            <a:r>
              <a:t>Next: the join, the slide the whole talk builds to. Danilo.</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[17:30, 19:30] [Danilo] The join. Slow down here. Two minutes on one slide is fine.</a:t>
            </a:r>
          </a:p>
          <a:p>
            <a:r>
              <a:t>"One Grafana dashboard. One pod variable. Three data sources that never heard of each other: DCGM through exported_pod, Fluent Bit through pod_name, vLLM and the traces through pod." Point at the red line: "Right there, where the line jumps, the load hits. Top row, DCGM memory: flat. Middle row, KV cache from the log line: pegs at 100%. Bottom row, queue time from vLLM: 0.3 to 4.8 seconds. Same second, same pod name." Pause. "The incident from slide three is this picture." Click: the word appears. "Opened." Close: "No new agent, no vendor, no eBPF. Just the pod name on every signal, and the discipline to keep it there."</a:t>
            </a:r>
          </a:p>
          <a:p>
            <a:r>
              <a:t>Next: one thing that broke. Henrique.</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[19:30, 19:50] [Henrique] One gotcha, 20 seconds. Cut this slide first if running late.</a:t>
            </a:r>
          </a:p>
          <a:p>
            <a:r>
              <a:t>"Every DCGM how-to assumes the NVIDIA GPU Operator, so check your platform's driver model before you follow one. EKS Auto Mode ships the drivers and the device plugin on its GPU AMIs and supports neither the Operator nor the NVIDIA DRA driver. So: standalone dcgm-exporter DaemonSet, pod-resources hostPath, SYS_ADMIN capability, seven counters." One breath on the grey line: "Two more in the repo README: Fluent Bit's Kube_Tag_Prefix has to match the tail tag exactly or the pod name silently never arrives, and a one-GPU pod on a two-GPU NodePool never finishes a RollingUpdate, use Recreate."</a:t>
            </a:r>
          </a:p>
          <a:p>
            <a:r>
              <a:t>Next: where this is going. Danilo.</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[19:50, 20:30] [Danilo] Where this is going, 40 seconds. Pre-empts "isn't this solved".</a:t>
            </a:r>
          </a:p>
          <a:p>
            <a:r>
              <a:t>Left to right, vendor-neutral first: "Today the join happens in Grafana. Next, disaggregated serving splits one request across two pods, llm-d and NVIDIA Dynamo, shipping the KV cache between them over NIXL and EFA, up to 70% more tokens per second at concurrency 128, so the join key becomes request id plus pod. Then the router itself consumes queue depth and KV cache to decide where traffic goes, the Gateway API Inference Extension endpoint picker and Dynamo's KV-aware router, and the join leaves Grafana entirely." Same shape on KServe, if that is your serving layer: the join key is still the pod.</a:t>
            </a:r>
          </a:p>
          <a:p>
            <a:r>
              <a:t>One aside, said once, not shown: CloudWatch's OTel-native Container Insights for EKS, June this year, wires DCGM into OTel with pod labels out of the box, so signal one is becoming a checkbox. Signals two and three are still yours to wire.</a:t>
            </a:r>
          </a:p>
          <a:p>
            <a:r>
              <a:t>If asked after: XID/ECC/thermal faults, output quality, eBPF GPU profiling, Dynamo internals are all out of scope today.</a:t>
            </a:r>
          </a:p>
          <a:p>
            <a:r>
              <a:t>Next: takeaways.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[20:30, 21:00] [Danilo and Henrique] Steal this, 30 seconds. One column each, read the headers, not every box.</a:t>
            </a:r>
          </a:p>
          <a:p>
            <a:r>
              <a:t>Danilo: "Three counters: SM_ACTIVE instead of GPU_UTIL, KV cache percent, queue time p95 then waiting." Henrique: "One filter: fifteen lines of Lua, change the regex, keep the pipeline." Danilo: "One rule: pod name on every signal, join at query time." Point at the badge: "Zero new agents." Then the payoff: "Everything in this talk is in the repo on the next slide, with the Terraform, the Lua, the dashboard and a validate script."</a:t>
            </a:r>
          </a:p>
          <a:p>
            <a:r>
              <a:t>Next: thank you and Q&amp;A.</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[21:00, 25:00] [Danilo and Henrique] Close and Q&amp;A, four minutes.</a:t>
            </a:r>
          </a:p>
          <a:p>
            <a:r>
              <a:t>"Thank you. The repo has the Terraform, the manifests, the Lua, the dashboard and the validate script. Please scan the QR to rate the session, the organisers read every one." Leave the QR up for the whole Q&amp;A.</a:t>
            </a:r>
          </a:p>
          <a:p>
            <a:r>
              <a:t>Likely questions and short answers:</a:t>
            </a:r>
          </a:p>
          <a:p>
            <a:r>
              <a:t>- "Why not just scrape vLLM /metrics?" We do, row three of the dashboard. The filter is for servers that don't expose it. Slide 13.</a:t>
            </a:r>
          </a:p>
          <a:p>
            <a:r>
              <a:t>- "MIG or time-slicing?" dcgm-exporter 4.5+ has per-process metrics, which narrows the gap but doesn't close it; the serving log still knows more.</a:t>
            </a:r>
          </a:p>
          <a:p>
            <a:r>
              <a:t>- "SGLang / TGI field names?" Same technique, different regex. Verify against your log line before trusting it.</a:t>
            </a:r>
          </a:p>
          <a:p>
            <a:r>
              <a:t>- "Hardware faults, XID, ECC?" A fourth signal class, real, out of scope today.</a:t>
            </a:r>
          </a:p>
          <a:p>
            <a:r>
              <a:t>- "Cardinality numbers from your own rig?" Seven counters, one identity label; the 1.4M is the Last9 fleet math, cited on slide 11.</a:t>
            </a:r>
          </a:p>
          <a:p>
            <a:r>
              <a:t>- "Disaggregated serving breaks the join?" Yes, slide 19: join key becomes request id plus pod.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bg>
      <p:bgPr>
        <a:solidFill>
          <a:srgbClr val="991346"/>
        </a:solidFill>
      </p:bgPr>
    </p:bg>
    <p:spTree>
      <p:nvGrpSpPr>
        <p:cNvPr id="11" name="Shape 11"/>
        <p:cNvGrpSpPr/>
        <p:nvPr/>
      </p:nvGrpSpPr>
      <p:grpSpPr>
        <a:xfrm>
          <a:off x="0" y="0"/>
          <a:ext cx="0" cy="0"/>
          <a:chOff x="0" y="0"/>
          <a:chExt cx="0" cy="0"/>
        </a:xfrm>
      </p:grpSpPr>
      <p:pic>
        <p:nvPicPr>
          <p:cNvPr id="12" name="Google Shape;12;p8"/>
          <p:cNvPicPr preferRelativeResize="0"/>
          <p:nvPr/>
        </p:nvPicPr>
        <p:blipFill rotWithShape="1">
          <a:blip r:embed="rId2">
            <a:alphaModFix/>
          </a:blip>
          <a:srcRect b="0" l="0" r="0" t="0"/>
          <a:stretch/>
        </p:blipFill>
        <p:spPr>
          <a:xfrm>
            <a:off x="1403927" y="278179"/>
            <a:ext cx="9384146" cy="609845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rgbClr val="991346"/>
        </a:solidFill>
      </p:bgPr>
    </p:bg>
    <p:spTree>
      <p:nvGrpSpPr>
        <p:cNvPr id="13" name="Shape 13"/>
        <p:cNvGrpSpPr/>
        <p:nvPr/>
      </p:nvGrpSpPr>
      <p:grpSpPr>
        <a:xfrm>
          <a:off x="0" y="0"/>
          <a:ext cx="0" cy="0"/>
          <a:chOff x="0" y="0"/>
          <a:chExt cx="0" cy="0"/>
        </a:xfrm>
      </p:grpSpPr>
      <p:pic>
        <p:nvPicPr>
          <p:cNvPr id="14" name="Google Shape;14;p9"/>
          <p:cNvPicPr preferRelativeResize="0"/>
          <p:nvPr/>
        </p:nvPicPr>
        <p:blipFill rotWithShape="1">
          <a:blip r:embed="rId2">
            <a:alphaModFix/>
          </a:blip>
          <a:srcRect b="0" l="0" r="0" t="0"/>
          <a:stretch/>
        </p:blipFill>
        <p:spPr>
          <a:xfrm>
            <a:off x="8982742" y="-281699"/>
            <a:ext cx="2977544" cy="1935009"/>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solidFill>
          <a:schemeClr val="lt1"/>
        </a:solidFill>
      </p:bgPr>
    </p:bg>
    <p:spTree>
      <p:nvGrpSpPr>
        <p:cNvPr id="15" name="Shape 15"/>
        <p:cNvGrpSpPr/>
        <p:nvPr/>
      </p:nvGrpSpPr>
      <p:grpSpPr>
        <a:xfrm>
          <a:off x="0" y="0"/>
          <a:ext cx="0" cy="0"/>
          <a:chOff x="0" y="0"/>
          <a:chExt cx="0" cy="0"/>
        </a:xfrm>
      </p:grpSpPr>
      <p:pic>
        <p:nvPicPr>
          <p:cNvPr descr="A colorful background with a few rectangles&#10;&#10;Description automatically generated with medium confidence" id="17" name="Google Shape;17;p11"/>
          <p:cNvPicPr preferRelativeResize="0"/>
          <p:nvPr/>
        </p:nvPicPr>
        <p:blipFill rotWithShape="1">
          <a:blip r:embed="rId3">
            <a:alphaModFix/>
          </a:blip>
          <a:srcRect b="84051" l="0" r="0" t="0"/>
          <a:stretch/>
        </p:blipFill>
        <p:spPr>
          <a:xfrm>
            <a:off x="0" y="0"/>
            <a:ext cx="12192000" cy="973013"/>
          </a:xfrm>
          <a:prstGeom prst="rect">
            <a:avLst/>
          </a:prstGeom>
          <a:solidFill>
            <a:srgbClr val="466BB0"/>
          </a:solidFill>
          <a:ln>
            <a:noFill/>
          </a:ln>
        </p:spPr>
      </p:pic>
      <p:sp>
        <p:nvSpPr>
          <p:cNvPr id="18" name="Google Shape;18;p11"/>
          <p:cNvSpPr/>
          <p:nvPr/>
        </p:nvSpPr>
        <p:spPr>
          <a:xfrm>
            <a:off x="0" y="0"/>
            <a:ext cx="12192000" cy="973013"/>
          </a:xfrm>
          <a:prstGeom prst="rect">
            <a:avLst/>
          </a:prstGeom>
          <a:solidFill>
            <a:srgbClr val="99134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9" name="Google Shape;19;p11"/>
          <p:cNvPicPr preferRelativeResize="0"/>
          <p:nvPr/>
        </p:nvPicPr>
        <p:blipFill rotWithShape="1">
          <a:blip r:embed="rId4">
            <a:alphaModFix/>
          </a:blip>
          <a:srcRect b="0" l="0" r="0" t="0"/>
          <a:stretch/>
        </p:blipFill>
        <p:spPr>
          <a:xfrm>
            <a:off x="9408810" y="-360174"/>
            <a:ext cx="2605700" cy="169336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solidFill>
          <a:srgbClr val="991346"/>
        </a:solidFill>
      </p:bgPr>
    </p:bg>
    <p:spTree>
      <p:nvGrpSpPr>
        <p:cNvPr id="20" name="Shape 20"/>
        <p:cNvGrpSpPr/>
        <p:nvPr/>
      </p:nvGrpSpPr>
      <p:grpSpPr>
        <a:xfrm>
          <a:off x="0" y="0"/>
          <a:ext cx="0" cy="0"/>
          <a:chOff x="0" y="0"/>
          <a:chExt cx="0" cy="0"/>
        </a:xfrm>
      </p:grpSpPr>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p:bg>
      <p:bgPr>
        <a:solidFill>
          <a:srgbClr val="991346"/>
        </a:solidFill>
      </p:bgPr>
    </p:bg>
    <p:spTree>
      <p:nvGrpSpPr>
        <p:cNvPr id="21" name="Shape 21"/>
        <p:cNvGrpSpPr/>
        <p:nvPr/>
      </p:nvGrpSpPr>
      <p:grpSpPr>
        <a:xfrm>
          <a:off x="0" y="0"/>
          <a:ext cx="0" cy="0"/>
          <a:chOff x="0" y="0"/>
          <a:chExt cx="0" cy="0"/>
        </a:xfrm>
      </p:grpSpPr>
      <p:sp>
        <p:nvSpPr>
          <p:cNvPr id="22" name="Google Shape;22;p12"/>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 name="Google Shape;23;p12"/>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24" name="Google Shape;24;p12"/>
          <p:cNvPicPr preferRelativeResize="0"/>
          <p:nvPr/>
        </p:nvPicPr>
        <p:blipFill rotWithShape="1">
          <a:blip r:embed="rId2">
            <a:alphaModFix/>
          </a:blip>
          <a:srcRect b="0" l="0" r="0" t="0"/>
          <a:stretch/>
        </p:blipFill>
        <p:spPr>
          <a:xfrm>
            <a:off x="3288074" y="2724912"/>
            <a:ext cx="5396396" cy="1847088"/>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2">
    <p:bg>
      <p:bgPr>
        <a:solidFill>
          <a:srgbClr val="991346"/>
        </a:solidFill>
      </p:bgPr>
    </p:bg>
    <p:spTree>
      <p:nvGrpSpPr>
        <p:cNvPr id="25" name="Shape 25"/>
        <p:cNvGrpSpPr/>
        <p:nvPr/>
      </p:nvGrpSpPr>
      <p:grpSpPr>
        <a:xfrm>
          <a:off x="0" y="0"/>
          <a:ext cx="0" cy="0"/>
          <a:chOff x="0" y="0"/>
          <a:chExt cx="0" cy="0"/>
        </a:xfrm>
      </p:grpSpPr>
      <p:sp>
        <p:nvSpPr>
          <p:cNvPr id="26" name="Google Shape;26;p15"/>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7" name="Google Shape;27;p15"/>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28" name="Google Shape;28;p15"/>
          <p:cNvPicPr preferRelativeResize="0"/>
          <p:nvPr/>
        </p:nvPicPr>
        <p:blipFill rotWithShape="1">
          <a:blip r:embed="rId2">
            <a:alphaModFix/>
          </a:blip>
          <a:srcRect b="0" l="0" r="0" t="0"/>
          <a:stretch/>
        </p:blipFill>
        <p:spPr>
          <a:xfrm>
            <a:off x="2866941" y="3001197"/>
            <a:ext cx="6406456" cy="141538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3">
    <p:bg>
      <p:bgPr>
        <a:solidFill>
          <a:srgbClr val="991346"/>
        </a:solidFill>
      </p:bgPr>
    </p:bg>
    <p:spTree>
      <p:nvGrpSpPr>
        <p:cNvPr id="29" name="Shape 29"/>
        <p:cNvGrpSpPr/>
        <p:nvPr/>
      </p:nvGrpSpPr>
      <p:grpSpPr>
        <a:xfrm>
          <a:off x="0" y="0"/>
          <a:ext cx="0" cy="0"/>
          <a:chOff x="0" y="0"/>
          <a:chExt cx="0" cy="0"/>
        </a:xfrm>
      </p:grpSpPr>
      <p:sp>
        <p:nvSpPr>
          <p:cNvPr id="30" name="Google Shape;30;p13"/>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 name="Google Shape;31;p13"/>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32" name="Google Shape;32;p13"/>
          <p:cNvPicPr preferRelativeResize="0"/>
          <p:nvPr/>
        </p:nvPicPr>
        <p:blipFill rotWithShape="1">
          <a:blip r:embed="rId2">
            <a:alphaModFix/>
          </a:blip>
          <a:srcRect b="0" l="0" r="0" t="0"/>
          <a:stretch/>
        </p:blipFill>
        <p:spPr>
          <a:xfrm>
            <a:off x="3745628" y="2798064"/>
            <a:ext cx="4700744" cy="1865376"/>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4">
    <p:bg>
      <p:bgPr>
        <a:solidFill>
          <a:srgbClr val="991346"/>
        </a:solidFill>
      </p:bgPr>
    </p:bg>
    <p:spTree>
      <p:nvGrpSpPr>
        <p:cNvPr id="33" name="Shape 33"/>
        <p:cNvGrpSpPr/>
        <p:nvPr/>
      </p:nvGrpSpPr>
      <p:grpSpPr>
        <a:xfrm>
          <a:off x="0" y="0"/>
          <a:ext cx="0" cy="0"/>
          <a:chOff x="0" y="0"/>
          <a:chExt cx="0" cy="0"/>
        </a:xfrm>
      </p:grpSpPr>
      <p:sp>
        <p:nvSpPr>
          <p:cNvPr id="34" name="Google Shape;34;p14"/>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 name="Google Shape;35;p14"/>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36" name="Google Shape;36;p14"/>
          <p:cNvPicPr preferRelativeResize="0"/>
          <p:nvPr/>
        </p:nvPicPr>
        <p:blipFill rotWithShape="1">
          <a:blip r:embed="rId2">
            <a:alphaModFix/>
          </a:blip>
          <a:srcRect b="0" l="0" r="0" t="0"/>
          <a:stretch/>
        </p:blipFill>
        <p:spPr>
          <a:xfrm>
            <a:off x="3266632" y="2935051"/>
            <a:ext cx="5658736" cy="1481674"/>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5">
    <p:bg>
      <p:bgPr>
        <a:solidFill>
          <a:srgbClr val="991346"/>
        </a:solidFill>
      </p:bgPr>
    </p:bg>
    <p:spTree>
      <p:nvGrpSpPr>
        <p:cNvPr id="37" name="Shape 37"/>
        <p:cNvGrpSpPr/>
        <p:nvPr/>
      </p:nvGrpSpPr>
      <p:grpSpPr>
        <a:xfrm>
          <a:off x="0" y="0"/>
          <a:ext cx="0" cy="0"/>
          <a:chOff x="0" y="0"/>
          <a:chExt cx="0" cy="0"/>
        </a:xfrm>
      </p:grpSpPr>
      <p:sp>
        <p:nvSpPr>
          <p:cNvPr id="38" name="Google Shape;38;p17"/>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 name="Google Shape;39;p17"/>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40" name="Google Shape;40;p17"/>
          <p:cNvPicPr preferRelativeResize="0"/>
          <p:nvPr/>
        </p:nvPicPr>
        <p:blipFill rotWithShape="1">
          <a:blip r:embed="rId2">
            <a:alphaModFix/>
          </a:blip>
          <a:srcRect b="0" l="0" r="0" t="0"/>
          <a:stretch/>
        </p:blipFill>
        <p:spPr>
          <a:xfrm>
            <a:off x="3252292" y="3053751"/>
            <a:ext cx="5652911" cy="1259457"/>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6">
    <p:bg>
      <p:bgPr>
        <a:solidFill>
          <a:srgbClr val="991346"/>
        </a:solidFill>
      </p:bgPr>
    </p:bg>
    <p:spTree>
      <p:nvGrpSpPr>
        <p:cNvPr id="41" name="Shape 41"/>
        <p:cNvGrpSpPr/>
        <p:nvPr/>
      </p:nvGrpSpPr>
      <p:grpSpPr>
        <a:xfrm>
          <a:off x="0" y="0"/>
          <a:ext cx="0" cy="0"/>
          <a:chOff x="0" y="0"/>
          <a:chExt cx="0" cy="0"/>
        </a:xfrm>
      </p:grpSpPr>
      <p:sp>
        <p:nvSpPr>
          <p:cNvPr id="42" name="Google Shape;42;p16"/>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3" name="Google Shape;43;p16"/>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Sponsors!</a:t>
            </a:r>
            <a:endParaRPr b="0" i="0" sz="600" u="none" cap="none" strike="noStrike">
              <a:solidFill>
                <a:srgbClr val="000000"/>
              </a:solidFill>
              <a:latin typeface="Montserrat"/>
              <a:ea typeface="Montserrat"/>
              <a:cs typeface="Montserrat"/>
              <a:sym typeface="Montserrat"/>
            </a:endParaRPr>
          </a:p>
        </p:txBody>
      </p:sp>
      <p:pic>
        <p:nvPicPr>
          <p:cNvPr id="44" name="Google Shape;44;p16"/>
          <p:cNvPicPr preferRelativeResize="0"/>
          <p:nvPr/>
        </p:nvPicPr>
        <p:blipFill rotWithShape="1">
          <a:blip r:embed="rId2">
            <a:alphaModFix/>
          </a:blip>
          <a:srcRect b="0" l="0" r="0" t="0"/>
          <a:stretch/>
        </p:blipFill>
        <p:spPr>
          <a:xfrm>
            <a:off x="1133089" y="2338977"/>
            <a:ext cx="2681328" cy="917769"/>
          </a:xfrm>
          <a:prstGeom prst="rect">
            <a:avLst/>
          </a:prstGeom>
          <a:noFill/>
          <a:ln>
            <a:noFill/>
          </a:ln>
        </p:spPr>
      </p:pic>
      <p:pic>
        <p:nvPicPr>
          <p:cNvPr id="45" name="Google Shape;45;p16"/>
          <p:cNvPicPr preferRelativeResize="0"/>
          <p:nvPr/>
        </p:nvPicPr>
        <p:blipFill rotWithShape="1">
          <a:blip r:embed="rId3">
            <a:alphaModFix/>
          </a:blip>
          <a:srcRect b="0" l="0" r="0" t="0"/>
          <a:stretch/>
        </p:blipFill>
        <p:spPr>
          <a:xfrm>
            <a:off x="8377580" y="2376970"/>
            <a:ext cx="2335677" cy="926857"/>
          </a:xfrm>
          <a:prstGeom prst="rect">
            <a:avLst/>
          </a:prstGeom>
          <a:noFill/>
          <a:ln>
            <a:noFill/>
          </a:ln>
        </p:spPr>
      </p:pic>
      <p:pic>
        <p:nvPicPr>
          <p:cNvPr id="46" name="Google Shape;46;p16"/>
          <p:cNvPicPr preferRelativeResize="0"/>
          <p:nvPr/>
        </p:nvPicPr>
        <p:blipFill rotWithShape="1">
          <a:blip r:embed="rId4">
            <a:alphaModFix/>
          </a:blip>
          <a:srcRect b="0" l="0" r="0" t="0"/>
          <a:stretch/>
        </p:blipFill>
        <p:spPr>
          <a:xfrm>
            <a:off x="2408578" y="4285905"/>
            <a:ext cx="2811678" cy="736205"/>
          </a:xfrm>
          <a:prstGeom prst="rect">
            <a:avLst/>
          </a:prstGeom>
          <a:noFill/>
          <a:ln>
            <a:noFill/>
          </a:ln>
        </p:spPr>
      </p:pic>
      <p:pic>
        <p:nvPicPr>
          <p:cNvPr id="47" name="Google Shape;47;p16"/>
          <p:cNvPicPr preferRelativeResize="0"/>
          <p:nvPr/>
        </p:nvPicPr>
        <p:blipFill rotWithShape="1">
          <a:blip r:embed="rId5">
            <a:alphaModFix/>
          </a:blip>
          <a:srcRect b="0" l="0" r="0" t="0"/>
          <a:stretch/>
        </p:blipFill>
        <p:spPr>
          <a:xfrm>
            <a:off x="6296843" y="4330017"/>
            <a:ext cx="3106371" cy="692093"/>
          </a:xfrm>
          <a:prstGeom prst="rect">
            <a:avLst/>
          </a:prstGeom>
          <a:noFill/>
          <a:ln>
            <a:noFill/>
          </a:ln>
        </p:spPr>
      </p:pic>
      <p:pic>
        <p:nvPicPr>
          <p:cNvPr id="48" name="Google Shape;48;p16"/>
          <p:cNvPicPr preferRelativeResize="0"/>
          <p:nvPr/>
        </p:nvPicPr>
        <p:blipFill rotWithShape="1">
          <a:blip r:embed="rId6">
            <a:alphaModFix/>
          </a:blip>
          <a:srcRect b="0" l="0" r="0" t="0"/>
          <a:stretch/>
        </p:blipFill>
        <p:spPr>
          <a:xfrm>
            <a:off x="4485737" y="2495115"/>
            <a:ext cx="3191774" cy="70516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7">
    <p:bg>
      <p:bgPr>
        <a:solidFill>
          <a:srgbClr val="991346"/>
        </a:solidFill>
      </p:bgPr>
    </p:bg>
    <p:spTree>
      <p:nvGrpSpPr>
        <p:cNvPr id="49" name="Shape 49"/>
        <p:cNvGrpSpPr/>
        <p:nvPr/>
      </p:nvGrpSpPr>
      <p:grpSpPr>
        <a:xfrm>
          <a:off x="0" y="0"/>
          <a:ext cx="0" cy="0"/>
          <a:chOff x="0" y="0"/>
          <a:chExt cx="0" cy="0"/>
        </a:xfrm>
      </p:grpSpPr>
      <p:sp>
        <p:nvSpPr>
          <p:cNvPr id="50" name="Google Shape;50;p18"/>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 name="Google Shape;51;p18"/>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fontScale="85000" lnSpcReduction="10000"/>
          </a:bodyPr>
          <a:lstStyle/>
          <a:p>
            <a:pPr indent="0" lvl="0" marL="0" marR="0" rtl="0" algn="ctr">
              <a:lnSpc>
                <a:spcPct val="90000"/>
              </a:lnSpc>
              <a:spcBef>
                <a:spcPts val="0"/>
              </a:spcBef>
              <a:spcAft>
                <a:spcPts val="0"/>
              </a:spcAft>
              <a:buClr>
                <a:schemeClr val="lt1"/>
              </a:buClr>
              <a:buSzPct val="245098"/>
              <a:buFont typeface="Arial"/>
              <a:buNone/>
            </a:pPr>
            <a:r>
              <a:rPr b="1" i="0" lang="en-CA" sz="3600" u="none" cap="none" strike="noStrike">
                <a:solidFill>
                  <a:schemeClr val="lt1"/>
                </a:solidFill>
                <a:latin typeface="Montserrat"/>
                <a:ea typeface="Montserrat"/>
                <a:cs typeface="Montserrat"/>
                <a:sym typeface="Montserrat"/>
              </a:rPr>
              <a:t>Thank you to our SESSION RECORDING Sponsor!</a:t>
            </a:r>
            <a:endParaRPr b="0" i="0" sz="600" u="none" cap="none" strike="noStrike">
              <a:solidFill>
                <a:srgbClr val="000000"/>
              </a:solidFill>
              <a:latin typeface="Montserrat"/>
              <a:ea typeface="Montserrat"/>
              <a:cs typeface="Montserrat"/>
              <a:sym typeface="Montserrat"/>
            </a:endParaRPr>
          </a:p>
        </p:txBody>
      </p:sp>
      <p:pic>
        <p:nvPicPr>
          <p:cNvPr id="52" name="Google Shape;52;p18"/>
          <p:cNvPicPr preferRelativeResize="0"/>
          <p:nvPr/>
        </p:nvPicPr>
        <p:blipFill rotWithShape="1">
          <a:blip r:embed="rId2">
            <a:alphaModFix/>
          </a:blip>
          <a:srcRect b="0" l="0" r="0" t="0"/>
          <a:stretch/>
        </p:blipFill>
        <p:spPr>
          <a:xfrm>
            <a:off x="3288074" y="2724912"/>
            <a:ext cx="5396396" cy="1847088"/>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2"/>
          <p:cNvSpPr txBox="1"/>
          <p:nvPr/>
        </p:nvSpPr>
        <p:spPr>
          <a:xfrm>
            <a:off x="729046" y="3574272"/>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3600"/>
              <a:buFont typeface="Arial"/>
              <a:buNone/>
            </a:pPr>
            <a:r>
              <a:rPr b="0" i="1" lang="en-CA" sz="1800" u="none" cap="none" strike="noStrike">
                <a:solidFill>
                  <a:schemeClr val="lt1"/>
                </a:solidFill>
                <a:latin typeface="Arial"/>
                <a:ea typeface="Arial"/>
                <a:cs typeface="Arial"/>
                <a:sym typeface="Arial"/>
              </a:rPr>
              <a:t>Danilo Souza, AWS Professional Services</a:t>
            </a:r>
            <a:endParaRPr b="0" i="0" sz="1400" u="none" cap="none" strike="noStrike">
              <a:solidFill>
                <a:schemeClr val="lt1"/>
              </a:solidFill>
              <a:latin typeface="Arial"/>
              <a:ea typeface="Arial"/>
              <a:cs typeface="Arial"/>
              <a:sym typeface="Arial"/>
            </a:endParaRPr>
          </a:p>
          <a:p>
            <a:pPr indent="0" lvl="0" marL="0" marR="0" rtl="0" algn="l">
              <a:lnSpc>
                <a:spcPct val="90000"/>
              </a:lnSpc>
              <a:spcBef>
                <a:spcPts val="0"/>
              </a:spcBef>
              <a:spcAft>
                <a:spcPts val="0"/>
              </a:spcAft>
              <a:buClr>
                <a:schemeClr val="lt1"/>
              </a:buClr>
              <a:buSzPts val="3600"/>
              <a:buFont typeface="Arial"/>
              <a:buNone/>
            </a:pPr>
            <a:r>
              <a:rPr b="0" i="1" lang="en-CA" sz="1800" u="none" cap="none" strike="noStrike">
                <a:solidFill>
                  <a:schemeClr val="lt1"/>
                </a:solidFill>
                <a:latin typeface="Arial"/>
                <a:ea typeface="Arial"/>
                <a:cs typeface="Arial"/>
                <a:sym typeface="Arial"/>
              </a:rPr>
              <a:t>Henrique Santana, AWS Support</a:t>
            </a:r>
            <a:endParaRPr b="0" i="0" sz="1400" u="none" cap="none" strike="noStrike">
              <a:solidFill>
                <a:schemeClr val="lt1"/>
              </a:solidFill>
              <a:latin typeface="Arial"/>
              <a:ea typeface="Arial"/>
              <a:cs typeface="Arial"/>
              <a:sym typeface="Arial"/>
            </a:endParaRPr>
          </a:p>
          <a:p>
            <a:pPr algn="l"/>
            <a:r>
              <a:rPr b="0" i="1" lang="en-CA" sz="1400" u="none" cap="none" strike="noStrike">
                <a:solidFill>
                  <a:schemeClr val="lt1"/>
                </a:solidFill>
                <a:latin typeface="Arial"/>
                <a:ea typeface="Arial"/>
                <a:cs typeface="Arial"/>
                <a:sym typeface="Arial"/>
              </a:rPr>
              <a:t>Observability Day North America, Salt Lake City, 9 November 2026</a:t>
            </a:r>
          </a:p>
        </p:txBody>
      </p:sp>
      <p:sp>
        <p:nvSpPr>
          <p:cNvPr id="80" name="Google Shape;80;p2"/>
          <p:cNvSpPr txBox="1"/>
          <p:nvPr/>
        </p:nvSpPr>
        <p:spPr>
          <a:xfrm>
            <a:off x="627791" y="2098709"/>
            <a:ext cx="10515600" cy="15000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7500"/>
              <a:buFont typeface="Arial"/>
              <a:buNone/>
            </a:pPr>
            <a:r>
              <a:rPr b="1" i="0" lang="en-CA" sz="4000" u="none" cap="none" strike="noStrike">
                <a:solidFill>
                  <a:schemeClr val="lt1"/>
                </a:solidFill>
                <a:latin typeface="Arial"/>
                <a:ea typeface="Arial"/>
                <a:cs typeface="Arial"/>
                <a:sym typeface="Arial"/>
              </a:rPr>
              <a:t>Inference Is a Black Box</a:t>
            </a:r>
            <a:endParaRPr b="0" i="0" sz="1400" u="none" cap="none" strike="noStrike">
              <a:solidFill>
                <a:schemeClr val="lt1"/>
              </a:solidFill>
              <a:latin typeface="Arial"/>
              <a:ea typeface="Arial"/>
              <a:cs typeface="Arial"/>
              <a:sym typeface="Arial"/>
            </a:endParaRPr>
          </a:p>
          <a:p>
            <a:pPr algn="l"/>
            <a:r>
              <a:rPr b="0" i="0" lang="en-CA" sz="2200" u="none" cap="none" strike="noStrike">
                <a:solidFill>
                  <a:schemeClr val="lt1"/>
                </a:solidFill>
                <a:latin typeface="Arial"/>
                <a:ea typeface="Arial"/>
                <a:cs typeface="Arial"/>
                <a:sym typeface="Arial"/>
              </a:rPr>
              <a:t>How We Built GPU-Aware Observability with Fluent Bit and OpenTelemetry</a:t>
            </a:r>
          </a:p>
        </p:txBody>
      </p:sp>
      <p:sp>
        <p:nvSpPr>
          <p:cNvPr id="81" name="Rounded Rectangle 80"/>
          <p:cNvSpPr/>
          <p:nvPr/>
        </p:nvSpPr>
        <p:spPr>
          <a:xfrm>
            <a:off x="729046" y="5100000"/>
            <a:ext cx="3000000" cy="560000"/>
          </a:xfrm>
          <a:prstGeom prst="roundRect">
            <a:avLst>
              <a:gd name="adj" fmla="val 50000"/>
            </a:avLst>
          </a:prstGeom>
          <a:solidFill>
            <a:srgbClr val="FFFFFF"/>
          </a:solidFill>
          <a:ln>
            <a:noFill/>
          </a:ln>
        </p:spPr>
        <p:txBody>
          <a:bodyPr rtlCol="0" anchor="ctr" lIns="90000" rIns="90000" tIns="0" bIns="0"/>
          <a:lstStyle/>
          <a:p>
            <a:pPr algn="ctr"/>
            <a:r>
              <a:rPr sz="1800" b="1" i="0">
                <a:solidFill>
                  <a:srgbClr val="C62828"/>
                </a:solidFill>
                <a:latin typeface="Arial"/>
              </a:rPr>
              <a:t>GPU dashboard = ?</a:t>
            </a:r>
          </a:p>
        </p:txBody>
      </p:sp>
      <p:sp>
        <p:nvSpPr>
          <p:cNvPr id="82" name="Rounded Rectangle 81"/>
          <p:cNvSpPr/>
          <p:nvPr/>
        </p:nvSpPr>
        <p:spPr>
          <a:xfrm>
            <a:off x="4029046" y="5100000"/>
            <a:ext cx="3400000" cy="560000"/>
          </a:xfrm>
          <a:prstGeom prst="roundRect">
            <a:avLst>
              <a:gd name="adj" fmla="val 50000"/>
            </a:avLst>
          </a:prstGeom>
          <a:solidFill>
            <a:srgbClr val="FFFFFF"/>
          </a:solidFill>
          <a:ln>
            <a:noFill/>
          </a:ln>
        </p:spPr>
        <p:txBody>
          <a:bodyPr rtlCol="0" anchor="ctr" lIns="90000" rIns="90000" tIns="0" bIns="0"/>
          <a:lstStyle/>
          <a:p>
            <a:pPr algn="ctr"/>
            <a:r>
              <a:rPr sz="1800" b="1" i="0">
                <a:solidFill>
                  <a:srgbClr val="2E7D32"/>
                </a:solidFill>
                <a:latin typeface="Arial"/>
              </a:rPr>
              <a:t>One log line = answer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02:14. p99 doubles. Every GPU chart is green.</a:t>
            </a:r>
          </a:p>
        </p:txBody>
      </p:sp>
      <p:sp>
        <p:nvSpPr>
          <p:cNvPr id="3" name="TextBox 2"/>
          <p:cNvSpPr txBox="1"/>
          <p:nvPr/>
        </p:nvSpPr>
        <p:spPr>
          <a:xfrm>
            <a:off x="403682" y="1400000"/>
            <a:ext cx="4300000" cy="1000000"/>
          </a:xfrm>
          <a:prstGeom prst="rect">
            <a:avLst/>
          </a:prstGeom>
          <a:noFill/>
        </p:spPr>
        <p:txBody>
          <a:bodyPr wrap="square" anchor="t">
            <a:spAutoFit/>
          </a:bodyPr>
          <a:lstStyle/>
          <a:p>
            <a:pPr algn="l">
              <a:spcAft>
                <a:spcPts val="0"/>
              </a:spcAft>
            </a:pPr>
            <a:r>
              <a:rPr sz="7200" b="1" i="0">
                <a:solidFill>
                  <a:srgbClr val="991346"/>
                </a:solidFill>
                <a:latin typeface="Arial"/>
              </a:rPr>
              <a:t>02:14</a:t>
            </a:r>
          </a:p>
        </p:txBody>
      </p:sp>
      <p:pic>
        <p:nvPicPr>
          <p:cNvPr id="4" name="Picture 3" descr="p99-spark.png"/>
          <p:cNvPicPr>
            <a:picLocks noChangeAspect="1"/>
          </p:cNvPicPr>
          <p:nvPr/>
        </p:nvPicPr>
        <p:blipFill>
          <a:blip r:embed="rId3"/>
          <a:stretch>
            <a:fillRect/>
          </a:stretch>
        </p:blipFill>
        <p:spPr>
          <a:xfrm>
            <a:off x="403682" y="2300000"/>
            <a:ext cx="4100000" cy="2050000"/>
          </a:xfrm>
          <a:prstGeom prst="rect">
            <a:avLst/>
          </a:prstGeom>
        </p:spPr>
      </p:pic>
      <p:sp>
        <p:nvSpPr>
          <p:cNvPr id="5" name="TextBox 4"/>
          <p:cNvSpPr txBox="1"/>
          <p:nvPr/>
        </p:nvSpPr>
        <p:spPr>
          <a:xfrm>
            <a:off x="403682" y="4400000"/>
            <a:ext cx="4000000" cy="1100000"/>
          </a:xfrm>
          <a:prstGeom prst="rect">
            <a:avLst/>
          </a:prstGeom>
          <a:noFill/>
        </p:spPr>
        <p:txBody>
          <a:bodyPr wrap="square" anchor="t">
            <a:spAutoFit/>
          </a:bodyPr>
          <a:lstStyle/>
          <a:p>
            <a:pPr algn="l">
              <a:spcAft>
                <a:spcPts val="600"/>
              </a:spcAft>
            </a:pPr>
            <a:r>
              <a:rPr sz="2000" b="0" i="0">
                <a:solidFill>
                  <a:srgbClr val="262626"/>
                </a:solidFill>
                <a:latin typeface="Arial"/>
              </a:rPr>
              <a:t>The model is healthy.</a:t>
            </a:r>
          </a:p>
          <a:p>
            <a:pPr algn="l">
              <a:spcAft>
                <a:spcPts val="600"/>
              </a:spcAft>
            </a:pPr>
            <a:r>
              <a:rPr sz="2000" b="0" i="0">
                <a:solidFill>
                  <a:srgbClr val="262626"/>
                </a:solidFill>
                <a:latin typeface="Arial"/>
              </a:rPr>
              <a:t>The pods are Ready.</a:t>
            </a:r>
          </a:p>
          <a:p>
            <a:pPr algn="l">
              <a:spcAft>
                <a:spcPts val="0"/>
              </a:spcAft>
            </a:pPr>
            <a:r>
              <a:rPr sz="2000" b="0" i="0">
                <a:solidFill>
                  <a:srgbClr val="262626"/>
                </a:solidFill>
                <a:latin typeface="Arial"/>
              </a:rPr>
              <a:t>Nothing is throttled.</a:t>
            </a:r>
          </a:p>
        </p:txBody>
      </p:sp>
      <p:sp>
        <p:nvSpPr>
          <p:cNvPr id="6" name="TextBox 5"/>
          <p:cNvSpPr txBox="1"/>
          <p:nvPr/>
        </p:nvSpPr>
        <p:spPr>
          <a:xfrm>
            <a:off x="403682" y="5550000"/>
            <a:ext cx="4300000" cy="800000"/>
          </a:xfrm>
          <a:prstGeom prst="rect">
            <a:avLst/>
          </a:prstGeom>
          <a:noFill/>
        </p:spPr>
        <p:txBody>
          <a:bodyPr wrap="square" anchor="t">
            <a:spAutoFit/>
          </a:bodyPr>
          <a:lstStyle/>
          <a:p>
            <a:pPr algn="l">
              <a:spcAft>
                <a:spcPts val="0"/>
              </a:spcAft>
            </a:pPr>
            <a:r>
              <a:rPr sz="3200" b="1" i="0">
                <a:solidFill>
                  <a:srgbClr val="991346"/>
                </a:solidFill>
                <a:latin typeface="Arial"/>
              </a:rPr>
              <a:t>Nobody knows why.</a:t>
            </a:r>
          </a:p>
        </p:txBody>
      </p:sp>
      <p:pic>
        <p:nvPicPr>
          <p:cNvPr id="7" name="Picture 6" descr="incident-oncall.png"/>
          <p:cNvPicPr>
            <a:picLocks noChangeAspect="1"/>
          </p:cNvPicPr>
          <p:nvPr/>
        </p:nvPicPr>
        <p:blipFill>
          <a:blip r:embed="rId4"/>
          <a:stretch>
            <a:fillRect/>
          </a:stretch>
        </p:blipFill>
        <p:spPr>
          <a:xfrm>
            <a:off x="4759031" y="1350000"/>
            <a:ext cx="6973937" cy="3985107"/>
          </a:xfrm>
          <a:prstGeom prst="rect">
            <a:avLst/>
          </a:prstGeom>
        </p:spPr>
      </p:pic>
      <p:sp>
        <p:nvSpPr>
          <p:cNvPr id="8" name="Rectangle 7"/>
          <p:cNvSpPr/>
          <p:nvPr/>
        </p:nvSpPr>
        <p:spPr>
          <a:xfrm>
            <a:off x="4759031" y="1350000"/>
            <a:ext cx="6973937" cy="3985107"/>
          </a:xfrm>
          <a:prstGeom prst="rect">
            <a:avLst/>
          </a:prstGeom>
          <a:noFill/>
          <a:ln w="9525">
            <a:solidFill>
              <a:srgbClr val="DDDDDD"/>
            </a:solidFill>
          </a:ln>
        </p:spPr>
        <p:txBody>
          <a:bodyPr rtlCol="0" anchor="ctr"/>
          <a:lstStyle/>
          <a:p>
            <a:pPr algn="ctr"/>
          </a:p>
        </p:txBody>
      </p:sp>
      <p:sp>
        <p:nvSpPr>
          <p:cNvPr id="9" name="TextBox 8"/>
          <p:cNvSpPr txBox="1"/>
          <p:nvPr/>
        </p:nvSpPr>
        <p:spPr>
          <a:xfrm>
            <a:off x="4703682" y="5485107"/>
            <a:ext cx="7084636" cy="700000"/>
          </a:xfrm>
          <a:prstGeom prst="rect">
            <a:avLst/>
          </a:prstGeom>
          <a:noFill/>
        </p:spPr>
        <p:txBody>
          <a:bodyPr wrap="square" anchor="t">
            <a:spAutoFit/>
          </a:bodyPr>
          <a:lstStyle/>
          <a:p>
            <a:pPr algn="ctr">
              <a:spcAft>
                <a:spcPts val="0"/>
              </a:spcAft>
            </a:pPr>
            <a:r>
              <a:rPr sz="1800" b="0" i="0">
                <a:solidFill>
                  <a:srgbClr val="6B6B6B"/>
                </a:solidFill>
                <a:latin typeface="Arial"/>
              </a:rPr>
              <a:t>Every signal the hardware gives you says: busy and healthy.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Utilisation alone tells you nothing.</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Industry average production GPU utilisation ~5%: Cast AI, State of GPU utilisation 2026 (cast.ai/blog/fractional-gpu-kubernetes)</a:t>
            </a:r>
          </a:p>
        </p:txBody>
      </p:sp>
      <p:sp>
        <p:nvSpPr>
          <p:cNvPr id="4" name="Rounded Rectangle 3"/>
          <p:cNvSpPr/>
          <p:nvPr/>
        </p:nvSpPr>
        <p:spPr>
          <a:xfrm>
            <a:off x="403682" y="1250000"/>
            <a:ext cx="5492318" cy="3600000"/>
          </a:xfrm>
          <a:prstGeom prst="roundRect">
            <a:avLst>
              <a:gd name="adj" fmla="val 8000"/>
            </a:avLst>
          </a:prstGeom>
          <a:solidFill>
            <a:srgbClr val="FBE5E5"/>
          </a:solidFill>
          <a:ln>
            <a:noFill/>
          </a:ln>
        </p:spPr>
        <p:txBody>
          <a:bodyPr rtlCol="0" anchor="ctr"/>
          <a:lstStyle/>
          <a:p/>
        </p:txBody>
      </p:sp>
      <p:sp>
        <p:nvSpPr>
          <p:cNvPr id="5" name="TextBox 4"/>
          <p:cNvSpPr txBox="1"/>
          <p:nvPr/>
        </p:nvSpPr>
        <p:spPr>
          <a:xfrm>
            <a:off x="403682" y="1250000"/>
            <a:ext cx="5492318" cy="3600000"/>
          </a:xfrm>
          <a:prstGeom prst="rect">
            <a:avLst/>
          </a:prstGeom>
          <a:noFill/>
        </p:spPr>
        <p:txBody>
          <a:bodyPr wrap="square" anchor="ctr">
            <a:spAutoFit/>
          </a:bodyPr>
          <a:lstStyle/>
          <a:p>
            <a:pPr algn="ctr">
              <a:spcAft>
                <a:spcPts val="0"/>
              </a:spcAft>
            </a:pPr>
            <a:r>
              <a:rPr sz="13000" b="1" i="0">
                <a:solidFill>
                  <a:srgbClr val="C62828"/>
                </a:solidFill>
                <a:latin typeface="Arial"/>
              </a:rPr>
              <a:t>95%</a:t>
            </a:r>
          </a:p>
          <a:p>
            <a:pPr algn="ctr">
              <a:spcAft>
                <a:spcPts val="0"/>
              </a:spcAft>
            </a:pPr>
            <a:r>
              <a:rPr sz="2200" b="1" i="0">
                <a:solidFill>
                  <a:srgbClr val="262626"/>
                </a:solidFill>
                <a:latin typeface="Arial"/>
              </a:rPr>
              <a:t>our fleet at 02:14</a:t>
            </a:r>
          </a:p>
          <a:p>
            <a:pPr algn="ctr">
              <a:spcAft>
                <a:spcPts val="0"/>
              </a:spcAft>
            </a:pPr>
            <a:r>
              <a:rPr sz="1800" b="0" i="0">
                <a:solidFill>
                  <a:srgbClr val="6B6B6B"/>
                </a:solidFill>
                <a:latin typeface="Arial"/>
              </a:rPr>
              <a:t>looks saturated</a:t>
            </a:r>
          </a:p>
        </p:txBody>
      </p:sp>
      <p:sp>
        <p:nvSpPr>
          <p:cNvPr id="6" name="Rounded Rectangle 5"/>
          <p:cNvSpPr/>
          <p:nvPr/>
        </p:nvSpPr>
        <p:spPr>
          <a:xfrm>
            <a:off x="6296000" y="1250000"/>
            <a:ext cx="5492318" cy="3600000"/>
          </a:xfrm>
          <a:prstGeom prst="roundRect">
            <a:avLst>
              <a:gd name="adj" fmla="val 8000"/>
            </a:avLst>
          </a:prstGeom>
          <a:solidFill>
            <a:srgbClr val="E4EEF8"/>
          </a:solidFill>
          <a:ln>
            <a:noFill/>
          </a:ln>
        </p:spPr>
        <p:txBody>
          <a:bodyPr rtlCol="0" anchor="ctr"/>
          <a:lstStyle/>
          <a:p/>
        </p:txBody>
      </p:sp>
      <p:sp>
        <p:nvSpPr>
          <p:cNvPr id="7" name="TextBox 6"/>
          <p:cNvSpPr txBox="1"/>
          <p:nvPr/>
        </p:nvSpPr>
        <p:spPr>
          <a:xfrm>
            <a:off x="6296000" y="1250000"/>
            <a:ext cx="5492318" cy="3600000"/>
          </a:xfrm>
          <a:prstGeom prst="rect">
            <a:avLst/>
          </a:prstGeom>
          <a:noFill/>
        </p:spPr>
        <p:txBody>
          <a:bodyPr wrap="square" anchor="ctr">
            <a:spAutoFit/>
          </a:bodyPr>
          <a:lstStyle/>
          <a:p>
            <a:pPr algn="ctr">
              <a:spcAft>
                <a:spcPts val="0"/>
              </a:spcAft>
            </a:pPr>
            <a:r>
              <a:rPr sz="13000" b="1" i="0">
                <a:solidFill>
                  <a:srgbClr val="1F5FA8"/>
                </a:solidFill>
                <a:latin typeface="Arial"/>
              </a:rPr>
              <a:t>~5%</a:t>
            </a:r>
          </a:p>
          <a:p>
            <a:pPr algn="ctr">
              <a:spcAft>
                <a:spcPts val="0"/>
              </a:spcAft>
            </a:pPr>
            <a:r>
              <a:rPr sz="2200" b="1" i="0">
                <a:solidFill>
                  <a:srgbClr val="262626"/>
                </a:solidFill>
                <a:latin typeface="Arial"/>
              </a:rPr>
              <a:t>industry average</a:t>
            </a:r>
          </a:p>
          <a:p>
            <a:pPr algn="ctr">
              <a:spcAft>
                <a:spcPts val="0"/>
              </a:spcAft>
            </a:pPr>
            <a:r>
              <a:rPr sz="1800" b="0" i="0">
                <a:solidFill>
                  <a:srgbClr val="6B6B6B"/>
                </a:solidFill>
                <a:latin typeface="Arial"/>
              </a:rPr>
              <a:t>looks idle</a:t>
            </a:r>
          </a:p>
        </p:txBody>
      </p:sp>
      <p:sp>
        <p:nvSpPr>
          <p:cNvPr id="8" name="TextBox 7"/>
          <p:cNvSpPr txBox="1"/>
          <p:nvPr/>
        </p:nvSpPr>
        <p:spPr>
          <a:xfrm>
            <a:off x="403682" y="4900000"/>
            <a:ext cx="11384636" cy="500000"/>
          </a:xfrm>
          <a:prstGeom prst="rect">
            <a:avLst/>
          </a:prstGeom>
          <a:noFill/>
        </p:spPr>
        <p:txBody>
          <a:bodyPr wrap="square" anchor="t">
            <a:spAutoFit/>
          </a:bodyPr>
          <a:lstStyle/>
          <a:p>
            <a:pPr algn="ctr">
              <a:spcAft>
                <a:spcPts val="0"/>
              </a:spcAft>
            </a:pPr>
            <a:r>
              <a:rPr sz="1800" b="0" i="0">
                <a:solidFill>
                  <a:srgbClr val="6B6B6B"/>
                </a:solidFill>
                <a:latin typeface="Courier New"/>
              </a:rPr>
              <a:t>DCGM_FI_DEV_GPU_UTIL</a:t>
            </a:r>
          </a:p>
        </p:txBody>
      </p:sp>
      <p:sp>
        <p:nvSpPr>
          <p:cNvPr id="9" name="TextBox 8"/>
          <p:cNvSpPr txBox="1"/>
          <p:nvPr/>
        </p:nvSpPr>
        <p:spPr>
          <a:xfrm>
            <a:off x="403682" y="5450000"/>
            <a:ext cx="11384636" cy="800000"/>
          </a:xfrm>
          <a:prstGeom prst="rect">
            <a:avLst/>
          </a:prstGeom>
          <a:noFill/>
        </p:spPr>
        <p:txBody>
          <a:bodyPr wrap="square" anchor="ctr">
            <a:spAutoFit/>
          </a:bodyPr>
          <a:lstStyle/>
          <a:p>
            <a:pPr algn="l">
              <a:spcAft>
                <a:spcPts val="0"/>
              </a:spcAft>
            </a:pPr>
            <a:r>
              <a:rPr sz="2400" b="1" i="0">
                <a:solidFill>
                  <a:srgbClr val="991346"/>
                </a:solidFill>
                <a:latin typeface="Arial"/>
              </a:rPr>
              <a:t>On its own, this number says nothing about the inference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Memory usage is a config value, not a warning.</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Live rig, Oct 6 2026: two vLLM pods, facebook/opt-125m, EKS Auto Mode, g5.xlarge (A10G 24 GB).</a:t>
            </a:r>
          </a:p>
        </p:txBody>
      </p:sp>
      <p:pic>
        <p:nvPicPr>
          <p:cNvPr id="4" name="Picture 3" descr="panel-2.png"/>
          <p:cNvPicPr>
            <a:picLocks noChangeAspect="1"/>
          </p:cNvPicPr>
          <p:nvPr/>
        </p:nvPicPr>
        <p:blipFill>
          <a:blip r:embed="rId3"/>
          <a:stretch>
            <a:fillRect/>
          </a:stretch>
        </p:blipFill>
        <p:spPr>
          <a:xfrm>
            <a:off x="1692774" y="1250000"/>
            <a:ext cx="8806451" cy="3900000"/>
          </a:xfrm>
          <a:prstGeom prst="rect">
            <a:avLst/>
          </a:prstGeom>
        </p:spPr>
      </p:pic>
      <p:sp>
        <p:nvSpPr>
          <p:cNvPr id="5" name="Rectangle 4"/>
          <p:cNvSpPr/>
          <p:nvPr/>
        </p:nvSpPr>
        <p:spPr>
          <a:xfrm>
            <a:off x="1692774" y="1250000"/>
            <a:ext cx="8806451" cy="3900000"/>
          </a:xfrm>
          <a:prstGeom prst="rect">
            <a:avLst/>
          </a:prstGeom>
          <a:noFill/>
          <a:ln w="9525">
            <a:solidFill>
              <a:srgbClr val="DDDDDD"/>
            </a:solidFill>
          </a:ln>
        </p:spPr>
        <p:txBody>
          <a:bodyPr rtlCol="0" anchor="ctr"/>
          <a:lstStyle/>
          <a:p>
            <a:pPr algn="ctr"/>
          </a:p>
        </p:txBody>
      </p:sp>
      <p:sp>
        <p:nvSpPr>
          <p:cNvPr id="6" name="Rounded Rectangle 5"/>
          <p:cNvSpPr/>
          <p:nvPr/>
        </p:nvSpPr>
        <p:spPr>
          <a:xfrm>
            <a:off x="7999225" y="1718000"/>
            <a:ext cx="2300000" cy="640000"/>
          </a:xfrm>
          <a:prstGeom prst="roundRect">
            <a:avLst>
              <a:gd name="adj" fmla="val 12000"/>
            </a:avLst>
          </a:prstGeom>
          <a:solidFill>
            <a:srgbClr val="2E7D32"/>
          </a:solidFill>
          <a:ln>
            <a:noFill/>
          </a:ln>
        </p:spPr>
        <p:txBody>
          <a:bodyPr rtlCol="0" anchor="ctr"/>
          <a:lstStyle/>
          <a:p/>
        </p:txBody>
      </p:sp>
      <p:sp>
        <p:nvSpPr>
          <p:cNvPr id="7" name="TextBox 6"/>
          <p:cNvSpPr txBox="1"/>
          <p:nvPr/>
        </p:nvSpPr>
        <p:spPr>
          <a:xfrm>
            <a:off x="7999225" y="1718000"/>
            <a:ext cx="2300000" cy="640000"/>
          </a:xfrm>
          <a:prstGeom prst="rect">
            <a:avLst/>
          </a:prstGeom>
          <a:noFill/>
        </p:spPr>
        <p:txBody>
          <a:bodyPr wrap="square" anchor="ctr">
            <a:spAutoFit/>
          </a:bodyPr>
          <a:lstStyle/>
          <a:p>
            <a:pPr algn="ctr">
              <a:spcAft>
                <a:spcPts val="0"/>
              </a:spcAft>
            </a:pPr>
            <a:r>
              <a:rPr sz="2000" b="1" i="0">
                <a:solidFill>
                  <a:srgbClr val="FFFFFF"/>
                </a:solidFill>
                <a:latin typeface="Arial"/>
              </a:rPr>
              <a:t>20.5 GB, flat</a:t>
            </a:r>
          </a:p>
          <a:p>
            <a:pPr algn="ctr">
              <a:spcAft>
                <a:spcPts val="0"/>
              </a:spcAft>
            </a:pPr>
            <a:r>
              <a:rPr sz="1400" b="0" i="0">
                <a:solidFill>
                  <a:srgbClr val="FFFFFF"/>
                </a:solidFill>
                <a:latin typeface="Arial"/>
              </a:rPr>
              <a:t>gpu-mem-util 0.90</a:t>
            </a:r>
          </a:p>
        </p:txBody>
      </p:sp>
      <p:sp>
        <p:nvSpPr>
          <p:cNvPr id="8" name="Rounded Rectangle 7"/>
          <p:cNvSpPr/>
          <p:nvPr/>
        </p:nvSpPr>
        <p:spPr>
          <a:xfrm>
            <a:off x="7999225" y="3746000"/>
            <a:ext cx="2300000" cy="640000"/>
          </a:xfrm>
          <a:prstGeom prst="roundRect">
            <a:avLst>
              <a:gd name="adj" fmla="val 12000"/>
            </a:avLst>
          </a:prstGeom>
          <a:solidFill>
            <a:srgbClr val="1F5FA8"/>
          </a:solidFill>
          <a:ln>
            <a:noFill/>
          </a:ln>
        </p:spPr>
        <p:txBody>
          <a:bodyPr rtlCol="0" anchor="ctr"/>
          <a:lstStyle/>
          <a:p/>
        </p:txBody>
      </p:sp>
      <p:sp>
        <p:nvSpPr>
          <p:cNvPr id="9" name="TextBox 8"/>
          <p:cNvSpPr txBox="1"/>
          <p:nvPr/>
        </p:nvSpPr>
        <p:spPr>
          <a:xfrm>
            <a:off x="7999225" y="3746000"/>
            <a:ext cx="2300000" cy="640000"/>
          </a:xfrm>
          <a:prstGeom prst="rect">
            <a:avLst/>
          </a:prstGeom>
          <a:noFill/>
        </p:spPr>
        <p:txBody>
          <a:bodyPr wrap="square" anchor="ctr">
            <a:spAutoFit/>
          </a:bodyPr>
          <a:lstStyle/>
          <a:p>
            <a:pPr algn="ctr">
              <a:spcAft>
                <a:spcPts val="0"/>
              </a:spcAft>
            </a:pPr>
            <a:r>
              <a:rPr sz="2000" b="1" i="0">
                <a:solidFill>
                  <a:srgbClr val="FFFFFF"/>
                </a:solidFill>
                <a:latin typeface="Arial"/>
              </a:rPr>
              <a:t>3.6 GB, flat</a:t>
            </a:r>
          </a:p>
          <a:p>
            <a:pPr algn="ctr">
              <a:spcAft>
                <a:spcPts val="0"/>
              </a:spcAft>
            </a:pPr>
            <a:r>
              <a:rPr sz="1400" b="0" i="0">
                <a:solidFill>
                  <a:srgbClr val="FFFFFF"/>
                </a:solidFill>
                <a:latin typeface="Arial"/>
              </a:rPr>
              <a:t>gpu-mem-util 0.15</a:t>
            </a:r>
          </a:p>
        </p:txBody>
      </p:sp>
      <p:sp>
        <p:nvSpPr>
          <p:cNvPr id="10" name="TextBox 9"/>
          <p:cNvSpPr txBox="1"/>
          <p:nvPr/>
        </p:nvSpPr>
        <p:spPr>
          <a:xfrm>
            <a:off x="403682" y="5200000"/>
            <a:ext cx="11384636" cy="350000"/>
          </a:xfrm>
          <a:prstGeom prst="rect">
            <a:avLst/>
          </a:prstGeom>
          <a:noFill/>
        </p:spPr>
        <p:txBody>
          <a:bodyPr wrap="square" anchor="t">
            <a:spAutoFit/>
          </a:bodyPr>
          <a:lstStyle/>
          <a:p>
            <a:pPr algn="ctr">
              <a:spcAft>
                <a:spcPts val="0"/>
              </a:spcAft>
            </a:pPr>
            <a:r>
              <a:rPr sz="1700" b="0" i="0">
                <a:solidFill>
                  <a:srgbClr val="6B6B6B"/>
                </a:solidFill>
                <a:latin typeface="Courier New"/>
              </a:rPr>
              <a:t>DCGM_FI_DEV_FB_USED</a:t>
            </a:r>
          </a:p>
        </p:txBody>
      </p:sp>
      <p:sp>
        <p:nvSpPr>
          <p:cNvPr id="11" name="TextBox 10"/>
          <p:cNvSpPr txBox="1"/>
          <p:nvPr/>
        </p:nvSpPr>
        <p:spPr>
          <a:xfrm>
            <a:off x="403682" y="5600000"/>
            <a:ext cx="11384636" cy="600000"/>
          </a:xfrm>
          <a:prstGeom prst="rect">
            <a:avLst/>
          </a:prstGeom>
          <a:noFill/>
        </p:spPr>
        <p:txBody>
          <a:bodyPr wrap="square" anchor="ctr">
            <a:spAutoFit/>
          </a:bodyPr>
          <a:lstStyle/>
          <a:p>
            <a:pPr algn="l">
              <a:spcAft>
                <a:spcPts val="0"/>
              </a:spcAft>
            </a:pPr>
            <a:r>
              <a:rPr sz="2400" b="1" i="0">
                <a:solidFill>
                  <a:srgbClr val="991346"/>
                </a:solidFill>
                <a:latin typeface="Arial"/>
              </a:rPr>
              <a:t>Sized once at start-up. Flat forever, including the one about to fall over.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GPU util % cannot tell prefill from decode.</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DCGM_FI_DEV_GPU_UTIL (field 203) is NVML-polled: 'a kernel ran during the sample window'. The profiling fields on the next slide come from the GPU's hardware profiler.</a:t>
            </a:r>
          </a:p>
        </p:txBody>
      </p:sp>
      <p:sp>
        <p:nvSpPr>
          <p:cNvPr id="4" name="Rounded Rectangle 3"/>
          <p:cNvSpPr/>
          <p:nvPr/>
        </p:nvSpPr>
        <p:spPr>
          <a:xfrm>
            <a:off x="403682" y="1250000"/>
            <a:ext cx="5492318" cy="2900000"/>
          </a:xfrm>
          <a:prstGeom prst="roundRect">
            <a:avLst>
              <a:gd name="adj" fmla="val 8000"/>
            </a:avLst>
          </a:prstGeom>
          <a:solidFill>
            <a:srgbClr val="F6E3EA"/>
          </a:solidFill>
          <a:ln>
            <a:noFill/>
          </a:ln>
        </p:spPr>
        <p:txBody>
          <a:bodyPr rtlCol="0" anchor="ctr"/>
          <a:lstStyle/>
          <a:p/>
        </p:txBody>
      </p:sp>
      <p:sp>
        <p:nvSpPr>
          <p:cNvPr id="5" name="TextBox 4"/>
          <p:cNvSpPr txBox="1"/>
          <p:nvPr/>
        </p:nvSpPr>
        <p:spPr>
          <a:xfrm>
            <a:off x="463682" y="1310000"/>
            <a:ext cx="5372318" cy="2780000"/>
          </a:xfrm>
          <a:prstGeom prst="rect">
            <a:avLst/>
          </a:prstGeom>
          <a:noFill/>
        </p:spPr>
        <p:txBody>
          <a:bodyPr wrap="square" anchor="t" lIns="120000" rIns="120000">
            <a:spAutoFit/>
          </a:bodyPr>
          <a:lstStyle/>
          <a:p>
            <a:pPr algn="l">
              <a:spcAft>
                <a:spcPts val="800"/>
              </a:spcAft>
            </a:pPr>
            <a:r>
              <a:rPr sz="3200" b="1" i="0">
                <a:solidFill>
                  <a:srgbClr val="991346"/>
                </a:solidFill>
                <a:latin typeface="Arial"/>
              </a:rPr>
              <a:t>Prefill</a:t>
            </a:r>
          </a:p>
          <a:p>
            <a:pPr algn="l">
              <a:spcAft>
                <a:spcPts val="800"/>
              </a:spcAft>
            </a:pPr>
            <a:r>
              <a:rPr sz="2200" b="0" i="0">
                <a:solidFill>
                  <a:srgbClr val="262626"/>
                </a:solidFill>
                <a:latin typeface="Arial"/>
              </a:rPr>
              <a:t>Whole prompt in one pass.</a:t>
            </a:r>
          </a:p>
          <a:p>
            <a:pPr algn="l">
              <a:spcAft>
                <a:spcPts val="800"/>
              </a:spcAft>
            </a:pPr>
            <a:r>
              <a:rPr sz="2200" b="0" i="0">
                <a:solidFill>
                  <a:srgbClr val="262626"/>
                </a:solidFill>
                <a:latin typeface="Arial"/>
              </a:rPr>
              <a:t>Large matmuls. Compute-bound.</a:t>
            </a:r>
          </a:p>
          <a:p>
            <a:pPr algn="l">
              <a:spcAft>
                <a:spcPts val="0"/>
              </a:spcAft>
            </a:pPr>
            <a:r>
              <a:rPr sz="1800" b="0" i="0">
                <a:solidFill>
                  <a:srgbClr val="6B6B6B"/>
                </a:solidFill>
                <a:latin typeface="Arial"/>
              </a:rPr>
              <a:t>Tensor cores busy, memory bus quiet.</a:t>
            </a:r>
          </a:p>
        </p:txBody>
      </p:sp>
      <p:sp>
        <p:nvSpPr>
          <p:cNvPr id="6" name="Rounded Rectangle 5"/>
          <p:cNvSpPr/>
          <p:nvPr/>
        </p:nvSpPr>
        <p:spPr>
          <a:xfrm>
            <a:off x="6296000" y="1250000"/>
            <a:ext cx="5492318" cy="2900000"/>
          </a:xfrm>
          <a:prstGeom prst="roundRect">
            <a:avLst>
              <a:gd name="adj" fmla="val 8000"/>
            </a:avLst>
          </a:prstGeom>
          <a:solidFill>
            <a:srgbClr val="F6E3EA"/>
          </a:solidFill>
          <a:ln>
            <a:noFill/>
          </a:ln>
        </p:spPr>
        <p:txBody>
          <a:bodyPr rtlCol="0" anchor="ctr"/>
          <a:lstStyle/>
          <a:p/>
        </p:txBody>
      </p:sp>
      <p:sp>
        <p:nvSpPr>
          <p:cNvPr id="7" name="TextBox 6"/>
          <p:cNvSpPr txBox="1"/>
          <p:nvPr/>
        </p:nvSpPr>
        <p:spPr>
          <a:xfrm>
            <a:off x="6356000" y="1310000"/>
            <a:ext cx="5372318" cy="2780000"/>
          </a:xfrm>
          <a:prstGeom prst="rect">
            <a:avLst/>
          </a:prstGeom>
          <a:noFill/>
        </p:spPr>
        <p:txBody>
          <a:bodyPr wrap="square" anchor="t" lIns="120000" rIns="120000">
            <a:spAutoFit/>
          </a:bodyPr>
          <a:lstStyle/>
          <a:p>
            <a:pPr algn="l">
              <a:spcAft>
                <a:spcPts val="800"/>
              </a:spcAft>
            </a:pPr>
            <a:r>
              <a:rPr sz="3200" b="1" i="0">
                <a:solidFill>
                  <a:srgbClr val="991346"/>
                </a:solidFill>
                <a:latin typeface="Arial"/>
              </a:rPr>
              <a:t>Decode</a:t>
            </a:r>
          </a:p>
          <a:p>
            <a:pPr algn="l">
              <a:spcAft>
                <a:spcPts val="800"/>
              </a:spcAft>
            </a:pPr>
            <a:r>
              <a:rPr sz="2200" b="0" i="0">
                <a:solidFill>
                  <a:srgbClr val="262626"/>
                </a:solidFill>
                <a:latin typeface="Arial"/>
              </a:rPr>
              <a:t>One token per step.</a:t>
            </a:r>
          </a:p>
          <a:p>
            <a:pPr algn="l">
              <a:spcAft>
                <a:spcPts val="800"/>
              </a:spcAft>
            </a:pPr>
            <a:r>
              <a:rPr sz="2200" b="0" i="0">
                <a:solidFill>
                  <a:srgbClr val="262626"/>
                </a:solidFill>
                <a:latin typeface="Arial"/>
              </a:rPr>
              <a:t>Re-reads the entire KV cache each step. Memory-bandwidth-bound.</a:t>
            </a:r>
          </a:p>
          <a:p>
            <a:pPr algn="l">
              <a:spcAft>
                <a:spcPts val="0"/>
              </a:spcAft>
            </a:pPr>
            <a:r>
              <a:rPr sz="1800" b="0" i="0">
                <a:solidFill>
                  <a:srgbClr val="6B6B6B"/>
                </a:solidFill>
                <a:latin typeface="Arial"/>
              </a:rPr>
              <a:t>Memory bus busy, tensor cores waiting.</a:t>
            </a:r>
          </a:p>
        </p:txBody>
      </p:sp>
      <p:sp>
        <p:nvSpPr>
          <p:cNvPr id="8" name="Rounded Rectangle 7"/>
          <p:cNvSpPr/>
          <p:nvPr/>
        </p:nvSpPr>
        <p:spPr>
          <a:xfrm>
            <a:off x="3346000" y="3500000"/>
            <a:ext cx="2400000" cy="520000"/>
          </a:xfrm>
          <a:prstGeom prst="roundRect">
            <a:avLst>
              <a:gd name="adj" fmla="val 50000"/>
            </a:avLst>
          </a:prstGeom>
          <a:solidFill>
            <a:srgbClr val="C62828"/>
          </a:solidFill>
          <a:ln>
            <a:noFill/>
          </a:ln>
        </p:spPr>
        <p:txBody>
          <a:bodyPr rtlCol="0" anchor="ctr" lIns="90000" rIns="90000" tIns="0" bIns="0"/>
          <a:lstStyle/>
          <a:p>
            <a:pPr algn="ctr"/>
            <a:r>
              <a:rPr sz="1800" b="1" i="0">
                <a:solidFill>
                  <a:srgbClr val="FFFFFF"/>
                </a:solidFill>
                <a:latin typeface="Arial"/>
              </a:rPr>
              <a:t>GPU_UTIL 100%</a:t>
            </a:r>
          </a:p>
        </p:txBody>
      </p:sp>
      <p:sp>
        <p:nvSpPr>
          <p:cNvPr id="9" name="Rounded Rectangle 8"/>
          <p:cNvSpPr/>
          <p:nvPr/>
        </p:nvSpPr>
        <p:spPr>
          <a:xfrm>
            <a:off x="9238318" y="3500000"/>
            <a:ext cx="2400000" cy="520000"/>
          </a:xfrm>
          <a:prstGeom prst="roundRect">
            <a:avLst>
              <a:gd name="adj" fmla="val 50000"/>
            </a:avLst>
          </a:prstGeom>
          <a:solidFill>
            <a:srgbClr val="C62828"/>
          </a:solidFill>
          <a:ln>
            <a:noFill/>
          </a:ln>
        </p:spPr>
        <p:txBody>
          <a:bodyPr rtlCol="0" anchor="ctr" lIns="90000" rIns="90000" tIns="0" bIns="0"/>
          <a:lstStyle/>
          <a:p>
            <a:pPr algn="ctr"/>
            <a:r>
              <a:rPr sz="1800" b="1" i="0">
                <a:solidFill>
                  <a:srgbClr val="FFFFFF"/>
                </a:solidFill>
                <a:latin typeface="Arial"/>
              </a:rPr>
              <a:t>GPU_UTIL 100%</a:t>
            </a:r>
          </a:p>
        </p:txBody>
      </p:sp>
      <p:sp>
        <p:nvSpPr>
          <p:cNvPr id="10" name="Rounded Rectangle 9"/>
          <p:cNvSpPr/>
          <p:nvPr/>
        </p:nvSpPr>
        <p:spPr>
          <a:xfrm>
            <a:off x="403682" y="4450000"/>
            <a:ext cx="11384636" cy="700000"/>
          </a:xfrm>
          <a:prstGeom prst="roundRect">
            <a:avLst>
              <a:gd name="adj" fmla="val 30000"/>
            </a:avLst>
          </a:prstGeom>
          <a:solidFill>
            <a:srgbClr val="E8B4C4"/>
          </a:solidFill>
          <a:ln>
            <a:noFill/>
          </a:ln>
        </p:spPr>
        <p:txBody>
          <a:bodyPr rtlCol="0" anchor="ctr"/>
          <a:lstStyle/>
          <a:p/>
        </p:txBody>
      </p:sp>
      <p:sp>
        <p:nvSpPr>
          <p:cNvPr id="11" name="TextBox 10"/>
          <p:cNvSpPr txBox="1"/>
          <p:nvPr/>
        </p:nvSpPr>
        <p:spPr>
          <a:xfrm>
            <a:off x="403682" y="4450000"/>
            <a:ext cx="11384636" cy="700000"/>
          </a:xfrm>
          <a:prstGeom prst="rect">
            <a:avLst/>
          </a:prstGeom>
          <a:noFill/>
        </p:spPr>
        <p:txBody>
          <a:bodyPr wrap="square" anchor="ctr">
            <a:spAutoFit/>
          </a:bodyPr>
          <a:lstStyle/>
          <a:p>
            <a:pPr algn="ctr">
              <a:spcAft>
                <a:spcPts val="600"/>
              </a:spcAft>
            </a:pPr>
            <a:r>
              <a:rPr sz="2000" b="1" i="0">
                <a:solidFill>
                  <a:srgbClr val="262626"/>
                </a:solidFill>
                <a:latin typeface="Courier New"/>
              </a:rPr>
              <a:t>DCGM_FI_DEV_GPU_UTIL</a:t>
            </a:r>
          </a:p>
        </p:txBody>
      </p:sp>
      <p:sp>
        <p:nvSpPr>
          <p:cNvPr id="12" name="TextBox 11"/>
          <p:cNvSpPr txBox="1"/>
          <p:nvPr/>
        </p:nvSpPr>
        <p:spPr>
          <a:xfrm>
            <a:off x="403682" y="5300000"/>
            <a:ext cx="11384636" cy="700000"/>
          </a:xfrm>
          <a:prstGeom prst="rect">
            <a:avLst/>
          </a:prstGeom>
          <a:noFill/>
        </p:spPr>
        <p:txBody>
          <a:bodyPr wrap="square" anchor="ctr">
            <a:spAutoFit/>
          </a:bodyPr>
          <a:lstStyle/>
          <a:p>
            <a:pPr algn="l">
              <a:spcAft>
                <a:spcPts val="0"/>
              </a:spcAft>
            </a:pPr>
            <a:r>
              <a:rPr sz="2200" b="1" i="0">
                <a:solidFill>
                  <a:srgbClr val="991346"/>
                </a:solidFill>
                <a:latin typeface="Arial"/>
              </a:rPr>
              <a:t>One busy thread reads as 100%. The counter has no idea which phase you are 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Three profiler counters, same second.</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Measured on vLLM by Elastic Observability Labs (2025): DCGM_FI_PROF_GR_ENGINE_ACTIVE 99.8%, PIPE_TENSOR_ACTIVE 16.6%, DRAM_ACTIVE 80.4%. MFU/MBU vocabulary: Lightbits, The Utilization Illusion.</a:t>
            </a:r>
          </a:p>
        </p:txBody>
      </p:sp>
      <p:sp>
        <p:nvSpPr>
          <p:cNvPr id="4" name="Rounded Rectangle 3"/>
          <p:cNvSpPr/>
          <p:nvPr/>
        </p:nvSpPr>
        <p:spPr>
          <a:xfrm>
            <a:off x="403682" y="1250000"/>
            <a:ext cx="3594878" cy="3000000"/>
          </a:xfrm>
          <a:prstGeom prst="roundRect">
            <a:avLst>
              <a:gd name="adj" fmla="val 8000"/>
            </a:avLst>
          </a:prstGeom>
          <a:solidFill>
            <a:srgbClr val="F3F3F3"/>
          </a:solidFill>
          <a:ln>
            <a:noFill/>
          </a:ln>
        </p:spPr>
        <p:txBody>
          <a:bodyPr rtlCol="0" anchor="ctr"/>
          <a:lstStyle/>
          <a:p/>
        </p:txBody>
      </p:sp>
      <p:sp>
        <p:nvSpPr>
          <p:cNvPr id="5" name="TextBox 4"/>
          <p:cNvSpPr txBox="1"/>
          <p:nvPr/>
        </p:nvSpPr>
        <p:spPr>
          <a:xfrm>
            <a:off x="403682" y="1250000"/>
            <a:ext cx="3594878" cy="3000000"/>
          </a:xfrm>
          <a:prstGeom prst="rect">
            <a:avLst/>
          </a:prstGeom>
          <a:noFill/>
        </p:spPr>
        <p:txBody>
          <a:bodyPr wrap="square" anchor="ctr">
            <a:spAutoFit/>
          </a:bodyPr>
          <a:lstStyle/>
          <a:p>
            <a:pPr algn="ctr">
              <a:spcAft>
                <a:spcPts val="200"/>
              </a:spcAft>
            </a:pPr>
            <a:r>
              <a:rPr sz="7200" b="1" i="0">
                <a:solidFill>
                  <a:srgbClr val="6B6B6B"/>
                </a:solidFill>
                <a:latin typeface="Arial"/>
              </a:rPr>
              <a:t>99.8%</a:t>
            </a:r>
          </a:p>
          <a:p>
            <a:pPr algn="ctr">
              <a:spcAft>
                <a:spcPts val="0"/>
              </a:spcAft>
            </a:pPr>
            <a:r>
              <a:rPr sz="1600" b="1" i="0">
                <a:solidFill>
                  <a:srgbClr val="262626"/>
                </a:solidFill>
                <a:latin typeface="Courier New"/>
              </a:rPr>
              <a:t>GR_ENGINE_ACTIVE</a:t>
            </a:r>
          </a:p>
          <a:p>
            <a:pPr algn="ctr">
              <a:spcAft>
                <a:spcPts val="0"/>
              </a:spcAft>
            </a:pPr>
            <a:r>
              <a:rPr sz="1600" b="0" i="0">
                <a:solidFill>
                  <a:srgbClr val="6B6B6B"/>
                </a:solidFill>
                <a:latin typeface="Arial"/>
              </a:rPr>
              <a:t>the profiler's 'busy'</a:t>
            </a:r>
          </a:p>
        </p:txBody>
      </p:sp>
      <p:sp>
        <p:nvSpPr>
          <p:cNvPr id="6" name="Rounded Rectangle 5"/>
          <p:cNvSpPr/>
          <p:nvPr/>
        </p:nvSpPr>
        <p:spPr>
          <a:xfrm>
            <a:off x="4298560" y="1250000"/>
            <a:ext cx="3594878" cy="3000000"/>
          </a:xfrm>
          <a:prstGeom prst="roundRect">
            <a:avLst>
              <a:gd name="adj" fmla="val 8000"/>
            </a:avLst>
          </a:prstGeom>
          <a:solidFill>
            <a:srgbClr val="F3F3F3"/>
          </a:solidFill>
          <a:ln>
            <a:noFill/>
          </a:ln>
        </p:spPr>
        <p:txBody>
          <a:bodyPr rtlCol="0" anchor="ctr"/>
          <a:lstStyle/>
          <a:p/>
        </p:txBody>
      </p:sp>
      <p:sp>
        <p:nvSpPr>
          <p:cNvPr id="7" name="TextBox 6"/>
          <p:cNvSpPr txBox="1"/>
          <p:nvPr/>
        </p:nvSpPr>
        <p:spPr>
          <a:xfrm>
            <a:off x="4298560" y="1250000"/>
            <a:ext cx="3594878" cy="3000000"/>
          </a:xfrm>
          <a:prstGeom prst="rect">
            <a:avLst/>
          </a:prstGeom>
          <a:noFill/>
        </p:spPr>
        <p:txBody>
          <a:bodyPr wrap="square" anchor="ctr">
            <a:spAutoFit/>
          </a:bodyPr>
          <a:lstStyle/>
          <a:p>
            <a:pPr algn="ctr">
              <a:spcAft>
                <a:spcPts val="200"/>
              </a:spcAft>
            </a:pPr>
            <a:r>
              <a:rPr sz="7200" b="1" i="0">
                <a:solidFill>
                  <a:srgbClr val="C62828"/>
                </a:solidFill>
                <a:latin typeface="Arial"/>
              </a:rPr>
              <a:t>16.6%</a:t>
            </a:r>
          </a:p>
          <a:p>
            <a:pPr algn="ctr">
              <a:spcAft>
                <a:spcPts val="0"/>
              </a:spcAft>
            </a:pPr>
            <a:r>
              <a:rPr sz="1600" b="1" i="0">
                <a:solidFill>
                  <a:srgbClr val="262626"/>
                </a:solidFill>
                <a:latin typeface="Courier New"/>
              </a:rPr>
              <a:t>PIPE_TENSOR_ACTIVE</a:t>
            </a:r>
          </a:p>
          <a:p>
            <a:pPr algn="ctr">
              <a:spcAft>
                <a:spcPts val="0"/>
              </a:spcAft>
            </a:pPr>
            <a:r>
              <a:rPr sz="1600" b="0" i="0">
                <a:solidFill>
                  <a:srgbClr val="6B6B6B"/>
                </a:solidFill>
                <a:latin typeface="Arial"/>
              </a:rPr>
              <a:t>tensor cores doing matmuls</a:t>
            </a:r>
          </a:p>
        </p:txBody>
      </p:sp>
      <p:sp>
        <p:nvSpPr>
          <p:cNvPr id="8" name="Rounded Rectangle 7"/>
          <p:cNvSpPr/>
          <p:nvPr/>
        </p:nvSpPr>
        <p:spPr>
          <a:xfrm>
            <a:off x="8193438" y="1250000"/>
            <a:ext cx="3594878" cy="3000000"/>
          </a:xfrm>
          <a:prstGeom prst="roundRect">
            <a:avLst>
              <a:gd name="adj" fmla="val 8000"/>
            </a:avLst>
          </a:prstGeom>
          <a:solidFill>
            <a:srgbClr val="F3F3F3"/>
          </a:solidFill>
          <a:ln>
            <a:noFill/>
          </a:ln>
        </p:spPr>
        <p:txBody>
          <a:bodyPr rtlCol="0" anchor="ctr"/>
          <a:lstStyle/>
          <a:p/>
        </p:txBody>
      </p:sp>
      <p:sp>
        <p:nvSpPr>
          <p:cNvPr id="9" name="TextBox 8"/>
          <p:cNvSpPr txBox="1"/>
          <p:nvPr/>
        </p:nvSpPr>
        <p:spPr>
          <a:xfrm>
            <a:off x="8193438" y="1250000"/>
            <a:ext cx="3594878" cy="3000000"/>
          </a:xfrm>
          <a:prstGeom prst="rect">
            <a:avLst/>
          </a:prstGeom>
          <a:noFill/>
        </p:spPr>
        <p:txBody>
          <a:bodyPr wrap="square" anchor="ctr">
            <a:spAutoFit/>
          </a:bodyPr>
          <a:lstStyle/>
          <a:p>
            <a:pPr algn="ctr">
              <a:spcAft>
                <a:spcPts val="200"/>
              </a:spcAft>
            </a:pPr>
            <a:r>
              <a:rPr sz="7200" b="1" i="0">
                <a:solidFill>
                  <a:srgbClr val="B26A00"/>
                </a:solidFill>
                <a:latin typeface="Arial"/>
              </a:rPr>
              <a:t>80.4%</a:t>
            </a:r>
          </a:p>
          <a:p>
            <a:pPr algn="ctr">
              <a:spcAft>
                <a:spcPts val="0"/>
              </a:spcAft>
            </a:pPr>
            <a:r>
              <a:rPr sz="1600" b="1" i="0">
                <a:solidFill>
                  <a:srgbClr val="262626"/>
                </a:solidFill>
                <a:latin typeface="Courier New"/>
              </a:rPr>
              <a:t>DRAM_ACTIVE</a:t>
            </a:r>
          </a:p>
          <a:p>
            <a:pPr algn="ctr">
              <a:spcAft>
                <a:spcPts val="0"/>
              </a:spcAft>
            </a:pPr>
            <a:r>
              <a:rPr sz="1600" b="0" i="0">
                <a:solidFill>
                  <a:srgbClr val="6B6B6B"/>
                </a:solidFill>
                <a:latin typeface="Arial"/>
              </a:rPr>
              <a:t>memory bus</a:t>
            </a:r>
          </a:p>
        </p:txBody>
      </p:sp>
      <p:sp>
        <p:nvSpPr>
          <p:cNvPr id="10" name="TextBox 9"/>
          <p:cNvSpPr txBox="1"/>
          <p:nvPr/>
        </p:nvSpPr>
        <p:spPr>
          <a:xfrm>
            <a:off x="403682" y="4450000"/>
            <a:ext cx="11384636" cy="800000"/>
          </a:xfrm>
          <a:prstGeom prst="rect">
            <a:avLst/>
          </a:prstGeom>
          <a:noFill/>
        </p:spPr>
        <p:txBody>
          <a:bodyPr wrap="square" anchor="ctr">
            <a:spAutoFit/>
          </a:bodyPr>
          <a:lstStyle/>
          <a:p>
            <a:pPr algn="l">
              <a:spcAft>
                <a:spcPts val="0"/>
              </a:spcAft>
            </a:pPr>
            <a:r>
              <a:rPr sz="2100" b="1" i="0">
                <a:solidFill>
                  <a:srgbClr val="991346"/>
                </a:solidFill>
                <a:latin typeface="Arial"/>
              </a:rPr>
              <a:t>Bandwidth-bound, not compute-saturated, and "utilisation" never said which.</a:t>
            </a:r>
          </a:p>
        </p:txBody>
      </p:sp>
      <p:sp>
        <p:nvSpPr>
          <p:cNvPr id="11" name="TextBox 10"/>
          <p:cNvSpPr txBox="1"/>
          <p:nvPr/>
        </p:nvSpPr>
        <p:spPr>
          <a:xfrm>
            <a:off x="403682" y="5250000"/>
            <a:ext cx="11384636" cy="700000"/>
          </a:xfrm>
          <a:prstGeom prst="rect">
            <a:avLst/>
          </a:prstGeom>
          <a:noFill/>
        </p:spPr>
        <p:txBody>
          <a:bodyPr wrap="square" anchor="t">
            <a:spAutoFit/>
          </a:bodyPr>
          <a:lstStyle/>
          <a:p>
            <a:pPr algn="l">
              <a:spcAft>
                <a:spcPts val="0"/>
              </a:spcAft>
            </a:pPr>
            <a:r>
              <a:rPr sz="1600" b="0" i="0">
                <a:solidFill>
                  <a:srgbClr val="6B6B6B"/>
                </a:solidFill>
                <a:latin typeface="Arial"/>
              </a:rPr>
              <a:t>The counter on your dashboard is the least informative one the hardware offers. Serving teams are borrowing MFU and MBU (model FLOPs and bandwidth utilisation) from the training world to say so.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Counters that lie, counters you can trust.</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DCGM field IDs: docs.nvidia.com/datacenter/dcgm. PROF_* fields need a profiling-capable GPU and DCGM &gt;= 2.x. SM_OCCUPANCY is a ratio: resident warps over the SM maximum.</a:t>
            </a:r>
          </a:p>
        </p:txBody>
      </p:sp>
      <p:sp>
        <p:nvSpPr>
          <p:cNvPr id="4" name="Rounded Rectangle 3"/>
          <p:cNvSpPr/>
          <p:nvPr/>
        </p:nvSpPr>
        <p:spPr>
          <a:xfrm>
            <a:off x="403682" y="1250000"/>
            <a:ext cx="5492318" cy="2900000"/>
          </a:xfrm>
          <a:prstGeom prst="roundRect">
            <a:avLst>
              <a:gd name="adj" fmla="val 8000"/>
            </a:avLst>
          </a:prstGeom>
          <a:solidFill>
            <a:srgbClr val="FBE5E5"/>
          </a:solidFill>
          <a:ln>
            <a:noFill/>
          </a:ln>
        </p:spPr>
        <p:txBody>
          <a:bodyPr rtlCol="0" anchor="ctr"/>
          <a:lstStyle/>
          <a:p/>
        </p:txBody>
      </p:sp>
      <p:sp>
        <p:nvSpPr>
          <p:cNvPr id="5" name="TextBox 4"/>
          <p:cNvSpPr txBox="1"/>
          <p:nvPr/>
        </p:nvSpPr>
        <p:spPr>
          <a:xfrm>
            <a:off x="553682" y="1350000"/>
            <a:ext cx="5192318" cy="500000"/>
          </a:xfrm>
          <a:prstGeom prst="rect">
            <a:avLst/>
          </a:prstGeom>
          <a:noFill/>
        </p:spPr>
        <p:txBody>
          <a:bodyPr wrap="square" anchor="t">
            <a:spAutoFit/>
          </a:bodyPr>
          <a:lstStyle/>
          <a:p>
            <a:pPr algn="l">
              <a:spcAft>
                <a:spcPts val="0"/>
              </a:spcAft>
            </a:pPr>
            <a:r>
              <a:rPr sz="1800" b="1" i="0">
                <a:solidFill>
                  <a:srgbClr val="C62828"/>
                </a:solidFill>
                <a:latin typeface="Arial"/>
              </a:rPr>
              <a:t>Misleading on an inference server</a:t>
            </a:r>
          </a:p>
        </p:txBody>
      </p:sp>
      <p:sp>
        <p:nvSpPr>
          <p:cNvPr id="6" name="Rounded Rectangle 5"/>
          <p:cNvSpPr/>
          <p:nvPr/>
        </p:nvSpPr>
        <p:spPr>
          <a:xfrm>
            <a:off x="553682" y="1950000"/>
            <a:ext cx="3200000" cy="480000"/>
          </a:xfrm>
          <a:prstGeom prst="roundRect">
            <a:avLst>
              <a:gd name="adj" fmla="val 50000"/>
            </a:avLst>
          </a:prstGeom>
          <a:solidFill>
            <a:srgbClr val="FFFFFF"/>
          </a:solidFill>
          <a:ln>
            <a:noFill/>
          </a:ln>
        </p:spPr>
        <p:txBody>
          <a:bodyPr rtlCol="0" anchor="ctr" lIns="90000" rIns="90000" tIns="0" bIns="0"/>
          <a:lstStyle/>
          <a:p>
            <a:pPr algn="ctr"/>
            <a:r>
              <a:rPr sz="1400" b="1" i="0">
                <a:solidFill>
                  <a:srgbClr val="C62828"/>
                </a:solidFill>
                <a:latin typeface="Courier New"/>
              </a:rPr>
              <a:t>DCGM_FI_DEV_GPU_UTIL</a:t>
            </a:r>
          </a:p>
        </p:txBody>
      </p:sp>
      <p:sp>
        <p:nvSpPr>
          <p:cNvPr id="7" name="TextBox 6"/>
          <p:cNvSpPr txBox="1"/>
          <p:nvPr/>
        </p:nvSpPr>
        <p:spPr>
          <a:xfrm>
            <a:off x="3853682" y="1950000"/>
            <a:ext cx="1892318" cy="480000"/>
          </a:xfrm>
          <a:prstGeom prst="rect">
            <a:avLst/>
          </a:prstGeom>
          <a:noFill/>
        </p:spPr>
        <p:txBody>
          <a:bodyPr wrap="square" anchor="ctr">
            <a:spAutoFit/>
          </a:bodyPr>
          <a:lstStyle/>
          <a:p>
            <a:pPr algn="l">
              <a:spcAft>
                <a:spcPts val="0"/>
              </a:spcAft>
            </a:pPr>
            <a:r>
              <a:rPr sz="1600" b="0" i="0">
                <a:solidFill>
                  <a:srgbClr val="262626"/>
                </a:solidFill>
                <a:latin typeface="Arial"/>
              </a:rPr>
              <a:t>any kernel = busy</a:t>
            </a:r>
          </a:p>
        </p:txBody>
      </p:sp>
      <p:sp>
        <p:nvSpPr>
          <p:cNvPr id="8" name="Rounded Rectangle 7"/>
          <p:cNvSpPr/>
          <p:nvPr/>
        </p:nvSpPr>
        <p:spPr>
          <a:xfrm>
            <a:off x="553682" y="2650000"/>
            <a:ext cx="3200000" cy="480000"/>
          </a:xfrm>
          <a:prstGeom prst="roundRect">
            <a:avLst>
              <a:gd name="adj" fmla="val 50000"/>
            </a:avLst>
          </a:prstGeom>
          <a:solidFill>
            <a:srgbClr val="FFFFFF"/>
          </a:solidFill>
          <a:ln>
            <a:noFill/>
          </a:ln>
        </p:spPr>
        <p:txBody>
          <a:bodyPr rtlCol="0" anchor="ctr" lIns="90000" rIns="90000" tIns="0" bIns="0"/>
          <a:lstStyle/>
          <a:p>
            <a:pPr algn="ctr"/>
            <a:r>
              <a:rPr sz="1400" b="1" i="0">
                <a:solidFill>
                  <a:srgbClr val="C62828"/>
                </a:solidFill>
                <a:latin typeface="Courier New"/>
              </a:rPr>
              <a:t>DCGM_FI_DEV_FB_USED</a:t>
            </a:r>
          </a:p>
        </p:txBody>
      </p:sp>
      <p:sp>
        <p:nvSpPr>
          <p:cNvPr id="9" name="TextBox 8"/>
          <p:cNvSpPr txBox="1"/>
          <p:nvPr/>
        </p:nvSpPr>
        <p:spPr>
          <a:xfrm>
            <a:off x="3853682" y="2650000"/>
            <a:ext cx="1892318" cy="480000"/>
          </a:xfrm>
          <a:prstGeom prst="rect">
            <a:avLst/>
          </a:prstGeom>
          <a:noFill/>
        </p:spPr>
        <p:txBody>
          <a:bodyPr wrap="square" anchor="ctr">
            <a:spAutoFit/>
          </a:bodyPr>
          <a:lstStyle/>
          <a:p>
            <a:pPr algn="l">
              <a:spcAft>
                <a:spcPts val="0"/>
              </a:spcAft>
            </a:pPr>
            <a:r>
              <a:rPr sz="1600" b="0" i="0">
                <a:solidFill>
                  <a:srgbClr val="262626"/>
                </a:solidFill>
                <a:latin typeface="Arial"/>
              </a:rPr>
              <a:t>pre-allocated, flat</a:t>
            </a:r>
          </a:p>
        </p:txBody>
      </p:sp>
      <p:sp>
        <p:nvSpPr>
          <p:cNvPr id="10" name="Rounded Rectangle 9"/>
          <p:cNvSpPr/>
          <p:nvPr/>
        </p:nvSpPr>
        <p:spPr>
          <a:xfrm>
            <a:off x="553682" y="3350000"/>
            <a:ext cx="3200000" cy="480000"/>
          </a:xfrm>
          <a:prstGeom prst="roundRect">
            <a:avLst>
              <a:gd name="adj" fmla="val 50000"/>
            </a:avLst>
          </a:prstGeom>
          <a:solidFill>
            <a:srgbClr val="FFFFFF"/>
          </a:solidFill>
          <a:ln>
            <a:noFill/>
          </a:ln>
        </p:spPr>
        <p:txBody>
          <a:bodyPr rtlCol="0" anchor="ctr" lIns="90000" rIns="90000" tIns="0" bIns="0"/>
          <a:lstStyle/>
          <a:p>
            <a:pPr algn="ctr"/>
            <a:r>
              <a:rPr sz="1400" b="1" i="0">
                <a:solidFill>
                  <a:srgbClr val="C62828"/>
                </a:solidFill>
                <a:latin typeface="Courier New"/>
              </a:rPr>
              <a:t>nvidia-smi Volatile GPU-Util</a:t>
            </a:r>
          </a:p>
        </p:txBody>
      </p:sp>
      <p:sp>
        <p:nvSpPr>
          <p:cNvPr id="11" name="TextBox 10"/>
          <p:cNvSpPr txBox="1"/>
          <p:nvPr/>
        </p:nvSpPr>
        <p:spPr>
          <a:xfrm>
            <a:off x="3853682" y="3350000"/>
            <a:ext cx="1892318" cy="480000"/>
          </a:xfrm>
          <a:prstGeom prst="rect">
            <a:avLst/>
          </a:prstGeom>
          <a:noFill/>
        </p:spPr>
        <p:txBody>
          <a:bodyPr wrap="square" anchor="ctr">
            <a:spAutoFit/>
          </a:bodyPr>
          <a:lstStyle/>
          <a:p>
            <a:pPr algn="l">
              <a:spcAft>
                <a:spcPts val="0"/>
              </a:spcAft>
            </a:pPr>
            <a:r>
              <a:rPr sz="1600" b="0" i="0">
                <a:solidFill>
                  <a:srgbClr val="262626"/>
                </a:solidFill>
                <a:latin typeface="Arial"/>
              </a:rPr>
              <a:t>same as GPU_UTIL</a:t>
            </a:r>
          </a:p>
        </p:txBody>
      </p:sp>
      <p:sp>
        <p:nvSpPr>
          <p:cNvPr id="12" name="Rounded Rectangle 11"/>
          <p:cNvSpPr/>
          <p:nvPr/>
        </p:nvSpPr>
        <p:spPr>
          <a:xfrm>
            <a:off x="6296000" y="1250000"/>
            <a:ext cx="5492318" cy="2900000"/>
          </a:xfrm>
          <a:prstGeom prst="roundRect">
            <a:avLst>
              <a:gd name="adj" fmla="val 8000"/>
            </a:avLst>
          </a:prstGeom>
          <a:solidFill>
            <a:srgbClr val="E3F1E4"/>
          </a:solidFill>
          <a:ln>
            <a:noFill/>
          </a:ln>
        </p:spPr>
        <p:txBody>
          <a:bodyPr rtlCol="0" anchor="ctr"/>
          <a:lstStyle/>
          <a:p/>
        </p:txBody>
      </p:sp>
      <p:sp>
        <p:nvSpPr>
          <p:cNvPr id="13" name="TextBox 12"/>
          <p:cNvSpPr txBox="1"/>
          <p:nvPr/>
        </p:nvSpPr>
        <p:spPr>
          <a:xfrm>
            <a:off x="6446000" y="1350000"/>
            <a:ext cx="5192318" cy="500000"/>
          </a:xfrm>
          <a:prstGeom prst="rect">
            <a:avLst/>
          </a:prstGeom>
          <a:noFill/>
        </p:spPr>
        <p:txBody>
          <a:bodyPr wrap="square" anchor="t">
            <a:spAutoFit/>
          </a:bodyPr>
          <a:lstStyle/>
          <a:p>
            <a:pPr algn="l">
              <a:spcAft>
                <a:spcPts val="0"/>
              </a:spcAft>
            </a:pPr>
            <a:r>
              <a:rPr sz="1800" b="1" i="0">
                <a:solidFill>
                  <a:srgbClr val="2E7D32"/>
                </a:solidFill>
                <a:latin typeface="Arial"/>
              </a:rPr>
              <a:t>Meaningful</a:t>
            </a:r>
          </a:p>
        </p:txBody>
      </p:sp>
      <p:sp>
        <p:nvSpPr>
          <p:cNvPr id="14" name="Rounded Rectangle 13"/>
          <p:cNvSpPr/>
          <p:nvPr/>
        </p:nvSpPr>
        <p:spPr>
          <a:xfrm>
            <a:off x="6446000" y="1900000"/>
            <a:ext cx="3400000" cy="440000"/>
          </a:xfrm>
          <a:prstGeom prst="roundRect">
            <a:avLst>
              <a:gd name="adj" fmla="val 50000"/>
            </a:avLst>
          </a:prstGeom>
          <a:solidFill>
            <a:srgbClr val="FFFFFF"/>
          </a:solidFill>
          <a:ln>
            <a:noFill/>
          </a:ln>
        </p:spPr>
        <p:txBody>
          <a:bodyPr rtlCol="0" anchor="ctr" lIns="90000" rIns="90000" tIns="0" bIns="0"/>
          <a:lstStyle/>
          <a:p>
            <a:pPr algn="ctr"/>
            <a:r>
              <a:rPr sz="1200" b="1" i="0">
                <a:solidFill>
                  <a:srgbClr val="2E7D32"/>
                </a:solidFill>
                <a:latin typeface="Courier New"/>
              </a:rPr>
              <a:t>DCGM_FI_PROF_SM_ACTIVE</a:t>
            </a:r>
          </a:p>
        </p:txBody>
      </p:sp>
      <p:sp>
        <p:nvSpPr>
          <p:cNvPr id="15" name="TextBox 14"/>
          <p:cNvSpPr txBox="1"/>
          <p:nvPr/>
        </p:nvSpPr>
        <p:spPr>
          <a:xfrm>
            <a:off x="9946000" y="1900000"/>
            <a:ext cx="1692318" cy="440000"/>
          </a:xfrm>
          <a:prstGeom prst="rect">
            <a:avLst/>
          </a:prstGeom>
          <a:noFill/>
        </p:spPr>
        <p:txBody>
          <a:bodyPr wrap="square" anchor="ctr">
            <a:spAutoFit/>
          </a:bodyPr>
          <a:lstStyle/>
          <a:p>
            <a:pPr algn="l">
              <a:spcAft>
                <a:spcPts val="0"/>
              </a:spcAft>
            </a:pPr>
            <a:r>
              <a:rPr sz="1500" b="0" i="0">
                <a:solidFill>
                  <a:srgbClr val="262626"/>
                </a:solidFill>
                <a:latin typeface="Arial"/>
              </a:rPr>
              <a:t>share of SMs doing work</a:t>
            </a:r>
          </a:p>
        </p:txBody>
      </p:sp>
      <p:sp>
        <p:nvSpPr>
          <p:cNvPr id="16" name="Rounded Rectangle 15"/>
          <p:cNvSpPr/>
          <p:nvPr/>
        </p:nvSpPr>
        <p:spPr>
          <a:xfrm>
            <a:off x="6446000" y="2440000"/>
            <a:ext cx="3400000" cy="440000"/>
          </a:xfrm>
          <a:prstGeom prst="roundRect">
            <a:avLst>
              <a:gd name="adj" fmla="val 50000"/>
            </a:avLst>
          </a:prstGeom>
          <a:solidFill>
            <a:srgbClr val="FFFFFF"/>
          </a:solidFill>
          <a:ln>
            <a:noFill/>
          </a:ln>
        </p:spPr>
        <p:txBody>
          <a:bodyPr rtlCol="0" anchor="ctr" lIns="90000" rIns="90000" tIns="0" bIns="0"/>
          <a:lstStyle/>
          <a:p>
            <a:pPr algn="ctr"/>
            <a:r>
              <a:rPr sz="1200" b="1" i="0">
                <a:solidFill>
                  <a:srgbClr val="2E7D32"/>
                </a:solidFill>
                <a:latin typeface="Courier New"/>
              </a:rPr>
              <a:t>DCGM_FI_PROF_SM_OCCUPANCY</a:t>
            </a:r>
          </a:p>
        </p:txBody>
      </p:sp>
      <p:sp>
        <p:nvSpPr>
          <p:cNvPr id="17" name="TextBox 16"/>
          <p:cNvSpPr txBox="1"/>
          <p:nvPr/>
        </p:nvSpPr>
        <p:spPr>
          <a:xfrm>
            <a:off x="9946000" y="2440000"/>
            <a:ext cx="1692318" cy="440000"/>
          </a:xfrm>
          <a:prstGeom prst="rect">
            <a:avLst/>
          </a:prstGeom>
          <a:noFill/>
        </p:spPr>
        <p:txBody>
          <a:bodyPr wrap="square" anchor="ctr">
            <a:spAutoFit/>
          </a:bodyPr>
          <a:lstStyle/>
          <a:p>
            <a:pPr algn="l">
              <a:spcAft>
                <a:spcPts val="0"/>
              </a:spcAft>
            </a:pPr>
            <a:r>
              <a:rPr sz="1500" b="0" i="0">
                <a:solidFill>
                  <a:srgbClr val="262626"/>
                </a:solidFill>
                <a:latin typeface="Arial"/>
              </a:rPr>
              <a:t>resident warps / SM maximum</a:t>
            </a:r>
          </a:p>
        </p:txBody>
      </p:sp>
      <p:sp>
        <p:nvSpPr>
          <p:cNvPr id="18" name="Rounded Rectangle 17"/>
          <p:cNvSpPr/>
          <p:nvPr/>
        </p:nvSpPr>
        <p:spPr>
          <a:xfrm>
            <a:off x="6446000" y="2980000"/>
            <a:ext cx="3400000" cy="440000"/>
          </a:xfrm>
          <a:prstGeom prst="roundRect">
            <a:avLst>
              <a:gd name="adj" fmla="val 50000"/>
            </a:avLst>
          </a:prstGeom>
          <a:solidFill>
            <a:srgbClr val="FFFFFF"/>
          </a:solidFill>
          <a:ln>
            <a:noFill/>
          </a:ln>
        </p:spPr>
        <p:txBody>
          <a:bodyPr rtlCol="0" anchor="ctr" lIns="90000" rIns="90000" tIns="0" bIns="0"/>
          <a:lstStyle/>
          <a:p>
            <a:pPr algn="ctr"/>
            <a:r>
              <a:rPr sz="1200" b="1" i="0">
                <a:solidFill>
                  <a:srgbClr val="2E7D32"/>
                </a:solidFill>
                <a:latin typeface="Courier New"/>
              </a:rPr>
              <a:t>DCGM_FI_PROF_DRAM_ACTIVE</a:t>
            </a:r>
          </a:p>
        </p:txBody>
      </p:sp>
      <p:sp>
        <p:nvSpPr>
          <p:cNvPr id="19" name="TextBox 18"/>
          <p:cNvSpPr txBox="1"/>
          <p:nvPr/>
        </p:nvSpPr>
        <p:spPr>
          <a:xfrm>
            <a:off x="9946000" y="2980000"/>
            <a:ext cx="1692318" cy="440000"/>
          </a:xfrm>
          <a:prstGeom prst="rect">
            <a:avLst/>
          </a:prstGeom>
          <a:noFill/>
        </p:spPr>
        <p:txBody>
          <a:bodyPr wrap="square" anchor="ctr">
            <a:spAutoFit/>
          </a:bodyPr>
          <a:lstStyle/>
          <a:p>
            <a:pPr algn="l">
              <a:spcAft>
                <a:spcPts val="0"/>
              </a:spcAft>
            </a:pPr>
            <a:r>
              <a:rPr sz="1500" b="0" i="0">
                <a:solidFill>
                  <a:srgbClr val="262626"/>
                </a:solidFill>
                <a:latin typeface="Arial"/>
              </a:rPr>
              <a:t>bandwidth-bound?</a:t>
            </a:r>
          </a:p>
        </p:txBody>
      </p:sp>
      <p:sp>
        <p:nvSpPr>
          <p:cNvPr id="20" name="Rounded Rectangle 19"/>
          <p:cNvSpPr/>
          <p:nvPr/>
        </p:nvSpPr>
        <p:spPr>
          <a:xfrm>
            <a:off x="6446000" y="3520000"/>
            <a:ext cx="3400000" cy="440000"/>
          </a:xfrm>
          <a:prstGeom prst="roundRect">
            <a:avLst>
              <a:gd name="adj" fmla="val 50000"/>
            </a:avLst>
          </a:prstGeom>
          <a:solidFill>
            <a:srgbClr val="FFFFFF"/>
          </a:solidFill>
          <a:ln>
            <a:noFill/>
          </a:ln>
        </p:spPr>
        <p:txBody>
          <a:bodyPr rtlCol="0" anchor="ctr" lIns="90000" rIns="90000" tIns="0" bIns="0"/>
          <a:lstStyle/>
          <a:p>
            <a:pPr algn="ctr"/>
            <a:r>
              <a:rPr sz="1200" b="1" i="0">
                <a:solidFill>
                  <a:srgbClr val="2E7D32"/>
                </a:solidFill>
                <a:latin typeface="Courier New"/>
              </a:rPr>
              <a:t>DCGM_FI_PROF_PIPE_TENSOR_ACTIVE</a:t>
            </a:r>
          </a:p>
        </p:txBody>
      </p:sp>
      <p:sp>
        <p:nvSpPr>
          <p:cNvPr id="21" name="TextBox 20"/>
          <p:cNvSpPr txBox="1"/>
          <p:nvPr/>
        </p:nvSpPr>
        <p:spPr>
          <a:xfrm>
            <a:off x="9946000" y="3520000"/>
            <a:ext cx="1692318" cy="440000"/>
          </a:xfrm>
          <a:prstGeom prst="rect">
            <a:avLst/>
          </a:prstGeom>
          <a:noFill/>
        </p:spPr>
        <p:txBody>
          <a:bodyPr wrap="square" anchor="ctr">
            <a:spAutoFit/>
          </a:bodyPr>
          <a:lstStyle/>
          <a:p>
            <a:pPr algn="l">
              <a:spcAft>
                <a:spcPts val="0"/>
              </a:spcAft>
            </a:pPr>
            <a:r>
              <a:rPr sz="1500" b="0" i="0">
                <a:solidFill>
                  <a:srgbClr val="262626"/>
                </a:solidFill>
                <a:latin typeface="Arial"/>
              </a:rPr>
              <a:t>tensor cores in use</a:t>
            </a:r>
          </a:p>
        </p:txBody>
      </p:sp>
      <p:sp>
        <p:nvSpPr>
          <p:cNvPr id="22" name="TextBox 21"/>
          <p:cNvSpPr txBox="1"/>
          <p:nvPr/>
        </p:nvSpPr>
        <p:spPr>
          <a:xfrm>
            <a:off x="403682" y="4300000"/>
            <a:ext cx="11384636" cy="800000"/>
          </a:xfrm>
          <a:prstGeom prst="rect">
            <a:avLst/>
          </a:prstGeom>
          <a:noFill/>
        </p:spPr>
        <p:txBody>
          <a:bodyPr wrap="square" anchor="ctr">
            <a:spAutoFit/>
          </a:bodyPr>
          <a:lstStyle/>
          <a:p>
            <a:pPr algn="l">
              <a:spcAft>
                <a:spcPts val="0"/>
              </a:spcAft>
            </a:pPr>
            <a:r>
              <a:rPr sz="2800" b="1" i="0">
                <a:solidFill>
                  <a:srgbClr val="991346"/>
                </a:solidFill>
                <a:latin typeface="Arial"/>
              </a:rPr>
              <a:t>And none of them know what a token is.</a:t>
            </a:r>
          </a:p>
        </p:txBody>
      </p:sp>
      <p:sp>
        <p:nvSpPr>
          <p:cNvPr id="23" name="TextBox 22"/>
          <p:cNvSpPr txBox="1"/>
          <p:nvPr/>
        </p:nvSpPr>
        <p:spPr>
          <a:xfrm>
            <a:off x="403682" y="5050000"/>
            <a:ext cx="11384636" cy="600000"/>
          </a:xfrm>
          <a:prstGeom prst="rect">
            <a:avLst/>
          </a:prstGeom>
          <a:noFill/>
        </p:spPr>
        <p:txBody>
          <a:bodyPr wrap="square" anchor="t">
            <a:spAutoFit/>
          </a:bodyPr>
          <a:lstStyle/>
          <a:p>
            <a:pPr algn="l">
              <a:spcAft>
                <a:spcPts val="0"/>
              </a:spcAft>
            </a:pPr>
            <a:r>
              <a:rPr sz="1800" b="0" i="0">
                <a:solidFill>
                  <a:srgbClr val="262626"/>
                </a:solidFill>
                <a:latin typeface="Arial"/>
              </a:rPr>
              <a:t>Queue depth, KV cache pressure, tokens per second. The serving framework owns those, the silicon doesn't.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The pod is the join key.</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K8s 1.35: Dynamic Resource Allocation is stable; dcgm-exporter 4.8.4 adds pod_uid and ResourceSlice mapping because the device-plugin mapping breaks under DRA. Same join key, new plumbing.</a:t>
            </a:r>
          </a:p>
        </p:txBody>
      </p:sp>
      <p:sp>
        <p:nvSpPr>
          <p:cNvPr id="4" name="Rounded Rectangle 3"/>
          <p:cNvSpPr/>
          <p:nvPr/>
        </p:nvSpPr>
        <p:spPr>
          <a:xfrm>
            <a:off x="403682" y="1450000"/>
            <a:ext cx="3100000" cy="1500000"/>
          </a:xfrm>
          <a:prstGeom prst="roundRect">
            <a:avLst>
              <a:gd name="adj" fmla="val 8000"/>
            </a:avLst>
          </a:prstGeom>
          <a:solidFill>
            <a:srgbClr val="F3F3F3"/>
          </a:solidFill>
          <a:ln>
            <a:noFill/>
          </a:ln>
        </p:spPr>
        <p:txBody>
          <a:bodyPr rtlCol="0" anchor="ctr"/>
          <a:lstStyle/>
          <a:p/>
        </p:txBody>
      </p:sp>
      <p:sp>
        <p:nvSpPr>
          <p:cNvPr id="5" name="TextBox 4"/>
          <p:cNvSpPr txBox="1"/>
          <p:nvPr/>
        </p:nvSpPr>
        <p:spPr>
          <a:xfrm>
            <a:off x="403682" y="1450000"/>
            <a:ext cx="3100000" cy="1500000"/>
          </a:xfrm>
          <a:prstGeom prst="rect">
            <a:avLst/>
          </a:prstGeom>
          <a:noFill/>
        </p:spPr>
        <p:txBody>
          <a:bodyPr wrap="square" anchor="ctr">
            <a:spAutoFit/>
          </a:bodyPr>
          <a:lstStyle/>
          <a:p>
            <a:pPr algn="ctr">
              <a:spcAft>
                <a:spcPts val="200"/>
              </a:spcAft>
            </a:pPr>
            <a:r>
              <a:rPr sz="2400" b="1" i="0">
                <a:solidFill>
                  <a:srgbClr val="991346"/>
                </a:solidFill>
                <a:latin typeface="Arial"/>
              </a:rPr>
              <a:t>DCGM</a:t>
            </a:r>
          </a:p>
          <a:p>
            <a:pPr algn="ctr">
              <a:spcAft>
                <a:spcPts val="600"/>
              </a:spcAft>
            </a:pPr>
            <a:r>
              <a:rPr sz="1400" b="0" i="0">
                <a:solidFill>
                  <a:srgbClr val="6B6B6B"/>
                </a:solidFill>
                <a:latin typeface="Arial"/>
              </a:rPr>
              <a:t>dcgm-exporter --kubernetes</a:t>
            </a:r>
          </a:p>
          <a:p>
            <a:pPr algn="ctr">
              <a:spcAft>
                <a:spcPts val="0"/>
              </a:spcAft>
            </a:pPr>
            <a:r>
              <a:rPr sz="1500" b="1" i="0">
                <a:solidFill>
                  <a:srgbClr val="262626"/>
                </a:solidFill>
                <a:latin typeface="Courier New"/>
              </a:rPr>
              <a:t>exported_pod</a:t>
            </a:r>
          </a:p>
        </p:txBody>
      </p:sp>
      <p:cxnSp>
        <p:nvCxnSpPr>
          <p:cNvPr id="6" name="Connector 5"/>
          <p:cNvCxnSpPr/>
          <p:nvPr/>
        </p:nvCxnSpPr>
        <p:spPr>
          <a:xfrm>
            <a:off x="1953682" y="2950000"/>
            <a:ext cx="3451931" cy="200000"/>
          </a:xfrm>
          <a:prstGeom prst="line">
            <a:avLst/>
          </a:prstGeom>
          <a:ln w="38100">
            <a:solidFill>
              <a:srgbClr val="991346"/>
            </a:solidFill>
            <a:tailEnd type="triangle" w="med" len="med"/>
          </a:ln>
        </p:spPr>
      </p:cxnSp>
      <p:sp>
        <p:nvSpPr>
          <p:cNvPr id="7" name="Rounded Rectangle 6"/>
          <p:cNvSpPr/>
          <p:nvPr/>
        </p:nvSpPr>
        <p:spPr>
          <a:xfrm>
            <a:off x="4546000" y="1450000"/>
            <a:ext cx="3100000" cy="1500000"/>
          </a:xfrm>
          <a:prstGeom prst="roundRect">
            <a:avLst>
              <a:gd name="adj" fmla="val 8000"/>
            </a:avLst>
          </a:prstGeom>
          <a:solidFill>
            <a:srgbClr val="F3F3F3"/>
          </a:solidFill>
          <a:ln>
            <a:noFill/>
          </a:ln>
        </p:spPr>
        <p:txBody>
          <a:bodyPr rtlCol="0" anchor="ctr"/>
          <a:lstStyle/>
          <a:p/>
        </p:txBody>
      </p:sp>
      <p:sp>
        <p:nvSpPr>
          <p:cNvPr id="8" name="TextBox 7"/>
          <p:cNvSpPr txBox="1"/>
          <p:nvPr/>
        </p:nvSpPr>
        <p:spPr>
          <a:xfrm>
            <a:off x="4546000" y="1450000"/>
            <a:ext cx="3100000" cy="1500000"/>
          </a:xfrm>
          <a:prstGeom prst="rect">
            <a:avLst/>
          </a:prstGeom>
          <a:noFill/>
        </p:spPr>
        <p:txBody>
          <a:bodyPr wrap="square" anchor="ctr">
            <a:spAutoFit/>
          </a:bodyPr>
          <a:lstStyle/>
          <a:p>
            <a:pPr algn="ctr">
              <a:spcAft>
                <a:spcPts val="200"/>
              </a:spcAft>
            </a:pPr>
            <a:r>
              <a:rPr sz="2400" b="1" i="0">
                <a:solidFill>
                  <a:srgbClr val="991346"/>
                </a:solidFill>
                <a:latin typeface="Arial"/>
              </a:rPr>
              <a:t>Serving log</a:t>
            </a:r>
          </a:p>
          <a:p>
            <a:pPr algn="ctr">
              <a:spcAft>
                <a:spcPts val="600"/>
              </a:spcAft>
            </a:pPr>
            <a:r>
              <a:rPr sz="1400" b="0" i="0">
                <a:solidFill>
                  <a:srgbClr val="6B6B6B"/>
                </a:solidFill>
                <a:latin typeface="Arial"/>
              </a:rPr>
              <a:t>Fluent Bit kubernetes filter</a:t>
            </a:r>
          </a:p>
          <a:p>
            <a:pPr algn="ctr">
              <a:spcAft>
                <a:spcPts val="0"/>
              </a:spcAft>
            </a:pPr>
            <a:r>
              <a:rPr sz="1500" b="1" i="0">
                <a:solidFill>
                  <a:srgbClr val="262626"/>
                </a:solidFill>
                <a:latin typeface="Courier New"/>
              </a:rPr>
              <a:t>pod_name</a:t>
            </a:r>
          </a:p>
        </p:txBody>
      </p:sp>
      <p:cxnSp>
        <p:nvCxnSpPr>
          <p:cNvPr id="9" name="Connector 8"/>
          <p:cNvCxnSpPr/>
          <p:nvPr/>
        </p:nvCxnSpPr>
        <p:spPr>
          <a:xfrm>
            <a:off x="6096000" y="2950000"/>
            <a:ext cx="0" cy="200000"/>
          </a:xfrm>
          <a:prstGeom prst="line">
            <a:avLst/>
          </a:prstGeom>
          <a:ln w="38100">
            <a:solidFill>
              <a:srgbClr val="991346"/>
            </a:solidFill>
            <a:tailEnd type="triangle" w="med" len="med"/>
          </a:ln>
        </p:spPr>
      </p:cxnSp>
      <p:sp>
        <p:nvSpPr>
          <p:cNvPr id="10" name="Rounded Rectangle 9"/>
          <p:cNvSpPr/>
          <p:nvPr/>
        </p:nvSpPr>
        <p:spPr>
          <a:xfrm>
            <a:off x="8688318" y="1450000"/>
            <a:ext cx="3100000" cy="1500000"/>
          </a:xfrm>
          <a:prstGeom prst="roundRect">
            <a:avLst>
              <a:gd name="adj" fmla="val 8000"/>
            </a:avLst>
          </a:prstGeom>
          <a:solidFill>
            <a:srgbClr val="F3F3F3"/>
          </a:solidFill>
          <a:ln>
            <a:noFill/>
          </a:ln>
        </p:spPr>
        <p:txBody>
          <a:bodyPr rtlCol="0" anchor="ctr"/>
          <a:lstStyle/>
          <a:p/>
        </p:txBody>
      </p:sp>
      <p:sp>
        <p:nvSpPr>
          <p:cNvPr id="11" name="TextBox 10"/>
          <p:cNvSpPr txBox="1"/>
          <p:nvPr/>
        </p:nvSpPr>
        <p:spPr>
          <a:xfrm>
            <a:off x="8688318" y="1450000"/>
            <a:ext cx="3100000" cy="1500000"/>
          </a:xfrm>
          <a:prstGeom prst="rect">
            <a:avLst/>
          </a:prstGeom>
          <a:noFill/>
        </p:spPr>
        <p:txBody>
          <a:bodyPr wrap="square" anchor="ctr">
            <a:spAutoFit/>
          </a:bodyPr>
          <a:lstStyle/>
          <a:p>
            <a:pPr algn="ctr">
              <a:spcAft>
                <a:spcPts val="200"/>
              </a:spcAft>
            </a:pPr>
            <a:r>
              <a:rPr sz="2400" b="1" i="0">
                <a:solidFill>
                  <a:srgbClr val="991346"/>
                </a:solidFill>
                <a:latin typeface="Arial"/>
              </a:rPr>
              <a:t>Traces</a:t>
            </a:r>
          </a:p>
          <a:p>
            <a:pPr algn="ctr">
              <a:spcAft>
                <a:spcPts val="600"/>
              </a:spcAft>
            </a:pPr>
            <a:r>
              <a:rPr sz="1400" b="0" i="0">
                <a:solidFill>
                  <a:srgbClr val="6B6B6B"/>
                </a:solidFill>
                <a:latin typeface="Arial"/>
              </a:rPr>
              <a:t>OTel Collector k8sattributes</a:t>
            </a:r>
          </a:p>
          <a:p>
            <a:pPr algn="ctr">
              <a:spcAft>
                <a:spcPts val="0"/>
              </a:spcAft>
            </a:pPr>
            <a:r>
              <a:rPr sz="1500" b="1" i="0">
                <a:solidFill>
                  <a:srgbClr val="262626"/>
                </a:solidFill>
                <a:latin typeface="Courier New"/>
              </a:rPr>
              <a:t>k8s.pod.name</a:t>
            </a:r>
          </a:p>
        </p:txBody>
      </p:sp>
      <p:cxnSp>
        <p:nvCxnSpPr>
          <p:cNvPr id="12" name="Connector 11"/>
          <p:cNvCxnSpPr/>
          <p:nvPr/>
        </p:nvCxnSpPr>
        <p:spPr>
          <a:xfrm flipH="1">
            <a:off x="6786386" y="2950000"/>
            <a:ext cx="3451932" cy="200000"/>
          </a:xfrm>
          <a:prstGeom prst="line">
            <a:avLst/>
          </a:prstGeom>
          <a:ln w="38100">
            <a:solidFill>
              <a:srgbClr val="991346"/>
            </a:solidFill>
            <a:tailEnd type="triangle" w="med" len="med"/>
          </a:ln>
        </p:spPr>
      </p:cxnSp>
      <p:sp>
        <p:nvSpPr>
          <p:cNvPr id="13" name="Rounded Rectangle 12"/>
          <p:cNvSpPr/>
          <p:nvPr/>
        </p:nvSpPr>
        <p:spPr>
          <a:xfrm>
            <a:off x="3696000" y="3150000"/>
            <a:ext cx="4800000" cy="1200000"/>
          </a:xfrm>
          <a:prstGeom prst="roundRect">
            <a:avLst>
              <a:gd name="adj" fmla="val 50000"/>
            </a:avLst>
          </a:prstGeom>
          <a:solidFill>
            <a:srgbClr val="991346"/>
          </a:solidFill>
          <a:ln>
            <a:noFill/>
          </a:ln>
        </p:spPr>
        <p:txBody>
          <a:bodyPr rtlCol="0" anchor="ctr" lIns="90000" rIns="90000" tIns="0" bIns="0"/>
          <a:lstStyle/>
          <a:p>
            <a:pPr algn="ctr"/>
            <a:r>
              <a:rPr sz="4000" b="1" i="0">
                <a:solidFill>
                  <a:srgbClr val="FFFFFF"/>
                </a:solidFill>
                <a:latin typeface="Courier New"/>
              </a:rPr>
              <a:t>pod_name</a:t>
            </a:r>
          </a:p>
        </p:txBody>
      </p:sp>
      <p:sp>
        <p:nvSpPr>
          <p:cNvPr id="14" name="Rounded Rectangle 13"/>
          <p:cNvSpPr/>
          <p:nvPr/>
        </p:nvSpPr>
        <p:spPr>
          <a:xfrm>
            <a:off x="3996000" y="4500000"/>
            <a:ext cx="4200000" cy="560000"/>
          </a:xfrm>
          <a:prstGeom prst="roundRect">
            <a:avLst>
              <a:gd name="adj" fmla="val 50000"/>
            </a:avLst>
          </a:prstGeom>
          <a:solidFill>
            <a:srgbClr val="FFFFFF"/>
          </a:solidFill>
          <a:ln w="15875">
            <a:solidFill>
              <a:srgbClr val="991346"/>
            </a:solidFill>
          </a:ln>
        </p:spPr>
        <p:txBody>
          <a:bodyPr rtlCol="0" anchor="ctr" lIns="90000" rIns="90000" tIns="0" bIns="0"/>
          <a:lstStyle/>
          <a:p>
            <a:pPr algn="ctr"/>
            <a:r>
              <a:rPr sz="1800" b="1" i="0">
                <a:solidFill>
                  <a:srgbClr val="991346"/>
                </a:solidFill>
                <a:latin typeface="Courier New"/>
              </a:rPr>
              <a:t>WHERE pod_name = $pod</a:t>
            </a:r>
          </a:p>
        </p:txBody>
      </p:sp>
      <p:sp>
        <p:nvSpPr>
          <p:cNvPr id="15" name="TextBox 14"/>
          <p:cNvSpPr txBox="1"/>
          <p:nvPr/>
        </p:nvSpPr>
        <p:spPr>
          <a:xfrm>
            <a:off x="403682" y="5200000"/>
            <a:ext cx="11384636" cy="700000"/>
          </a:xfrm>
          <a:prstGeom prst="rect">
            <a:avLst/>
          </a:prstGeom>
          <a:noFill/>
        </p:spPr>
        <p:txBody>
          <a:bodyPr wrap="square" anchor="t">
            <a:spAutoFit/>
          </a:bodyPr>
          <a:lstStyle/>
          <a:p>
            <a:pPr algn="ctr">
              <a:spcAft>
                <a:spcPts val="0"/>
              </a:spcAft>
            </a:pPr>
            <a:r>
              <a:rPr sz="2000" b="1" i="0">
                <a:solidFill>
                  <a:srgbClr val="262626"/>
                </a:solidFill>
                <a:latin typeface="Arial"/>
              </a:rPr>
              <a:t>Stamp it on every metric, log record and span. Join at query time. Nothing else is common to all three.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7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Signal 1: DCGM, per pod.</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dcgm-exporter --kubernetes reads /var/lib/kubelet/pod-resources. EKS Auto Mode: standalone dcgm-exporter, not the GPU Operator (slide 18).</a:t>
            </a:r>
          </a:p>
        </p:txBody>
      </p:sp>
      <p:pic>
        <p:nvPicPr>
          <p:cNvPr id="4" name="Picture 3" descr="panel-4.png"/>
          <p:cNvPicPr>
            <a:picLocks noChangeAspect="1"/>
          </p:cNvPicPr>
          <p:nvPr/>
        </p:nvPicPr>
        <p:blipFill>
          <a:blip r:embed="rId3"/>
          <a:stretch>
            <a:fillRect/>
          </a:stretch>
        </p:blipFill>
        <p:spPr>
          <a:xfrm>
            <a:off x="403682" y="1252143"/>
            <a:ext cx="6200000" cy="2745714"/>
          </a:xfrm>
          <a:prstGeom prst="rect">
            <a:avLst/>
          </a:prstGeom>
        </p:spPr>
      </p:pic>
      <p:sp>
        <p:nvSpPr>
          <p:cNvPr id="5" name="Rectangle 4"/>
          <p:cNvSpPr/>
          <p:nvPr/>
        </p:nvSpPr>
        <p:spPr>
          <a:xfrm>
            <a:off x="403682" y="1252143"/>
            <a:ext cx="6200000" cy="2745714"/>
          </a:xfrm>
          <a:prstGeom prst="rect">
            <a:avLst/>
          </a:prstGeom>
          <a:noFill/>
          <a:ln w="9525">
            <a:solidFill>
              <a:srgbClr val="DDDDDD"/>
            </a:solidFill>
          </a:ln>
        </p:spPr>
        <p:txBody>
          <a:bodyPr rtlCol="0" anchor="ctr"/>
          <a:lstStyle/>
          <a:p>
            <a:pPr algn="ctr"/>
          </a:p>
        </p:txBody>
      </p:sp>
      <p:sp>
        <p:nvSpPr>
          <p:cNvPr id="6" name="Rounded Rectangle 5"/>
          <p:cNvSpPr/>
          <p:nvPr/>
        </p:nvSpPr>
        <p:spPr>
          <a:xfrm>
            <a:off x="4103682" y="1801285"/>
            <a:ext cx="2300000" cy="560000"/>
          </a:xfrm>
          <a:prstGeom prst="roundRect">
            <a:avLst>
              <a:gd name="adj" fmla="val 12000"/>
            </a:avLst>
          </a:prstGeom>
          <a:solidFill>
            <a:srgbClr val="991346"/>
          </a:solidFill>
          <a:ln>
            <a:noFill/>
          </a:ln>
        </p:spPr>
        <p:txBody>
          <a:bodyPr rtlCol="0" anchor="ctr"/>
          <a:lstStyle/>
          <a:p/>
        </p:txBody>
      </p:sp>
      <p:sp>
        <p:nvSpPr>
          <p:cNvPr id="7" name="TextBox 6"/>
          <p:cNvSpPr txBox="1"/>
          <p:nvPr/>
        </p:nvSpPr>
        <p:spPr>
          <a:xfrm>
            <a:off x="4103682" y="1801285"/>
            <a:ext cx="2300000" cy="560000"/>
          </a:xfrm>
          <a:prstGeom prst="rect">
            <a:avLst/>
          </a:prstGeom>
          <a:noFill/>
        </p:spPr>
        <p:txBody>
          <a:bodyPr wrap="square" anchor="ctr">
            <a:spAutoFit/>
          </a:bodyPr>
          <a:lstStyle/>
          <a:p>
            <a:pPr algn="ctr">
              <a:spcAft>
                <a:spcPts val="0"/>
              </a:spcAft>
            </a:pPr>
            <a:r>
              <a:rPr sz="1600" b="1" i="0">
                <a:solidFill>
                  <a:srgbClr val="FFFFFF"/>
                </a:solidFill>
                <a:latin typeface="Arial"/>
              </a:rPr>
              <a:t>SM active, per pod</a:t>
            </a:r>
          </a:p>
        </p:txBody>
      </p:sp>
      <p:sp>
        <p:nvSpPr>
          <p:cNvPr id="8" name="TextBox 7"/>
          <p:cNvSpPr txBox="1"/>
          <p:nvPr/>
        </p:nvSpPr>
        <p:spPr>
          <a:xfrm>
            <a:off x="403682" y="4150000"/>
            <a:ext cx="6200000" cy="1500000"/>
          </a:xfrm>
          <a:prstGeom prst="rect">
            <a:avLst/>
          </a:prstGeom>
          <a:noFill/>
        </p:spPr>
        <p:txBody>
          <a:bodyPr wrap="square" anchor="t">
            <a:spAutoFit/>
          </a:bodyPr>
          <a:lstStyle/>
          <a:p>
            <a:pPr algn="l">
              <a:spcAft>
                <a:spcPts val="600"/>
              </a:spcAft>
            </a:pPr>
            <a:r>
              <a:rPr sz="1400" b="1" i="0">
                <a:solidFill>
                  <a:srgbClr val="262626"/>
                </a:solidFill>
                <a:latin typeface="Courier New"/>
              </a:rPr>
              <a:t>--kubernetes=true  </a:t>
            </a:r>
            <a:r>
              <a:rPr sz="1500" b="0" i="0">
                <a:solidFill>
                  <a:srgbClr val="262626"/>
                </a:solidFill>
                <a:latin typeface="Arial"/>
              </a:rPr>
              <a:t>asks the kubelet who owns each GPU</a:t>
            </a:r>
          </a:p>
          <a:p>
            <a:pPr algn="l">
              <a:spcAft>
                <a:spcPts val="600"/>
              </a:spcAft>
            </a:pPr>
            <a:r>
              <a:rPr sz="1400" b="1" i="0">
                <a:solidFill>
                  <a:srgbClr val="262626"/>
                </a:solidFill>
                <a:latin typeface="Courier New"/>
              </a:rPr>
              <a:t>ENABLE_POD_LABELS=false  </a:t>
            </a:r>
            <a:r>
              <a:rPr sz="1500" b="0" i="0">
                <a:solidFill>
                  <a:srgbClr val="262626"/>
                </a:solidFill>
                <a:latin typeface="Arial"/>
              </a:rPr>
              <a:t>keep the join key, nothing else (next slide)</a:t>
            </a:r>
          </a:p>
        </p:txBody>
      </p:sp>
      <p:sp>
        <p:nvSpPr>
          <p:cNvPr id="9" name="Rounded Rectangle 8"/>
          <p:cNvSpPr/>
          <p:nvPr/>
        </p:nvSpPr>
        <p:spPr>
          <a:xfrm>
            <a:off x="6903682" y="1250000"/>
            <a:ext cx="4884636" cy="2050000"/>
          </a:xfrm>
          <a:prstGeom prst="roundRect">
            <a:avLst>
              <a:gd name="adj" fmla="val 8000"/>
            </a:avLst>
          </a:prstGeom>
          <a:solidFill>
            <a:srgbClr val="E3F1E4"/>
          </a:solidFill>
          <a:ln>
            <a:noFill/>
          </a:ln>
        </p:spPr>
        <p:txBody>
          <a:bodyPr rtlCol="0" anchor="ctr"/>
          <a:lstStyle/>
          <a:p/>
        </p:txBody>
      </p:sp>
      <p:sp>
        <p:nvSpPr>
          <p:cNvPr id="10" name="TextBox 9"/>
          <p:cNvSpPr txBox="1"/>
          <p:nvPr/>
        </p:nvSpPr>
        <p:spPr>
          <a:xfrm>
            <a:off x="7003682" y="1330000"/>
            <a:ext cx="4684636" cy="1900000"/>
          </a:xfrm>
          <a:prstGeom prst="rect">
            <a:avLst/>
          </a:prstGeom>
          <a:noFill/>
        </p:spPr>
        <p:txBody>
          <a:bodyPr wrap="square" anchor="t">
            <a:spAutoFit/>
          </a:bodyPr>
          <a:lstStyle/>
          <a:p>
            <a:pPr algn="l">
              <a:spcAft>
                <a:spcPts val="500"/>
              </a:spcAft>
            </a:pPr>
            <a:r>
              <a:rPr sz="1800" b="1" i="0">
                <a:solidFill>
                  <a:srgbClr val="2E7D32"/>
                </a:solidFill>
                <a:latin typeface="Arial"/>
              </a:rPr>
              <a:t>What it tells you</a:t>
            </a:r>
          </a:p>
          <a:p>
            <a:pPr algn="l" marL="285750" indent="-285750">
              <a:spcAft>
                <a:spcPts val="500"/>
              </a:spcAft>
              <a:buChar char="•"/>
            </a:pPr>
            <a:r>
              <a:rPr sz="1600" b="0" i="0">
                <a:solidFill>
                  <a:srgbClr val="262626"/>
                </a:solidFill>
                <a:latin typeface="Arial"/>
              </a:rPr>
              <a:t>Which pod holds which GPU</a:t>
            </a:r>
          </a:p>
          <a:p>
            <a:pPr algn="l" marL="285750" indent="-285750">
              <a:spcAft>
                <a:spcPts val="500"/>
              </a:spcAft>
              <a:buChar char="•"/>
            </a:pPr>
            <a:r>
              <a:rPr sz="1600" b="0" i="0">
                <a:solidFill>
                  <a:srgbClr val="262626"/>
                </a:solidFill>
                <a:latin typeface="Arial"/>
              </a:rPr>
              <a:t>Whether the silicon is busy (SM_ACTIVE, DRAM_ACTIVE)</a:t>
            </a:r>
          </a:p>
          <a:p>
            <a:pPr algn="l" marL="285750" indent="-285750">
              <a:spcAft>
                <a:spcPts val="0"/>
              </a:spcAft>
              <a:buChar char="•"/>
            </a:pPr>
            <a:r>
              <a:rPr sz="1600" b="0" i="0">
                <a:solidFill>
                  <a:srgbClr val="262626"/>
                </a:solidFill>
                <a:latin typeface="Arial"/>
              </a:rPr>
              <a:t>Power, temperature, pool size</a:t>
            </a:r>
          </a:p>
        </p:txBody>
      </p:sp>
      <p:sp>
        <p:nvSpPr>
          <p:cNvPr id="11" name="Rounded Rectangle 10"/>
          <p:cNvSpPr/>
          <p:nvPr/>
        </p:nvSpPr>
        <p:spPr>
          <a:xfrm>
            <a:off x="6903682" y="3450000"/>
            <a:ext cx="4884636" cy="2300000"/>
          </a:xfrm>
          <a:prstGeom prst="roundRect">
            <a:avLst>
              <a:gd name="adj" fmla="val 8000"/>
            </a:avLst>
          </a:prstGeom>
          <a:solidFill>
            <a:srgbClr val="FBE5E5"/>
          </a:solidFill>
          <a:ln>
            <a:noFill/>
          </a:ln>
        </p:spPr>
        <p:txBody>
          <a:bodyPr rtlCol="0" anchor="ctr"/>
          <a:lstStyle/>
          <a:p/>
        </p:txBody>
      </p:sp>
      <p:sp>
        <p:nvSpPr>
          <p:cNvPr id="12" name="TextBox 11"/>
          <p:cNvSpPr txBox="1"/>
          <p:nvPr/>
        </p:nvSpPr>
        <p:spPr>
          <a:xfrm>
            <a:off x="7003682" y="3530000"/>
            <a:ext cx="4684636" cy="2150000"/>
          </a:xfrm>
          <a:prstGeom prst="rect">
            <a:avLst/>
          </a:prstGeom>
          <a:noFill/>
        </p:spPr>
        <p:txBody>
          <a:bodyPr wrap="square" anchor="t">
            <a:spAutoFit/>
          </a:bodyPr>
          <a:lstStyle/>
          <a:p>
            <a:pPr algn="l">
              <a:spcAft>
                <a:spcPts val="500"/>
              </a:spcAft>
            </a:pPr>
            <a:r>
              <a:rPr sz="1800" b="1" i="0">
                <a:solidFill>
                  <a:srgbClr val="C62828"/>
                </a:solidFill>
                <a:latin typeface="Arial"/>
              </a:rPr>
              <a:t>What it has no idea about</a:t>
            </a:r>
          </a:p>
          <a:p>
            <a:pPr algn="l" marL="285750" indent="-285750">
              <a:spcAft>
                <a:spcPts val="500"/>
              </a:spcAft>
              <a:buChar char="•"/>
            </a:pPr>
            <a:r>
              <a:rPr sz="1600" b="0" i="0">
                <a:solidFill>
                  <a:srgbClr val="262626"/>
                </a:solidFill>
                <a:latin typeface="Arial"/>
              </a:rPr>
              <a:t>Why the GPU is busy</a:t>
            </a:r>
          </a:p>
          <a:p>
            <a:pPr algn="l" marL="285750" indent="-285750">
              <a:spcAft>
                <a:spcPts val="500"/>
              </a:spcAft>
              <a:buChar char="•"/>
            </a:pPr>
            <a:r>
              <a:rPr sz="1600" b="0" i="0">
                <a:solidFill>
                  <a:srgbClr val="262626"/>
                </a:solidFill>
                <a:latin typeface="Arial"/>
              </a:rPr>
              <a:t>How many requests are queued</a:t>
            </a:r>
          </a:p>
          <a:p>
            <a:pPr algn="l" marL="285750" indent="-285750">
              <a:spcAft>
                <a:spcPts val="500"/>
              </a:spcAft>
              <a:buChar char="•"/>
            </a:pPr>
            <a:r>
              <a:rPr sz="1600" b="0" i="0">
                <a:solidFill>
                  <a:srgbClr val="262626"/>
                </a:solidFill>
                <a:latin typeface="Arial"/>
              </a:rPr>
              <a:t>Whether the KV cache is full</a:t>
            </a:r>
          </a:p>
          <a:p>
            <a:pPr algn="l" marL="285750" indent="-285750">
              <a:spcAft>
                <a:spcPts val="0"/>
              </a:spcAft>
              <a:buChar char="•"/>
            </a:pPr>
            <a:r>
              <a:rPr sz="1600" b="0" i="0">
                <a:solidFill>
                  <a:srgbClr val="262626"/>
                </a:solidFill>
                <a:latin typeface="Arial"/>
              </a:rPr>
              <a:t>Anything about tokens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Keep the join key. Drop every other label.</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Series math: Last9, 10,000 GPUs, one TSDB (last9.io/blog/10-000-gpus-one-tsdb-cardinality-at-gpu-scale). Our rig: 7 counters, pod labels off, exported_pod is the only identity.</a:t>
            </a:r>
          </a:p>
        </p:txBody>
      </p:sp>
      <p:sp>
        <p:nvSpPr>
          <p:cNvPr id="4" name="TextBox 3"/>
          <p:cNvSpPr txBox="1"/>
          <p:nvPr/>
        </p:nvSpPr>
        <p:spPr>
          <a:xfrm>
            <a:off x="403682" y="1250000"/>
            <a:ext cx="8400000" cy="700000"/>
          </a:xfrm>
          <a:prstGeom prst="rect">
            <a:avLst/>
          </a:prstGeom>
          <a:noFill/>
        </p:spPr>
        <p:txBody>
          <a:bodyPr wrap="square" anchor="ctr">
            <a:spAutoFit/>
          </a:bodyPr>
          <a:lstStyle/>
          <a:p>
            <a:pPr algn="ctr">
              <a:spcAft>
                <a:spcPts val="0"/>
              </a:spcAft>
            </a:pPr>
            <a:r>
              <a:rPr sz="1800" b="0" i="0">
                <a:solidFill>
                  <a:srgbClr val="6B6B6B"/>
                </a:solidFill>
                <a:latin typeface="Courier New"/>
              </a:rPr>
              <a:t>1,000 nodes  x  8 GPUs  x  60 counters  x  3 labels</a:t>
            </a:r>
          </a:p>
        </p:txBody>
      </p:sp>
      <p:sp>
        <p:nvSpPr>
          <p:cNvPr id="5" name="TextBox 4"/>
          <p:cNvSpPr txBox="1"/>
          <p:nvPr/>
        </p:nvSpPr>
        <p:spPr>
          <a:xfrm>
            <a:off x="403682" y="1900000"/>
            <a:ext cx="8400000" cy="1500000"/>
          </a:xfrm>
          <a:prstGeom prst="rect">
            <a:avLst/>
          </a:prstGeom>
          <a:noFill/>
        </p:spPr>
        <p:txBody>
          <a:bodyPr wrap="square" anchor="ctr">
            <a:spAutoFit/>
          </a:bodyPr>
          <a:lstStyle/>
          <a:p>
            <a:pPr algn="ctr">
              <a:spcAft>
                <a:spcPts val="0"/>
              </a:spcAft>
            </a:pPr>
            <a:r>
              <a:rPr sz="8800" b="1" i="0">
                <a:solidFill>
                  <a:srgbClr val="991346"/>
                </a:solidFill>
                <a:latin typeface="Arial"/>
              </a:rPr>
              <a:t>= 1.4M series</a:t>
            </a:r>
          </a:p>
        </p:txBody>
      </p:sp>
      <p:sp>
        <p:nvSpPr>
          <p:cNvPr id="6" name="TextBox 5"/>
          <p:cNvSpPr txBox="1"/>
          <p:nvPr/>
        </p:nvSpPr>
        <p:spPr>
          <a:xfrm>
            <a:off x="403682" y="3400000"/>
            <a:ext cx="8400000" cy="500000"/>
          </a:xfrm>
          <a:prstGeom prst="rect">
            <a:avLst/>
          </a:prstGeom>
          <a:noFill/>
        </p:spPr>
        <p:txBody>
          <a:bodyPr wrap="square" anchor="t">
            <a:spAutoFit/>
          </a:bodyPr>
          <a:lstStyle/>
          <a:p>
            <a:pPr algn="ctr">
              <a:spcAft>
                <a:spcPts val="0"/>
              </a:spcAft>
            </a:pPr>
            <a:r>
              <a:rPr sz="1800" b="0" i="0">
                <a:solidFill>
                  <a:srgbClr val="6B6B6B"/>
                </a:solidFill>
                <a:latin typeface="Arial"/>
              </a:rPr>
              <a:t>before a single pod or job label. Every label you add multiplies by pod churn.</a:t>
            </a:r>
          </a:p>
        </p:txBody>
      </p:sp>
      <p:sp>
        <p:nvSpPr>
          <p:cNvPr id="7" name="Rounded Rectangle 6"/>
          <p:cNvSpPr/>
          <p:nvPr/>
        </p:nvSpPr>
        <p:spPr>
          <a:xfrm>
            <a:off x="9646000" y="1350000"/>
            <a:ext cx="1500000" cy="440000"/>
          </a:xfrm>
          <a:prstGeom prst="roundRect">
            <a:avLst>
              <a:gd name="adj" fmla="val 50000"/>
            </a:avLst>
          </a:prstGeom>
          <a:solidFill>
            <a:srgbClr val="F3F3F3"/>
          </a:solidFill>
          <a:ln>
            <a:noFill/>
          </a:ln>
        </p:spPr>
        <p:txBody>
          <a:bodyPr rtlCol="0" anchor="ctr" lIns="90000" rIns="90000" tIns="0" bIns="0"/>
          <a:lstStyle/>
          <a:p>
            <a:pPr algn="ctr"/>
            <a:r>
              <a:rPr sz="1600" b="1" i="0">
                <a:solidFill>
                  <a:srgbClr val="262626"/>
                </a:solidFill>
                <a:latin typeface="Courier New"/>
              </a:rPr>
              <a:t>pod_name</a:t>
            </a:r>
          </a:p>
        </p:txBody>
      </p:sp>
      <p:sp>
        <p:nvSpPr>
          <p:cNvPr id="8" name="TextBox 7"/>
          <p:cNvSpPr txBox="1"/>
          <p:nvPr/>
        </p:nvSpPr>
        <p:spPr>
          <a:xfrm>
            <a:off x="9003682" y="1830000"/>
            <a:ext cx="2784636" cy="350000"/>
          </a:xfrm>
          <a:prstGeom prst="rect">
            <a:avLst/>
          </a:prstGeom>
          <a:noFill/>
        </p:spPr>
        <p:txBody>
          <a:bodyPr wrap="square" anchor="t">
            <a:spAutoFit/>
          </a:bodyPr>
          <a:lstStyle/>
          <a:p>
            <a:pPr algn="ctr">
              <a:spcAft>
                <a:spcPts val="0"/>
              </a:spcAft>
            </a:pPr>
            <a:r>
              <a:rPr sz="1600" b="0" i="0">
                <a:solidFill>
                  <a:srgbClr val="6B6B6B"/>
                </a:solidFill>
                <a:latin typeface="Arial"/>
              </a:rPr>
              <a:t>x every rollout</a:t>
            </a:r>
          </a:p>
        </p:txBody>
      </p:sp>
      <p:cxnSp>
        <p:nvCxnSpPr>
          <p:cNvPr id="9" name="Connector 8"/>
          <p:cNvCxnSpPr/>
          <p:nvPr/>
        </p:nvCxnSpPr>
        <p:spPr>
          <a:xfrm>
            <a:off x="10396000" y="2200000"/>
            <a:ext cx="0" cy="230000"/>
          </a:xfrm>
          <a:prstGeom prst="line">
            <a:avLst/>
          </a:prstGeom>
          <a:ln w="25400">
            <a:solidFill>
              <a:srgbClr val="6B6B6B"/>
            </a:solidFill>
            <a:tailEnd type="triangle" w="med" len="med"/>
          </a:ln>
        </p:spPr>
      </p:cxnSp>
      <p:sp>
        <p:nvSpPr>
          <p:cNvPr id="10" name="Oval 9"/>
          <p:cNvSpPr/>
          <p:nvPr/>
        </p:nvSpPr>
        <p:spPr>
          <a:xfrm>
            <a:off x="9257145" y="2595600"/>
            <a:ext cx="150000" cy="150000"/>
          </a:xfrm>
          <a:prstGeom prst="ellipse">
            <a:avLst/>
          </a:prstGeom>
          <a:solidFill>
            <a:srgbClr val="991346"/>
          </a:solidFill>
          <a:ln>
            <a:noFill/>
          </a:ln>
        </p:spPr>
        <p:txBody>
          <a:bodyPr rtlCol="0" anchor="ctr"/>
          <a:lstStyle/>
          <a:p>
            <a:pPr algn="ctr"/>
          </a:p>
        </p:txBody>
      </p:sp>
      <p:sp>
        <p:nvSpPr>
          <p:cNvPr id="11" name="Oval 10"/>
          <p:cNvSpPr/>
          <p:nvPr/>
        </p:nvSpPr>
        <p:spPr>
          <a:xfrm>
            <a:off x="10068229" y="2546400"/>
            <a:ext cx="190000" cy="190000"/>
          </a:xfrm>
          <a:prstGeom prst="ellipse">
            <a:avLst/>
          </a:prstGeom>
          <a:solidFill>
            <a:srgbClr val="991346"/>
          </a:solidFill>
          <a:ln>
            <a:noFill/>
          </a:ln>
        </p:spPr>
        <p:txBody>
          <a:bodyPr rtlCol="0" anchor="ctr"/>
          <a:lstStyle/>
          <a:p>
            <a:pPr algn="ctr"/>
          </a:p>
        </p:txBody>
      </p:sp>
      <p:sp>
        <p:nvSpPr>
          <p:cNvPr id="12" name="Oval 11"/>
          <p:cNvSpPr/>
          <p:nvPr/>
        </p:nvSpPr>
        <p:spPr>
          <a:xfrm>
            <a:off x="10879312" y="2620200"/>
            <a:ext cx="130000" cy="130000"/>
          </a:xfrm>
          <a:prstGeom prst="ellipse">
            <a:avLst/>
          </a:prstGeom>
          <a:solidFill>
            <a:srgbClr val="991346"/>
          </a:solidFill>
          <a:ln>
            <a:noFill/>
          </a:ln>
        </p:spPr>
        <p:txBody>
          <a:bodyPr rtlCol="0" anchor="ctr"/>
          <a:lstStyle/>
          <a:p>
            <a:pPr algn="ctr"/>
          </a:p>
        </p:txBody>
      </p:sp>
      <p:sp>
        <p:nvSpPr>
          <p:cNvPr id="13" name="Oval 12"/>
          <p:cNvSpPr/>
          <p:nvPr/>
        </p:nvSpPr>
        <p:spPr>
          <a:xfrm>
            <a:off x="9662687" y="2743200"/>
            <a:ext cx="170000" cy="170000"/>
          </a:xfrm>
          <a:prstGeom prst="ellipse">
            <a:avLst/>
          </a:prstGeom>
          <a:solidFill>
            <a:srgbClr val="991346"/>
          </a:solidFill>
          <a:ln>
            <a:noFill/>
          </a:ln>
        </p:spPr>
        <p:txBody>
          <a:bodyPr rtlCol="0" anchor="ctr"/>
          <a:lstStyle/>
          <a:p>
            <a:pPr algn="ctr"/>
          </a:p>
        </p:txBody>
      </p:sp>
      <p:sp>
        <p:nvSpPr>
          <p:cNvPr id="14" name="Oval 13"/>
          <p:cNvSpPr/>
          <p:nvPr/>
        </p:nvSpPr>
        <p:spPr>
          <a:xfrm>
            <a:off x="10473770" y="2710400"/>
            <a:ext cx="140000" cy="140000"/>
          </a:xfrm>
          <a:prstGeom prst="ellipse">
            <a:avLst/>
          </a:prstGeom>
          <a:solidFill>
            <a:srgbClr val="991346"/>
          </a:solidFill>
          <a:ln>
            <a:noFill/>
          </a:ln>
        </p:spPr>
        <p:txBody>
          <a:bodyPr rtlCol="0" anchor="ctr"/>
          <a:lstStyle/>
          <a:p>
            <a:pPr algn="ctr"/>
          </a:p>
        </p:txBody>
      </p:sp>
      <p:sp>
        <p:nvSpPr>
          <p:cNvPr id="15" name="Oval 14"/>
          <p:cNvSpPr/>
          <p:nvPr/>
        </p:nvSpPr>
        <p:spPr>
          <a:xfrm>
            <a:off x="11183468" y="2800600"/>
            <a:ext cx="160000" cy="160000"/>
          </a:xfrm>
          <a:prstGeom prst="ellipse">
            <a:avLst/>
          </a:prstGeom>
          <a:solidFill>
            <a:srgbClr val="991346"/>
          </a:solidFill>
          <a:ln>
            <a:noFill/>
          </a:ln>
        </p:spPr>
        <p:txBody>
          <a:bodyPr rtlCol="0" anchor="ctr"/>
          <a:lstStyle/>
          <a:p>
            <a:pPr algn="ctr"/>
          </a:p>
        </p:txBody>
      </p:sp>
      <p:sp>
        <p:nvSpPr>
          <p:cNvPr id="16" name="Oval 15"/>
          <p:cNvSpPr/>
          <p:nvPr/>
        </p:nvSpPr>
        <p:spPr>
          <a:xfrm>
            <a:off x="9130413" y="2899000"/>
            <a:ext cx="120000" cy="120000"/>
          </a:xfrm>
          <a:prstGeom prst="ellipse">
            <a:avLst/>
          </a:prstGeom>
          <a:solidFill>
            <a:srgbClr val="991346"/>
          </a:solidFill>
          <a:ln>
            <a:noFill/>
          </a:ln>
        </p:spPr>
        <p:txBody>
          <a:bodyPr rtlCol="0" anchor="ctr"/>
          <a:lstStyle/>
          <a:p>
            <a:pPr algn="ctr"/>
          </a:p>
        </p:txBody>
      </p:sp>
      <p:sp>
        <p:nvSpPr>
          <p:cNvPr id="17" name="Oval 16"/>
          <p:cNvSpPr/>
          <p:nvPr/>
        </p:nvSpPr>
        <p:spPr>
          <a:xfrm>
            <a:off x="9941497" y="2923600"/>
            <a:ext cx="180000" cy="180000"/>
          </a:xfrm>
          <a:prstGeom prst="ellipse">
            <a:avLst/>
          </a:prstGeom>
          <a:solidFill>
            <a:srgbClr val="991346"/>
          </a:solidFill>
          <a:ln>
            <a:noFill/>
          </a:ln>
        </p:spPr>
        <p:txBody>
          <a:bodyPr rtlCol="0" anchor="ctr"/>
          <a:lstStyle/>
          <a:p>
            <a:pPr algn="ctr"/>
          </a:p>
        </p:txBody>
      </p:sp>
      <p:sp>
        <p:nvSpPr>
          <p:cNvPr id="18" name="Oval 17"/>
          <p:cNvSpPr/>
          <p:nvPr/>
        </p:nvSpPr>
        <p:spPr>
          <a:xfrm>
            <a:off x="10727234" y="2956400"/>
            <a:ext cx="140000" cy="140000"/>
          </a:xfrm>
          <a:prstGeom prst="ellipse">
            <a:avLst/>
          </a:prstGeom>
          <a:solidFill>
            <a:srgbClr val="991346"/>
          </a:solidFill>
          <a:ln>
            <a:noFill/>
          </a:ln>
        </p:spPr>
        <p:txBody>
          <a:bodyPr rtlCol="0" anchor="ctr"/>
          <a:lstStyle/>
          <a:p>
            <a:pPr algn="ctr"/>
          </a:p>
        </p:txBody>
      </p:sp>
      <p:sp>
        <p:nvSpPr>
          <p:cNvPr id="19" name="Oval 18"/>
          <p:cNvSpPr/>
          <p:nvPr/>
        </p:nvSpPr>
        <p:spPr>
          <a:xfrm>
            <a:off x="9459916" y="3071200"/>
            <a:ext cx="150000" cy="150000"/>
          </a:xfrm>
          <a:prstGeom prst="ellipse">
            <a:avLst/>
          </a:prstGeom>
          <a:solidFill>
            <a:srgbClr val="991346"/>
          </a:solidFill>
          <a:ln>
            <a:noFill/>
          </a:ln>
        </p:spPr>
        <p:txBody>
          <a:bodyPr rtlCol="0" anchor="ctr"/>
          <a:lstStyle/>
          <a:p>
            <a:pPr algn="ctr"/>
          </a:p>
        </p:txBody>
      </p:sp>
      <p:sp>
        <p:nvSpPr>
          <p:cNvPr id="20" name="Oval 19"/>
          <p:cNvSpPr/>
          <p:nvPr/>
        </p:nvSpPr>
        <p:spPr>
          <a:xfrm>
            <a:off x="10271000" y="3120400"/>
            <a:ext cx="130000" cy="130000"/>
          </a:xfrm>
          <a:prstGeom prst="ellipse">
            <a:avLst/>
          </a:prstGeom>
          <a:solidFill>
            <a:srgbClr val="991346"/>
          </a:solidFill>
          <a:ln>
            <a:noFill/>
          </a:ln>
        </p:spPr>
        <p:txBody>
          <a:bodyPr rtlCol="0" anchor="ctr"/>
          <a:lstStyle/>
          <a:p>
            <a:pPr algn="ctr"/>
          </a:p>
        </p:txBody>
      </p:sp>
      <p:sp>
        <p:nvSpPr>
          <p:cNvPr id="21" name="Oval 20"/>
          <p:cNvSpPr/>
          <p:nvPr/>
        </p:nvSpPr>
        <p:spPr>
          <a:xfrm>
            <a:off x="11031390" y="3104000"/>
            <a:ext cx="170000" cy="170000"/>
          </a:xfrm>
          <a:prstGeom prst="ellipse">
            <a:avLst/>
          </a:prstGeom>
          <a:solidFill>
            <a:srgbClr val="991346"/>
          </a:solidFill>
          <a:ln>
            <a:noFill/>
          </a:ln>
        </p:spPr>
        <p:txBody>
          <a:bodyPr rtlCol="0" anchor="ctr"/>
          <a:lstStyle/>
          <a:p>
            <a:pPr algn="ctr"/>
          </a:p>
        </p:txBody>
      </p:sp>
      <p:sp>
        <p:nvSpPr>
          <p:cNvPr id="22" name="Oval 21"/>
          <p:cNvSpPr/>
          <p:nvPr/>
        </p:nvSpPr>
        <p:spPr>
          <a:xfrm>
            <a:off x="9814765" y="3251600"/>
            <a:ext cx="120000" cy="120000"/>
          </a:xfrm>
          <a:prstGeom prst="ellipse">
            <a:avLst/>
          </a:prstGeom>
          <a:solidFill>
            <a:srgbClr val="991346"/>
          </a:solidFill>
          <a:ln>
            <a:noFill/>
          </a:ln>
        </p:spPr>
        <p:txBody>
          <a:bodyPr rtlCol="0" anchor="ctr"/>
          <a:lstStyle/>
          <a:p>
            <a:pPr algn="ctr"/>
          </a:p>
        </p:txBody>
      </p:sp>
      <p:sp>
        <p:nvSpPr>
          <p:cNvPr id="23" name="Oval 22"/>
          <p:cNvSpPr/>
          <p:nvPr/>
        </p:nvSpPr>
        <p:spPr>
          <a:xfrm>
            <a:off x="10575156" y="3268000"/>
            <a:ext cx="150000" cy="150000"/>
          </a:xfrm>
          <a:prstGeom prst="ellipse">
            <a:avLst/>
          </a:prstGeom>
          <a:solidFill>
            <a:srgbClr val="991346"/>
          </a:solidFill>
          <a:ln>
            <a:noFill/>
          </a:ln>
        </p:spPr>
        <p:txBody>
          <a:bodyPr rtlCol="0" anchor="ctr"/>
          <a:lstStyle/>
          <a:p>
            <a:pPr algn="ctr"/>
          </a:p>
        </p:txBody>
      </p:sp>
      <p:sp>
        <p:nvSpPr>
          <p:cNvPr id="24" name="TextBox 23"/>
          <p:cNvSpPr txBox="1"/>
          <p:nvPr/>
        </p:nvSpPr>
        <p:spPr>
          <a:xfrm>
            <a:off x="9003682" y="3400000"/>
            <a:ext cx="2784636" cy="500000"/>
          </a:xfrm>
          <a:prstGeom prst="rect">
            <a:avLst/>
          </a:prstGeom>
          <a:noFill/>
        </p:spPr>
        <p:txBody>
          <a:bodyPr wrap="square" anchor="t">
            <a:spAutoFit/>
          </a:bodyPr>
          <a:lstStyle/>
          <a:p>
            <a:pPr algn="ctr">
              <a:spcAft>
                <a:spcPts val="0"/>
              </a:spcAft>
            </a:pPr>
            <a:r>
              <a:rPr sz="1600" b="0" i="0">
                <a:solidFill>
                  <a:srgbClr val="991346"/>
                </a:solidFill>
                <a:latin typeface="Arial"/>
              </a:rPr>
              <a:t>series, per label</a:t>
            </a:r>
          </a:p>
        </p:txBody>
      </p:sp>
      <p:sp>
        <p:nvSpPr>
          <p:cNvPr id="25" name="Rounded Rectangle 24"/>
          <p:cNvSpPr/>
          <p:nvPr/>
        </p:nvSpPr>
        <p:spPr>
          <a:xfrm>
            <a:off x="403682" y="4150000"/>
            <a:ext cx="3594878" cy="1300000"/>
          </a:xfrm>
          <a:prstGeom prst="roundRect">
            <a:avLst>
              <a:gd name="adj" fmla="val 8000"/>
            </a:avLst>
          </a:prstGeom>
          <a:solidFill>
            <a:srgbClr val="F3F3F3"/>
          </a:solidFill>
          <a:ln>
            <a:noFill/>
          </a:ln>
        </p:spPr>
        <p:txBody>
          <a:bodyPr rtlCol="0" anchor="ctr"/>
          <a:lstStyle/>
          <a:p/>
        </p:txBody>
      </p:sp>
      <p:sp>
        <p:nvSpPr>
          <p:cNvPr id="26" name="TextBox 25"/>
          <p:cNvSpPr txBox="1"/>
          <p:nvPr/>
        </p:nvSpPr>
        <p:spPr>
          <a:xfrm>
            <a:off x="403682" y="4150000"/>
            <a:ext cx="3594878" cy="1300000"/>
          </a:xfrm>
          <a:prstGeom prst="rect">
            <a:avLst/>
          </a:prstGeom>
          <a:noFill/>
        </p:spPr>
        <p:txBody>
          <a:bodyPr wrap="square" anchor="ctr">
            <a:spAutoFit/>
          </a:bodyPr>
          <a:lstStyle/>
          <a:p>
            <a:pPr algn="ctr">
              <a:spcAft>
                <a:spcPts val="0"/>
              </a:spcAft>
            </a:pPr>
            <a:r>
              <a:rPr sz="2600" b="1" i="0">
                <a:solidFill>
                  <a:srgbClr val="991346"/>
                </a:solidFill>
                <a:latin typeface="Arial"/>
              </a:rPr>
              <a:t>Identity</a:t>
            </a:r>
          </a:p>
          <a:p>
            <a:pPr algn="ctr">
              <a:spcAft>
                <a:spcPts val="0"/>
              </a:spcAft>
            </a:pPr>
            <a:r>
              <a:rPr sz="2000" b="0" i="0">
                <a:solidFill>
                  <a:srgbClr val="262626"/>
                </a:solidFill>
                <a:latin typeface="Arial"/>
              </a:rPr>
              <a:t>on logs</a:t>
            </a:r>
          </a:p>
        </p:txBody>
      </p:sp>
      <p:sp>
        <p:nvSpPr>
          <p:cNvPr id="27" name="Rounded Rectangle 26"/>
          <p:cNvSpPr/>
          <p:nvPr/>
        </p:nvSpPr>
        <p:spPr>
          <a:xfrm>
            <a:off x="4298560" y="4150000"/>
            <a:ext cx="3594878" cy="1300000"/>
          </a:xfrm>
          <a:prstGeom prst="roundRect">
            <a:avLst>
              <a:gd name="adj" fmla="val 8000"/>
            </a:avLst>
          </a:prstGeom>
          <a:solidFill>
            <a:srgbClr val="F3F3F3"/>
          </a:solidFill>
          <a:ln>
            <a:noFill/>
          </a:ln>
        </p:spPr>
        <p:txBody>
          <a:bodyPr rtlCol="0" anchor="ctr"/>
          <a:lstStyle/>
          <a:p/>
        </p:txBody>
      </p:sp>
      <p:sp>
        <p:nvSpPr>
          <p:cNvPr id="28" name="TextBox 27"/>
          <p:cNvSpPr txBox="1"/>
          <p:nvPr/>
        </p:nvSpPr>
        <p:spPr>
          <a:xfrm>
            <a:off x="4298560" y="4150000"/>
            <a:ext cx="3594878" cy="1300000"/>
          </a:xfrm>
          <a:prstGeom prst="rect">
            <a:avLst/>
          </a:prstGeom>
          <a:noFill/>
        </p:spPr>
        <p:txBody>
          <a:bodyPr wrap="square" anchor="ctr">
            <a:spAutoFit/>
          </a:bodyPr>
          <a:lstStyle/>
          <a:p>
            <a:pPr algn="ctr">
              <a:spcAft>
                <a:spcPts val="0"/>
              </a:spcAft>
            </a:pPr>
            <a:r>
              <a:rPr sz="2600" b="1" i="0">
                <a:solidFill>
                  <a:srgbClr val="991346"/>
                </a:solidFill>
                <a:latin typeface="Arial"/>
              </a:rPr>
              <a:t>Stable dimensions</a:t>
            </a:r>
          </a:p>
          <a:p>
            <a:pPr algn="ctr">
              <a:spcAft>
                <a:spcPts val="0"/>
              </a:spcAft>
            </a:pPr>
            <a:r>
              <a:rPr sz="2000" b="0" i="0">
                <a:solidFill>
                  <a:srgbClr val="262626"/>
                </a:solidFill>
                <a:latin typeface="Arial"/>
              </a:rPr>
              <a:t>on metrics</a:t>
            </a:r>
          </a:p>
        </p:txBody>
      </p:sp>
      <p:sp>
        <p:nvSpPr>
          <p:cNvPr id="29" name="Rounded Rectangle 28"/>
          <p:cNvSpPr/>
          <p:nvPr/>
        </p:nvSpPr>
        <p:spPr>
          <a:xfrm>
            <a:off x="8193438" y="4150000"/>
            <a:ext cx="3594878" cy="1300000"/>
          </a:xfrm>
          <a:prstGeom prst="roundRect">
            <a:avLst>
              <a:gd name="adj" fmla="val 8000"/>
            </a:avLst>
          </a:prstGeom>
          <a:solidFill>
            <a:srgbClr val="F3F3F3"/>
          </a:solidFill>
          <a:ln>
            <a:noFill/>
          </a:ln>
        </p:spPr>
        <p:txBody>
          <a:bodyPr rtlCol="0" anchor="ctr"/>
          <a:lstStyle/>
          <a:p/>
        </p:txBody>
      </p:sp>
      <p:sp>
        <p:nvSpPr>
          <p:cNvPr id="30" name="TextBox 29"/>
          <p:cNvSpPr txBox="1"/>
          <p:nvPr/>
        </p:nvSpPr>
        <p:spPr>
          <a:xfrm>
            <a:off x="8193438" y="4150000"/>
            <a:ext cx="3594878" cy="1300000"/>
          </a:xfrm>
          <a:prstGeom prst="rect">
            <a:avLst/>
          </a:prstGeom>
          <a:noFill/>
        </p:spPr>
        <p:txBody>
          <a:bodyPr wrap="square" anchor="ctr">
            <a:spAutoFit/>
          </a:bodyPr>
          <a:lstStyle/>
          <a:p>
            <a:pPr algn="ctr">
              <a:spcAft>
                <a:spcPts val="0"/>
              </a:spcAft>
            </a:pPr>
            <a:r>
              <a:rPr sz="2600" b="1" i="0">
                <a:solidFill>
                  <a:srgbClr val="991346"/>
                </a:solidFill>
                <a:latin typeface="Arial"/>
              </a:rPr>
              <a:t>Join</a:t>
            </a:r>
          </a:p>
          <a:p>
            <a:pPr algn="ctr">
              <a:spcAft>
                <a:spcPts val="0"/>
              </a:spcAft>
            </a:pPr>
            <a:r>
              <a:rPr sz="2000" b="0" i="0">
                <a:solidFill>
                  <a:srgbClr val="262626"/>
                </a:solidFill>
                <a:latin typeface="Arial"/>
              </a:rPr>
              <a:t>at query time</a:t>
            </a:r>
          </a:p>
        </p:txBody>
      </p:sp>
      <p:sp>
        <p:nvSpPr>
          <p:cNvPr id="31" name="TextBox 30"/>
          <p:cNvSpPr txBox="1"/>
          <p:nvPr/>
        </p:nvSpPr>
        <p:spPr>
          <a:xfrm>
            <a:off x="403682" y="5600000"/>
            <a:ext cx="11384636" cy="500000"/>
          </a:xfrm>
          <a:prstGeom prst="rect">
            <a:avLst/>
          </a:prstGeom>
          <a:noFill/>
        </p:spPr>
        <p:txBody>
          <a:bodyPr wrap="square" anchor="t">
            <a:spAutoFit/>
          </a:bodyPr>
          <a:lstStyle/>
          <a:p>
            <a:pPr algn="ctr">
              <a:spcAft>
                <a:spcPts val="600"/>
              </a:spcAft>
            </a:pPr>
            <a:r>
              <a:rPr sz="1600" b="1" i="0">
                <a:solidFill>
                  <a:srgbClr val="C62828"/>
                </a:solidFill>
                <a:latin typeface="Courier New"/>
              </a:rPr>
              <a:t>ENABLE_POD_LABELS=true</a:t>
            </a:r>
            <a:r>
              <a:rPr sz="1600" b="0" i="0">
                <a:solidFill>
                  <a:srgbClr val="262626"/>
                </a:solidFill>
                <a:latin typeface="Arial"/>
              </a:rPr>
              <a:t>  is how you find out.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The log says six things the GPU can't.</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vLLM V1 engine, vllm/v1/metrics/loggers.py: one stats line every 10 s while the engine is busy (DEBUG level when idle). Numbers from the live rig.</a:t>
            </a:r>
          </a:p>
        </p:txBody>
      </p:sp>
      <p:sp>
        <p:nvSpPr>
          <p:cNvPr id="4" name="TextBox 3"/>
          <p:cNvSpPr txBox="1"/>
          <p:nvPr/>
        </p:nvSpPr>
        <p:spPr>
          <a:xfrm>
            <a:off x="403682" y="1400000"/>
            <a:ext cx="11384636" cy="400000"/>
          </a:xfrm>
          <a:prstGeom prst="rect">
            <a:avLst/>
          </a:prstGeom>
          <a:noFill/>
        </p:spPr>
        <p:txBody>
          <a:bodyPr wrap="square" anchor="t">
            <a:spAutoFit/>
          </a:bodyPr>
          <a:lstStyle/>
          <a:p>
            <a:pPr algn="l">
              <a:spcAft>
                <a:spcPts val="0"/>
              </a:spcAft>
            </a:pPr>
            <a:r>
              <a:rPr sz="1600" b="0" i="0">
                <a:solidFill>
                  <a:srgbClr val="6B6B6B"/>
                </a:solidFill>
                <a:latin typeface="Arial"/>
              </a:rPr>
              <a:t>vllm-overprov, steady load</a:t>
            </a:r>
          </a:p>
        </p:txBody>
      </p:sp>
      <p:sp>
        <p:nvSpPr>
          <p:cNvPr id="5" name="Rounded Rectangle 4"/>
          <p:cNvSpPr/>
          <p:nvPr/>
        </p:nvSpPr>
        <p:spPr>
          <a:xfrm>
            <a:off x="403682" y="1880000"/>
            <a:ext cx="11384636" cy="1100000"/>
          </a:xfrm>
          <a:prstGeom prst="roundRect">
            <a:avLst>
              <a:gd name="adj" fmla="val 50000"/>
            </a:avLst>
          </a:prstGeom>
          <a:solidFill>
            <a:srgbClr val="6B6B6B"/>
          </a:solidFill>
          <a:ln>
            <a:noFill/>
          </a:ln>
        </p:spPr>
        <p:txBody>
          <a:bodyPr rtlCol="0" anchor="ctr" lIns="90000" rIns="90000" tIns="0" bIns="0"/>
          <a:lstStyle/>
          <a:p>
            <a:pPr algn="ctr"/>
            <a:r>
              <a:rPr sz="3200" b="1" i="0">
                <a:solidFill>
                  <a:srgbClr val="FFFFFF"/>
                </a:solidFill>
                <a:latin typeface="Arial"/>
              </a:rPr>
              <a:t>4,711 tok/s  ·  0 waiting  ·  0.1% KV cache</a:t>
            </a:r>
          </a:p>
        </p:txBody>
      </p:sp>
      <p:sp>
        <p:nvSpPr>
          <p:cNvPr id="6" name="TextBox 5"/>
          <p:cNvSpPr txBox="1"/>
          <p:nvPr/>
        </p:nvSpPr>
        <p:spPr>
          <a:xfrm>
            <a:off x="403682" y="3150000"/>
            <a:ext cx="11384636" cy="400000"/>
          </a:xfrm>
          <a:prstGeom prst="rect">
            <a:avLst/>
          </a:prstGeom>
          <a:noFill/>
        </p:spPr>
        <p:txBody>
          <a:bodyPr wrap="square" anchor="t">
            <a:spAutoFit/>
          </a:bodyPr>
          <a:lstStyle/>
          <a:p>
            <a:pPr algn="l">
              <a:spcAft>
                <a:spcPts val="0"/>
              </a:spcAft>
            </a:pPr>
            <a:r>
              <a:rPr sz="1600" b="0" i="0">
                <a:solidFill>
                  <a:srgbClr val="6B6B6B"/>
                </a:solidFill>
                <a:latin typeface="Arial"/>
              </a:rPr>
              <a:t>vllm-constrained, saturating load</a:t>
            </a:r>
          </a:p>
        </p:txBody>
      </p:sp>
      <p:sp>
        <p:nvSpPr>
          <p:cNvPr id="7" name="Rounded Rectangle 6"/>
          <p:cNvSpPr/>
          <p:nvPr/>
        </p:nvSpPr>
        <p:spPr>
          <a:xfrm>
            <a:off x="403682" y="3630000"/>
            <a:ext cx="11384636" cy="1100000"/>
          </a:xfrm>
          <a:prstGeom prst="roundRect">
            <a:avLst>
              <a:gd name="adj" fmla="val 50000"/>
            </a:avLst>
          </a:prstGeom>
          <a:solidFill>
            <a:srgbClr val="C62828"/>
          </a:solidFill>
          <a:ln>
            <a:noFill/>
          </a:ln>
        </p:spPr>
        <p:txBody>
          <a:bodyPr rtlCol="0" anchor="ctr" lIns="90000" rIns="90000" tIns="0" bIns="0"/>
          <a:lstStyle/>
          <a:p>
            <a:pPr algn="ctr"/>
            <a:r>
              <a:rPr sz="3200" b="1" i="0">
                <a:solidFill>
                  <a:srgbClr val="FFFFFF"/>
                </a:solidFill>
                <a:latin typeface="Arial"/>
              </a:rPr>
              <a:t>17,227 tok/s  ·  116 waiting  ·  99.6% KV cache</a:t>
            </a:r>
          </a:p>
        </p:txBody>
      </p:sp>
      <p:sp>
        <p:nvSpPr>
          <p:cNvPr id="8" name="TextBox 7"/>
          <p:cNvSpPr txBox="1"/>
          <p:nvPr/>
        </p:nvSpPr>
        <p:spPr>
          <a:xfrm>
            <a:off x="403682" y="4950000"/>
            <a:ext cx="11384636" cy="450000"/>
          </a:xfrm>
          <a:prstGeom prst="rect">
            <a:avLst/>
          </a:prstGeom>
          <a:noFill/>
        </p:spPr>
        <p:txBody>
          <a:bodyPr wrap="square" anchor="t">
            <a:spAutoFit/>
          </a:bodyPr>
          <a:lstStyle/>
          <a:p>
            <a:pPr algn="ctr">
              <a:spcAft>
                <a:spcPts val="0"/>
              </a:spcAft>
            </a:pPr>
            <a:r>
              <a:rPr sz="1600" b="0" i="0">
                <a:solidFill>
                  <a:srgbClr val="6B6B6B"/>
                </a:solidFill>
                <a:latin typeface="Courier New"/>
              </a:rPr>
              <a:t>tokens/s  ·  running  ·  waiting  ·  KV cache %  ·  prefix hits  ·  preemptions</a:t>
            </a:r>
          </a:p>
        </p:txBody>
      </p:sp>
      <p:sp>
        <p:nvSpPr>
          <p:cNvPr id="9" name="TextBox 8"/>
          <p:cNvSpPr txBox="1"/>
          <p:nvPr/>
        </p:nvSpPr>
        <p:spPr>
          <a:xfrm>
            <a:off x="403682" y="5350000"/>
            <a:ext cx="11384636" cy="800000"/>
          </a:xfrm>
          <a:prstGeom prst="rect">
            <a:avLst/>
          </a:prstGeom>
          <a:noFill/>
        </p:spPr>
        <p:txBody>
          <a:bodyPr wrap="square" anchor="ctr">
            <a:spAutoFit/>
          </a:bodyPr>
          <a:lstStyle/>
          <a:p>
            <a:pPr algn="l">
              <a:spcAft>
                <a:spcPts val="0"/>
              </a:spcAft>
            </a:pPr>
            <a:r>
              <a:rPr sz="2200" b="1" i="0">
                <a:solidFill>
                  <a:srgbClr val="991346"/>
                </a:solidFill>
                <a:latin typeface="Arial"/>
              </a:rPr>
              <a:t>Six facts about the inference work, and not one of them shows up in a GPU counter.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Fifteen lines of Lua. The pod name rides along.</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Fluent Bit 5.1. Full filter and pipeline config in the repo. vLLM native metrics: docs.vllm.ai/en/latest/design/metrics</a:t>
            </a:r>
          </a:p>
        </p:txBody>
      </p:sp>
      <p:sp>
        <p:nvSpPr>
          <p:cNvPr id="4" name="Rounded Rectangle 3"/>
          <p:cNvSpPr/>
          <p:nvPr/>
        </p:nvSpPr>
        <p:spPr>
          <a:xfrm>
            <a:off x="403682" y="2250000"/>
            <a:ext cx="1747439" cy="1900000"/>
          </a:xfrm>
          <a:prstGeom prst="roundRect">
            <a:avLst>
              <a:gd name="adj" fmla="val 15000"/>
            </a:avLst>
          </a:prstGeom>
          <a:solidFill>
            <a:srgbClr val="F3F3F3"/>
          </a:solidFill>
          <a:ln>
            <a:noFill/>
          </a:ln>
        </p:spPr>
        <p:txBody>
          <a:bodyPr rtlCol="0" anchor="ctr"/>
          <a:lstStyle/>
          <a:p/>
        </p:txBody>
      </p:sp>
      <p:sp>
        <p:nvSpPr>
          <p:cNvPr id="5" name="TextBox 4"/>
          <p:cNvSpPr txBox="1"/>
          <p:nvPr/>
        </p:nvSpPr>
        <p:spPr>
          <a:xfrm>
            <a:off x="403682" y="2250000"/>
            <a:ext cx="1747439" cy="1900000"/>
          </a:xfrm>
          <a:prstGeom prst="rect">
            <a:avLst/>
          </a:prstGeom>
          <a:noFill/>
        </p:spPr>
        <p:txBody>
          <a:bodyPr wrap="square" anchor="ctr" lIns="30000" rIns="30000">
            <a:spAutoFit/>
          </a:bodyPr>
          <a:lstStyle/>
          <a:p>
            <a:pPr algn="ctr">
              <a:spcAft>
                <a:spcPts val="600"/>
              </a:spcAft>
            </a:pPr>
            <a:r>
              <a:rPr sz="1800" b="1" i="0">
                <a:solidFill>
                  <a:srgbClr val="262626"/>
                </a:solidFill>
                <a:latin typeface="Courier New"/>
              </a:rPr>
              <a:t>tail</a:t>
            </a:r>
          </a:p>
          <a:p>
            <a:pPr algn="ctr">
              <a:spcAft>
                <a:spcPts val="0"/>
              </a:spcAft>
            </a:pPr>
            <a:r>
              <a:rPr sz="1400" b="0" i="0">
                <a:solidFill>
                  <a:srgbClr val="6B6B6B"/>
                </a:solidFill>
                <a:latin typeface="Arial"/>
              </a:rPr>
              <a:t>container log</a:t>
            </a:r>
          </a:p>
        </p:txBody>
      </p:sp>
      <p:cxnSp>
        <p:nvCxnSpPr>
          <p:cNvPr id="6" name="Connector 5"/>
          <p:cNvCxnSpPr/>
          <p:nvPr/>
        </p:nvCxnSpPr>
        <p:spPr>
          <a:xfrm>
            <a:off x="2151121" y="3200000"/>
            <a:ext cx="180000" cy="0"/>
          </a:xfrm>
          <a:prstGeom prst="line">
            <a:avLst/>
          </a:prstGeom>
          <a:ln w="25400">
            <a:solidFill>
              <a:srgbClr val="6B6B6B"/>
            </a:solidFill>
            <a:tailEnd type="triangle" w="med" len="med"/>
          </a:ln>
        </p:spPr>
      </p:cxnSp>
      <p:sp>
        <p:nvSpPr>
          <p:cNvPr id="7" name="Rounded Rectangle 6"/>
          <p:cNvSpPr/>
          <p:nvPr/>
        </p:nvSpPr>
        <p:spPr>
          <a:xfrm>
            <a:off x="2331121" y="2250000"/>
            <a:ext cx="1747439" cy="1900000"/>
          </a:xfrm>
          <a:prstGeom prst="roundRect">
            <a:avLst>
              <a:gd name="adj" fmla="val 15000"/>
            </a:avLst>
          </a:prstGeom>
          <a:solidFill>
            <a:srgbClr val="991346"/>
          </a:solidFill>
          <a:ln>
            <a:noFill/>
          </a:ln>
        </p:spPr>
        <p:txBody>
          <a:bodyPr rtlCol="0" anchor="ctr"/>
          <a:lstStyle/>
          <a:p/>
        </p:txBody>
      </p:sp>
      <p:sp>
        <p:nvSpPr>
          <p:cNvPr id="8" name="TextBox 7"/>
          <p:cNvSpPr txBox="1"/>
          <p:nvPr/>
        </p:nvSpPr>
        <p:spPr>
          <a:xfrm>
            <a:off x="2331121" y="2250000"/>
            <a:ext cx="1747439" cy="1900000"/>
          </a:xfrm>
          <a:prstGeom prst="rect">
            <a:avLst/>
          </a:prstGeom>
          <a:noFill/>
        </p:spPr>
        <p:txBody>
          <a:bodyPr wrap="square" anchor="ctr" lIns="30000" rIns="30000">
            <a:spAutoFit/>
          </a:bodyPr>
          <a:lstStyle/>
          <a:p>
            <a:pPr algn="ctr">
              <a:spcAft>
                <a:spcPts val="600"/>
              </a:spcAft>
            </a:pPr>
            <a:r>
              <a:rPr sz="1200" b="1" i="0">
                <a:solidFill>
                  <a:srgbClr val="FFFFFF"/>
                </a:solidFill>
                <a:latin typeface="Courier New"/>
              </a:rPr>
              <a:t>kubernetes</a:t>
            </a:r>
          </a:p>
          <a:p>
            <a:pPr algn="ctr">
              <a:spcAft>
                <a:spcPts val="0"/>
              </a:spcAft>
            </a:pPr>
            <a:r>
              <a:rPr sz="1400" b="0" i="0">
                <a:solidFill>
                  <a:srgbClr val="FFFFFF"/>
                </a:solidFill>
                <a:latin typeface="Arial"/>
              </a:rPr>
              <a:t>+ pod_name</a:t>
            </a:r>
          </a:p>
        </p:txBody>
      </p:sp>
      <p:cxnSp>
        <p:nvCxnSpPr>
          <p:cNvPr id="9" name="Connector 8"/>
          <p:cNvCxnSpPr/>
          <p:nvPr/>
        </p:nvCxnSpPr>
        <p:spPr>
          <a:xfrm>
            <a:off x="4078560" y="3200000"/>
            <a:ext cx="180000" cy="0"/>
          </a:xfrm>
          <a:prstGeom prst="line">
            <a:avLst/>
          </a:prstGeom>
          <a:ln w="25400">
            <a:solidFill>
              <a:srgbClr val="6B6B6B"/>
            </a:solidFill>
            <a:tailEnd type="triangle" w="med" len="med"/>
          </a:ln>
        </p:spPr>
      </p:cxnSp>
      <p:sp>
        <p:nvSpPr>
          <p:cNvPr id="10" name="Rounded Rectangle 9"/>
          <p:cNvSpPr/>
          <p:nvPr/>
        </p:nvSpPr>
        <p:spPr>
          <a:xfrm>
            <a:off x="4258560" y="2250000"/>
            <a:ext cx="1747439" cy="1900000"/>
          </a:xfrm>
          <a:prstGeom prst="roundRect">
            <a:avLst>
              <a:gd name="adj" fmla="val 15000"/>
            </a:avLst>
          </a:prstGeom>
          <a:solidFill>
            <a:srgbClr val="991346"/>
          </a:solidFill>
          <a:ln>
            <a:noFill/>
          </a:ln>
        </p:spPr>
        <p:txBody>
          <a:bodyPr rtlCol="0" anchor="ctr"/>
          <a:lstStyle/>
          <a:p/>
        </p:txBody>
      </p:sp>
      <p:sp>
        <p:nvSpPr>
          <p:cNvPr id="11" name="TextBox 10"/>
          <p:cNvSpPr txBox="1"/>
          <p:nvPr/>
        </p:nvSpPr>
        <p:spPr>
          <a:xfrm>
            <a:off x="4258560" y="2250000"/>
            <a:ext cx="1747439" cy="1900000"/>
          </a:xfrm>
          <a:prstGeom prst="rect">
            <a:avLst/>
          </a:prstGeom>
          <a:noFill/>
        </p:spPr>
        <p:txBody>
          <a:bodyPr wrap="square" anchor="ctr" lIns="30000" rIns="30000">
            <a:spAutoFit/>
          </a:bodyPr>
          <a:lstStyle/>
          <a:p>
            <a:pPr algn="ctr">
              <a:spcAft>
                <a:spcPts val="600"/>
              </a:spcAft>
            </a:pPr>
            <a:r>
              <a:rPr sz="1800" b="1" i="0">
                <a:solidFill>
                  <a:srgbClr val="FFFFFF"/>
                </a:solidFill>
                <a:latin typeface="Courier New"/>
              </a:rPr>
              <a:t>lua</a:t>
            </a:r>
          </a:p>
          <a:p>
            <a:pPr algn="ctr">
              <a:spcAft>
                <a:spcPts val="0"/>
              </a:spcAft>
            </a:pPr>
            <a:r>
              <a:rPr sz="1400" b="0" i="0">
                <a:solidFill>
                  <a:srgbClr val="FFFFFF"/>
                </a:solidFill>
                <a:latin typeface="Arial"/>
              </a:rPr>
              <a:t>5 x string.match</a:t>
            </a:r>
          </a:p>
        </p:txBody>
      </p:sp>
      <p:cxnSp>
        <p:nvCxnSpPr>
          <p:cNvPr id="12" name="Connector 11"/>
          <p:cNvCxnSpPr/>
          <p:nvPr/>
        </p:nvCxnSpPr>
        <p:spPr>
          <a:xfrm>
            <a:off x="6005999" y="3200000"/>
            <a:ext cx="180000" cy="0"/>
          </a:xfrm>
          <a:prstGeom prst="line">
            <a:avLst/>
          </a:prstGeom>
          <a:ln w="25400">
            <a:solidFill>
              <a:srgbClr val="6B6B6B"/>
            </a:solidFill>
            <a:tailEnd type="triangle" w="med" len="med"/>
          </a:ln>
        </p:spPr>
      </p:cxnSp>
      <p:sp>
        <p:nvSpPr>
          <p:cNvPr id="13" name="Rounded Rectangle 12"/>
          <p:cNvSpPr/>
          <p:nvPr/>
        </p:nvSpPr>
        <p:spPr>
          <a:xfrm>
            <a:off x="6185999" y="2250000"/>
            <a:ext cx="1747439" cy="1900000"/>
          </a:xfrm>
          <a:prstGeom prst="roundRect">
            <a:avLst>
              <a:gd name="adj" fmla="val 15000"/>
            </a:avLst>
          </a:prstGeom>
          <a:solidFill>
            <a:srgbClr val="F3F3F3"/>
          </a:solidFill>
          <a:ln>
            <a:noFill/>
          </a:ln>
        </p:spPr>
        <p:txBody>
          <a:bodyPr rtlCol="0" anchor="ctr"/>
          <a:lstStyle/>
          <a:p/>
        </p:txBody>
      </p:sp>
      <p:sp>
        <p:nvSpPr>
          <p:cNvPr id="14" name="TextBox 13"/>
          <p:cNvSpPr txBox="1"/>
          <p:nvPr/>
        </p:nvSpPr>
        <p:spPr>
          <a:xfrm>
            <a:off x="6185999" y="2250000"/>
            <a:ext cx="1747439" cy="1900000"/>
          </a:xfrm>
          <a:prstGeom prst="rect">
            <a:avLst/>
          </a:prstGeom>
          <a:noFill/>
        </p:spPr>
        <p:txBody>
          <a:bodyPr wrap="square" anchor="ctr" lIns="30000" rIns="30000">
            <a:spAutoFit/>
          </a:bodyPr>
          <a:lstStyle/>
          <a:p>
            <a:pPr algn="ctr">
              <a:spcAft>
                <a:spcPts val="600"/>
              </a:spcAft>
            </a:pPr>
            <a:r>
              <a:rPr sz="1800" b="1" i="0">
                <a:solidFill>
                  <a:srgbClr val="262626"/>
                </a:solidFill>
                <a:latin typeface="Courier New"/>
              </a:rPr>
              <a:t>grep</a:t>
            </a:r>
          </a:p>
          <a:p>
            <a:pPr algn="ctr">
              <a:spcAft>
                <a:spcPts val="0"/>
              </a:spcAft>
            </a:pPr>
            <a:r>
              <a:rPr sz="1400" b="0" i="0">
                <a:solidFill>
                  <a:srgbClr val="6B6B6B"/>
                </a:solidFill>
                <a:latin typeface="Arial"/>
              </a:rPr>
              <a:t>stats lines only</a:t>
            </a:r>
          </a:p>
        </p:txBody>
      </p:sp>
      <p:cxnSp>
        <p:nvCxnSpPr>
          <p:cNvPr id="15" name="Connector 14"/>
          <p:cNvCxnSpPr/>
          <p:nvPr/>
        </p:nvCxnSpPr>
        <p:spPr>
          <a:xfrm>
            <a:off x="7933438" y="3200000"/>
            <a:ext cx="180000" cy="0"/>
          </a:xfrm>
          <a:prstGeom prst="line">
            <a:avLst/>
          </a:prstGeom>
          <a:ln w="25400">
            <a:solidFill>
              <a:srgbClr val="6B6B6B"/>
            </a:solidFill>
            <a:tailEnd type="triangle" w="med" len="med"/>
          </a:ln>
        </p:spPr>
      </p:cxnSp>
      <p:sp>
        <p:nvSpPr>
          <p:cNvPr id="16" name="Rounded Rectangle 15"/>
          <p:cNvSpPr/>
          <p:nvPr/>
        </p:nvSpPr>
        <p:spPr>
          <a:xfrm>
            <a:off x="8113438" y="2250000"/>
            <a:ext cx="1747439" cy="1900000"/>
          </a:xfrm>
          <a:prstGeom prst="roundRect">
            <a:avLst>
              <a:gd name="adj" fmla="val 15000"/>
            </a:avLst>
          </a:prstGeom>
          <a:solidFill>
            <a:srgbClr val="F3F3F3"/>
          </a:solidFill>
          <a:ln>
            <a:noFill/>
          </a:ln>
        </p:spPr>
        <p:txBody>
          <a:bodyPr rtlCol="0" anchor="ctr"/>
          <a:lstStyle/>
          <a:p/>
        </p:txBody>
      </p:sp>
      <p:sp>
        <p:nvSpPr>
          <p:cNvPr id="17" name="TextBox 16"/>
          <p:cNvSpPr txBox="1"/>
          <p:nvPr/>
        </p:nvSpPr>
        <p:spPr>
          <a:xfrm>
            <a:off x="8113438" y="2250000"/>
            <a:ext cx="1747439" cy="1900000"/>
          </a:xfrm>
          <a:prstGeom prst="rect">
            <a:avLst/>
          </a:prstGeom>
          <a:noFill/>
        </p:spPr>
        <p:txBody>
          <a:bodyPr wrap="square" anchor="ctr" lIns="30000" rIns="30000">
            <a:spAutoFit/>
          </a:bodyPr>
          <a:lstStyle/>
          <a:p>
            <a:pPr algn="ctr">
              <a:spcAft>
                <a:spcPts val="600"/>
              </a:spcAft>
            </a:pPr>
            <a:r>
              <a:rPr sz="1200" b="1" i="0">
                <a:solidFill>
                  <a:srgbClr val="262626"/>
                </a:solidFill>
                <a:latin typeface="Courier New"/>
              </a:rPr>
              <a:t>log_to_metrics</a:t>
            </a:r>
          </a:p>
          <a:p>
            <a:pPr algn="ctr">
              <a:spcAft>
                <a:spcPts val="0"/>
              </a:spcAft>
            </a:pPr>
            <a:r>
              <a:rPr sz="1400" b="0" i="0">
                <a:solidFill>
                  <a:srgbClr val="6B6B6B"/>
                </a:solidFill>
                <a:latin typeface="Arial"/>
              </a:rPr>
              <a:t>fields -&gt; gauges</a:t>
            </a:r>
          </a:p>
        </p:txBody>
      </p:sp>
      <p:cxnSp>
        <p:nvCxnSpPr>
          <p:cNvPr id="18" name="Connector 17"/>
          <p:cNvCxnSpPr/>
          <p:nvPr/>
        </p:nvCxnSpPr>
        <p:spPr>
          <a:xfrm>
            <a:off x="9860877" y="3200000"/>
            <a:ext cx="180000" cy="0"/>
          </a:xfrm>
          <a:prstGeom prst="line">
            <a:avLst/>
          </a:prstGeom>
          <a:ln w="25400">
            <a:solidFill>
              <a:srgbClr val="6B6B6B"/>
            </a:solidFill>
            <a:tailEnd type="triangle" w="med" len="med"/>
          </a:ln>
        </p:spPr>
      </p:cxnSp>
      <p:sp>
        <p:nvSpPr>
          <p:cNvPr id="19" name="Rounded Rectangle 18"/>
          <p:cNvSpPr/>
          <p:nvPr/>
        </p:nvSpPr>
        <p:spPr>
          <a:xfrm>
            <a:off x="10040877" y="2250000"/>
            <a:ext cx="1747439" cy="1900000"/>
          </a:xfrm>
          <a:prstGeom prst="roundRect">
            <a:avLst>
              <a:gd name="adj" fmla="val 15000"/>
            </a:avLst>
          </a:prstGeom>
          <a:solidFill>
            <a:srgbClr val="F3F3F3"/>
          </a:solidFill>
          <a:ln>
            <a:noFill/>
          </a:ln>
        </p:spPr>
        <p:txBody>
          <a:bodyPr rtlCol="0" anchor="ctr"/>
          <a:lstStyle/>
          <a:p/>
        </p:txBody>
      </p:sp>
      <p:sp>
        <p:nvSpPr>
          <p:cNvPr id="20" name="TextBox 19"/>
          <p:cNvSpPr txBox="1"/>
          <p:nvPr/>
        </p:nvSpPr>
        <p:spPr>
          <a:xfrm>
            <a:off x="10040877" y="2250000"/>
            <a:ext cx="1747439" cy="1900000"/>
          </a:xfrm>
          <a:prstGeom prst="rect">
            <a:avLst/>
          </a:prstGeom>
          <a:noFill/>
        </p:spPr>
        <p:txBody>
          <a:bodyPr wrap="square" anchor="ctr" lIns="30000" rIns="30000">
            <a:spAutoFit/>
          </a:bodyPr>
          <a:lstStyle/>
          <a:p>
            <a:pPr algn="ctr">
              <a:spcAft>
                <a:spcPts val="600"/>
              </a:spcAft>
            </a:pPr>
            <a:r>
              <a:rPr sz="1000" b="1" i="0">
                <a:solidFill>
                  <a:srgbClr val="262626"/>
                </a:solidFill>
                <a:latin typeface="Courier New"/>
              </a:rPr>
              <a:t>prometheus_exporter</a:t>
            </a:r>
          </a:p>
          <a:p>
            <a:pPr algn="ctr">
              <a:spcAft>
                <a:spcPts val="0"/>
              </a:spcAft>
            </a:pPr>
            <a:r>
              <a:rPr sz="1400" b="0" i="0">
                <a:solidFill>
                  <a:srgbClr val="6B6B6B"/>
                </a:solidFill>
                <a:latin typeface="Arial"/>
              </a:rPr>
              <a:t>:2021</a:t>
            </a:r>
          </a:p>
        </p:txBody>
      </p:sp>
      <p:sp>
        <p:nvSpPr>
          <p:cNvPr id="21" name="Oval 20"/>
          <p:cNvSpPr/>
          <p:nvPr/>
        </p:nvSpPr>
        <p:spPr>
          <a:xfrm>
            <a:off x="3094840" y="4450000"/>
            <a:ext cx="220000" cy="220000"/>
          </a:xfrm>
          <a:prstGeom prst="ellipse">
            <a:avLst/>
          </a:prstGeom>
          <a:solidFill>
            <a:srgbClr val="991346"/>
          </a:solidFill>
          <a:ln>
            <a:noFill/>
          </a:ln>
        </p:spPr>
        <p:txBody>
          <a:bodyPr rtlCol="0" anchor="ctr"/>
          <a:lstStyle/>
          <a:p>
            <a:pPr algn="ctr"/>
          </a:p>
        </p:txBody>
      </p:sp>
      <p:sp>
        <p:nvSpPr>
          <p:cNvPr id="22" name="Oval 21"/>
          <p:cNvSpPr/>
          <p:nvPr/>
        </p:nvSpPr>
        <p:spPr>
          <a:xfrm>
            <a:off x="5022279" y="4450000"/>
            <a:ext cx="220000" cy="220000"/>
          </a:xfrm>
          <a:prstGeom prst="ellipse">
            <a:avLst/>
          </a:prstGeom>
          <a:solidFill>
            <a:srgbClr val="991346"/>
          </a:solidFill>
          <a:ln>
            <a:noFill/>
          </a:ln>
        </p:spPr>
        <p:txBody>
          <a:bodyPr rtlCol="0" anchor="ctr"/>
          <a:lstStyle/>
          <a:p>
            <a:pPr algn="ctr"/>
          </a:p>
        </p:txBody>
      </p:sp>
      <p:sp>
        <p:nvSpPr>
          <p:cNvPr id="23" name="Oval 22"/>
          <p:cNvSpPr/>
          <p:nvPr/>
        </p:nvSpPr>
        <p:spPr>
          <a:xfrm>
            <a:off x="6949718" y="4450000"/>
            <a:ext cx="220000" cy="220000"/>
          </a:xfrm>
          <a:prstGeom prst="ellipse">
            <a:avLst/>
          </a:prstGeom>
          <a:solidFill>
            <a:srgbClr val="991346"/>
          </a:solidFill>
          <a:ln>
            <a:noFill/>
          </a:ln>
        </p:spPr>
        <p:txBody>
          <a:bodyPr rtlCol="0" anchor="ctr"/>
          <a:lstStyle/>
          <a:p>
            <a:pPr algn="ctr"/>
          </a:p>
        </p:txBody>
      </p:sp>
      <p:sp>
        <p:nvSpPr>
          <p:cNvPr id="24" name="Oval 23"/>
          <p:cNvSpPr/>
          <p:nvPr/>
        </p:nvSpPr>
        <p:spPr>
          <a:xfrm>
            <a:off x="8877157" y="4450000"/>
            <a:ext cx="220000" cy="220000"/>
          </a:xfrm>
          <a:prstGeom prst="ellipse">
            <a:avLst/>
          </a:prstGeom>
          <a:solidFill>
            <a:srgbClr val="991346"/>
          </a:solidFill>
          <a:ln>
            <a:noFill/>
          </a:ln>
        </p:spPr>
        <p:txBody>
          <a:bodyPr rtlCol="0" anchor="ctr"/>
          <a:lstStyle/>
          <a:p>
            <a:pPr algn="ctr"/>
          </a:p>
        </p:txBody>
      </p:sp>
      <p:sp>
        <p:nvSpPr>
          <p:cNvPr id="25" name="Oval 24"/>
          <p:cNvSpPr/>
          <p:nvPr/>
        </p:nvSpPr>
        <p:spPr>
          <a:xfrm>
            <a:off x="10804596" y="4450000"/>
            <a:ext cx="220000" cy="220000"/>
          </a:xfrm>
          <a:prstGeom prst="ellipse">
            <a:avLst/>
          </a:prstGeom>
          <a:solidFill>
            <a:srgbClr val="991346"/>
          </a:solidFill>
          <a:ln>
            <a:noFill/>
          </a:ln>
        </p:spPr>
        <p:txBody>
          <a:bodyPr rtlCol="0" anchor="ctr"/>
          <a:lstStyle/>
          <a:p>
            <a:pPr algn="ctr"/>
          </a:p>
        </p:txBody>
      </p:sp>
      <p:sp>
        <p:nvSpPr>
          <p:cNvPr id="26" name="TextBox 25"/>
          <p:cNvSpPr txBox="1"/>
          <p:nvPr/>
        </p:nvSpPr>
        <p:spPr>
          <a:xfrm>
            <a:off x="403682" y="4770000"/>
            <a:ext cx="11384636" cy="500000"/>
          </a:xfrm>
          <a:prstGeom prst="rect">
            <a:avLst/>
          </a:prstGeom>
          <a:noFill/>
        </p:spPr>
        <p:txBody>
          <a:bodyPr wrap="square" anchor="t">
            <a:spAutoFit/>
          </a:bodyPr>
          <a:lstStyle/>
          <a:p>
            <a:pPr algn="ctr">
              <a:spcAft>
                <a:spcPts val="0"/>
              </a:spcAft>
            </a:pPr>
            <a:r>
              <a:rPr sz="2000" b="1" i="0">
                <a:solidFill>
                  <a:srgbClr val="991346"/>
                </a:solidFill>
                <a:latin typeface="Arial"/>
              </a:rPr>
              <a:t>pod_name rides along from the kubernetes filter onward: the join key</a:t>
            </a:r>
          </a:p>
        </p:txBody>
      </p:sp>
      <p:sp>
        <p:nvSpPr>
          <p:cNvPr id="27" name="TextBox 26"/>
          <p:cNvSpPr txBox="1"/>
          <p:nvPr/>
        </p:nvSpPr>
        <p:spPr>
          <a:xfrm>
            <a:off x="403682" y="5300000"/>
            <a:ext cx="11384636" cy="400000"/>
          </a:xfrm>
          <a:prstGeom prst="rect">
            <a:avLst/>
          </a:prstGeom>
          <a:noFill/>
        </p:spPr>
        <p:txBody>
          <a:bodyPr wrap="square" anchor="t">
            <a:spAutoFit/>
          </a:bodyPr>
          <a:lstStyle/>
          <a:p>
            <a:pPr algn="ctr">
              <a:spcAft>
                <a:spcPts val="0"/>
              </a:spcAft>
            </a:pPr>
            <a:r>
              <a:rPr sz="1600" b="0" i="0">
                <a:solidFill>
                  <a:srgbClr val="6B6B6B"/>
                </a:solidFill>
                <a:latin typeface="Arial"/>
              </a:rPr>
              <a:t>For serving engines without a /metrics endpoint. vLLM exposes most of this natively; same pipeline, different regex.</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Live: two pods, one is about to run out.</a:t>
            </a:r>
          </a:p>
        </p:txBody>
      </p:sp>
      <p:sp>
        <p:nvSpPr>
          <p:cNvPr id="3" name="Rounded Rectangle 2"/>
          <p:cNvSpPr/>
          <p:nvPr/>
        </p:nvSpPr>
        <p:spPr>
          <a:xfrm>
            <a:off x="403682" y="1250000"/>
            <a:ext cx="5492318" cy="2200000"/>
          </a:xfrm>
          <a:prstGeom prst="roundRect">
            <a:avLst>
              <a:gd name="adj" fmla="val 8000"/>
            </a:avLst>
          </a:prstGeom>
          <a:solidFill>
            <a:srgbClr val="E4EEF8"/>
          </a:solidFill>
          <a:ln>
            <a:noFill/>
          </a:ln>
        </p:spPr>
        <p:txBody>
          <a:bodyPr rtlCol="0" anchor="ctr"/>
          <a:lstStyle/>
          <a:p/>
        </p:txBody>
      </p:sp>
      <p:sp>
        <p:nvSpPr>
          <p:cNvPr id="4" name="TextBox 3"/>
          <p:cNvSpPr txBox="1"/>
          <p:nvPr/>
        </p:nvSpPr>
        <p:spPr>
          <a:xfrm>
            <a:off x="403682" y="1250000"/>
            <a:ext cx="5492318" cy="2200000"/>
          </a:xfrm>
          <a:prstGeom prst="rect">
            <a:avLst/>
          </a:prstGeom>
          <a:noFill/>
        </p:spPr>
        <p:txBody>
          <a:bodyPr wrap="square" anchor="ctr">
            <a:spAutoFit/>
          </a:bodyPr>
          <a:lstStyle/>
          <a:p>
            <a:pPr algn="ctr">
              <a:spcAft>
                <a:spcPts val="400"/>
              </a:spcAft>
            </a:pPr>
            <a:r>
              <a:rPr sz="2800" b="1" i="0">
                <a:solidFill>
                  <a:srgbClr val="1F5FA8"/>
                </a:solidFill>
                <a:latin typeface="Courier New"/>
              </a:rPr>
              <a:t>vllm-constrained</a:t>
            </a:r>
          </a:p>
          <a:p>
            <a:pPr algn="ctr">
              <a:spcAft>
                <a:spcPts val="200"/>
              </a:spcAft>
            </a:pPr>
            <a:r>
              <a:rPr sz="1800" b="0" i="0">
                <a:solidFill>
                  <a:srgbClr val="262626"/>
                </a:solidFill>
                <a:latin typeface="Arial"/>
              </a:rPr>
              <a:t>gpu-mem-util 0.15, 3.6 GB</a:t>
            </a:r>
          </a:p>
          <a:p>
            <a:pPr algn="ctr">
              <a:spcAft>
                <a:spcPts val="0"/>
              </a:spcAft>
            </a:pPr>
            <a:r>
              <a:rPr sz="1800" b="0" i="0">
                <a:solidFill>
                  <a:srgbClr val="6B6B6B"/>
                </a:solidFill>
                <a:latin typeface="Arial"/>
              </a:rPr>
              <a:t>gets the saturating load</a:t>
            </a:r>
          </a:p>
        </p:txBody>
      </p:sp>
      <p:sp>
        <p:nvSpPr>
          <p:cNvPr id="5" name="Rounded Rectangle 4"/>
          <p:cNvSpPr/>
          <p:nvPr/>
        </p:nvSpPr>
        <p:spPr>
          <a:xfrm>
            <a:off x="6296000" y="1250000"/>
            <a:ext cx="5492318" cy="2200000"/>
          </a:xfrm>
          <a:prstGeom prst="roundRect">
            <a:avLst>
              <a:gd name="adj" fmla="val 8000"/>
            </a:avLst>
          </a:prstGeom>
          <a:solidFill>
            <a:srgbClr val="E3F1E4"/>
          </a:solidFill>
          <a:ln>
            <a:noFill/>
          </a:ln>
        </p:spPr>
        <p:txBody>
          <a:bodyPr rtlCol="0" anchor="ctr"/>
          <a:lstStyle/>
          <a:p/>
        </p:txBody>
      </p:sp>
      <p:sp>
        <p:nvSpPr>
          <p:cNvPr id="6" name="TextBox 5"/>
          <p:cNvSpPr txBox="1"/>
          <p:nvPr/>
        </p:nvSpPr>
        <p:spPr>
          <a:xfrm>
            <a:off x="6296000" y="1250000"/>
            <a:ext cx="5492318" cy="2200000"/>
          </a:xfrm>
          <a:prstGeom prst="rect">
            <a:avLst/>
          </a:prstGeom>
          <a:noFill/>
        </p:spPr>
        <p:txBody>
          <a:bodyPr wrap="square" anchor="ctr">
            <a:spAutoFit/>
          </a:bodyPr>
          <a:lstStyle/>
          <a:p>
            <a:pPr algn="ctr">
              <a:spcAft>
                <a:spcPts val="400"/>
              </a:spcAft>
            </a:pPr>
            <a:r>
              <a:rPr sz="2800" b="1" i="0">
                <a:solidFill>
                  <a:srgbClr val="2E7D32"/>
                </a:solidFill>
                <a:latin typeface="Courier New"/>
              </a:rPr>
              <a:t>vllm-overprov</a:t>
            </a:r>
          </a:p>
          <a:p>
            <a:pPr algn="ctr">
              <a:spcAft>
                <a:spcPts val="200"/>
              </a:spcAft>
            </a:pPr>
            <a:r>
              <a:rPr sz="1800" b="0" i="0">
                <a:solidFill>
                  <a:srgbClr val="262626"/>
                </a:solidFill>
                <a:latin typeface="Arial"/>
              </a:rPr>
              <a:t>gpu-mem-util 0.90, 20.5 GB</a:t>
            </a:r>
          </a:p>
          <a:p>
            <a:pPr algn="ctr">
              <a:spcAft>
                <a:spcPts val="0"/>
              </a:spcAft>
            </a:pPr>
            <a:r>
              <a:rPr sz="1800" b="0" i="0">
                <a:solidFill>
                  <a:srgbClr val="6B6B6B"/>
                </a:solidFill>
                <a:latin typeface="Arial"/>
              </a:rPr>
              <a:t>steady load, the control</a:t>
            </a:r>
          </a:p>
        </p:txBody>
      </p:sp>
      <p:sp>
        <p:nvSpPr>
          <p:cNvPr id="7" name="TextBox 6"/>
          <p:cNvSpPr txBox="1"/>
          <p:nvPr/>
        </p:nvSpPr>
        <p:spPr>
          <a:xfrm>
            <a:off x="403682" y="3700000"/>
            <a:ext cx="11384636" cy="500000"/>
          </a:xfrm>
          <a:prstGeom prst="rect">
            <a:avLst/>
          </a:prstGeom>
          <a:noFill/>
        </p:spPr>
        <p:txBody>
          <a:bodyPr wrap="square" anchor="t">
            <a:spAutoFit/>
          </a:bodyPr>
          <a:lstStyle/>
          <a:p>
            <a:pPr algn="ctr">
              <a:spcAft>
                <a:spcPts val="0"/>
              </a:spcAft>
            </a:pPr>
            <a:r>
              <a:rPr sz="1600" b="0" i="0">
                <a:solidFill>
                  <a:srgbClr val="6B6B6B"/>
                </a:solidFill>
                <a:latin typeface="Arial"/>
              </a:rPr>
              <a:t>facebook/opt-125m on both  ·  long prompts, concurrency 128, 12 minutes</a:t>
            </a:r>
          </a:p>
        </p:txBody>
      </p:sp>
      <p:sp>
        <p:nvSpPr>
          <p:cNvPr id="8" name="Rounded Rectangle 7"/>
          <p:cNvSpPr/>
          <p:nvPr/>
        </p:nvSpPr>
        <p:spPr>
          <a:xfrm>
            <a:off x="403682" y="4300000"/>
            <a:ext cx="11384636" cy="1500000"/>
          </a:xfrm>
          <a:prstGeom prst="roundRect">
            <a:avLst>
              <a:gd name="adj" fmla="val 8000"/>
            </a:avLst>
          </a:prstGeom>
          <a:solidFill>
            <a:srgbClr val="991346"/>
          </a:solidFill>
          <a:ln>
            <a:noFill/>
          </a:ln>
        </p:spPr>
        <p:txBody>
          <a:bodyPr rtlCol="0" anchor="ctr"/>
          <a:lstStyle/>
          <a:p/>
        </p:txBody>
      </p:sp>
      <p:sp>
        <p:nvSpPr>
          <p:cNvPr id="9" name="TextBox 8"/>
          <p:cNvSpPr txBox="1"/>
          <p:nvPr/>
        </p:nvSpPr>
        <p:spPr>
          <a:xfrm>
            <a:off x="403682" y="4300000"/>
            <a:ext cx="11384636" cy="1500000"/>
          </a:xfrm>
          <a:prstGeom prst="rect">
            <a:avLst/>
          </a:prstGeom>
          <a:noFill/>
        </p:spPr>
        <p:txBody>
          <a:bodyPr wrap="square" anchor="ctr">
            <a:spAutoFit/>
          </a:bodyPr>
          <a:lstStyle/>
          <a:p>
            <a:pPr algn="ctr">
              <a:spcAft>
                <a:spcPts val="600"/>
              </a:spcAft>
            </a:pPr>
            <a:r>
              <a:rPr sz="2200" b="1" i="0">
                <a:solidFill>
                  <a:srgbClr val="FFFFFF"/>
                </a:solidFill>
                <a:latin typeface="Arial"/>
              </a:rPr>
              <a:t>Watch two rows.</a:t>
            </a:r>
          </a:p>
          <a:p>
            <a:pPr algn="ctr">
              <a:spcAft>
                <a:spcPts val="0"/>
              </a:spcAft>
            </a:pPr>
            <a:r>
              <a:rPr sz="2000" b="0" i="0">
                <a:solidFill>
                  <a:srgbClr val="FFFFFF"/>
                </a:solidFill>
                <a:latin typeface="Arial"/>
              </a:rPr>
              <a:t>Row 1, DCGM: GPU memory stays flat.   Row 2, the log: KV cache and waiting take off.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KV cache 100%. Memory counter: unchanged.</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Rig numbers, Oct 6 2026 16:56 to 17:08. Queue time rises before 'waiting' is visibly non-zero: Elastic Observability Labs, tuning vLLM Prometheus metrics (2025).</a:t>
            </a:r>
          </a:p>
        </p:txBody>
      </p:sp>
      <p:pic>
        <p:nvPicPr>
          <p:cNvPr id="4" name="Picture 3" descr="panel-2.png"/>
          <p:cNvPicPr>
            <a:picLocks noChangeAspect="1"/>
          </p:cNvPicPr>
          <p:nvPr/>
        </p:nvPicPr>
        <p:blipFill>
          <a:blip r:embed="rId3"/>
          <a:stretch>
            <a:fillRect/>
          </a:stretch>
        </p:blipFill>
        <p:spPr>
          <a:xfrm>
            <a:off x="403682" y="1522772"/>
            <a:ext cx="5542318" cy="2454455"/>
          </a:xfrm>
          <a:prstGeom prst="rect">
            <a:avLst/>
          </a:prstGeom>
        </p:spPr>
      </p:pic>
      <p:sp>
        <p:nvSpPr>
          <p:cNvPr id="5" name="Rectangle 4"/>
          <p:cNvSpPr/>
          <p:nvPr/>
        </p:nvSpPr>
        <p:spPr>
          <a:xfrm>
            <a:off x="403682" y="1522772"/>
            <a:ext cx="5542318" cy="2454455"/>
          </a:xfrm>
          <a:prstGeom prst="rect">
            <a:avLst/>
          </a:prstGeom>
          <a:noFill/>
          <a:ln w="9525">
            <a:solidFill>
              <a:srgbClr val="DDDDDD"/>
            </a:solidFill>
          </a:ln>
        </p:spPr>
        <p:txBody>
          <a:bodyPr rtlCol="0" anchor="ctr"/>
          <a:lstStyle/>
          <a:p>
            <a:pPr algn="ctr"/>
          </a:p>
        </p:txBody>
      </p:sp>
      <p:sp>
        <p:nvSpPr>
          <p:cNvPr id="6" name="Rounded Rectangle 5"/>
          <p:cNvSpPr/>
          <p:nvPr/>
        </p:nvSpPr>
        <p:spPr>
          <a:xfrm>
            <a:off x="3446000" y="2946355"/>
            <a:ext cx="2300000" cy="700000"/>
          </a:xfrm>
          <a:prstGeom prst="roundRect">
            <a:avLst>
              <a:gd name="adj" fmla="val 12000"/>
            </a:avLst>
          </a:prstGeom>
          <a:solidFill>
            <a:srgbClr val="1F5FA8"/>
          </a:solidFill>
          <a:ln>
            <a:noFill/>
          </a:ln>
        </p:spPr>
        <p:txBody>
          <a:bodyPr rtlCol="0" anchor="ctr"/>
          <a:lstStyle/>
          <a:p/>
        </p:txBody>
      </p:sp>
      <p:sp>
        <p:nvSpPr>
          <p:cNvPr id="7" name="TextBox 6"/>
          <p:cNvSpPr txBox="1"/>
          <p:nvPr/>
        </p:nvSpPr>
        <p:spPr>
          <a:xfrm>
            <a:off x="3446000" y="2946355"/>
            <a:ext cx="2300000" cy="700000"/>
          </a:xfrm>
          <a:prstGeom prst="rect">
            <a:avLst/>
          </a:prstGeom>
          <a:noFill/>
        </p:spPr>
        <p:txBody>
          <a:bodyPr wrap="square" anchor="ctr">
            <a:spAutoFit/>
          </a:bodyPr>
          <a:lstStyle/>
          <a:p>
            <a:pPr algn="ctr">
              <a:spcAft>
                <a:spcPts val="0"/>
              </a:spcAft>
            </a:pPr>
            <a:r>
              <a:rPr sz="1600" b="1" i="0">
                <a:solidFill>
                  <a:srgbClr val="FFFFFF"/>
                </a:solidFill>
                <a:latin typeface="Arial"/>
              </a:rPr>
              <a:t>3.6 GB before, 3.6 GB after</a:t>
            </a:r>
          </a:p>
        </p:txBody>
      </p:sp>
      <p:sp>
        <p:nvSpPr>
          <p:cNvPr id="8" name="TextBox 7"/>
          <p:cNvSpPr txBox="1"/>
          <p:nvPr/>
        </p:nvSpPr>
        <p:spPr>
          <a:xfrm>
            <a:off x="403682" y="4300000"/>
            <a:ext cx="5542318" cy="400000"/>
          </a:xfrm>
          <a:prstGeom prst="rect">
            <a:avLst/>
          </a:prstGeom>
          <a:noFill/>
        </p:spPr>
        <p:txBody>
          <a:bodyPr wrap="square" anchor="t">
            <a:spAutoFit/>
          </a:bodyPr>
          <a:lstStyle/>
          <a:p>
            <a:pPr algn="ctr">
              <a:spcAft>
                <a:spcPts val="0"/>
              </a:spcAft>
            </a:pPr>
            <a:r>
              <a:rPr sz="1600" b="1" i="0">
                <a:solidFill>
                  <a:srgbClr val="6B6B6B"/>
                </a:solidFill>
                <a:latin typeface="Arial"/>
              </a:rPr>
              <a:t>DCGM: GPU memory used</a:t>
            </a:r>
          </a:p>
        </p:txBody>
      </p:sp>
      <p:pic>
        <p:nvPicPr>
          <p:cNvPr id="9" name="Picture 8" descr="panel-6.png"/>
          <p:cNvPicPr>
            <a:picLocks noChangeAspect="1"/>
          </p:cNvPicPr>
          <p:nvPr/>
        </p:nvPicPr>
        <p:blipFill>
          <a:blip r:embed="rId4"/>
          <a:stretch>
            <a:fillRect/>
          </a:stretch>
        </p:blipFill>
        <p:spPr>
          <a:xfrm>
            <a:off x="6246000" y="1522772"/>
            <a:ext cx="5542318" cy="2454455"/>
          </a:xfrm>
          <a:prstGeom prst="rect">
            <a:avLst/>
          </a:prstGeom>
        </p:spPr>
      </p:pic>
      <p:sp>
        <p:nvSpPr>
          <p:cNvPr id="10" name="Rectangle 9"/>
          <p:cNvSpPr/>
          <p:nvPr/>
        </p:nvSpPr>
        <p:spPr>
          <a:xfrm>
            <a:off x="6246000" y="1522772"/>
            <a:ext cx="5542318" cy="2454455"/>
          </a:xfrm>
          <a:prstGeom prst="rect">
            <a:avLst/>
          </a:prstGeom>
          <a:noFill/>
          <a:ln w="9525">
            <a:solidFill>
              <a:srgbClr val="DDDDDD"/>
            </a:solidFill>
          </a:ln>
        </p:spPr>
        <p:txBody>
          <a:bodyPr rtlCol="0" anchor="ctr"/>
          <a:lstStyle/>
          <a:p>
            <a:pPr algn="ctr"/>
          </a:p>
        </p:txBody>
      </p:sp>
      <p:sp>
        <p:nvSpPr>
          <p:cNvPr id="11" name="Rounded Rectangle 10"/>
          <p:cNvSpPr/>
          <p:nvPr/>
        </p:nvSpPr>
        <p:spPr>
          <a:xfrm>
            <a:off x="6546000" y="2259108"/>
            <a:ext cx="1900000" cy="800000"/>
          </a:xfrm>
          <a:prstGeom prst="roundRect">
            <a:avLst>
              <a:gd name="adj" fmla="val 12000"/>
            </a:avLst>
          </a:prstGeom>
          <a:solidFill>
            <a:srgbClr val="991346"/>
          </a:solidFill>
          <a:ln>
            <a:noFill/>
          </a:ln>
        </p:spPr>
        <p:txBody>
          <a:bodyPr rtlCol="0" anchor="ctr"/>
          <a:lstStyle/>
          <a:p/>
        </p:txBody>
      </p:sp>
      <p:sp>
        <p:nvSpPr>
          <p:cNvPr id="12" name="TextBox 11"/>
          <p:cNvSpPr txBox="1"/>
          <p:nvPr/>
        </p:nvSpPr>
        <p:spPr>
          <a:xfrm>
            <a:off x="6546000" y="2259108"/>
            <a:ext cx="1900000" cy="800000"/>
          </a:xfrm>
          <a:prstGeom prst="rect">
            <a:avLst/>
          </a:prstGeom>
          <a:noFill/>
        </p:spPr>
        <p:txBody>
          <a:bodyPr wrap="square" anchor="ctr">
            <a:spAutoFit/>
          </a:bodyPr>
          <a:lstStyle/>
          <a:p>
            <a:pPr algn="ctr">
              <a:spcAft>
                <a:spcPts val="0"/>
              </a:spcAft>
            </a:pPr>
            <a:r>
              <a:rPr sz="3600" b="1" i="0">
                <a:solidFill>
                  <a:srgbClr val="FFFFFF"/>
                </a:solidFill>
                <a:latin typeface="Arial"/>
              </a:rPr>
              <a:t>100%</a:t>
            </a:r>
          </a:p>
          <a:p>
            <a:pPr algn="ctr">
              <a:spcAft>
                <a:spcPts val="0"/>
              </a:spcAft>
            </a:pPr>
            <a:r>
              <a:rPr sz="1400" b="0" i="0">
                <a:solidFill>
                  <a:srgbClr val="FFFFFF"/>
                </a:solidFill>
                <a:latin typeface="Arial"/>
              </a:rPr>
              <a:t>KV cache, constrained pod</a:t>
            </a:r>
          </a:p>
        </p:txBody>
      </p:sp>
      <p:sp>
        <p:nvSpPr>
          <p:cNvPr id="13" name="TextBox 12"/>
          <p:cNvSpPr txBox="1"/>
          <p:nvPr/>
        </p:nvSpPr>
        <p:spPr>
          <a:xfrm>
            <a:off x="6246000" y="4300000"/>
            <a:ext cx="5542318" cy="400000"/>
          </a:xfrm>
          <a:prstGeom prst="rect">
            <a:avLst/>
          </a:prstGeom>
          <a:noFill/>
        </p:spPr>
        <p:txBody>
          <a:bodyPr wrap="square" anchor="t">
            <a:spAutoFit/>
          </a:bodyPr>
          <a:lstStyle/>
          <a:p>
            <a:pPr algn="ctr">
              <a:spcAft>
                <a:spcPts val="0"/>
              </a:spcAft>
            </a:pPr>
            <a:r>
              <a:rPr sz="1600" b="1" i="0">
                <a:solidFill>
                  <a:srgbClr val="6B6B6B"/>
                </a:solidFill>
                <a:latin typeface="Arial"/>
              </a:rPr>
              <a:t>The log: KV cache usage, per pod</a:t>
            </a:r>
          </a:p>
        </p:txBody>
      </p:sp>
      <p:sp>
        <p:nvSpPr>
          <p:cNvPr id="14" name="Rounded Rectangle 13"/>
          <p:cNvSpPr/>
          <p:nvPr/>
        </p:nvSpPr>
        <p:spPr>
          <a:xfrm>
            <a:off x="403682" y="4800000"/>
            <a:ext cx="2681159" cy="900000"/>
          </a:xfrm>
          <a:prstGeom prst="roundRect">
            <a:avLst>
              <a:gd name="adj" fmla="val 8000"/>
            </a:avLst>
          </a:prstGeom>
          <a:solidFill>
            <a:srgbClr val="F3F3F3"/>
          </a:solidFill>
          <a:ln>
            <a:noFill/>
          </a:ln>
        </p:spPr>
        <p:txBody>
          <a:bodyPr rtlCol="0" anchor="ctr"/>
          <a:lstStyle/>
          <a:p/>
        </p:txBody>
      </p:sp>
      <p:sp>
        <p:nvSpPr>
          <p:cNvPr id="15" name="TextBox 14"/>
          <p:cNvSpPr txBox="1"/>
          <p:nvPr/>
        </p:nvSpPr>
        <p:spPr>
          <a:xfrm>
            <a:off x="403682" y="4800000"/>
            <a:ext cx="2681159" cy="900000"/>
          </a:xfrm>
          <a:prstGeom prst="rect">
            <a:avLst/>
          </a:prstGeom>
          <a:noFill/>
        </p:spPr>
        <p:txBody>
          <a:bodyPr wrap="square" anchor="ctr">
            <a:spAutoFit/>
          </a:bodyPr>
          <a:lstStyle/>
          <a:p>
            <a:pPr algn="ctr">
              <a:spcAft>
                <a:spcPts val="0"/>
              </a:spcAft>
            </a:pPr>
            <a:r>
              <a:rPr sz="3000" b="1" i="0">
                <a:solidFill>
                  <a:srgbClr val="991346"/>
                </a:solidFill>
                <a:latin typeface="Arial"/>
              </a:rPr>
              <a:t>4.8 s</a:t>
            </a:r>
          </a:p>
          <a:p>
            <a:pPr algn="ctr">
              <a:spcAft>
                <a:spcPts val="0"/>
              </a:spcAft>
            </a:pPr>
            <a:r>
              <a:rPr sz="1400" b="0" i="0">
                <a:solidFill>
                  <a:srgbClr val="6B6B6B"/>
                </a:solidFill>
                <a:latin typeface="Arial"/>
              </a:rPr>
              <a:t>p95 queue time, was 0.3 s</a:t>
            </a:r>
          </a:p>
        </p:txBody>
      </p:sp>
      <p:sp>
        <p:nvSpPr>
          <p:cNvPr id="16" name="Rounded Rectangle 15"/>
          <p:cNvSpPr/>
          <p:nvPr/>
        </p:nvSpPr>
        <p:spPr>
          <a:xfrm>
            <a:off x="3304841" y="4800000"/>
            <a:ext cx="2681159" cy="900000"/>
          </a:xfrm>
          <a:prstGeom prst="roundRect">
            <a:avLst>
              <a:gd name="adj" fmla="val 8000"/>
            </a:avLst>
          </a:prstGeom>
          <a:solidFill>
            <a:srgbClr val="F3F3F3"/>
          </a:solidFill>
          <a:ln>
            <a:noFill/>
          </a:ln>
        </p:spPr>
        <p:txBody>
          <a:bodyPr rtlCol="0" anchor="ctr"/>
          <a:lstStyle/>
          <a:p/>
        </p:txBody>
      </p:sp>
      <p:sp>
        <p:nvSpPr>
          <p:cNvPr id="17" name="TextBox 16"/>
          <p:cNvSpPr txBox="1"/>
          <p:nvPr/>
        </p:nvSpPr>
        <p:spPr>
          <a:xfrm>
            <a:off x="3304841" y="4800000"/>
            <a:ext cx="2681159" cy="900000"/>
          </a:xfrm>
          <a:prstGeom prst="rect">
            <a:avLst/>
          </a:prstGeom>
          <a:noFill/>
        </p:spPr>
        <p:txBody>
          <a:bodyPr wrap="square" anchor="ctr">
            <a:spAutoFit/>
          </a:bodyPr>
          <a:lstStyle/>
          <a:p>
            <a:pPr algn="ctr">
              <a:spcAft>
                <a:spcPts val="0"/>
              </a:spcAft>
            </a:pPr>
            <a:r>
              <a:rPr sz="3000" b="1" i="0">
                <a:solidFill>
                  <a:srgbClr val="991346"/>
                </a:solidFill>
                <a:latin typeface="Arial"/>
              </a:rPr>
              <a:t>~100</a:t>
            </a:r>
          </a:p>
          <a:p>
            <a:pPr algn="ctr">
              <a:spcAft>
                <a:spcPts val="0"/>
              </a:spcAft>
            </a:pPr>
            <a:r>
              <a:rPr sz="1400" b="0" i="0">
                <a:solidFill>
                  <a:srgbClr val="6B6B6B"/>
                </a:solidFill>
                <a:latin typeface="Arial"/>
              </a:rPr>
              <a:t>requests waiting</a:t>
            </a:r>
          </a:p>
        </p:txBody>
      </p:sp>
      <p:sp>
        <p:nvSpPr>
          <p:cNvPr id="18" name="Rounded Rectangle 17"/>
          <p:cNvSpPr/>
          <p:nvPr/>
        </p:nvSpPr>
        <p:spPr>
          <a:xfrm>
            <a:off x="6206000" y="4800000"/>
            <a:ext cx="2681159" cy="900000"/>
          </a:xfrm>
          <a:prstGeom prst="roundRect">
            <a:avLst>
              <a:gd name="adj" fmla="val 8000"/>
            </a:avLst>
          </a:prstGeom>
          <a:solidFill>
            <a:srgbClr val="F3F3F3"/>
          </a:solidFill>
          <a:ln>
            <a:noFill/>
          </a:ln>
        </p:spPr>
        <p:txBody>
          <a:bodyPr rtlCol="0" anchor="ctr"/>
          <a:lstStyle/>
          <a:p/>
        </p:txBody>
      </p:sp>
      <p:sp>
        <p:nvSpPr>
          <p:cNvPr id="19" name="TextBox 18"/>
          <p:cNvSpPr txBox="1"/>
          <p:nvPr/>
        </p:nvSpPr>
        <p:spPr>
          <a:xfrm>
            <a:off x="6206000" y="4800000"/>
            <a:ext cx="2681159" cy="900000"/>
          </a:xfrm>
          <a:prstGeom prst="rect">
            <a:avLst/>
          </a:prstGeom>
          <a:noFill/>
        </p:spPr>
        <p:txBody>
          <a:bodyPr wrap="square" anchor="ctr">
            <a:spAutoFit/>
          </a:bodyPr>
          <a:lstStyle/>
          <a:p>
            <a:pPr algn="ctr">
              <a:spcAft>
                <a:spcPts val="0"/>
              </a:spcAft>
            </a:pPr>
            <a:r>
              <a:rPr sz="3000" b="1" i="0">
                <a:solidFill>
                  <a:srgbClr val="991346"/>
                </a:solidFill>
                <a:latin typeface="Arial"/>
              </a:rPr>
              <a:t>0.2%</a:t>
            </a:r>
          </a:p>
          <a:p>
            <a:pPr algn="ctr">
              <a:spcAft>
                <a:spcPts val="0"/>
              </a:spcAft>
            </a:pPr>
            <a:r>
              <a:rPr sz="1400" b="0" i="0">
                <a:solidFill>
                  <a:srgbClr val="6B6B6B"/>
                </a:solidFill>
                <a:latin typeface="Arial"/>
              </a:rPr>
              <a:t>KV cache, over-prov pod</a:t>
            </a:r>
          </a:p>
        </p:txBody>
      </p:sp>
      <p:sp>
        <p:nvSpPr>
          <p:cNvPr id="20" name="Rounded Rectangle 19"/>
          <p:cNvSpPr/>
          <p:nvPr/>
        </p:nvSpPr>
        <p:spPr>
          <a:xfrm>
            <a:off x="9107159" y="4800000"/>
            <a:ext cx="2681159" cy="900000"/>
          </a:xfrm>
          <a:prstGeom prst="roundRect">
            <a:avLst>
              <a:gd name="adj" fmla="val 8000"/>
            </a:avLst>
          </a:prstGeom>
          <a:solidFill>
            <a:srgbClr val="F3F3F3"/>
          </a:solidFill>
          <a:ln>
            <a:noFill/>
          </a:ln>
        </p:spPr>
        <p:txBody>
          <a:bodyPr rtlCol="0" anchor="ctr"/>
          <a:lstStyle/>
          <a:p/>
        </p:txBody>
      </p:sp>
      <p:sp>
        <p:nvSpPr>
          <p:cNvPr id="21" name="TextBox 20"/>
          <p:cNvSpPr txBox="1"/>
          <p:nvPr/>
        </p:nvSpPr>
        <p:spPr>
          <a:xfrm>
            <a:off x="9107159" y="4800000"/>
            <a:ext cx="2681159" cy="900000"/>
          </a:xfrm>
          <a:prstGeom prst="rect">
            <a:avLst/>
          </a:prstGeom>
          <a:noFill/>
        </p:spPr>
        <p:txBody>
          <a:bodyPr wrap="square" anchor="ctr">
            <a:spAutoFit/>
          </a:bodyPr>
          <a:lstStyle/>
          <a:p>
            <a:pPr algn="ctr">
              <a:spcAft>
                <a:spcPts val="0"/>
              </a:spcAft>
            </a:pPr>
            <a:r>
              <a:rPr sz="3000" b="1" i="0">
                <a:solidFill>
                  <a:srgbClr val="6B6B6B"/>
                </a:solidFill>
                <a:latin typeface="Arial"/>
              </a:rPr>
              <a:t>90%</a:t>
            </a:r>
          </a:p>
          <a:p>
            <a:pPr algn="ctr">
              <a:spcAft>
                <a:spcPts val="0"/>
              </a:spcAft>
            </a:pPr>
            <a:r>
              <a:rPr sz="1400" b="0" i="0">
                <a:solidFill>
                  <a:srgbClr val="6B6B6B"/>
                </a:solidFill>
                <a:latin typeface="Arial"/>
              </a:rPr>
              <a:t>SM_ACTIVE: busy, but blind</a:t>
            </a:r>
          </a:p>
        </p:txBody>
      </p:sp>
      <p:sp>
        <p:nvSpPr>
          <p:cNvPr id="22" name="TextBox 21"/>
          <p:cNvSpPr txBox="1"/>
          <p:nvPr/>
        </p:nvSpPr>
        <p:spPr>
          <a:xfrm>
            <a:off x="403682" y="5780000"/>
            <a:ext cx="11384636" cy="550000"/>
          </a:xfrm>
          <a:prstGeom prst="rect">
            <a:avLst/>
          </a:prstGeom>
          <a:noFill/>
        </p:spPr>
        <p:txBody>
          <a:bodyPr wrap="square" anchor="ctr">
            <a:spAutoFit/>
          </a:bodyPr>
          <a:lstStyle/>
          <a:p>
            <a:pPr algn="l">
              <a:spcAft>
                <a:spcPts val="0"/>
              </a:spcAft>
            </a:pPr>
            <a:r>
              <a:rPr sz="2200" b="1" i="0">
                <a:solidFill>
                  <a:srgbClr val="991346"/>
                </a:solidFill>
                <a:latin typeface="Arial"/>
              </a:rPr>
              <a:t>Queue time first. Waiting confirms. GPU memory never moved.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Signal 3: a slow span with a pod name.</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vLLM --otlp-traces-endpoint -&gt; OTel Collector (k8sattributes) -&gt; Jaeger. Tracing was removed in the V1 rewrite and reinstated in vllm PR #20372: needs vLLM &gt;= 0.10.2 (rig: 0.30). gen_ai.* attributes follow OTel GenAI semconv, status Development, names can still change.</a:t>
            </a:r>
          </a:p>
        </p:txBody>
      </p:sp>
      <p:pic>
        <p:nvPicPr>
          <p:cNvPr id="4" name="Picture 3" descr="jaeger-trace-detail.png"/>
          <p:cNvPicPr>
            <a:picLocks noChangeAspect="1"/>
          </p:cNvPicPr>
          <p:nvPr/>
        </p:nvPicPr>
        <p:blipFill>
          <a:blip r:embed="rId3"/>
          <a:stretch>
            <a:fillRect/>
          </a:stretch>
        </p:blipFill>
        <p:spPr>
          <a:xfrm>
            <a:off x="672923" y="1250000"/>
            <a:ext cx="10846153" cy="2350000"/>
          </a:xfrm>
          <a:prstGeom prst="rect">
            <a:avLst/>
          </a:prstGeom>
        </p:spPr>
      </p:pic>
      <p:sp>
        <p:nvSpPr>
          <p:cNvPr id="5" name="Rounded Rectangle 4"/>
          <p:cNvSpPr/>
          <p:nvPr/>
        </p:nvSpPr>
        <p:spPr>
          <a:xfrm>
            <a:off x="8019076" y="1400000"/>
            <a:ext cx="3300000" cy="600000"/>
          </a:xfrm>
          <a:prstGeom prst="roundRect">
            <a:avLst>
              <a:gd name="adj" fmla="val 12000"/>
            </a:avLst>
          </a:prstGeom>
          <a:solidFill>
            <a:srgbClr val="991346"/>
          </a:solidFill>
          <a:ln>
            <a:noFill/>
          </a:ln>
        </p:spPr>
        <p:txBody>
          <a:bodyPr rtlCol="0" anchor="ctr"/>
          <a:lstStyle/>
          <a:p/>
        </p:txBody>
      </p:sp>
      <p:sp>
        <p:nvSpPr>
          <p:cNvPr id="6" name="TextBox 5"/>
          <p:cNvSpPr txBox="1"/>
          <p:nvPr/>
        </p:nvSpPr>
        <p:spPr>
          <a:xfrm>
            <a:off x="8019076" y="1400000"/>
            <a:ext cx="3300000" cy="600000"/>
          </a:xfrm>
          <a:prstGeom prst="rect">
            <a:avLst/>
          </a:prstGeom>
          <a:noFill/>
        </p:spPr>
        <p:txBody>
          <a:bodyPr wrap="square" anchor="ctr">
            <a:spAutoFit/>
          </a:bodyPr>
          <a:lstStyle/>
          <a:p>
            <a:pPr algn="ctr">
              <a:spcAft>
                <a:spcPts val="0"/>
              </a:spcAft>
            </a:pPr>
            <a:r>
              <a:rPr sz="2000" b="1" i="0">
                <a:solidFill>
                  <a:srgbClr val="FFFFFF"/>
                </a:solidFill>
                <a:latin typeface="Arial"/>
              </a:rPr>
              <a:t>llm_request  5.73 s</a:t>
            </a:r>
          </a:p>
        </p:txBody>
      </p:sp>
      <p:sp>
        <p:nvSpPr>
          <p:cNvPr id="7" name="Rounded Rectangle 6"/>
          <p:cNvSpPr/>
          <p:nvPr/>
        </p:nvSpPr>
        <p:spPr>
          <a:xfrm>
            <a:off x="8019076" y="2080000"/>
            <a:ext cx="3300000" cy="520000"/>
          </a:xfrm>
          <a:prstGeom prst="roundRect">
            <a:avLst>
              <a:gd name="adj" fmla="val 50000"/>
            </a:avLst>
          </a:prstGeom>
          <a:solidFill>
            <a:srgbClr val="C62828"/>
          </a:solidFill>
          <a:ln>
            <a:noFill/>
          </a:ln>
        </p:spPr>
        <p:txBody>
          <a:bodyPr rtlCol="0" anchor="ctr" lIns="90000" rIns="90000" tIns="0" bIns="0"/>
          <a:lstStyle/>
          <a:p>
            <a:pPr algn="ctr"/>
            <a:r>
              <a:rPr sz="1600" b="1" i="0">
                <a:solidFill>
                  <a:srgbClr val="FFFFFF"/>
                </a:solidFill>
                <a:latin typeface="Arial"/>
              </a:rPr>
              <a:t>KV cache this second: 99.6%</a:t>
            </a:r>
          </a:p>
        </p:txBody>
      </p:sp>
      <p:sp>
        <p:nvSpPr>
          <p:cNvPr id="8" name="Rounded Rectangle 7"/>
          <p:cNvSpPr/>
          <p:nvPr/>
        </p:nvSpPr>
        <p:spPr>
          <a:xfrm>
            <a:off x="403682" y="3750000"/>
            <a:ext cx="3661545" cy="1100000"/>
          </a:xfrm>
          <a:prstGeom prst="roundRect">
            <a:avLst>
              <a:gd name="adj" fmla="val 8000"/>
            </a:avLst>
          </a:prstGeom>
          <a:solidFill>
            <a:srgbClr val="F3F3F3"/>
          </a:solidFill>
          <a:ln>
            <a:noFill/>
          </a:ln>
        </p:spPr>
        <p:txBody>
          <a:bodyPr rtlCol="0" anchor="ctr"/>
          <a:lstStyle/>
          <a:p/>
        </p:txBody>
      </p:sp>
      <p:sp>
        <p:nvSpPr>
          <p:cNvPr id="9" name="TextBox 8"/>
          <p:cNvSpPr txBox="1"/>
          <p:nvPr/>
        </p:nvSpPr>
        <p:spPr>
          <a:xfrm>
            <a:off x="403682" y="3750000"/>
            <a:ext cx="3661545" cy="1100000"/>
          </a:xfrm>
          <a:prstGeom prst="rect">
            <a:avLst/>
          </a:prstGeom>
          <a:noFill/>
        </p:spPr>
        <p:txBody>
          <a:bodyPr wrap="square" anchor="ctr">
            <a:spAutoFit/>
          </a:bodyPr>
          <a:lstStyle/>
          <a:p>
            <a:pPr algn="ctr">
              <a:spcAft>
                <a:spcPts val="200"/>
              </a:spcAft>
            </a:pPr>
            <a:r>
              <a:rPr sz="1300" b="0" i="0">
                <a:solidFill>
                  <a:srgbClr val="6B6B6B"/>
                </a:solidFill>
                <a:latin typeface="Courier New"/>
              </a:rPr>
              <a:t>k8s.pod.name</a:t>
            </a:r>
          </a:p>
          <a:p>
            <a:pPr algn="ctr">
              <a:spcAft>
                <a:spcPts val="0"/>
              </a:spcAft>
            </a:pPr>
            <a:r>
              <a:rPr sz="1400" b="1" i="0">
                <a:solidFill>
                  <a:srgbClr val="991346"/>
                </a:solidFill>
                <a:latin typeface="Courier New"/>
              </a:rPr>
              <a:t>vllm-constrained-7f9fdfc497-2mjzz</a:t>
            </a:r>
          </a:p>
        </p:txBody>
      </p:sp>
      <p:sp>
        <p:nvSpPr>
          <p:cNvPr id="10" name="Rounded Rectangle 9"/>
          <p:cNvSpPr/>
          <p:nvPr/>
        </p:nvSpPr>
        <p:spPr>
          <a:xfrm>
            <a:off x="4265227" y="3750000"/>
            <a:ext cx="3661545" cy="1100000"/>
          </a:xfrm>
          <a:prstGeom prst="roundRect">
            <a:avLst>
              <a:gd name="adj" fmla="val 8000"/>
            </a:avLst>
          </a:prstGeom>
          <a:solidFill>
            <a:srgbClr val="F3F3F3"/>
          </a:solidFill>
          <a:ln>
            <a:noFill/>
          </a:ln>
        </p:spPr>
        <p:txBody>
          <a:bodyPr rtlCol="0" anchor="ctr"/>
          <a:lstStyle/>
          <a:p/>
        </p:txBody>
      </p:sp>
      <p:sp>
        <p:nvSpPr>
          <p:cNvPr id="11" name="TextBox 10"/>
          <p:cNvSpPr txBox="1"/>
          <p:nvPr/>
        </p:nvSpPr>
        <p:spPr>
          <a:xfrm>
            <a:off x="4265227" y="3750000"/>
            <a:ext cx="3661545" cy="1100000"/>
          </a:xfrm>
          <a:prstGeom prst="rect">
            <a:avLst/>
          </a:prstGeom>
          <a:noFill/>
        </p:spPr>
        <p:txBody>
          <a:bodyPr wrap="square" anchor="ctr">
            <a:spAutoFit/>
          </a:bodyPr>
          <a:lstStyle/>
          <a:p>
            <a:pPr algn="ctr">
              <a:spcAft>
                <a:spcPts val="200"/>
              </a:spcAft>
            </a:pPr>
            <a:r>
              <a:rPr sz="1300" b="0" i="0">
                <a:solidFill>
                  <a:srgbClr val="6B6B6B"/>
                </a:solidFill>
                <a:latin typeface="Courier New"/>
              </a:rPr>
              <a:t>gen_ai.latency.time_in_queue</a:t>
            </a:r>
          </a:p>
          <a:p>
            <a:pPr algn="ctr">
              <a:spcAft>
                <a:spcPts val="0"/>
              </a:spcAft>
            </a:pPr>
            <a:r>
              <a:rPr sz="1800" b="1" i="0">
                <a:solidFill>
                  <a:srgbClr val="1F5FA8"/>
                </a:solidFill>
                <a:latin typeface="Courier New"/>
              </a:rPr>
              <a:t>0.61 s</a:t>
            </a:r>
          </a:p>
        </p:txBody>
      </p:sp>
      <p:sp>
        <p:nvSpPr>
          <p:cNvPr id="12" name="Rounded Rectangle 11"/>
          <p:cNvSpPr/>
          <p:nvPr/>
        </p:nvSpPr>
        <p:spPr>
          <a:xfrm>
            <a:off x="8126772" y="3750000"/>
            <a:ext cx="3661545" cy="1100000"/>
          </a:xfrm>
          <a:prstGeom prst="roundRect">
            <a:avLst>
              <a:gd name="adj" fmla="val 8000"/>
            </a:avLst>
          </a:prstGeom>
          <a:solidFill>
            <a:srgbClr val="F3F3F3"/>
          </a:solidFill>
          <a:ln>
            <a:noFill/>
          </a:ln>
        </p:spPr>
        <p:txBody>
          <a:bodyPr rtlCol="0" anchor="ctr"/>
          <a:lstStyle/>
          <a:p/>
        </p:txBody>
      </p:sp>
      <p:sp>
        <p:nvSpPr>
          <p:cNvPr id="13" name="TextBox 12"/>
          <p:cNvSpPr txBox="1"/>
          <p:nvPr/>
        </p:nvSpPr>
        <p:spPr>
          <a:xfrm>
            <a:off x="8126772" y="3750000"/>
            <a:ext cx="3661545" cy="1100000"/>
          </a:xfrm>
          <a:prstGeom prst="rect">
            <a:avLst/>
          </a:prstGeom>
          <a:noFill/>
        </p:spPr>
        <p:txBody>
          <a:bodyPr wrap="square" anchor="ctr">
            <a:spAutoFit/>
          </a:bodyPr>
          <a:lstStyle/>
          <a:p>
            <a:pPr algn="ctr">
              <a:spcAft>
                <a:spcPts val="200"/>
              </a:spcAft>
            </a:pPr>
            <a:r>
              <a:rPr sz="1300" b="0" i="0">
                <a:solidFill>
                  <a:srgbClr val="6B6B6B"/>
                </a:solidFill>
                <a:latin typeface="Courier New"/>
              </a:rPr>
              <a:t>gen_ai.latency.time_in_model_decode</a:t>
            </a:r>
          </a:p>
          <a:p>
            <a:pPr algn="ctr">
              <a:spcAft>
                <a:spcPts val="0"/>
              </a:spcAft>
            </a:pPr>
            <a:r>
              <a:rPr sz="1800" b="1" i="0">
                <a:solidFill>
                  <a:srgbClr val="B26A00"/>
                </a:solidFill>
                <a:latin typeface="Courier New"/>
              </a:rPr>
              <a:t>5.33 s</a:t>
            </a:r>
          </a:p>
        </p:txBody>
      </p:sp>
      <p:sp>
        <p:nvSpPr>
          <p:cNvPr id="14" name="TextBox 13"/>
          <p:cNvSpPr txBox="1"/>
          <p:nvPr/>
        </p:nvSpPr>
        <p:spPr>
          <a:xfrm>
            <a:off x="403682" y="5000000"/>
            <a:ext cx="11384636" cy="500000"/>
          </a:xfrm>
          <a:prstGeom prst="rect">
            <a:avLst/>
          </a:prstGeom>
          <a:noFill/>
        </p:spPr>
        <p:txBody>
          <a:bodyPr wrap="square" anchor="t">
            <a:spAutoFit/>
          </a:bodyPr>
          <a:lstStyle/>
          <a:p>
            <a:pPr algn="ctr">
              <a:spcAft>
                <a:spcPts val="600"/>
              </a:spcAft>
            </a:pPr>
            <a:r>
              <a:rPr sz="1400" b="0" i="0">
                <a:solidFill>
                  <a:srgbClr val="6B6B6B"/>
                </a:solidFill>
                <a:latin typeface="Courier New"/>
              </a:rPr>
              <a:t>--otlp-traces-endpoint=grpc://otel-collector.observability:4317</a:t>
            </a:r>
            <a:r>
              <a:rPr sz="1400" b="0" i="0">
                <a:solidFill>
                  <a:srgbClr val="6B6B6B"/>
                </a:solidFill>
                <a:latin typeface="Arial"/>
              </a:rPr>
              <a:t>   plus   </a:t>
            </a:r>
            <a:r>
              <a:rPr sz="1400" b="1" i="0">
                <a:solidFill>
                  <a:srgbClr val="6B6B6B"/>
                </a:solidFill>
                <a:latin typeface="Courier New"/>
              </a:rPr>
              <a:t>k8sattributes</a:t>
            </a:r>
            <a:r>
              <a:rPr sz="1400" b="0" i="0">
                <a:solidFill>
                  <a:srgbClr val="6B6B6B"/>
                </a:solidFill>
                <a:latin typeface="Arial"/>
              </a:rPr>
              <a:t> on the Collector. That is the whole wiring.</a:t>
            </a:r>
          </a:p>
        </p:txBody>
      </p:sp>
      <p:sp>
        <p:nvSpPr>
          <p:cNvPr id="15" name="TextBox 14"/>
          <p:cNvSpPr txBox="1"/>
          <p:nvPr/>
        </p:nvSpPr>
        <p:spPr>
          <a:xfrm>
            <a:off x="403682" y="5350000"/>
            <a:ext cx="11384636" cy="900000"/>
          </a:xfrm>
          <a:prstGeom prst="rect">
            <a:avLst/>
          </a:prstGeom>
          <a:noFill/>
        </p:spPr>
        <p:txBody>
          <a:bodyPr wrap="square" anchor="ctr">
            <a:spAutoFit/>
          </a:bodyPr>
          <a:lstStyle/>
          <a:p>
            <a:pPr algn="l">
              <a:spcAft>
                <a:spcPts val="0"/>
              </a:spcAft>
            </a:pPr>
            <a:r>
              <a:rPr sz="2000" b="1" i="0">
                <a:solidFill>
                  <a:srgbClr val="991346"/>
                </a:solidFill>
                <a:latin typeface="Arial"/>
              </a:rPr>
              <a:t>A slow span by itself is just a fact. The same span on the pod whose KV cache hit 100% that second is a diagnosis.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Same pod name. Three sources. One row.</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Grafana dashboard uid gpu-inference-obs, variable $pod matches exported_pod (DCGM), pod_name (Fluent Bit) and pod (vLLM, traces). Constrained pod, 16:52 to 17:09.</a:t>
            </a:r>
          </a:p>
        </p:txBody>
      </p:sp>
      <p:pic>
        <p:nvPicPr>
          <p:cNvPr id="4" name="Picture 3" descr="panel-2-wide.png"/>
          <p:cNvPicPr>
            <a:picLocks noChangeAspect="1"/>
          </p:cNvPicPr>
          <p:nvPr/>
        </p:nvPicPr>
        <p:blipFill>
          <a:blip r:embed="rId3"/>
          <a:stretch>
            <a:fillRect/>
          </a:stretch>
        </p:blipFill>
        <p:spPr>
          <a:xfrm>
            <a:off x="543682" y="1250000"/>
            <a:ext cx="7000000" cy="1500000"/>
          </a:xfrm>
          <a:prstGeom prst="rect">
            <a:avLst/>
          </a:prstGeom>
        </p:spPr>
      </p:pic>
      <p:sp>
        <p:nvSpPr>
          <p:cNvPr id="5" name="Rectangle 4"/>
          <p:cNvSpPr/>
          <p:nvPr/>
        </p:nvSpPr>
        <p:spPr>
          <a:xfrm>
            <a:off x="543682" y="1250000"/>
            <a:ext cx="7000000" cy="1500000"/>
          </a:xfrm>
          <a:prstGeom prst="rect">
            <a:avLst/>
          </a:prstGeom>
          <a:noFill/>
          <a:ln w="9525">
            <a:solidFill>
              <a:srgbClr val="DDDDDD"/>
            </a:solidFill>
          </a:ln>
        </p:spPr>
        <p:txBody>
          <a:bodyPr rtlCol="0" anchor="ctr"/>
          <a:lstStyle/>
          <a:p>
            <a:pPr algn="ctr"/>
          </a:p>
        </p:txBody>
      </p:sp>
      <p:sp>
        <p:nvSpPr>
          <p:cNvPr id="6" name="Rounded Rectangle 5"/>
          <p:cNvSpPr/>
          <p:nvPr/>
        </p:nvSpPr>
        <p:spPr>
          <a:xfrm>
            <a:off x="7693682" y="1250000"/>
            <a:ext cx="4234636" cy="1500000"/>
          </a:xfrm>
          <a:prstGeom prst="roundRect">
            <a:avLst>
              <a:gd name="adj" fmla="val 8000"/>
            </a:avLst>
          </a:prstGeom>
          <a:solidFill>
            <a:srgbClr val="F3F3F3"/>
          </a:solidFill>
          <a:ln>
            <a:noFill/>
          </a:ln>
        </p:spPr>
        <p:txBody>
          <a:bodyPr rtlCol="0" anchor="ctr"/>
          <a:lstStyle/>
          <a:p/>
        </p:txBody>
      </p:sp>
      <p:sp>
        <p:nvSpPr>
          <p:cNvPr id="7" name="TextBox 6"/>
          <p:cNvSpPr txBox="1"/>
          <p:nvPr/>
        </p:nvSpPr>
        <p:spPr>
          <a:xfrm>
            <a:off x="7693682" y="1250000"/>
            <a:ext cx="4234636" cy="1500000"/>
          </a:xfrm>
          <a:prstGeom prst="rect">
            <a:avLst/>
          </a:prstGeom>
          <a:noFill/>
        </p:spPr>
        <p:txBody>
          <a:bodyPr wrap="square" anchor="ctr">
            <a:spAutoFit/>
          </a:bodyPr>
          <a:lstStyle/>
          <a:p>
            <a:pPr algn="ctr">
              <a:spcAft>
                <a:spcPts val="200"/>
              </a:spcAft>
            </a:pPr>
            <a:r>
              <a:rPr sz="2600" b="1" i="0">
                <a:solidFill>
                  <a:srgbClr val="6B6B6B"/>
                </a:solidFill>
                <a:latin typeface="Arial"/>
              </a:rPr>
              <a:t>flat</a:t>
            </a:r>
          </a:p>
          <a:p>
            <a:pPr algn="ctr">
              <a:spcAft>
                <a:spcPts val="0"/>
              </a:spcAft>
            </a:pPr>
            <a:r>
              <a:rPr sz="1300" b="0" i="0">
                <a:solidFill>
                  <a:srgbClr val="6B6B6B"/>
                </a:solidFill>
                <a:latin typeface="Arial"/>
              </a:rPr>
              <a:t>DCGM memory</a:t>
            </a:r>
          </a:p>
        </p:txBody>
      </p:sp>
      <p:pic>
        <p:nvPicPr>
          <p:cNvPr id="8" name="Picture 7" descr="panel-6-wide.png"/>
          <p:cNvPicPr>
            <a:picLocks noChangeAspect="1"/>
          </p:cNvPicPr>
          <p:nvPr/>
        </p:nvPicPr>
        <p:blipFill>
          <a:blip r:embed="rId4"/>
          <a:stretch>
            <a:fillRect/>
          </a:stretch>
        </p:blipFill>
        <p:spPr>
          <a:xfrm>
            <a:off x="543682" y="2810000"/>
            <a:ext cx="7000000" cy="1500000"/>
          </a:xfrm>
          <a:prstGeom prst="rect">
            <a:avLst/>
          </a:prstGeom>
        </p:spPr>
      </p:pic>
      <p:sp>
        <p:nvSpPr>
          <p:cNvPr id="9" name="Rectangle 8"/>
          <p:cNvSpPr/>
          <p:nvPr/>
        </p:nvSpPr>
        <p:spPr>
          <a:xfrm>
            <a:off x="543682" y="2810000"/>
            <a:ext cx="7000000" cy="1500000"/>
          </a:xfrm>
          <a:prstGeom prst="rect">
            <a:avLst/>
          </a:prstGeom>
          <a:noFill/>
          <a:ln w="9525">
            <a:solidFill>
              <a:srgbClr val="DDDDDD"/>
            </a:solidFill>
          </a:ln>
        </p:spPr>
        <p:txBody>
          <a:bodyPr rtlCol="0" anchor="ctr"/>
          <a:lstStyle/>
          <a:p>
            <a:pPr algn="ctr"/>
          </a:p>
        </p:txBody>
      </p:sp>
      <p:sp>
        <p:nvSpPr>
          <p:cNvPr id="10" name="Rounded Rectangle 9"/>
          <p:cNvSpPr/>
          <p:nvPr/>
        </p:nvSpPr>
        <p:spPr>
          <a:xfrm>
            <a:off x="7693682" y="2810000"/>
            <a:ext cx="4234636" cy="1500000"/>
          </a:xfrm>
          <a:prstGeom prst="roundRect">
            <a:avLst>
              <a:gd name="adj" fmla="val 8000"/>
            </a:avLst>
          </a:prstGeom>
          <a:solidFill>
            <a:srgbClr val="F3F3F3"/>
          </a:solidFill>
          <a:ln>
            <a:noFill/>
          </a:ln>
        </p:spPr>
        <p:txBody>
          <a:bodyPr rtlCol="0" anchor="ctr"/>
          <a:lstStyle/>
          <a:p/>
        </p:txBody>
      </p:sp>
      <p:sp>
        <p:nvSpPr>
          <p:cNvPr id="11" name="TextBox 10"/>
          <p:cNvSpPr txBox="1"/>
          <p:nvPr/>
        </p:nvSpPr>
        <p:spPr>
          <a:xfrm>
            <a:off x="7693682" y="2810000"/>
            <a:ext cx="4234636" cy="1500000"/>
          </a:xfrm>
          <a:prstGeom prst="rect">
            <a:avLst/>
          </a:prstGeom>
          <a:noFill/>
        </p:spPr>
        <p:txBody>
          <a:bodyPr wrap="square" anchor="ctr">
            <a:spAutoFit/>
          </a:bodyPr>
          <a:lstStyle/>
          <a:p>
            <a:pPr algn="ctr">
              <a:spcAft>
                <a:spcPts val="200"/>
              </a:spcAft>
            </a:pPr>
            <a:r>
              <a:rPr sz="2600" b="1" i="0">
                <a:solidFill>
                  <a:srgbClr val="991346"/>
                </a:solidFill>
                <a:latin typeface="Arial"/>
              </a:rPr>
              <a:t>100%</a:t>
            </a:r>
          </a:p>
          <a:p>
            <a:pPr algn="ctr">
              <a:spcAft>
                <a:spcPts val="0"/>
              </a:spcAft>
            </a:pPr>
            <a:r>
              <a:rPr sz="1300" b="0" i="0">
                <a:solidFill>
                  <a:srgbClr val="6B6B6B"/>
                </a:solidFill>
                <a:latin typeface="Arial"/>
              </a:rPr>
              <a:t>KV cache (log)</a:t>
            </a:r>
          </a:p>
        </p:txBody>
      </p:sp>
      <p:pic>
        <p:nvPicPr>
          <p:cNvPr id="12" name="Picture 11" descr="panel-10-wide.png"/>
          <p:cNvPicPr>
            <a:picLocks noChangeAspect="1"/>
          </p:cNvPicPr>
          <p:nvPr/>
        </p:nvPicPr>
        <p:blipFill>
          <a:blip r:embed="rId5"/>
          <a:stretch>
            <a:fillRect/>
          </a:stretch>
        </p:blipFill>
        <p:spPr>
          <a:xfrm>
            <a:off x="543682" y="4370000"/>
            <a:ext cx="7000000" cy="1500000"/>
          </a:xfrm>
          <a:prstGeom prst="rect">
            <a:avLst/>
          </a:prstGeom>
        </p:spPr>
      </p:pic>
      <p:sp>
        <p:nvSpPr>
          <p:cNvPr id="13" name="Rectangle 12"/>
          <p:cNvSpPr/>
          <p:nvPr/>
        </p:nvSpPr>
        <p:spPr>
          <a:xfrm>
            <a:off x="543682" y="4370000"/>
            <a:ext cx="7000000" cy="1500000"/>
          </a:xfrm>
          <a:prstGeom prst="rect">
            <a:avLst/>
          </a:prstGeom>
          <a:noFill/>
          <a:ln w="9525">
            <a:solidFill>
              <a:srgbClr val="DDDDDD"/>
            </a:solidFill>
          </a:ln>
        </p:spPr>
        <p:txBody>
          <a:bodyPr rtlCol="0" anchor="ctr"/>
          <a:lstStyle/>
          <a:p>
            <a:pPr algn="ctr"/>
          </a:p>
        </p:txBody>
      </p:sp>
      <p:sp>
        <p:nvSpPr>
          <p:cNvPr id="14" name="Rounded Rectangle 13"/>
          <p:cNvSpPr/>
          <p:nvPr/>
        </p:nvSpPr>
        <p:spPr>
          <a:xfrm>
            <a:off x="7693682" y="4370000"/>
            <a:ext cx="4234636" cy="1500000"/>
          </a:xfrm>
          <a:prstGeom prst="roundRect">
            <a:avLst>
              <a:gd name="adj" fmla="val 8000"/>
            </a:avLst>
          </a:prstGeom>
          <a:solidFill>
            <a:srgbClr val="F3F3F3"/>
          </a:solidFill>
          <a:ln>
            <a:noFill/>
          </a:ln>
        </p:spPr>
        <p:txBody>
          <a:bodyPr rtlCol="0" anchor="ctr"/>
          <a:lstStyle/>
          <a:p/>
        </p:txBody>
      </p:sp>
      <p:sp>
        <p:nvSpPr>
          <p:cNvPr id="15" name="TextBox 14"/>
          <p:cNvSpPr txBox="1"/>
          <p:nvPr/>
        </p:nvSpPr>
        <p:spPr>
          <a:xfrm>
            <a:off x="7693682" y="4370000"/>
            <a:ext cx="4234636" cy="1500000"/>
          </a:xfrm>
          <a:prstGeom prst="rect">
            <a:avLst/>
          </a:prstGeom>
          <a:noFill/>
        </p:spPr>
        <p:txBody>
          <a:bodyPr wrap="square" anchor="ctr">
            <a:spAutoFit/>
          </a:bodyPr>
          <a:lstStyle/>
          <a:p>
            <a:pPr algn="ctr">
              <a:spcAft>
                <a:spcPts val="200"/>
              </a:spcAft>
            </a:pPr>
            <a:r>
              <a:rPr sz="1800" b="1" i="0">
                <a:solidFill>
                  <a:srgbClr val="C62828"/>
                </a:solidFill>
                <a:latin typeface="Arial"/>
              </a:rPr>
              <a:t>0.3 s to 4.8 s</a:t>
            </a:r>
          </a:p>
          <a:p>
            <a:pPr algn="ctr">
              <a:spcAft>
                <a:spcPts val="0"/>
              </a:spcAft>
            </a:pPr>
            <a:r>
              <a:rPr sz="1300" b="0" i="0">
                <a:solidFill>
                  <a:srgbClr val="6B6B6B"/>
                </a:solidFill>
                <a:latin typeface="Arial"/>
              </a:rPr>
              <a:t>queue time p95 (/metrics)</a:t>
            </a:r>
          </a:p>
        </p:txBody>
      </p:sp>
      <p:cxnSp>
        <p:nvCxnSpPr>
          <p:cNvPr id="16" name="Connector 15"/>
          <p:cNvCxnSpPr/>
          <p:nvPr/>
        </p:nvCxnSpPr>
        <p:spPr>
          <a:xfrm>
            <a:off x="2308093" y="1210000"/>
            <a:ext cx="0" cy="4700000"/>
          </a:xfrm>
          <a:prstGeom prst="line">
            <a:avLst/>
          </a:prstGeom>
          <a:ln w="31750">
            <a:solidFill>
              <a:srgbClr val="C62828"/>
            </a:solidFill>
            <a:prstDash val="dash"/>
          </a:ln>
        </p:spPr>
      </p:cxnSp>
      <p:sp>
        <p:nvSpPr>
          <p:cNvPr id="17" name="Rounded Rectangle 16"/>
          <p:cNvSpPr/>
          <p:nvPr/>
        </p:nvSpPr>
        <p:spPr>
          <a:xfrm>
            <a:off x="2388093" y="1310000"/>
            <a:ext cx="1350000" cy="300000"/>
          </a:xfrm>
          <a:prstGeom prst="roundRect">
            <a:avLst>
              <a:gd name="adj" fmla="val 50000"/>
            </a:avLst>
          </a:prstGeom>
          <a:solidFill>
            <a:srgbClr val="C62828"/>
          </a:solidFill>
          <a:ln>
            <a:noFill/>
          </a:ln>
        </p:spPr>
        <p:txBody>
          <a:bodyPr rtlCol="0" anchor="ctr" lIns="90000" rIns="90000" tIns="0" bIns="0"/>
          <a:lstStyle/>
          <a:p>
            <a:pPr algn="ctr"/>
            <a:r>
              <a:rPr sz="1100" b="1" i="0">
                <a:solidFill>
                  <a:srgbClr val="FFFFFF"/>
                </a:solidFill>
                <a:latin typeface="Arial"/>
              </a:rPr>
              <a:t>16:56  load hits</a:t>
            </a:r>
          </a:p>
        </p:txBody>
      </p:sp>
      <p:sp>
        <p:nvSpPr>
          <p:cNvPr id="18" name="Rounded Rectangle 17"/>
          <p:cNvSpPr/>
          <p:nvPr/>
        </p:nvSpPr>
        <p:spPr>
          <a:xfrm>
            <a:off x="403682" y="5930000"/>
            <a:ext cx="1650000" cy="460000"/>
          </a:xfrm>
          <a:prstGeom prst="roundRect">
            <a:avLst>
              <a:gd name="adj" fmla="val 50000"/>
            </a:avLst>
          </a:prstGeom>
          <a:solidFill>
            <a:srgbClr val="991346"/>
          </a:solidFill>
          <a:ln>
            <a:noFill/>
          </a:ln>
        </p:spPr>
        <p:txBody>
          <a:bodyPr rtlCol="0" anchor="ctr" lIns="90000" rIns="90000" tIns="0" bIns="0"/>
          <a:lstStyle/>
          <a:p>
            <a:pPr algn="ctr"/>
            <a:r>
              <a:rPr sz="2000" b="1" i="0">
                <a:solidFill>
                  <a:srgbClr val="FFFFFF"/>
                </a:solidFill>
                <a:latin typeface="Arial"/>
              </a:rPr>
              <a:t>Opened.</a:t>
            </a:r>
          </a:p>
        </p:txBody>
      </p:sp>
      <p:sp>
        <p:nvSpPr>
          <p:cNvPr id="19" name="TextBox 18"/>
          <p:cNvSpPr txBox="1"/>
          <p:nvPr/>
        </p:nvSpPr>
        <p:spPr>
          <a:xfrm>
            <a:off x="2203682" y="5930000"/>
            <a:ext cx="9584636" cy="460000"/>
          </a:xfrm>
          <a:prstGeom prst="rect">
            <a:avLst/>
          </a:prstGeom>
          <a:noFill/>
        </p:spPr>
        <p:txBody>
          <a:bodyPr wrap="square" anchor="ctr">
            <a:spAutoFit/>
          </a:bodyPr>
          <a:lstStyle/>
          <a:p>
            <a:pPr algn="l">
              <a:spcAft>
                <a:spcPts val="0"/>
              </a:spcAft>
            </a:pPr>
            <a:r>
              <a:rPr sz="1800" b="1" i="0">
                <a:solidFill>
                  <a:srgbClr val="991346"/>
                </a:solidFill>
                <a:latin typeface="Arial"/>
              </a:rPr>
              <a:t>No new agent, no vendor, no eBPF. Just the pod name on every signal.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7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What silently broke along the way.</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EKS Auto Mode GPU support: docs.aws.amazon.com/eks/latest/userguide/device-management-nvidia-dra-device-plugin.html. Two more gotchas (Fluent Bit Kube_Tag_Prefix, 1-GPU RollingUpdate) in the repo README.</a:t>
            </a:r>
          </a:p>
        </p:txBody>
      </p:sp>
      <p:sp>
        <p:nvSpPr>
          <p:cNvPr id="4" name="Rounded Rectangle 3"/>
          <p:cNvSpPr/>
          <p:nvPr/>
        </p:nvSpPr>
        <p:spPr>
          <a:xfrm>
            <a:off x="403682" y="1550000"/>
            <a:ext cx="3594878" cy="2600000"/>
          </a:xfrm>
          <a:prstGeom prst="roundRect">
            <a:avLst>
              <a:gd name="adj" fmla="val 8000"/>
            </a:avLst>
          </a:prstGeom>
          <a:solidFill>
            <a:srgbClr val="F3F3F3"/>
          </a:solidFill>
          <a:ln>
            <a:noFill/>
          </a:ln>
        </p:spPr>
        <p:txBody>
          <a:bodyPr rtlCol="0" anchor="ctr"/>
          <a:lstStyle/>
          <a:p/>
        </p:txBody>
      </p:sp>
      <p:sp>
        <p:nvSpPr>
          <p:cNvPr id="5" name="TextBox 4"/>
          <p:cNvSpPr txBox="1"/>
          <p:nvPr/>
        </p:nvSpPr>
        <p:spPr>
          <a:xfrm>
            <a:off x="463682" y="1610000"/>
            <a:ext cx="3474878" cy="2480000"/>
          </a:xfrm>
          <a:prstGeom prst="rect">
            <a:avLst/>
          </a:prstGeom>
          <a:noFill/>
        </p:spPr>
        <p:txBody>
          <a:bodyPr wrap="square" anchor="t" lIns="120000" rIns="120000">
            <a:spAutoFit/>
          </a:bodyPr>
          <a:lstStyle/>
          <a:p>
            <a:pPr algn="l">
              <a:spcAft>
                <a:spcPts val="800"/>
              </a:spcAft>
            </a:pPr>
            <a:r>
              <a:rPr sz="2200" b="1" i="0">
                <a:solidFill>
                  <a:srgbClr val="6B6B6B"/>
                </a:solidFill>
                <a:latin typeface="Arial"/>
              </a:rPr>
              <a:t>What we expected</a:t>
            </a:r>
          </a:p>
          <a:p>
            <a:pPr algn="l">
              <a:spcAft>
                <a:spcPts val="0"/>
              </a:spcAft>
            </a:pPr>
            <a:r>
              <a:rPr sz="1800" b="0" i="0">
                <a:solidFill>
                  <a:srgbClr val="262626"/>
                </a:solidFill>
                <a:latin typeface="Arial"/>
              </a:rPr>
              <a:t>Every DCGM how-to assumes the GPU Operator. Check your platform's driver model before you follow one.</a:t>
            </a:r>
          </a:p>
        </p:txBody>
      </p:sp>
      <p:sp>
        <p:nvSpPr>
          <p:cNvPr id="6" name="Rounded Rectangle 5"/>
          <p:cNvSpPr/>
          <p:nvPr/>
        </p:nvSpPr>
        <p:spPr>
          <a:xfrm>
            <a:off x="1001121" y="3530000"/>
            <a:ext cx="2400000" cy="460000"/>
          </a:xfrm>
          <a:prstGeom prst="roundRect">
            <a:avLst>
              <a:gd name="adj" fmla="val 50000"/>
            </a:avLst>
          </a:prstGeom>
          <a:solidFill>
            <a:srgbClr val="FFFFFF"/>
          </a:solidFill>
          <a:ln w="12700">
            <a:solidFill>
              <a:srgbClr val="DDDDDD"/>
            </a:solidFill>
          </a:ln>
        </p:spPr>
        <p:txBody>
          <a:bodyPr rtlCol="0" anchor="ctr" lIns="90000" rIns="90000" tIns="0" bIns="0"/>
          <a:lstStyle/>
          <a:p>
            <a:pPr algn="ctr"/>
            <a:r>
              <a:rPr sz="1600" b="1" i="0">
                <a:solidFill>
                  <a:srgbClr val="262626"/>
                </a:solidFill>
                <a:latin typeface="Arial"/>
              </a:rPr>
              <a:t>GPU Operator</a:t>
            </a:r>
          </a:p>
        </p:txBody>
      </p:sp>
      <p:cxnSp>
        <p:nvCxnSpPr>
          <p:cNvPr id="7" name="Connector 6"/>
          <p:cNvCxnSpPr/>
          <p:nvPr/>
        </p:nvCxnSpPr>
        <p:spPr>
          <a:xfrm flipV="1">
            <a:off x="1001121" y="3570000"/>
            <a:ext cx="2400000" cy="380000"/>
          </a:xfrm>
          <a:prstGeom prst="line">
            <a:avLst/>
          </a:prstGeom>
          <a:ln w="38100">
            <a:solidFill>
              <a:srgbClr val="C62828"/>
            </a:solidFill>
          </a:ln>
        </p:spPr>
      </p:cxnSp>
      <p:cxnSp>
        <p:nvCxnSpPr>
          <p:cNvPr id="8" name="Connector 7"/>
          <p:cNvCxnSpPr/>
          <p:nvPr/>
        </p:nvCxnSpPr>
        <p:spPr>
          <a:xfrm>
            <a:off x="4038560" y="2850000"/>
            <a:ext cx="220000" cy="0"/>
          </a:xfrm>
          <a:prstGeom prst="line">
            <a:avLst/>
          </a:prstGeom>
          <a:ln w="31750">
            <a:solidFill>
              <a:srgbClr val="6B6B6B"/>
            </a:solidFill>
            <a:tailEnd type="triangle" w="med" len="med"/>
          </a:ln>
        </p:spPr>
      </p:cxnSp>
      <p:sp>
        <p:nvSpPr>
          <p:cNvPr id="9" name="Rounded Rectangle 8"/>
          <p:cNvSpPr/>
          <p:nvPr/>
        </p:nvSpPr>
        <p:spPr>
          <a:xfrm>
            <a:off x="4298560" y="1550000"/>
            <a:ext cx="3594878" cy="2600000"/>
          </a:xfrm>
          <a:prstGeom prst="roundRect">
            <a:avLst>
              <a:gd name="adj" fmla="val 8000"/>
            </a:avLst>
          </a:prstGeom>
          <a:solidFill>
            <a:srgbClr val="FBE5E5"/>
          </a:solidFill>
          <a:ln>
            <a:noFill/>
          </a:ln>
        </p:spPr>
        <p:txBody>
          <a:bodyPr rtlCol="0" anchor="ctr"/>
          <a:lstStyle/>
          <a:p/>
        </p:txBody>
      </p:sp>
      <p:sp>
        <p:nvSpPr>
          <p:cNvPr id="10" name="TextBox 9"/>
          <p:cNvSpPr txBox="1"/>
          <p:nvPr/>
        </p:nvSpPr>
        <p:spPr>
          <a:xfrm>
            <a:off x="4358560" y="1610000"/>
            <a:ext cx="3474878" cy="2480000"/>
          </a:xfrm>
          <a:prstGeom prst="rect">
            <a:avLst/>
          </a:prstGeom>
          <a:noFill/>
        </p:spPr>
        <p:txBody>
          <a:bodyPr wrap="square" anchor="t" lIns="120000" rIns="120000">
            <a:spAutoFit/>
          </a:bodyPr>
          <a:lstStyle/>
          <a:p>
            <a:pPr algn="l">
              <a:spcAft>
                <a:spcPts val="800"/>
              </a:spcAft>
            </a:pPr>
            <a:r>
              <a:rPr sz="2200" b="1" i="0">
                <a:solidFill>
                  <a:srgbClr val="C62828"/>
                </a:solidFill>
                <a:latin typeface="Arial"/>
              </a:rPr>
              <a:t>What happened</a:t>
            </a:r>
          </a:p>
          <a:p>
            <a:pPr algn="l">
              <a:spcAft>
                <a:spcPts val="0"/>
              </a:spcAft>
            </a:pPr>
            <a:r>
              <a:rPr sz="1800" b="0" i="0">
                <a:solidFill>
                  <a:srgbClr val="262626"/>
                </a:solidFill>
                <a:latin typeface="Arial"/>
              </a:rPr>
              <a:t>EKS Auto Mode supports neither the GPU Operator nor the NVIDIA DRA driver. Drivers and device plugin ship with the AMI.</a:t>
            </a:r>
          </a:p>
        </p:txBody>
      </p:sp>
      <p:cxnSp>
        <p:nvCxnSpPr>
          <p:cNvPr id="11" name="Connector 10"/>
          <p:cNvCxnSpPr/>
          <p:nvPr/>
        </p:nvCxnSpPr>
        <p:spPr>
          <a:xfrm>
            <a:off x="7933438" y="2850000"/>
            <a:ext cx="220000" cy="0"/>
          </a:xfrm>
          <a:prstGeom prst="line">
            <a:avLst/>
          </a:prstGeom>
          <a:ln w="31750">
            <a:solidFill>
              <a:srgbClr val="6B6B6B"/>
            </a:solidFill>
            <a:tailEnd type="triangle" w="med" len="med"/>
          </a:ln>
        </p:spPr>
      </p:cxnSp>
      <p:sp>
        <p:nvSpPr>
          <p:cNvPr id="12" name="Rounded Rectangle 11"/>
          <p:cNvSpPr/>
          <p:nvPr/>
        </p:nvSpPr>
        <p:spPr>
          <a:xfrm>
            <a:off x="8193438" y="1550000"/>
            <a:ext cx="3594878" cy="2600000"/>
          </a:xfrm>
          <a:prstGeom prst="roundRect">
            <a:avLst>
              <a:gd name="adj" fmla="val 8000"/>
            </a:avLst>
          </a:prstGeom>
          <a:solidFill>
            <a:srgbClr val="E3F1E4"/>
          </a:solidFill>
          <a:ln>
            <a:noFill/>
          </a:ln>
        </p:spPr>
        <p:txBody>
          <a:bodyPr rtlCol="0" anchor="ctr"/>
          <a:lstStyle/>
          <a:p/>
        </p:txBody>
      </p:sp>
      <p:sp>
        <p:nvSpPr>
          <p:cNvPr id="13" name="TextBox 12"/>
          <p:cNvSpPr txBox="1"/>
          <p:nvPr/>
        </p:nvSpPr>
        <p:spPr>
          <a:xfrm>
            <a:off x="8253438" y="1610000"/>
            <a:ext cx="3474878" cy="2480000"/>
          </a:xfrm>
          <a:prstGeom prst="rect">
            <a:avLst/>
          </a:prstGeom>
          <a:noFill/>
        </p:spPr>
        <p:txBody>
          <a:bodyPr wrap="square" anchor="t" lIns="120000" rIns="120000">
            <a:spAutoFit/>
          </a:bodyPr>
          <a:lstStyle/>
          <a:p>
            <a:pPr algn="l">
              <a:spcAft>
                <a:spcPts val="800"/>
              </a:spcAft>
            </a:pPr>
            <a:r>
              <a:rPr sz="2200" b="1" i="0">
                <a:solidFill>
                  <a:srgbClr val="2E7D32"/>
                </a:solidFill>
                <a:latin typeface="Arial"/>
              </a:rPr>
              <a:t>Fix</a:t>
            </a:r>
          </a:p>
          <a:p>
            <a:pPr algn="l">
              <a:spcAft>
                <a:spcPts val="0"/>
              </a:spcAft>
            </a:pPr>
            <a:r>
              <a:rPr sz="1800" b="0" i="0">
                <a:solidFill>
                  <a:srgbClr val="262626"/>
                </a:solidFill>
                <a:latin typeface="Arial"/>
              </a:rPr>
              <a:t>Standalone dcgm-exporter DaemonSet, pod-resources hostPath, SYS_ADMIN. Seven counters.</a:t>
            </a:r>
          </a:p>
        </p:txBody>
      </p:sp>
      <p:sp>
        <p:nvSpPr>
          <p:cNvPr id="14" name="TextBox 13"/>
          <p:cNvSpPr txBox="1"/>
          <p:nvPr/>
        </p:nvSpPr>
        <p:spPr>
          <a:xfrm>
            <a:off x="403682" y="4550000"/>
            <a:ext cx="11384636" cy="1200000"/>
          </a:xfrm>
          <a:prstGeom prst="rect">
            <a:avLst/>
          </a:prstGeom>
          <a:noFill/>
        </p:spPr>
        <p:txBody>
          <a:bodyPr wrap="square" anchor="t">
            <a:spAutoFit/>
          </a:bodyPr>
          <a:lstStyle/>
          <a:p>
            <a:pPr algn="l">
              <a:spcAft>
                <a:spcPts val="0"/>
              </a:spcAft>
            </a:pPr>
            <a:r>
              <a:rPr sz="1500" b="0" i="0">
                <a:solidFill>
                  <a:srgbClr val="6B6B6B"/>
                </a:solidFill>
                <a:latin typeface="Arial"/>
              </a:rPr>
              <a:t>Also in the repo: Fluent Bit Kube_Tag_Prefix must match the tail tag or the join key arrives empty; a 1-GPU pod on a 2-GPU NodePool never finishes a RollingUpdate, use Recreate.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The join key is moving into the router.</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llm-d on AWS: aws.amazon.com/blogs/machine-learning/introducing-disaggregated-inference-on-aws-powered-by-llm-d. Gateway API Inference Extension: github.com/kubernetes-sigs/gateway-api-inference-extension.</a:t>
            </a:r>
          </a:p>
        </p:txBody>
      </p:sp>
      <p:sp>
        <p:nvSpPr>
          <p:cNvPr id="4" name="Rounded Rectangle 3"/>
          <p:cNvSpPr/>
          <p:nvPr/>
        </p:nvSpPr>
        <p:spPr>
          <a:xfrm>
            <a:off x="403682" y="1850000"/>
            <a:ext cx="3594878" cy="2600000"/>
          </a:xfrm>
          <a:prstGeom prst="roundRect">
            <a:avLst>
              <a:gd name="adj" fmla="val 8000"/>
            </a:avLst>
          </a:prstGeom>
          <a:solidFill>
            <a:srgbClr val="F3F3F3"/>
          </a:solidFill>
          <a:ln>
            <a:noFill/>
          </a:ln>
        </p:spPr>
        <p:txBody>
          <a:bodyPr rtlCol="0" anchor="ctr"/>
          <a:lstStyle/>
          <a:p/>
        </p:txBody>
      </p:sp>
      <p:sp>
        <p:nvSpPr>
          <p:cNvPr id="5" name="TextBox 4"/>
          <p:cNvSpPr txBox="1"/>
          <p:nvPr/>
        </p:nvSpPr>
        <p:spPr>
          <a:xfrm>
            <a:off x="483682" y="1850000"/>
            <a:ext cx="3434878" cy="2600000"/>
          </a:xfrm>
          <a:prstGeom prst="rect">
            <a:avLst/>
          </a:prstGeom>
          <a:noFill/>
        </p:spPr>
        <p:txBody>
          <a:bodyPr wrap="square" anchor="ctr" lIns="120000" rIns="120000">
            <a:spAutoFit/>
          </a:bodyPr>
          <a:lstStyle/>
          <a:p>
            <a:pPr algn="ctr">
              <a:spcAft>
                <a:spcPts val="1000"/>
              </a:spcAft>
            </a:pPr>
            <a:r>
              <a:rPr sz="2600" b="1" i="0">
                <a:solidFill>
                  <a:srgbClr val="262626"/>
                </a:solidFill>
                <a:latin typeface="Arial"/>
              </a:rPr>
              <a:t>Today: join in Grafana</a:t>
            </a:r>
          </a:p>
          <a:p>
            <a:pPr algn="ctr">
              <a:spcAft>
                <a:spcPts val="400"/>
              </a:spcAft>
            </a:pPr>
            <a:r>
              <a:rPr sz="1600" b="0" i="0">
                <a:solidFill>
                  <a:srgbClr val="6B6B6B"/>
                </a:solidFill>
                <a:latin typeface="Arial"/>
              </a:rPr>
              <a:t>one pod, one request</a:t>
            </a:r>
          </a:p>
          <a:p>
            <a:pPr algn="ctr">
              <a:spcAft>
                <a:spcPts val="0"/>
              </a:spcAft>
            </a:pPr>
            <a:r>
              <a:rPr sz="1400" b="0" i="0">
                <a:solidFill>
                  <a:srgbClr val="6B6B6B"/>
                </a:solidFill>
                <a:latin typeface="Courier New"/>
              </a:rPr>
              <a:t>PromQL on pod_name</a:t>
            </a:r>
          </a:p>
        </p:txBody>
      </p:sp>
      <p:cxnSp>
        <p:nvCxnSpPr>
          <p:cNvPr id="6" name="Connector 5"/>
          <p:cNvCxnSpPr/>
          <p:nvPr/>
        </p:nvCxnSpPr>
        <p:spPr>
          <a:xfrm>
            <a:off x="4038560" y="3150000"/>
            <a:ext cx="220000" cy="0"/>
          </a:xfrm>
          <a:prstGeom prst="line">
            <a:avLst/>
          </a:prstGeom>
          <a:ln w="38100">
            <a:solidFill>
              <a:srgbClr val="991346"/>
            </a:solidFill>
            <a:tailEnd type="triangle" w="med" len="med"/>
          </a:ln>
        </p:spPr>
      </p:cxnSp>
      <p:sp>
        <p:nvSpPr>
          <p:cNvPr id="7" name="Rounded Rectangle 6"/>
          <p:cNvSpPr/>
          <p:nvPr/>
        </p:nvSpPr>
        <p:spPr>
          <a:xfrm>
            <a:off x="4298560" y="1850000"/>
            <a:ext cx="3594878" cy="2600000"/>
          </a:xfrm>
          <a:prstGeom prst="roundRect">
            <a:avLst>
              <a:gd name="adj" fmla="val 8000"/>
            </a:avLst>
          </a:prstGeom>
          <a:solidFill>
            <a:srgbClr val="F6E3EA"/>
          </a:solidFill>
          <a:ln>
            <a:noFill/>
          </a:ln>
        </p:spPr>
        <p:txBody>
          <a:bodyPr rtlCol="0" anchor="ctr"/>
          <a:lstStyle/>
          <a:p/>
        </p:txBody>
      </p:sp>
      <p:sp>
        <p:nvSpPr>
          <p:cNvPr id="8" name="TextBox 7"/>
          <p:cNvSpPr txBox="1"/>
          <p:nvPr/>
        </p:nvSpPr>
        <p:spPr>
          <a:xfrm>
            <a:off x="4378560" y="1850000"/>
            <a:ext cx="3434878" cy="2600000"/>
          </a:xfrm>
          <a:prstGeom prst="rect">
            <a:avLst/>
          </a:prstGeom>
          <a:noFill/>
        </p:spPr>
        <p:txBody>
          <a:bodyPr wrap="square" anchor="ctr" lIns="120000" rIns="120000">
            <a:spAutoFit/>
          </a:bodyPr>
          <a:lstStyle/>
          <a:p>
            <a:pPr algn="ctr">
              <a:spcAft>
                <a:spcPts val="1000"/>
              </a:spcAft>
            </a:pPr>
            <a:r>
              <a:rPr sz="2600" b="1" i="0">
                <a:solidFill>
                  <a:srgbClr val="991346"/>
                </a:solidFill>
                <a:latin typeface="Arial"/>
              </a:rPr>
              <a:t>Next: join key = request id + pod</a:t>
            </a:r>
          </a:p>
          <a:p>
            <a:pPr algn="ctr">
              <a:spcAft>
                <a:spcPts val="400"/>
              </a:spcAft>
            </a:pPr>
            <a:r>
              <a:rPr sz="1600" b="0" i="0">
                <a:solidFill>
                  <a:srgbClr val="991346"/>
                </a:solidFill>
                <a:latin typeface="Arial"/>
              </a:rPr>
              <a:t>prefill and decode on different pods</a:t>
            </a:r>
          </a:p>
          <a:p>
            <a:pPr algn="ctr">
              <a:spcAft>
                <a:spcPts val="0"/>
              </a:spcAft>
            </a:pPr>
            <a:r>
              <a:rPr sz="1400" b="0" i="0">
                <a:solidFill>
                  <a:srgbClr val="991346"/>
                </a:solidFill>
                <a:latin typeface="Courier New"/>
              </a:rPr>
              <a:t>llm-d, NVIDIA Dynamo</a:t>
            </a:r>
          </a:p>
        </p:txBody>
      </p:sp>
      <p:cxnSp>
        <p:nvCxnSpPr>
          <p:cNvPr id="9" name="Connector 8"/>
          <p:cNvCxnSpPr/>
          <p:nvPr/>
        </p:nvCxnSpPr>
        <p:spPr>
          <a:xfrm>
            <a:off x="7933438" y="3150000"/>
            <a:ext cx="220000" cy="0"/>
          </a:xfrm>
          <a:prstGeom prst="line">
            <a:avLst/>
          </a:prstGeom>
          <a:ln w="38100">
            <a:solidFill>
              <a:srgbClr val="991346"/>
            </a:solidFill>
            <a:tailEnd type="triangle" w="med" len="med"/>
          </a:ln>
        </p:spPr>
      </p:cxnSp>
      <p:sp>
        <p:nvSpPr>
          <p:cNvPr id="10" name="Rounded Rectangle 9"/>
          <p:cNvSpPr/>
          <p:nvPr/>
        </p:nvSpPr>
        <p:spPr>
          <a:xfrm>
            <a:off x="8193438" y="1850000"/>
            <a:ext cx="3594878" cy="2600000"/>
          </a:xfrm>
          <a:prstGeom prst="roundRect">
            <a:avLst>
              <a:gd name="adj" fmla="val 8000"/>
            </a:avLst>
          </a:prstGeom>
          <a:solidFill>
            <a:srgbClr val="991346"/>
          </a:solidFill>
          <a:ln>
            <a:noFill/>
          </a:ln>
        </p:spPr>
        <p:txBody>
          <a:bodyPr rtlCol="0" anchor="ctr"/>
          <a:lstStyle/>
          <a:p/>
        </p:txBody>
      </p:sp>
      <p:sp>
        <p:nvSpPr>
          <p:cNvPr id="11" name="TextBox 10"/>
          <p:cNvSpPr txBox="1"/>
          <p:nvPr/>
        </p:nvSpPr>
        <p:spPr>
          <a:xfrm>
            <a:off x="8273438" y="1850000"/>
            <a:ext cx="3434878" cy="2600000"/>
          </a:xfrm>
          <a:prstGeom prst="rect">
            <a:avLst/>
          </a:prstGeom>
          <a:noFill/>
        </p:spPr>
        <p:txBody>
          <a:bodyPr wrap="square" anchor="ctr" lIns="120000" rIns="120000">
            <a:spAutoFit/>
          </a:bodyPr>
          <a:lstStyle/>
          <a:p>
            <a:pPr algn="ctr">
              <a:spcAft>
                <a:spcPts val="1000"/>
              </a:spcAft>
            </a:pPr>
            <a:r>
              <a:rPr sz="2600" b="1" i="0">
                <a:solidFill>
                  <a:srgbClr val="FFFFFF"/>
                </a:solidFill>
                <a:latin typeface="Arial"/>
              </a:rPr>
              <a:t>Then: router consumes the join</a:t>
            </a:r>
          </a:p>
          <a:p>
            <a:pPr algn="ctr">
              <a:spcAft>
                <a:spcPts val="400"/>
              </a:spcAft>
            </a:pPr>
            <a:r>
              <a:rPr sz="1600" b="0" i="0">
                <a:solidFill>
                  <a:srgbClr val="FFFFFF"/>
                </a:solidFill>
                <a:latin typeface="Arial"/>
              </a:rPr>
              <a:t>routes on queue depth and KV cache</a:t>
            </a:r>
          </a:p>
          <a:p>
            <a:pPr algn="ctr">
              <a:spcAft>
                <a:spcPts val="0"/>
              </a:spcAft>
            </a:pPr>
            <a:r>
              <a:rPr sz="1400" b="0" i="0">
                <a:solidFill>
                  <a:srgbClr val="FFFFFF"/>
                </a:solidFill>
                <a:latin typeface="Courier New"/>
              </a:rPr>
              <a:t>Gateway API Inference Extension</a:t>
            </a:r>
          </a:p>
        </p:txBody>
      </p:sp>
      <p:sp>
        <p:nvSpPr>
          <p:cNvPr id="12" name="Rounded Rectangle 11"/>
          <p:cNvSpPr/>
          <p:nvPr/>
        </p:nvSpPr>
        <p:spPr>
          <a:xfrm>
            <a:off x="403682" y="4800000"/>
            <a:ext cx="1900000" cy="480000"/>
          </a:xfrm>
          <a:prstGeom prst="roundRect">
            <a:avLst>
              <a:gd name="adj" fmla="val 50000"/>
            </a:avLst>
          </a:prstGeom>
          <a:solidFill>
            <a:srgbClr val="F3F3F3"/>
          </a:solidFill>
          <a:ln>
            <a:noFill/>
          </a:ln>
        </p:spPr>
        <p:txBody>
          <a:bodyPr rtlCol="0" anchor="ctr" lIns="90000" rIns="90000" tIns="0" bIns="0"/>
          <a:lstStyle/>
          <a:p>
            <a:pPr algn="ctr"/>
            <a:r>
              <a:rPr sz="1800" b="1" i="0">
                <a:solidFill>
                  <a:srgbClr val="991346"/>
                </a:solidFill>
                <a:latin typeface="Courier New"/>
              </a:rPr>
              <a:t>join key</a:t>
            </a:r>
          </a:p>
        </p:txBody>
      </p:sp>
      <p:cxnSp>
        <p:nvCxnSpPr>
          <p:cNvPr id="13" name="Connector 12"/>
          <p:cNvCxnSpPr/>
          <p:nvPr/>
        </p:nvCxnSpPr>
        <p:spPr>
          <a:xfrm>
            <a:off x="2453682" y="5040000"/>
            <a:ext cx="9234636" cy="0"/>
          </a:xfrm>
          <a:prstGeom prst="line">
            <a:avLst/>
          </a:prstGeom>
          <a:ln w="38100">
            <a:solidFill>
              <a:srgbClr val="991346"/>
            </a:solidFill>
            <a:tailEnd type="triangle" w="med" len="med"/>
          </a:ln>
        </p:spPr>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0"/>
            <a:ext cx="8900000" cy="973013"/>
          </a:xfrm>
          <a:prstGeom prst="rect">
            <a:avLst/>
          </a:prstGeom>
          <a:noFill/>
        </p:spPr>
        <p:txBody>
          <a:bodyPr wrap="square" anchor="ctr">
            <a:spAutoFit/>
          </a:bodyPr>
          <a:lstStyle/>
          <a:p>
            <a:pPr algn="l">
              <a:spcAft>
                <a:spcPts val="0"/>
              </a:spcAft>
            </a:pPr>
            <a:r>
              <a:rPr sz="3000" b="1" i="0">
                <a:solidFill>
                  <a:srgbClr val="FFFFFF"/>
                </a:solidFill>
                <a:latin typeface="Arial"/>
              </a:rPr>
              <a:t>Steal this for your cluster.</a:t>
            </a:r>
          </a:p>
        </p:txBody>
      </p:sp>
      <p:sp>
        <p:nvSpPr>
          <p:cNvPr id="3" name="TextBox 2"/>
          <p:cNvSpPr txBox="1"/>
          <p:nvPr/>
        </p:nvSpPr>
        <p:spPr>
          <a:xfrm>
            <a:off x="403682" y="6400000"/>
            <a:ext cx="11384636" cy="380000"/>
          </a:xfrm>
          <a:prstGeom prst="rect">
            <a:avLst/>
          </a:prstGeom>
          <a:noFill/>
        </p:spPr>
        <p:txBody>
          <a:bodyPr wrap="square" anchor="t">
            <a:spAutoFit/>
          </a:bodyPr>
          <a:lstStyle/>
          <a:p>
            <a:pPr algn="l">
              <a:spcAft>
                <a:spcPts val="0"/>
              </a:spcAft>
            </a:pPr>
            <a:r>
              <a:rPr sz="1000" b="0" i="0">
                <a:solidFill>
                  <a:srgbClr val="6B6B6B"/>
                </a:solidFill>
                <a:latin typeface="Arial"/>
              </a:rPr>
              <a:t>Reproduced clean-room on EKS Auto Mode; all configs in the repo.</a:t>
            </a:r>
          </a:p>
        </p:txBody>
      </p:sp>
      <p:sp>
        <p:nvSpPr>
          <p:cNvPr id="4" name="Rounded Rectangle 3"/>
          <p:cNvSpPr/>
          <p:nvPr/>
        </p:nvSpPr>
        <p:spPr>
          <a:xfrm>
            <a:off x="403682" y="1250000"/>
            <a:ext cx="3594878" cy="4300000"/>
          </a:xfrm>
          <a:prstGeom prst="roundRect">
            <a:avLst>
              <a:gd name="adj" fmla="val 8000"/>
            </a:avLst>
          </a:prstGeom>
          <a:solidFill>
            <a:srgbClr val="F3F3F3"/>
          </a:solidFill>
          <a:ln>
            <a:noFill/>
          </a:ln>
        </p:spPr>
        <p:txBody>
          <a:bodyPr rtlCol="0" anchor="ctr"/>
          <a:lstStyle/>
          <a:p/>
        </p:txBody>
      </p:sp>
      <p:sp>
        <p:nvSpPr>
          <p:cNvPr id="5" name="TextBox 4"/>
          <p:cNvSpPr txBox="1"/>
          <p:nvPr/>
        </p:nvSpPr>
        <p:spPr>
          <a:xfrm>
            <a:off x="403682" y="1350000"/>
            <a:ext cx="3594878" cy="900000"/>
          </a:xfrm>
          <a:prstGeom prst="rect">
            <a:avLst/>
          </a:prstGeom>
          <a:noFill/>
        </p:spPr>
        <p:txBody>
          <a:bodyPr wrap="square" anchor="ctr">
            <a:spAutoFit/>
          </a:bodyPr>
          <a:lstStyle/>
          <a:p>
            <a:pPr algn="ctr">
              <a:spcAft>
                <a:spcPts val="0"/>
              </a:spcAft>
            </a:pPr>
            <a:r>
              <a:rPr sz="4000" b="1" i="0">
                <a:solidFill>
                  <a:srgbClr val="991346"/>
                </a:solidFill>
                <a:latin typeface="Arial"/>
              </a:rPr>
              <a:t>3 counters</a:t>
            </a:r>
          </a:p>
        </p:txBody>
      </p:sp>
      <p:sp>
        <p:nvSpPr>
          <p:cNvPr id="6" name="Rounded Rectangle 5"/>
          <p:cNvSpPr/>
          <p:nvPr/>
        </p:nvSpPr>
        <p:spPr>
          <a:xfrm>
            <a:off x="553682" y="2400000"/>
            <a:ext cx="3294878" cy="850000"/>
          </a:xfrm>
          <a:prstGeom prst="roundRect">
            <a:avLst>
              <a:gd name="adj" fmla="val 8000"/>
            </a:avLst>
          </a:prstGeom>
          <a:solidFill>
            <a:srgbClr val="FFFFFF"/>
          </a:solidFill>
          <a:ln>
            <a:noFill/>
          </a:ln>
        </p:spPr>
        <p:txBody>
          <a:bodyPr rtlCol="0" anchor="ctr"/>
          <a:lstStyle/>
          <a:p/>
        </p:txBody>
      </p:sp>
      <p:sp>
        <p:nvSpPr>
          <p:cNvPr id="7" name="TextBox 6"/>
          <p:cNvSpPr txBox="1"/>
          <p:nvPr/>
        </p:nvSpPr>
        <p:spPr>
          <a:xfrm>
            <a:off x="553682" y="2400000"/>
            <a:ext cx="3294878" cy="850000"/>
          </a:xfrm>
          <a:prstGeom prst="rect">
            <a:avLst/>
          </a:prstGeom>
          <a:noFill/>
        </p:spPr>
        <p:txBody>
          <a:bodyPr wrap="square" anchor="ctr">
            <a:spAutoFit/>
          </a:bodyPr>
          <a:lstStyle/>
          <a:p>
            <a:pPr algn="ctr">
              <a:spcAft>
                <a:spcPts val="0"/>
              </a:spcAft>
            </a:pPr>
            <a:r>
              <a:rPr sz="1600" b="1" i="0">
                <a:solidFill>
                  <a:srgbClr val="262626"/>
                </a:solidFill>
                <a:latin typeface="Courier New"/>
              </a:rPr>
              <a:t>DCGM_FI_PROF_SM_ACTIVE</a:t>
            </a:r>
          </a:p>
          <a:p>
            <a:pPr algn="ctr">
              <a:spcAft>
                <a:spcPts val="0"/>
              </a:spcAft>
            </a:pPr>
            <a:r>
              <a:rPr sz="1400" b="0" i="0">
                <a:solidFill>
                  <a:srgbClr val="6B6B6B"/>
                </a:solidFill>
                <a:latin typeface="Arial"/>
              </a:rPr>
              <a:t>instead of GPU_UTIL</a:t>
            </a:r>
          </a:p>
        </p:txBody>
      </p:sp>
      <p:sp>
        <p:nvSpPr>
          <p:cNvPr id="8" name="Rounded Rectangle 7"/>
          <p:cNvSpPr/>
          <p:nvPr/>
        </p:nvSpPr>
        <p:spPr>
          <a:xfrm>
            <a:off x="553682" y="3400000"/>
            <a:ext cx="3294878" cy="850000"/>
          </a:xfrm>
          <a:prstGeom prst="roundRect">
            <a:avLst>
              <a:gd name="adj" fmla="val 8000"/>
            </a:avLst>
          </a:prstGeom>
          <a:solidFill>
            <a:srgbClr val="FFFFFF"/>
          </a:solidFill>
          <a:ln>
            <a:noFill/>
          </a:ln>
        </p:spPr>
        <p:txBody>
          <a:bodyPr rtlCol="0" anchor="ctr"/>
          <a:lstStyle/>
          <a:p/>
        </p:txBody>
      </p:sp>
      <p:sp>
        <p:nvSpPr>
          <p:cNvPr id="9" name="TextBox 8"/>
          <p:cNvSpPr txBox="1"/>
          <p:nvPr/>
        </p:nvSpPr>
        <p:spPr>
          <a:xfrm>
            <a:off x="553682" y="3400000"/>
            <a:ext cx="3294878" cy="850000"/>
          </a:xfrm>
          <a:prstGeom prst="rect">
            <a:avLst/>
          </a:prstGeom>
          <a:noFill/>
        </p:spPr>
        <p:txBody>
          <a:bodyPr wrap="square" anchor="ctr">
            <a:spAutoFit/>
          </a:bodyPr>
          <a:lstStyle/>
          <a:p>
            <a:pPr algn="ctr">
              <a:spcAft>
                <a:spcPts val="0"/>
              </a:spcAft>
            </a:pPr>
            <a:r>
              <a:rPr sz="1800" b="1" i="0">
                <a:solidFill>
                  <a:srgbClr val="262626"/>
                </a:solidFill>
                <a:latin typeface="Arial"/>
              </a:rPr>
              <a:t>KV cache %</a:t>
            </a:r>
          </a:p>
          <a:p>
            <a:pPr algn="ctr">
              <a:spcAft>
                <a:spcPts val="0"/>
              </a:spcAft>
            </a:pPr>
            <a:r>
              <a:rPr sz="1400" b="0" i="0">
                <a:solidFill>
                  <a:srgbClr val="6B6B6B"/>
                </a:solidFill>
                <a:latin typeface="Arial"/>
              </a:rPr>
              <a:t>log or /metrics</a:t>
            </a:r>
          </a:p>
        </p:txBody>
      </p:sp>
      <p:sp>
        <p:nvSpPr>
          <p:cNvPr id="10" name="Rounded Rectangle 9"/>
          <p:cNvSpPr/>
          <p:nvPr/>
        </p:nvSpPr>
        <p:spPr>
          <a:xfrm>
            <a:off x="553682" y="4400000"/>
            <a:ext cx="3294878" cy="850000"/>
          </a:xfrm>
          <a:prstGeom prst="roundRect">
            <a:avLst>
              <a:gd name="adj" fmla="val 8000"/>
            </a:avLst>
          </a:prstGeom>
          <a:solidFill>
            <a:srgbClr val="FFFFFF"/>
          </a:solidFill>
          <a:ln>
            <a:noFill/>
          </a:ln>
        </p:spPr>
        <p:txBody>
          <a:bodyPr rtlCol="0" anchor="ctr"/>
          <a:lstStyle/>
          <a:p/>
        </p:txBody>
      </p:sp>
      <p:sp>
        <p:nvSpPr>
          <p:cNvPr id="11" name="TextBox 10"/>
          <p:cNvSpPr txBox="1"/>
          <p:nvPr/>
        </p:nvSpPr>
        <p:spPr>
          <a:xfrm>
            <a:off x="553682" y="4400000"/>
            <a:ext cx="3294878" cy="850000"/>
          </a:xfrm>
          <a:prstGeom prst="rect">
            <a:avLst/>
          </a:prstGeom>
          <a:noFill/>
        </p:spPr>
        <p:txBody>
          <a:bodyPr wrap="square" anchor="ctr">
            <a:spAutoFit/>
          </a:bodyPr>
          <a:lstStyle/>
          <a:p>
            <a:pPr algn="ctr">
              <a:spcAft>
                <a:spcPts val="0"/>
              </a:spcAft>
            </a:pPr>
            <a:r>
              <a:rPr sz="1800" b="1" i="0">
                <a:solidFill>
                  <a:srgbClr val="262626"/>
                </a:solidFill>
                <a:latin typeface="Arial"/>
              </a:rPr>
              <a:t>queue time p95</a:t>
            </a:r>
          </a:p>
          <a:p>
            <a:pPr algn="ctr">
              <a:spcAft>
                <a:spcPts val="0"/>
              </a:spcAft>
            </a:pPr>
            <a:r>
              <a:rPr sz="1400" b="0" i="0">
                <a:solidFill>
                  <a:srgbClr val="6B6B6B"/>
                </a:solidFill>
                <a:latin typeface="Arial"/>
              </a:rPr>
              <a:t>then waiting</a:t>
            </a:r>
          </a:p>
        </p:txBody>
      </p:sp>
      <p:sp>
        <p:nvSpPr>
          <p:cNvPr id="12" name="Rounded Rectangle 11"/>
          <p:cNvSpPr/>
          <p:nvPr/>
        </p:nvSpPr>
        <p:spPr>
          <a:xfrm>
            <a:off x="4298560" y="1250000"/>
            <a:ext cx="3594878" cy="4300000"/>
          </a:xfrm>
          <a:prstGeom prst="roundRect">
            <a:avLst>
              <a:gd name="adj" fmla="val 8000"/>
            </a:avLst>
          </a:prstGeom>
          <a:solidFill>
            <a:srgbClr val="F3F3F3"/>
          </a:solidFill>
          <a:ln>
            <a:noFill/>
          </a:ln>
        </p:spPr>
        <p:txBody>
          <a:bodyPr rtlCol="0" anchor="ctr"/>
          <a:lstStyle/>
          <a:p/>
        </p:txBody>
      </p:sp>
      <p:sp>
        <p:nvSpPr>
          <p:cNvPr id="13" name="TextBox 12"/>
          <p:cNvSpPr txBox="1"/>
          <p:nvPr/>
        </p:nvSpPr>
        <p:spPr>
          <a:xfrm>
            <a:off x="4298560" y="1350000"/>
            <a:ext cx="3594878" cy="900000"/>
          </a:xfrm>
          <a:prstGeom prst="rect">
            <a:avLst/>
          </a:prstGeom>
          <a:noFill/>
        </p:spPr>
        <p:txBody>
          <a:bodyPr wrap="square" anchor="ctr">
            <a:spAutoFit/>
          </a:bodyPr>
          <a:lstStyle/>
          <a:p>
            <a:pPr algn="ctr">
              <a:spcAft>
                <a:spcPts val="0"/>
              </a:spcAft>
            </a:pPr>
            <a:r>
              <a:rPr sz="4000" b="1" i="0">
                <a:solidFill>
                  <a:srgbClr val="991346"/>
                </a:solidFill>
                <a:latin typeface="Arial"/>
              </a:rPr>
              <a:t>1 filter</a:t>
            </a:r>
          </a:p>
        </p:txBody>
      </p:sp>
      <p:sp>
        <p:nvSpPr>
          <p:cNvPr id="14" name="Rounded Rectangle 13"/>
          <p:cNvSpPr/>
          <p:nvPr/>
        </p:nvSpPr>
        <p:spPr>
          <a:xfrm>
            <a:off x="4448560" y="2400000"/>
            <a:ext cx="3294878" cy="850000"/>
          </a:xfrm>
          <a:prstGeom prst="roundRect">
            <a:avLst>
              <a:gd name="adj" fmla="val 8000"/>
            </a:avLst>
          </a:prstGeom>
          <a:solidFill>
            <a:srgbClr val="FFFFFF"/>
          </a:solidFill>
          <a:ln>
            <a:noFill/>
          </a:ln>
        </p:spPr>
        <p:txBody>
          <a:bodyPr rtlCol="0" anchor="ctr"/>
          <a:lstStyle/>
          <a:p/>
        </p:txBody>
      </p:sp>
      <p:sp>
        <p:nvSpPr>
          <p:cNvPr id="15" name="TextBox 14"/>
          <p:cNvSpPr txBox="1"/>
          <p:nvPr/>
        </p:nvSpPr>
        <p:spPr>
          <a:xfrm>
            <a:off x="4448560" y="2400000"/>
            <a:ext cx="3294878" cy="850000"/>
          </a:xfrm>
          <a:prstGeom prst="rect">
            <a:avLst/>
          </a:prstGeom>
          <a:noFill/>
        </p:spPr>
        <p:txBody>
          <a:bodyPr wrap="square" anchor="ctr">
            <a:spAutoFit/>
          </a:bodyPr>
          <a:lstStyle/>
          <a:p>
            <a:pPr algn="ctr">
              <a:spcAft>
                <a:spcPts val="0"/>
              </a:spcAft>
            </a:pPr>
            <a:r>
              <a:rPr sz="1800" b="1" i="0">
                <a:solidFill>
                  <a:srgbClr val="262626"/>
                </a:solidFill>
                <a:latin typeface="Arial"/>
              </a:rPr>
              <a:t>15 lines of Lua</a:t>
            </a:r>
          </a:p>
          <a:p>
            <a:pPr algn="ctr">
              <a:spcAft>
                <a:spcPts val="0"/>
              </a:spcAft>
            </a:pPr>
            <a:r>
              <a:rPr sz="1400" b="0" i="0">
                <a:solidFill>
                  <a:srgbClr val="6B6B6B"/>
                </a:solidFill>
                <a:latin typeface="Arial"/>
              </a:rPr>
              <a:t>+ log_to_metrics</a:t>
            </a:r>
          </a:p>
        </p:txBody>
      </p:sp>
      <p:sp>
        <p:nvSpPr>
          <p:cNvPr id="16" name="Rounded Rectangle 15"/>
          <p:cNvSpPr/>
          <p:nvPr/>
        </p:nvSpPr>
        <p:spPr>
          <a:xfrm>
            <a:off x="4448560" y="3400000"/>
            <a:ext cx="3294878" cy="850000"/>
          </a:xfrm>
          <a:prstGeom prst="roundRect">
            <a:avLst>
              <a:gd name="adj" fmla="val 8000"/>
            </a:avLst>
          </a:prstGeom>
          <a:solidFill>
            <a:srgbClr val="FFFFFF"/>
          </a:solidFill>
          <a:ln>
            <a:noFill/>
          </a:ln>
        </p:spPr>
        <p:txBody>
          <a:bodyPr rtlCol="0" anchor="ctr"/>
          <a:lstStyle/>
          <a:p/>
        </p:txBody>
      </p:sp>
      <p:sp>
        <p:nvSpPr>
          <p:cNvPr id="17" name="TextBox 16"/>
          <p:cNvSpPr txBox="1"/>
          <p:nvPr/>
        </p:nvSpPr>
        <p:spPr>
          <a:xfrm>
            <a:off x="4448560" y="3400000"/>
            <a:ext cx="3294878" cy="850000"/>
          </a:xfrm>
          <a:prstGeom prst="rect">
            <a:avLst/>
          </a:prstGeom>
          <a:noFill/>
        </p:spPr>
        <p:txBody>
          <a:bodyPr wrap="square" anchor="ctr">
            <a:spAutoFit/>
          </a:bodyPr>
          <a:lstStyle/>
          <a:p>
            <a:pPr algn="ctr">
              <a:spcAft>
                <a:spcPts val="0"/>
              </a:spcAft>
            </a:pPr>
            <a:r>
              <a:rPr sz="1800" b="1" i="0">
                <a:solidFill>
                  <a:srgbClr val="262626"/>
                </a:solidFill>
                <a:latin typeface="Arial"/>
              </a:rPr>
              <a:t>change the regex</a:t>
            </a:r>
          </a:p>
          <a:p>
            <a:pPr algn="ctr">
              <a:spcAft>
                <a:spcPts val="0"/>
              </a:spcAft>
            </a:pPr>
            <a:r>
              <a:rPr sz="1400" b="0" i="0">
                <a:solidFill>
                  <a:srgbClr val="6B6B6B"/>
                </a:solidFill>
                <a:latin typeface="Arial"/>
              </a:rPr>
              <a:t>keep the pipeline</a:t>
            </a:r>
          </a:p>
        </p:txBody>
      </p:sp>
      <p:sp>
        <p:nvSpPr>
          <p:cNvPr id="18" name="Rounded Rectangle 17"/>
          <p:cNvSpPr/>
          <p:nvPr/>
        </p:nvSpPr>
        <p:spPr>
          <a:xfrm>
            <a:off x="4448560" y="4400000"/>
            <a:ext cx="3294878" cy="850000"/>
          </a:xfrm>
          <a:prstGeom prst="roundRect">
            <a:avLst>
              <a:gd name="adj" fmla="val 8000"/>
            </a:avLst>
          </a:prstGeom>
          <a:solidFill>
            <a:srgbClr val="FFFFFF"/>
          </a:solidFill>
          <a:ln>
            <a:noFill/>
          </a:ln>
        </p:spPr>
        <p:txBody>
          <a:bodyPr rtlCol="0" anchor="ctr"/>
          <a:lstStyle/>
          <a:p/>
        </p:txBody>
      </p:sp>
      <p:sp>
        <p:nvSpPr>
          <p:cNvPr id="19" name="TextBox 18"/>
          <p:cNvSpPr txBox="1"/>
          <p:nvPr/>
        </p:nvSpPr>
        <p:spPr>
          <a:xfrm>
            <a:off x="4448560" y="4400000"/>
            <a:ext cx="3294878" cy="850000"/>
          </a:xfrm>
          <a:prstGeom prst="rect">
            <a:avLst/>
          </a:prstGeom>
          <a:noFill/>
        </p:spPr>
        <p:txBody>
          <a:bodyPr wrap="square" anchor="ctr">
            <a:spAutoFit/>
          </a:bodyPr>
          <a:lstStyle/>
          <a:p>
            <a:pPr algn="ctr">
              <a:spcAft>
                <a:spcPts val="0"/>
              </a:spcAft>
            </a:pPr>
            <a:r>
              <a:rPr sz="1800" b="1" i="0">
                <a:solidFill>
                  <a:srgbClr val="262626"/>
                </a:solidFill>
                <a:latin typeface="Arial"/>
              </a:rPr>
              <a:t>works for</a:t>
            </a:r>
          </a:p>
          <a:p>
            <a:pPr algn="ctr">
              <a:spcAft>
                <a:spcPts val="0"/>
              </a:spcAft>
            </a:pPr>
            <a:r>
              <a:rPr sz="1400" b="0" i="0">
                <a:solidFill>
                  <a:srgbClr val="6B6B6B"/>
                </a:solidFill>
                <a:latin typeface="Arial"/>
              </a:rPr>
              <a:t>TGI, Triton, anything that logs</a:t>
            </a:r>
          </a:p>
        </p:txBody>
      </p:sp>
      <p:sp>
        <p:nvSpPr>
          <p:cNvPr id="20" name="Rounded Rectangle 19"/>
          <p:cNvSpPr/>
          <p:nvPr/>
        </p:nvSpPr>
        <p:spPr>
          <a:xfrm>
            <a:off x="8193438" y="1250000"/>
            <a:ext cx="3594878" cy="4300000"/>
          </a:xfrm>
          <a:prstGeom prst="roundRect">
            <a:avLst>
              <a:gd name="adj" fmla="val 8000"/>
            </a:avLst>
          </a:prstGeom>
          <a:solidFill>
            <a:srgbClr val="F3F3F3"/>
          </a:solidFill>
          <a:ln>
            <a:noFill/>
          </a:ln>
        </p:spPr>
        <p:txBody>
          <a:bodyPr rtlCol="0" anchor="ctr"/>
          <a:lstStyle/>
          <a:p/>
        </p:txBody>
      </p:sp>
      <p:sp>
        <p:nvSpPr>
          <p:cNvPr id="21" name="TextBox 20"/>
          <p:cNvSpPr txBox="1"/>
          <p:nvPr/>
        </p:nvSpPr>
        <p:spPr>
          <a:xfrm>
            <a:off x="8193438" y="1350000"/>
            <a:ext cx="3594878" cy="900000"/>
          </a:xfrm>
          <a:prstGeom prst="rect">
            <a:avLst/>
          </a:prstGeom>
          <a:noFill/>
        </p:spPr>
        <p:txBody>
          <a:bodyPr wrap="square" anchor="ctr">
            <a:spAutoFit/>
          </a:bodyPr>
          <a:lstStyle/>
          <a:p>
            <a:pPr algn="ctr">
              <a:spcAft>
                <a:spcPts val="0"/>
              </a:spcAft>
            </a:pPr>
            <a:r>
              <a:rPr sz="4000" b="1" i="0">
                <a:solidFill>
                  <a:srgbClr val="991346"/>
                </a:solidFill>
                <a:latin typeface="Arial"/>
              </a:rPr>
              <a:t>1 rule</a:t>
            </a:r>
          </a:p>
        </p:txBody>
      </p:sp>
      <p:sp>
        <p:nvSpPr>
          <p:cNvPr id="22" name="Rounded Rectangle 21"/>
          <p:cNvSpPr/>
          <p:nvPr/>
        </p:nvSpPr>
        <p:spPr>
          <a:xfrm>
            <a:off x="8343438" y="2400000"/>
            <a:ext cx="3294878" cy="850000"/>
          </a:xfrm>
          <a:prstGeom prst="roundRect">
            <a:avLst>
              <a:gd name="adj" fmla="val 8000"/>
            </a:avLst>
          </a:prstGeom>
          <a:solidFill>
            <a:srgbClr val="FFFFFF"/>
          </a:solidFill>
          <a:ln>
            <a:noFill/>
          </a:ln>
        </p:spPr>
        <p:txBody>
          <a:bodyPr rtlCol="0" anchor="ctr"/>
          <a:lstStyle/>
          <a:p/>
        </p:txBody>
      </p:sp>
      <p:sp>
        <p:nvSpPr>
          <p:cNvPr id="23" name="TextBox 22"/>
          <p:cNvSpPr txBox="1"/>
          <p:nvPr/>
        </p:nvSpPr>
        <p:spPr>
          <a:xfrm>
            <a:off x="8343438" y="2400000"/>
            <a:ext cx="3294878" cy="850000"/>
          </a:xfrm>
          <a:prstGeom prst="rect">
            <a:avLst/>
          </a:prstGeom>
          <a:noFill/>
        </p:spPr>
        <p:txBody>
          <a:bodyPr wrap="square" anchor="ctr">
            <a:spAutoFit/>
          </a:bodyPr>
          <a:lstStyle/>
          <a:p>
            <a:pPr algn="ctr">
              <a:spcAft>
                <a:spcPts val="0"/>
              </a:spcAft>
            </a:pPr>
            <a:r>
              <a:rPr sz="1800" b="1" i="0">
                <a:solidFill>
                  <a:srgbClr val="262626"/>
                </a:solidFill>
                <a:latin typeface="Arial"/>
              </a:rPr>
              <a:t>pod name</a:t>
            </a:r>
          </a:p>
          <a:p>
            <a:pPr algn="ctr">
              <a:spcAft>
                <a:spcPts val="0"/>
              </a:spcAft>
            </a:pPr>
            <a:r>
              <a:rPr sz="1400" b="0" i="0">
                <a:solidFill>
                  <a:srgbClr val="6B6B6B"/>
                </a:solidFill>
                <a:latin typeface="Arial"/>
              </a:rPr>
              <a:t>on every signal</a:t>
            </a:r>
          </a:p>
        </p:txBody>
      </p:sp>
      <p:sp>
        <p:nvSpPr>
          <p:cNvPr id="24" name="Rounded Rectangle 23"/>
          <p:cNvSpPr/>
          <p:nvPr/>
        </p:nvSpPr>
        <p:spPr>
          <a:xfrm>
            <a:off x="8343438" y="3400000"/>
            <a:ext cx="3294878" cy="850000"/>
          </a:xfrm>
          <a:prstGeom prst="roundRect">
            <a:avLst>
              <a:gd name="adj" fmla="val 8000"/>
            </a:avLst>
          </a:prstGeom>
          <a:solidFill>
            <a:srgbClr val="FFFFFF"/>
          </a:solidFill>
          <a:ln>
            <a:noFill/>
          </a:ln>
        </p:spPr>
        <p:txBody>
          <a:bodyPr rtlCol="0" anchor="ctr"/>
          <a:lstStyle/>
          <a:p/>
        </p:txBody>
      </p:sp>
      <p:sp>
        <p:nvSpPr>
          <p:cNvPr id="25" name="TextBox 24"/>
          <p:cNvSpPr txBox="1"/>
          <p:nvPr/>
        </p:nvSpPr>
        <p:spPr>
          <a:xfrm>
            <a:off x="8343438" y="3400000"/>
            <a:ext cx="3294878" cy="850000"/>
          </a:xfrm>
          <a:prstGeom prst="rect">
            <a:avLst/>
          </a:prstGeom>
          <a:noFill/>
        </p:spPr>
        <p:txBody>
          <a:bodyPr wrap="square" anchor="ctr">
            <a:spAutoFit/>
          </a:bodyPr>
          <a:lstStyle/>
          <a:p>
            <a:pPr algn="ctr">
              <a:spcAft>
                <a:spcPts val="0"/>
              </a:spcAft>
            </a:pPr>
            <a:r>
              <a:rPr sz="1800" b="1" i="0">
                <a:solidFill>
                  <a:srgbClr val="262626"/>
                </a:solidFill>
                <a:latin typeface="Arial"/>
              </a:rPr>
              <a:t>identity on logs</a:t>
            </a:r>
          </a:p>
          <a:p>
            <a:pPr algn="ctr">
              <a:spcAft>
                <a:spcPts val="0"/>
              </a:spcAft>
            </a:pPr>
            <a:r>
              <a:rPr sz="1400" b="0" i="0">
                <a:solidFill>
                  <a:srgbClr val="6B6B6B"/>
                </a:solidFill>
                <a:latin typeface="Arial"/>
              </a:rPr>
              <a:t>stable dimensions on metrics</a:t>
            </a:r>
          </a:p>
        </p:txBody>
      </p:sp>
      <p:sp>
        <p:nvSpPr>
          <p:cNvPr id="26" name="Rounded Rectangle 25"/>
          <p:cNvSpPr/>
          <p:nvPr/>
        </p:nvSpPr>
        <p:spPr>
          <a:xfrm>
            <a:off x="8343438" y="4400000"/>
            <a:ext cx="3294878" cy="850000"/>
          </a:xfrm>
          <a:prstGeom prst="roundRect">
            <a:avLst>
              <a:gd name="adj" fmla="val 8000"/>
            </a:avLst>
          </a:prstGeom>
          <a:solidFill>
            <a:srgbClr val="FFFFFF"/>
          </a:solidFill>
          <a:ln>
            <a:noFill/>
          </a:ln>
        </p:spPr>
        <p:txBody>
          <a:bodyPr rtlCol="0" anchor="ctr"/>
          <a:lstStyle/>
          <a:p/>
        </p:txBody>
      </p:sp>
      <p:sp>
        <p:nvSpPr>
          <p:cNvPr id="27" name="TextBox 26"/>
          <p:cNvSpPr txBox="1"/>
          <p:nvPr/>
        </p:nvSpPr>
        <p:spPr>
          <a:xfrm>
            <a:off x="8343438" y="4400000"/>
            <a:ext cx="3294878" cy="850000"/>
          </a:xfrm>
          <a:prstGeom prst="rect">
            <a:avLst/>
          </a:prstGeom>
          <a:noFill/>
        </p:spPr>
        <p:txBody>
          <a:bodyPr wrap="square" anchor="ctr">
            <a:spAutoFit/>
          </a:bodyPr>
          <a:lstStyle/>
          <a:p>
            <a:pPr algn="ctr">
              <a:spcAft>
                <a:spcPts val="0"/>
              </a:spcAft>
            </a:pPr>
            <a:r>
              <a:rPr sz="1800" b="1" i="0">
                <a:solidFill>
                  <a:srgbClr val="262626"/>
                </a:solidFill>
                <a:latin typeface="Arial"/>
              </a:rPr>
              <a:t>join</a:t>
            </a:r>
          </a:p>
          <a:p>
            <a:pPr algn="ctr">
              <a:spcAft>
                <a:spcPts val="0"/>
              </a:spcAft>
            </a:pPr>
            <a:r>
              <a:rPr sz="1400" b="0" i="0">
                <a:solidFill>
                  <a:srgbClr val="6B6B6B"/>
                </a:solidFill>
                <a:latin typeface="Arial"/>
              </a:rPr>
              <a:t>at query time</a:t>
            </a:r>
          </a:p>
        </p:txBody>
      </p:sp>
      <p:sp>
        <p:nvSpPr>
          <p:cNvPr id="28" name="Rounded Rectangle 27"/>
          <p:cNvSpPr/>
          <p:nvPr/>
        </p:nvSpPr>
        <p:spPr>
          <a:xfrm>
            <a:off x="4646000" y="5700000"/>
            <a:ext cx="2900000" cy="560000"/>
          </a:xfrm>
          <a:prstGeom prst="roundRect">
            <a:avLst>
              <a:gd name="adj" fmla="val 50000"/>
            </a:avLst>
          </a:prstGeom>
          <a:solidFill>
            <a:srgbClr val="991346"/>
          </a:solidFill>
          <a:ln>
            <a:noFill/>
          </a:ln>
        </p:spPr>
        <p:txBody>
          <a:bodyPr rtlCol="0" anchor="ctr" lIns="90000" rIns="90000" tIns="0" bIns="0"/>
          <a:lstStyle/>
          <a:p>
            <a:pPr algn="ctr"/>
            <a:r>
              <a:rPr sz="2400" b="1" i="0">
                <a:solidFill>
                  <a:srgbClr val="FFFFFF"/>
                </a:solidFill>
                <a:latin typeface="Arial"/>
              </a:rPr>
              <a:t>0 new agents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82" y="1500000"/>
            <a:ext cx="7200000" cy="3600000"/>
          </a:xfrm>
          <a:prstGeom prst="rect">
            <a:avLst/>
          </a:prstGeom>
          <a:noFill/>
        </p:spPr>
        <p:txBody>
          <a:bodyPr wrap="square" anchor="ctr">
            <a:spAutoFit/>
          </a:bodyPr>
          <a:lstStyle/>
          <a:p>
            <a:pPr algn="l">
              <a:spcAft>
                <a:spcPts val="1800"/>
              </a:spcAft>
            </a:pPr>
            <a:r>
              <a:rPr sz="4400" b="1" i="0">
                <a:solidFill>
                  <a:srgbClr val="FFFFFF"/>
                </a:solidFill>
                <a:latin typeface="Arial"/>
              </a:rPr>
              <a:t>Thank you.</a:t>
            </a:r>
          </a:p>
          <a:p>
            <a:pPr algn="l">
              <a:spcAft>
                <a:spcPts val="0"/>
              </a:spcAft>
            </a:pPr>
            <a:r>
              <a:rPr sz="2600" b="1" i="0">
                <a:solidFill>
                  <a:srgbClr val="FFFFFF"/>
                </a:solidFill>
                <a:latin typeface="Arial"/>
              </a:rPr>
              <a:t>github.com/danilosilvase/</a:t>
            </a:r>
          </a:p>
          <a:p>
            <a:pPr algn="l">
              <a:spcAft>
                <a:spcPts val="1800"/>
              </a:spcAft>
            </a:pPr>
            <a:r>
              <a:rPr sz="2600" b="1" i="0">
                <a:solidFill>
                  <a:srgbClr val="FFFFFF"/>
                </a:solidFill>
                <a:latin typeface="Arial"/>
              </a:rPr>
              <a:t>gpu-observability-kubecon-na-2026</a:t>
            </a:r>
          </a:p>
          <a:p>
            <a:pPr algn="l">
              <a:spcAft>
                <a:spcPts val="200"/>
              </a:spcAft>
            </a:pPr>
            <a:r>
              <a:rPr sz="1800" b="0" i="0">
                <a:solidFill>
                  <a:srgbClr val="FFFFFF"/>
                </a:solidFill>
                <a:latin typeface="Arial"/>
              </a:rPr>
              <a:t>Danilo Souza, AWS Professional Services</a:t>
            </a:r>
          </a:p>
          <a:p>
            <a:pPr algn="l">
              <a:spcAft>
                <a:spcPts val="1800"/>
              </a:spcAft>
            </a:pPr>
            <a:r>
              <a:rPr sz="1800" b="0" i="0">
                <a:solidFill>
                  <a:srgbClr val="FFFFFF"/>
                </a:solidFill>
                <a:latin typeface="Arial"/>
              </a:rPr>
              <a:t>Henrique Santana, AWS</a:t>
            </a:r>
          </a:p>
          <a:p>
            <a:pPr algn="l">
              <a:spcAft>
                <a:spcPts val="0"/>
              </a:spcAft>
            </a:pPr>
            <a:r>
              <a:rPr sz="1800" b="0" i="0">
                <a:solidFill>
                  <a:srgbClr val="FFFFFF"/>
                </a:solidFill>
                <a:latin typeface="Arial"/>
              </a:rPr>
              <a:t>Scan to rate this session.</a:t>
            </a:r>
          </a:p>
        </p:txBody>
      </p:sp>
      <p:sp>
        <p:nvSpPr>
          <p:cNvPr id="3" name="Rounded Rectangle 2"/>
          <p:cNvSpPr/>
          <p:nvPr/>
        </p:nvSpPr>
        <p:spPr>
          <a:xfrm>
            <a:off x="7988318" y="1429000"/>
            <a:ext cx="4000000" cy="4000000"/>
          </a:xfrm>
          <a:prstGeom prst="roundRect">
            <a:avLst>
              <a:gd name="adj" fmla="val 5000"/>
            </a:avLst>
          </a:prstGeom>
          <a:solidFill>
            <a:srgbClr val="FFFFFF"/>
          </a:solidFill>
          <a:ln>
            <a:noFill/>
          </a:ln>
        </p:spPr>
        <p:txBody>
          <a:bodyPr rtlCol="0" anchor="ctr"/>
          <a:lstStyle/>
          <a:p/>
        </p:txBody>
      </p:sp>
      <p:pic>
        <p:nvPicPr>
          <p:cNvPr id="4" name="Picture 3" descr="cncf-feedback-qr.png"/>
          <p:cNvPicPr>
            <a:picLocks noChangeAspect="1"/>
          </p:cNvPicPr>
          <p:nvPr/>
        </p:nvPicPr>
        <p:blipFill>
          <a:blip r:embed="rId3"/>
          <a:stretch>
            <a:fillRect/>
          </a:stretch>
        </p:blipFill>
        <p:spPr>
          <a:xfrm>
            <a:off x="8240287" y="1629000"/>
            <a:ext cx="3496062" cy="3600000"/>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2019-07-29T21:37:05Z</dcterms:created>
  <dc:creator>Alex Contini</dc:creator>
</cp:coreProperties>
</file>