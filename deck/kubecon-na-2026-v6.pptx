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8" r:id="rId7"/>
    <p:sldId id="259" r:id="rId8"/>
    <p:sldId id="260" r:id="rId9"/>
    <p:sldId id="261" r:id="rId6"/>
    <p:sldId id="262" r:id="rId5"/>
    <p:sldId id="279" r:id="rId31"/>
    <p:sldId id="266" r:id="rId18"/>
    <p:sldId id="271" r:id="rId23"/>
    <p:sldId id="272" r:id="rId24"/>
    <p:sldId id="268" r:id="rId20"/>
    <p:sldId id="270" r:id="rId22"/>
    <p:sldId id="273" r:id="rId25"/>
    <p:sldId id="277" r:id="rId29"/>
    <p:sldId id="278" r:id="rId30"/>
    <p:sldId id="280" r:id="rId32"/>
    <p:sldId id="263" r:id="rId15"/>
    <p:sldId id="264" r:id="rId16"/>
    <p:sldId id="265" r:id="rId17"/>
    <p:sldId id="267" r:id="rId19"/>
    <p:sldId id="269" r:id="rId21"/>
    <p:sldId id="274" r:id="rId26"/>
    <p:sldId id="275" r:id="rId27"/>
    <p:sldId id="276" r:id="rId28"/>
  </p:sldIdLst>
  <p:sldSz cy="6858000" cx="12192000"/>
  <p:notesSz cx="6858000" cy="9144000"/>
  <p:embeddedFontLst>
    <p:embeddedFont>
      <p:font typeface="Montserrat"/>
      <p:regular r:id="rId10"/>
      <p:bold r:id="rId11"/>
      <p:italic r:id="rId12"/>
      <p:boldItalic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4" roundtripDataSignature="AMtx7mg4BA/UZBL+y+GJRU4m7UPD850u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5.xml"/><Relationship Id="rId6" Type="http://schemas.openxmlformats.org/officeDocument/2006/relationships/slide" Target="slides/slide4.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font" Target="fonts/Montserrat-regular.fntdata"/><Relationship Id="rId11" Type="http://schemas.openxmlformats.org/officeDocument/2006/relationships/font" Target="fonts/Montserrat-bold.fntdata"/><Relationship Id="rId12" Type="http://schemas.openxmlformats.org/officeDocument/2006/relationships/font" Target="fonts/Montserrat-italic.fntdata"/><Relationship Id="rId13" Type="http://schemas.openxmlformats.org/officeDocument/2006/relationships/font" Target="fonts/Montserrat-boldItalic.fntdata"/><Relationship Id="rId14" Type="http://customschemas.google.com/relationships/presentationmetadata" Target="metadata"/><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[2:30, 3:00] [Danilo] 30 seconds.</a:t>
            </a:r>
          </a:p>
          <a:p>
            <a:r>
              <a:t>"Across the industry the average production GPU runs at about 5% utilisation. Ours read 95%. Same counter. One looks saturated, one looks idle, and neither tells you anything about the inference work."</a:t>
            </a:r>
          </a:p>
          <a:p>
            <a:r>
              <a:t>Next: Henrique, why GPU memory lies.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[1:00, 2:30] [Danilo] The incident.</a:t>
            </a:r>
          </a:p>
          <a:p>
            <a:r>
              <a:t>"It's 02:14. The page fires. Every GPU chart is green." Let the sparkline do the rest. Pause. "Utilisation 95%, memory 90%, both flat for an hour. Pods Ready, nothing throttled, no restarts. Every signal the hardware gives you says busy and healthy. Nobody knows why. That is the black box."</a:t>
            </a:r>
          </a:p>
          <a:p>
            <a:r>
              <a:t>Next: the same counter, opposite story.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[0:00, 0:15] [Danilo] Cover while people settle.</a:t>
            </a:r>
          </a:p>
          <a:p>
            <a:r>
              <a:t>Check the clicker. Grafana open on the second screen, stage dashboard in kiosk mode, rig idle (both verdict tiles say OK).</a:t>
            </a:r>
          </a:p>
          <a:p>
            <a:r>
              <a:t>Next: title slide.</a:t>
            </a:r>
          </a:p>
        </p:txBody>
      </p:sp>
      <p:sp>
        <p:nvSpPr>
          <p:cNvPr id="73" name="Google Shape;7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[0:15, 1:00] [Danilo + Henrique] Who we are, one line each, then the thesis.</a:t>
            </a:r>
          </a:p>
          <a:p>
            <a:r>
              <a:t>Danilo: "I'm Danilo, I build platforms for customers at AWS, mostly Kubernetes and ML infrastructure." Henrique: "I'm Henrique, AWS Support, I see a lot of GPU incidents after the fact." Point at the two chips: "We tried to explain a slow inference service with the GPU dashboard and got nothing. The answer was in a log line."</a:t>
            </a:r>
          </a:p>
          <a:p>
            <a:r>
              <a:t>Next: the incident.</a:t>
            </a:r>
          </a:p>
        </p:txBody>
      </p:sp>
      <p:sp>
        <p:nvSpPr>
          <p:cNvPr id="77" name="Google Shape;77;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[3:00, 4:00] [Henrique] GPU memory is a config value.</a:t>
            </a:r>
          </a:p>
          <a:p>
            <a:r>
              <a:t>"Every LLM server grabs its GPU memory before the first request. vLLM calls it gpu-memory-utilization." Point at the two flat lines. "Two pods, same model. Blue got 90% of the GPU: 20.5 GB. Red got 15%: 3.5 GB. The orange line is where we start a heavy load. Neither line moves. Ever." Then: "Which one is about to fall over? The small one. And this chart, the one most of us page on, cannot tell you."</a:t>
            </a:r>
          </a:p>
          <a:p>
            <a:r>
              <a:t>Next: so what does move?</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[4:00, 5:00] [Henrique] Utilisation and the two phases.</a:t>
            </a:r>
          </a:p>
          <a:p>
            <a:r>
              <a:t>"GPU_UTIL has a precise meaning: at least one kernel was running during the sample window. One busy thread reads as 100%." Then the phases. "Inference has two phases with opposite shapes. Prefill: the whole prompt in one pass, big matrix multiplies, compute-bound, tensor cores busy. Decode: one token per step, and every step re-reads the entire KV cache, so it's memory-bandwidth-bound, tensor cores mostly waiting." Point at the two identical stamps. "Same number on both. The counter has no idea which phase you're in or how much of the silicon is doing anything."</a:t>
            </a:r>
          </a:p>
          <a:p>
            <a:r>
              <a:t>Next: what the profiler counters say instead.</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[5:00, 6:00] [Henrique] The Elastic numbers. Be precise about which field.</a:t>
            </a:r>
          </a:p>
          <a:p>
            <a:r>
              <a:t>"These aren't our numbers, they're from Elastic Observability Labs measuring a vLLM server, and they used the DCGM profiling fields, not the NVML utilisation counter." Left to right. "Graphics engine active 99.8%: that's the profiler's version of busy. Tensor cores, the units doing the actual matmuls: 16.6%. Memory bus: 80.4%. The card is not computing. It's waiting on memory." Pause. "Bandwidth-bound, not compute-saturated, and utilisation never said which. If you needed more throughput here you'd quantize before you bought hardware." Last line, lightly: "Serving teams are starting to borrow MFU and MBU from the training world, model FLOPs and bandwidth utilisation, precisely because the dashboard counter is the least informative one the hardware offers."</a:t>
            </a:r>
          </a:p>
          <a:p>
            <a:r>
              <a:t>Next: the vocabulary slide.</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[6:00, 7:00] [Henrique] Vocabulary slide, the one people photograph. Don't read every row.</a:t>
            </a:r>
          </a:p>
          <a:p>
            <a:r>
              <a:t>"Left: what most GPU dashboards show. GPU_UTIL, framebuffer used, and nvidia-smi's Volatile GPU-Util which is the same thing. Right: what actually describes the work. SM_ACTIVE, how much of the compute is busy. SM_OCCUPANCY, what share of the warps an SM can hold are actually resident. DRAM_ACTIVE, are you bandwidth-bound. PIPE_TENSOR_ACTIVE, are the tensor cores doing matmuls." Then the punchline, slowly: "And none of them know what a token is. Queue depth, KV cache pressure, tokens per second. The serving framework owns those. The silicon doesn't."</a:t>
            </a:r>
          </a:p>
          <a:p>
            <a:r>
              <a:t>Hand back to Danilo.</a:t>
            </a:r>
          </a:p>
          <a:p>
            <a:r>
              <a:t>Next: section three, the one architectural idea.</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[5:00, 6:30] [Danilo] The pipeline, one idea: the pod name.</a:t>
            </a:r>
          </a:p>
          <a:p>
            <a:r>
              <a:t>"Three tools, three signals. DCGM knows which pod owns a GPU. Fluent Bit knows which pod wrote a log line. The OTel Collector knows which pod a request went through. The only thing all three share is the pod name. So we stamp it on everything and join at query time." Click: the pill, then the WHERE. "That's the whole architecture. All the configs are in the repo."</a:t>
            </a:r>
          </a:p>
          <a:p>
            <a:r>
              <a:t>Next: the demo.</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[8:00, 8:45] [Danilo] Signal 1, DCGM per pod. Keep it short, the audience knows exporters.</a:t>
            </a:r>
          </a:p>
          <a:p>
            <a:r>
              <a:t>"dcgm-exporter in Kubernetes mode. --kubernetes=true asks the kubelet which pod owns each GPU and stamps exported_pod on every counter. That's the screenshot: SM active, per pod, during our demo." Right side: "It tells you which pod is on which GPU and whether that silicon is busy. It has no idea why, how many requests are queued, whether the KV cache is full, or anything about tokens." Point at the second config line: "ENABLE_POD_LABELS false. That one matters, next slide."</a:t>
            </a:r>
          </a:p>
          <a:p>
            <a:r>
              <a:t>On EKS Auto Mode you run it standalone as a DaemonSet with the pod-resources hostPath; the GPU Operator isn't supported there, we'll come back to that.</a:t>
            </a:r>
          </a:p>
          <a:p>
            <a:r>
              <a:t>Next: cardinality.</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[10:30, 12:30] [Henrique] Deep dive 1: what broke, cardinality.</a:t>
            </a:r>
          </a:p>
          <a:p>
            <a:r>
              <a:t>"The first thing we broke was Prometheus. To join on the pod name, dcgm-exporter has to put the pod name on every GPU counter. Every time a pod restarts it gets a new name, so you get a brand new set of series, and Prometheus keeps the old ones until retention." Point at 14 and 56: "Same two GPUs, seven counters. 14 series live. 56 in the last hour, after three restarts." Click: fleet math. "At fleet scale, 1.4 million series before you add a single pod label, and every label multiplies by churn." Then the rule: "Keep the pod name. Drop every other pod label. Join at query time."</a:t>
            </a:r>
          </a:p>
          <a:p>
            <a:r>
              <a:t>Next: the log line.</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[9:30, 10:45] [Danilo] The log line. Read it aloud, it is not on the slide.</a:t>
            </a:r>
          </a:p>
          <a:p>
            <a:r>
              <a:t>"This is one line of vLLM stdout. It prints every ten seconds while the engine is busy." Read the raw line for the over-provisioned pod from memory, then point at the grey row: "4,700 tokens a second, nothing waiting, cache at 0.1%." Click: the red row appears. "Constrained pod, same model, same second: 17,000 tokens a second, 116 waiting, cache at 99.6%, and a Preemptions field that only shows up once the scheduler starts evicting work." Then: "Six facts about the inference work, and not one of them shows up in a GPU counter."</a:t>
            </a:r>
          </a:p>
          <a:p>
            <a:r>
              <a:t>Next: how five lines of Lua turn that into metrics.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[12:30, 14:30] [Danilo] Deep dive 2: the Lua parsing.</a:t>
            </a:r>
          </a:p>
          <a:p>
            <a:r>
              <a:t>Point at the raw line: "This is what vLLM prints every ten seconds. Token throughput, running, waiting, and the KV cache. It's text, not a metric." Walk the pipeline left to right: "Fluent Bit tails the container log, the kubernetes filter adds the pod name, fifteen lines of Lua pull out the numbers, grep keeps only these lines, log_to_metrics turns them into gauges, and Prometheus scrapes them next to DCGM." Honest caveat: "vLLM also exposes most of this on /metrics. This pipeline is for the servers that don't, or when logs are all you get. Same pipeline, different regex."</a:t>
            </a:r>
          </a:p>
          <a:p>
            <a:r>
              <a:t>Next: traces.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[6:30, 7:00] [Danilo] Set up the question, then switch to Grafana. Henrique clicks, Danilo narrates.</a:t>
            </a:r>
          </a:p>
          <a:p>
            <a:r>
              <a:t>"Two pods, same model, same GPU. Red got 15% of the memory, blue 90%. We'll send lots of long requests to red and a trickle to blue. Watch three numbers: GPU memory, how full the car park is, and how long a request takes. Which pod breaks first?" Let one person answer.</a:t>
            </a:r>
          </a:p>
          <a:p>
            <a:r>
              <a:t>DEMO, 7:00 to 10:00 (runbook: DEMO-RUNBOOK.md). Henrique runs demo/load.sh at the switch.</a:t>
            </a:r>
          </a:p>
          <a:p>
            <a:r>
              <a:t>1. Idle: both tiles OK. "Both look fine."</a:t>
            </a:r>
          </a:p>
          <a:p>
            <a:r>
              <a:t>2. Load hits (about 20 s): GPU memory tiles do not move. "The number we page on. Red even looks healthiest."</a:t>
            </a:r>
          </a:p>
          <a:p>
            <a:r>
              <a:t>3. KV cache: red climbs to 99-100%, blue stays at 0. "Red's car park is full." (the aha, pause)</a:t>
            </a:r>
          </a:p>
          <a:p>
            <a:r>
              <a:t>4. Request time: red about 12 s, blue about 0.13 s. Verdict tiles flip: MEMORY-CONSTRAINED, OVER-PROVISIONED. "Same hardware. Only the log could tell."</a:t>
            </a:r>
          </a:p>
          <a:p>
            <a:r>
              <a:t>5. Click the top trace ID: two bars, client then vLLM, same pod name. Click the link icon on llm_request, then "This pod: how full it was". "One slow request, one click, that pod's car park at that second: full."</a:t>
            </a:r>
          </a:p>
          <a:p>
            <a:r>
              <a:t>6. Back to the dashboard. "Three signals, one pod name."</a:t>
            </a:r>
          </a:p>
          <a:p>
            <a:r>
              <a:t>If anything stalls: play deck/video, or demo/trace.sh for step 5.</a:t>
            </a:r>
          </a:p>
          <a:p>
            <a:r>
              <a:t>Next: back to slides, the recap.</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[10:00, 10:30] [Danilo] Recap, or the backup if the demo failed.</a:t>
            </a:r>
          </a:p>
          <a:p>
            <a:r>
              <a:t>"This is what you just saw. GPU memory: 3.5 and 20.5 GB, flat. KV cache from the log: 99% versus 0%. Requests: 12 seconds versus 0.13 seconds. One pod name on every signal." If the demo failed, walk the screenshot with the same four lines.</a:t>
            </a:r>
          </a:p>
          <a:p>
            <a:r>
              <a:t>Next: three things we had to get right, the ones in the abstract. One minute and a half each.</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[14:30, 16:30] [Danilo] Deep dive 3: the OTel Collector config.</a:t>
            </a:r>
          </a:p>
          <a:p>
            <a:r>
              <a:t>"vLLM emits a span per request, and our client adds its own span and a traceparent header, so one trace has two hops: client, then vLLM. That's this 11.9-second request." Left box: "The app never knew its pod name. The Collector's k8sattributes processor looks up who sent the span and adds k8s.pod.name." Right box: "In Grafana, the Jaeger datasource maps k8s.pod.name to the metric label. That's what turned one click from a slow request into that pod's KV cache." Gotcha if time: "vLLM tracing disappeared in the V1 rewrite and came back in 0.10.2. If your traces vanished after an upgrade, that's why."</a:t>
            </a:r>
          </a:p>
          <a:p>
            <a:r>
              <a:t>Next: what to take home.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[17:30, 19:30] [Danilo] The join. Slow down here. Two minutes on one slide is fine.</a:t>
            </a:r>
          </a:p>
          <a:p>
            <a:r>
              <a:t>"One Grafana dashboard. One pod variable. Three data sources that never heard of each other: DCGM through exported_pod, Fluent Bit through pod_name, vLLM and the traces through pod." Point at the red line: "Right there, where the line jumps, the load hits. Top row, DCGM memory: flat. Middle row, KV cache from the log line: pegs at 100%. Bottom row, queue time from vLLM: 0.3 to 4.8 seconds. Same second, same pod name." Pause. "The incident from slide three is this picture." Click: the word appears. "Opened." Close: "No new agent, no vendor, no eBPF. Just the pod name on every signal, and the discipline to keep it there."</a:t>
            </a:r>
          </a:p>
          <a:p>
            <a:r>
              <a:t>Next: one thing that broke. Henrique.</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[19:30, 19:50] [Henrique] One gotcha, 20 seconds. Cut this slide first if running late.</a:t>
            </a:r>
          </a:p>
          <a:p>
            <a:r>
              <a:t>"Every DCGM how-to assumes the NVIDIA GPU Operator, so check your platform's driver model before you follow one. EKS Auto Mode ships the drivers and the device plugin on its GPU AMIs and supports neither the Operator nor the NVIDIA DRA driver. So: standalone dcgm-exporter DaemonSet, pod-resources hostPath, SYS_ADMIN capability, seven counters." One breath on the grey line: "Two more in the repo README: Fluent Bit's Kube_Tag_Prefix has to match the tail tag exactly or the pod name silently never arrives, and a one-GPU pod on a two-GPU NodePool never finishes a RollingUpdate, use Recreate."</a:t>
            </a:r>
          </a:p>
          <a:p>
            <a:r>
              <a:t>Next: where this is going. Danilo.</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[19:50, 20:30] [Danilo] Where this is going, 40 seconds. Pre-empts "isn't this solved".</a:t>
            </a:r>
          </a:p>
          <a:p>
            <a:r>
              <a:t>Left to right, vendor-neutral first: "Today the join happens in Grafana. Next, disaggregated serving splits one request across two pods, llm-d and NVIDIA Dynamo, shipping the KV cache between them over NIXL and EFA, up to 70% more tokens per second at concurrency 128, so the join key becomes request id plus pod. Then the router itself consumes queue depth and KV cache to decide where traffic goes, the Gateway API Inference Extension endpoint picker and Dynamo's KV-aware router, and the join leaves Grafana entirely." Same shape on KServe, if that is your serving layer: the join key is still the pod.</a:t>
            </a:r>
          </a:p>
          <a:p>
            <a:r>
              <a:t>One aside, said once, not shown: CloudWatch's OTel-native Container Insights for EKS, June this year, wires DCGM into OTel with pod labels out of the box, so signal one is becoming a checkbox. Signals two and three are still yours to wire.</a:t>
            </a:r>
          </a:p>
          <a:p>
            <a:r>
              <a:t>If asked after: XID/ECC/thermal faults, output quality, eBPF GPU profiling, Dynamo internals are all out of scope today.</a:t>
            </a:r>
          </a:p>
          <a:p>
            <a:r>
              <a:t>Next: takeaways.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[16:30, 17:30] [Henrique] Steal this.</a:t>
            </a:r>
          </a:p>
          <a:p>
            <a:r>
              <a:t>"Three numbers: KV cache, request or queue time, and SM active instead of GPU util. One filter: fifteen lines of Lua, change the regex for your server. One rule: the pod name on every signal, nothing else on the metrics. Zero new agents."</a:t>
            </a:r>
          </a:p>
          <a:p>
            <a:r>
              <a:t>Next: thank you and the repo.</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[17:30, 18:00] [Danilo] Thank you, repo, CNCF feedback QR. Then Q&amp;A (about 7 min).</a:t>
            </a:r>
          </a:p>
          <a:p>
            <a:r>
              <a:t>Likely questions and where the answer is: "why not just scrape /metrics" (slide 11 caveat), "does GPU util really not move" (appendix: it does go up, it just cannot say why), "MIG or time-slicing" (dcgm-exporter 4.5+ per-process metrics), "disaggregated prefill/decode" (appendix: the join key becomes request id plus pod), "EKS Auto Mode" (appendix gotcha).</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[4:00, 5:00] [Henrique] The car park. This slide is why the demo makes sense, do not rush it.</a:t>
            </a:r>
          </a:p>
          <a:p>
            <a:r>
              <a:t>"Think of GPU memory as a car park. When the pod starts, it rents a car park of a fixed size. That's the number DCGM shows you: the size on the sign. Inside, every request that is running parks its working state, that's the KV cache. When the car park is full, new requests circle and wait." Point at red: "Small car park, every space taken, cars circling." Point at blue: "Huge car park, almost empty, we're paying for it." Last line: "The GPU exporter reads the sign. Only the server's own log counts the cars."</a:t>
            </a:r>
          </a:p>
          <a:p>
            <a:r>
              <a:t>Next: Danilo, how we get all three onto one screen.</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Appendix divider. Only reached from Q&amp;A.</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bg>
      <p:bgPr>
        <a:solidFill>
          <a:srgbClr val="991346"/>
        </a:solidFill>
      </p:bgPr>
    </p:bg>
    <p:spTree>
      <p:nvGrpSpPr>
        <p:cNvPr id="11" name="Shape 11"/>
        <p:cNvGrpSpPr/>
        <p:nvPr/>
      </p:nvGrpSpPr>
      <p:grpSpPr>
        <a:xfrm>
          <a:off x="0" y="0"/>
          <a:ext cx="0" cy="0"/>
          <a:chOff x="0" y="0"/>
          <a:chExt cx="0" cy="0"/>
        </a:xfrm>
      </p:grpSpPr>
      <p:pic>
        <p:nvPicPr>
          <p:cNvPr id="12" name="Google Shape;12;p8"/>
          <p:cNvPicPr preferRelativeResize="0"/>
          <p:nvPr/>
        </p:nvPicPr>
        <p:blipFill rotWithShape="1">
          <a:blip r:embed="rId2">
            <a:alphaModFix/>
          </a:blip>
          <a:srcRect b="0" l="0" r="0" t="0"/>
          <a:stretch/>
        </p:blipFill>
        <p:spPr>
          <a:xfrm>
            <a:off x="1403927" y="278179"/>
            <a:ext cx="9384146" cy="6098450"/>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rgbClr val="991346"/>
        </a:solidFill>
      </p:bgPr>
    </p:bg>
    <p:spTree>
      <p:nvGrpSpPr>
        <p:cNvPr id="13" name="Shape 13"/>
        <p:cNvGrpSpPr/>
        <p:nvPr/>
      </p:nvGrpSpPr>
      <p:grpSpPr>
        <a:xfrm>
          <a:off x="0" y="0"/>
          <a:ext cx="0" cy="0"/>
          <a:chOff x="0" y="0"/>
          <a:chExt cx="0" cy="0"/>
        </a:xfrm>
      </p:grpSpPr>
      <p:pic>
        <p:nvPicPr>
          <p:cNvPr id="14" name="Google Shape;14;p9"/>
          <p:cNvPicPr preferRelativeResize="0"/>
          <p:nvPr/>
        </p:nvPicPr>
        <p:blipFill rotWithShape="1">
          <a:blip r:embed="rId2">
            <a:alphaModFix/>
          </a:blip>
          <a:srcRect b="0" l="0" r="0" t="0"/>
          <a:stretch/>
        </p:blipFill>
        <p:spPr>
          <a:xfrm>
            <a:off x="8982742" y="-281699"/>
            <a:ext cx="2977544" cy="1935009"/>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solidFill>
          <a:schemeClr val="lt1"/>
        </a:solidFill>
      </p:bgPr>
    </p:bg>
    <p:spTree>
      <p:nvGrpSpPr>
        <p:cNvPr id="15" name="Shape 15"/>
        <p:cNvGrpSpPr/>
        <p:nvPr/>
      </p:nvGrpSpPr>
      <p:grpSpPr>
        <a:xfrm>
          <a:off x="0" y="0"/>
          <a:ext cx="0" cy="0"/>
          <a:chOff x="0" y="0"/>
          <a:chExt cx="0" cy="0"/>
        </a:xfrm>
      </p:grpSpPr>
      <p:pic>
        <p:nvPicPr>
          <p:cNvPr descr="A colorful background with a few rectangles&#10;&#10;Description automatically generated with medium confidence" id="17" name="Google Shape;17;p11"/>
          <p:cNvPicPr preferRelativeResize="0"/>
          <p:nvPr/>
        </p:nvPicPr>
        <p:blipFill rotWithShape="1">
          <a:blip r:embed="rId3">
            <a:alphaModFix/>
          </a:blip>
          <a:srcRect b="84051" l="0" r="0" t="0"/>
          <a:stretch/>
        </p:blipFill>
        <p:spPr>
          <a:xfrm>
            <a:off x="0" y="0"/>
            <a:ext cx="12192000" cy="973013"/>
          </a:xfrm>
          <a:prstGeom prst="rect">
            <a:avLst/>
          </a:prstGeom>
          <a:solidFill>
            <a:srgbClr val="466BB0"/>
          </a:solidFill>
          <a:ln>
            <a:noFill/>
          </a:ln>
        </p:spPr>
      </p:pic>
      <p:sp>
        <p:nvSpPr>
          <p:cNvPr id="18" name="Google Shape;18;p11"/>
          <p:cNvSpPr/>
          <p:nvPr/>
        </p:nvSpPr>
        <p:spPr>
          <a:xfrm>
            <a:off x="0" y="0"/>
            <a:ext cx="12192000" cy="973013"/>
          </a:xfrm>
          <a:prstGeom prst="rect">
            <a:avLst/>
          </a:prstGeom>
          <a:solidFill>
            <a:srgbClr val="99134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9" name="Google Shape;19;p11"/>
          <p:cNvPicPr preferRelativeResize="0"/>
          <p:nvPr/>
        </p:nvPicPr>
        <p:blipFill rotWithShape="1">
          <a:blip r:embed="rId4">
            <a:alphaModFix/>
          </a:blip>
          <a:srcRect b="0" l="0" r="0" t="0"/>
          <a:stretch/>
        </p:blipFill>
        <p:spPr>
          <a:xfrm>
            <a:off x="9408810" y="-360174"/>
            <a:ext cx="2605700" cy="1693360"/>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solidFill>
          <a:srgbClr val="991346"/>
        </a:solidFill>
      </p:bgPr>
    </p:bg>
    <p:spTree>
      <p:nvGrpSpPr>
        <p:cNvPr id="20" name="Shape 20"/>
        <p:cNvGrpSpPr/>
        <p:nvPr/>
      </p:nvGrpSpPr>
      <p:grpSpPr>
        <a:xfrm>
          <a:off x="0" y="0"/>
          <a:ext cx="0" cy="0"/>
          <a:chOff x="0" y="0"/>
          <a:chExt cx="0" cy="0"/>
        </a:xfrm>
      </p:grpSpPr>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p:bg>
      <p:bgPr>
        <a:solidFill>
          <a:srgbClr val="991346"/>
        </a:solidFill>
      </p:bgPr>
    </p:bg>
    <p:spTree>
      <p:nvGrpSpPr>
        <p:cNvPr id="21" name="Shape 21"/>
        <p:cNvGrpSpPr/>
        <p:nvPr/>
      </p:nvGrpSpPr>
      <p:grpSpPr>
        <a:xfrm>
          <a:off x="0" y="0"/>
          <a:ext cx="0" cy="0"/>
          <a:chOff x="0" y="0"/>
          <a:chExt cx="0" cy="0"/>
        </a:xfrm>
      </p:grpSpPr>
      <p:sp>
        <p:nvSpPr>
          <p:cNvPr id="22" name="Google Shape;22;p12"/>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3" name="Google Shape;23;p12"/>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7500"/>
              <a:buFont typeface="Arial"/>
              <a:buNone/>
            </a:pPr>
            <a:r>
              <a:rPr b="1" i="0" lang="en-CA" sz="3600" u="none" cap="none" strike="noStrike">
                <a:solidFill>
                  <a:schemeClr val="lt1"/>
                </a:solidFill>
                <a:latin typeface="Montserrat"/>
                <a:ea typeface="Montserrat"/>
                <a:cs typeface="Montserrat"/>
                <a:sym typeface="Montserrat"/>
              </a:rPr>
              <a:t>Thank you to our PLATINUM Sponsor!</a:t>
            </a:r>
            <a:endParaRPr b="0" i="0" sz="600" u="none" cap="none" strike="noStrike">
              <a:solidFill>
                <a:srgbClr val="000000"/>
              </a:solidFill>
              <a:latin typeface="Montserrat"/>
              <a:ea typeface="Montserrat"/>
              <a:cs typeface="Montserrat"/>
              <a:sym typeface="Montserrat"/>
            </a:endParaRPr>
          </a:p>
        </p:txBody>
      </p:sp>
      <p:pic>
        <p:nvPicPr>
          <p:cNvPr id="24" name="Google Shape;24;p12"/>
          <p:cNvPicPr preferRelativeResize="0"/>
          <p:nvPr/>
        </p:nvPicPr>
        <p:blipFill rotWithShape="1">
          <a:blip r:embed="rId2">
            <a:alphaModFix/>
          </a:blip>
          <a:srcRect b="0" l="0" r="0" t="0"/>
          <a:stretch/>
        </p:blipFill>
        <p:spPr>
          <a:xfrm>
            <a:off x="3288074" y="2724912"/>
            <a:ext cx="5396396" cy="1847088"/>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2">
    <p:bg>
      <p:bgPr>
        <a:solidFill>
          <a:srgbClr val="991346"/>
        </a:solidFill>
      </p:bgPr>
    </p:bg>
    <p:spTree>
      <p:nvGrpSpPr>
        <p:cNvPr id="25" name="Shape 25"/>
        <p:cNvGrpSpPr/>
        <p:nvPr/>
      </p:nvGrpSpPr>
      <p:grpSpPr>
        <a:xfrm>
          <a:off x="0" y="0"/>
          <a:ext cx="0" cy="0"/>
          <a:chOff x="0" y="0"/>
          <a:chExt cx="0" cy="0"/>
        </a:xfrm>
      </p:grpSpPr>
      <p:sp>
        <p:nvSpPr>
          <p:cNvPr id="26" name="Google Shape;26;p15"/>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7" name="Google Shape;27;p15"/>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7500"/>
              <a:buFont typeface="Arial"/>
              <a:buNone/>
            </a:pPr>
            <a:r>
              <a:rPr b="1" i="0" lang="en-CA" sz="3600" u="none" cap="none" strike="noStrike">
                <a:solidFill>
                  <a:schemeClr val="lt1"/>
                </a:solidFill>
                <a:latin typeface="Montserrat"/>
                <a:ea typeface="Montserrat"/>
                <a:cs typeface="Montserrat"/>
                <a:sym typeface="Montserrat"/>
              </a:rPr>
              <a:t>Thank you to our PLATINUM Sponsor!</a:t>
            </a:r>
            <a:endParaRPr b="0" i="0" sz="600" u="none" cap="none" strike="noStrike">
              <a:solidFill>
                <a:srgbClr val="000000"/>
              </a:solidFill>
              <a:latin typeface="Montserrat"/>
              <a:ea typeface="Montserrat"/>
              <a:cs typeface="Montserrat"/>
              <a:sym typeface="Montserrat"/>
            </a:endParaRPr>
          </a:p>
        </p:txBody>
      </p:sp>
      <p:pic>
        <p:nvPicPr>
          <p:cNvPr id="28" name="Google Shape;28;p15"/>
          <p:cNvPicPr preferRelativeResize="0"/>
          <p:nvPr/>
        </p:nvPicPr>
        <p:blipFill rotWithShape="1">
          <a:blip r:embed="rId2">
            <a:alphaModFix/>
          </a:blip>
          <a:srcRect b="0" l="0" r="0" t="0"/>
          <a:stretch/>
        </p:blipFill>
        <p:spPr>
          <a:xfrm>
            <a:off x="2866941" y="3001197"/>
            <a:ext cx="6406456" cy="1415380"/>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3">
    <p:bg>
      <p:bgPr>
        <a:solidFill>
          <a:srgbClr val="991346"/>
        </a:solidFill>
      </p:bgPr>
    </p:bg>
    <p:spTree>
      <p:nvGrpSpPr>
        <p:cNvPr id="29" name="Shape 29"/>
        <p:cNvGrpSpPr/>
        <p:nvPr/>
      </p:nvGrpSpPr>
      <p:grpSpPr>
        <a:xfrm>
          <a:off x="0" y="0"/>
          <a:ext cx="0" cy="0"/>
          <a:chOff x="0" y="0"/>
          <a:chExt cx="0" cy="0"/>
        </a:xfrm>
      </p:grpSpPr>
      <p:sp>
        <p:nvSpPr>
          <p:cNvPr id="30" name="Google Shape;30;p13"/>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1" name="Google Shape;31;p13"/>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7500"/>
              <a:buFont typeface="Arial"/>
              <a:buNone/>
            </a:pPr>
            <a:r>
              <a:rPr b="1" i="0" lang="en-CA" sz="3600" u="none" cap="none" strike="noStrike">
                <a:solidFill>
                  <a:schemeClr val="lt1"/>
                </a:solidFill>
                <a:latin typeface="Montserrat"/>
                <a:ea typeface="Montserrat"/>
                <a:cs typeface="Montserrat"/>
                <a:sym typeface="Montserrat"/>
              </a:rPr>
              <a:t>Thank you to our PLATINUM Sponsor!</a:t>
            </a:r>
            <a:endParaRPr b="0" i="0" sz="600" u="none" cap="none" strike="noStrike">
              <a:solidFill>
                <a:srgbClr val="000000"/>
              </a:solidFill>
              <a:latin typeface="Montserrat"/>
              <a:ea typeface="Montserrat"/>
              <a:cs typeface="Montserrat"/>
              <a:sym typeface="Montserrat"/>
            </a:endParaRPr>
          </a:p>
        </p:txBody>
      </p:sp>
      <p:pic>
        <p:nvPicPr>
          <p:cNvPr id="32" name="Google Shape;32;p13"/>
          <p:cNvPicPr preferRelativeResize="0"/>
          <p:nvPr/>
        </p:nvPicPr>
        <p:blipFill rotWithShape="1">
          <a:blip r:embed="rId2">
            <a:alphaModFix/>
          </a:blip>
          <a:srcRect b="0" l="0" r="0" t="0"/>
          <a:stretch/>
        </p:blipFill>
        <p:spPr>
          <a:xfrm>
            <a:off x="3745628" y="2798064"/>
            <a:ext cx="4700744" cy="1865376"/>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4">
    <p:bg>
      <p:bgPr>
        <a:solidFill>
          <a:srgbClr val="991346"/>
        </a:solidFill>
      </p:bgPr>
    </p:bg>
    <p:spTree>
      <p:nvGrpSpPr>
        <p:cNvPr id="33" name="Shape 33"/>
        <p:cNvGrpSpPr/>
        <p:nvPr/>
      </p:nvGrpSpPr>
      <p:grpSpPr>
        <a:xfrm>
          <a:off x="0" y="0"/>
          <a:ext cx="0" cy="0"/>
          <a:chOff x="0" y="0"/>
          <a:chExt cx="0" cy="0"/>
        </a:xfrm>
      </p:grpSpPr>
      <p:sp>
        <p:nvSpPr>
          <p:cNvPr id="34" name="Google Shape;34;p14"/>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 name="Google Shape;35;p14"/>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7500"/>
              <a:buFont typeface="Arial"/>
              <a:buNone/>
            </a:pPr>
            <a:r>
              <a:rPr b="1" i="0" lang="en-CA" sz="3600" u="none" cap="none" strike="noStrike">
                <a:solidFill>
                  <a:schemeClr val="lt1"/>
                </a:solidFill>
                <a:latin typeface="Montserrat"/>
                <a:ea typeface="Montserrat"/>
                <a:cs typeface="Montserrat"/>
                <a:sym typeface="Montserrat"/>
              </a:rPr>
              <a:t>Thank you to our PLATINUM Sponsor!</a:t>
            </a:r>
            <a:endParaRPr b="0" i="0" sz="600" u="none" cap="none" strike="noStrike">
              <a:solidFill>
                <a:srgbClr val="000000"/>
              </a:solidFill>
              <a:latin typeface="Montserrat"/>
              <a:ea typeface="Montserrat"/>
              <a:cs typeface="Montserrat"/>
              <a:sym typeface="Montserrat"/>
            </a:endParaRPr>
          </a:p>
        </p:txBody>
      </p:sp>
      <p:pic>
        <p:nvPicPr>
          <p:cNvPr id="36" name="Google Shape;36;p14"/>
          <p:cNvPicPr preferRelativeResize="0"/>
          <p:nvPr/>
        </p:nvPicPr>
        <p:blipFill rotWithShape="1">
          <a:blip r:embed="rId2">
            <a:alphaModFix/>
          </a:blip>
          <a:srcRect b="0" l="0" r="0" t="0"/>
          <a:stretch/>
        </p:blipFill>
        <p:spPr>
          <a:xfrm>
            <a:off x="3266632" y="2935051"/>
            <a:ext cx="5658736" cy="1481674"/>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5">
    <p:bg>
      <p:bgPr>
        <a:solidFill>
          <a:srgbClr val="991346"/>
        </a:solidFill>
      </p:bgPr>
    </p:bg>
    <p:spTree>
      <p:nvGrpSpPr>
        <p:cNvPr id="37" name="Shape 37"/>
        <p:cNvGrpSpPr/>
        <p:nvPr/>
      </p:nvGrpSpPr>
      <p:grpSpPr>
        <a:xfrm>
          <a:off x="0" y="0"/>
          <a:ext cx="0" cy="0"/>
          <a:chOff x="0" y="0"/>
          <a:chExt cx="0" cy="0"/>
        </a:xfrm>
      </p:grpSpPr>
      <p:sp>
        <p:nvSpPr>
          <p:cNvPr id="38" name="Google Shape;38;p17"/>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9" name="Google Shape;39;p17"/>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7500"/>
              <a:buFont typeface="Arial"/>
              <a:buNone/>
            </a:pPr>
            <a:r>
              <a:rPr b="1" i="0" lang="en-CA" sz="3600" u="none" cap="none" strike="noStrike">
                <a:solidFill>
                  <a:schemeClr val="lt1"/>
                </a:solidFill>
                <a:latin typeface="Montserrat"/>
                <a:ea typeface="Montserrat"/>
                <a:cs typeface="Montserrat"/>
                <a:sym typeface="Montserrat"/>
              </a:rPr>
              <a:t>Thank you to our PLATINUM Sponsor!</a:t>
            </a:r>
            <a:endParaRPr b="0" i="0" sz="600" u="none" cap="none" strike="noStrike">
              <a:solidFill>
                <a:srgbClr val="000000"/>
              </a:solidFill>
              <a:latin typeface="Montserrat"/>
              <a:ea typeface="Montserrat"/>
              <a:cs typeface="Montserrat"/>
              <a:sym typeface="Montserrat"/>
            </a:endParaRPr>
          </a:p>
        </p:txBody>
      </p:sp>
      <p:pic>
        <p:nvPicPr>
          <p:cNvPr id="40" name="Google Shape;40;p17"/>
          <p:cNvPicPr preferRelativeResize="0"/>
          <p:nvPr/>
        </p:nvPicPr>
        <p:blipFill rotWithShape="1">
          <a:blip r:embed="rId2">
            <a:alphaModFix/>
          </a:blip>
          <a:srcRect b="0" l="0" r="0" t="0"/>
          <a:stretch/>
        </p:blipFill>
        <p:spPr>
          <a:xfrm>
            <a:off x="3252292" y="3053751"/>
            <a:ext cx="5652911" cy="1259457"/>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6">
    <p:bg>
      <p:bgPr>
        <a:solidFill>
          <a:srgbClr val="991346"/>
        </a:solidFill>
      </p:bgPr>
    </p:bg>
    <p:spTree>
      <p:nvGrpSpPr>
        <p:cNvPr id="41" name="Shape 41"/>
        <p:cNvGrpSpPr/>
        <p:nvPr/>
      </p:nvGrpSpPr>
      <p:grpSpPr>
        <a:xfrm>
          <a:off x="0" y="0"/>
          <a:ext cx="0" cy="0"/>
          <a:chOff x="0" y="0"/>
          <a:chExt cx="0" cy="0"/>
        </a:xfrm>
      </p:grpSpPr>
      <p:sp>
        <p:nvSpPr>
          <p:cNvPr id="42" name="Google Shape;42;p16"/>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3" name="Google Shape;43;p16"/>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7500"/>
              <a:buFont typeface="Arial"/>
              <a:buNone/>
            </a:pPr>
            <a:r>
              <a:rPr b="1" i="0" lang="en-CA" sz="3600" u="none" cap="none" strike="noStrike">
                <a:solidFill>
                  <a:schemeClr val="lt1"/>
                </a:solidFill>
                <a:latin typeface="Montserrat"/>
                <a:ea typeface="Montserrat"/>
                <a:cs typeface="Montserrat"/>
                <a:sym typeface="Montserrat"/>
              </a:rPr>
              <a:t>Thank you to our PLATINUM Sponsors!</a:t>
            </a:r>
            <a:endParaRPr b="0" i="0" sz="600" u="none" cap="none" strike="noStrike">
              <a:solidFill>
                <a:srgbClr val="000000"/>
              </a:solidFill>
              <a:latin typeface="Montserrat"/>
              <a:ea typeface="Montserrat"/>
              <a:cs typeface="Montserrat"/>
              <a:sym typeface="Montserrat"/>
            </a:endParaRPr>
          </a:p>
        </p:txBody>
      </p:sp>
      <p:pic>
        <p:nvPicPr>
          <p:cNvPr id="44" name="Google Shape;44;p16"/>
          <p:cNvPicPr preferRelativeResize="0"/>
          <p:nvPr/>
        </p:nvPicPr>
        <p:blipFill rotWithShape="1">
          <a:blip r:embed="rId2">
            <a:alphaModFix/>
          </a:blip>
          <a:srcRect b="0" l="0" r="0" t="0"/>
          <a:stretch/>
        </p:blipFill>
        <p:spPr>
          <a:xfrm>
            <a:off x="1133089" y="2338977"/>
            <a:ext cx="2681328" cy="917769"/>
          </a:xfrm>
          <a:prstGeom prst="rect">
            <a:avLst/>
          </a:prstGeom>
          <a:noFill/>
          <a:ln>
            <a:noFill/>
          </a:ln>
        </p:spPr>
      </p:pic>
      <p:pic>
        <p:nvPicPr>
          <p:cNvPr id="45" name="Google Shape;45;p16"/>
          <p:cNvPicPr preferRelativeResize="0"/>
          <p:nvPr/>
        </p:nvPicPr>
        <p:blipFill rotWithShape="1">
          <a:blip r:embed="rId3">
            <a:alphaModFix/>
          </a:blip>
          <a:srcRect b="0" l="0" r="0" t="0"/>
          <a:stretch/>
        </p:blipFill>
        <p:spPr>
          <a:xfrm>
            <a:off x="8377580" y="2376970"/>
            <a:ext cx="2335677" cy="926857"/>
          </a:xfrm>
          <a:prstGeom prst="rect">
            <a:avLst/>
          </a:prstGeom>
          <a:noFill/>
          <a:ln>
            <a:noFill/>
          </a:ln>
        </p:spPr>
      </p:pic>
      <p:pic>
        <p:nvPicPr>
          <p:cNvPr id="46" name="Google Shape;46;p16"/>
          <p:cNvPicPr preferRelativeResize="0"/>
          <p:nvPr/>
        </p:nvPicPr>
        <p:blipFill rotWithShape="1">
          <a:blip r:embed="rId4">
            <a:alphaModFix/>
          </a:blip>
          <a:srcRect b="0" l="0" r="0" t="0"/>
          <a:stretch/>
        </p:blipFill>
        <p:spPr>
          <a:xfrm>
            <a:off x="2408578" y="4285905"/>
            <a:ext cx="2811678" cy="736205"/>
          </a:xfrm>
          <a:prstGeom prst="rect">
            <a:avLst/>
          </a:prstGeom>
          <a:noFill/>
          <a:ln>
            <a:noFill/>
          </a:ln>
        </p:spPr>
      </p:pic>
      <p:pic>
        <p:nvPicPr>
          <p:cNvPr id="47" name="Google Shape;47;p16"/>
          <p:cNvPicPr preferRelativeResize="0"/>
          <p:nvPr/>
        </p:nvPicPr>
        <p:blipFill rotWithShape="1">
          <a:blip r:embed="rId5">
            <a:alphaModFix/>
          </a:blip>
          <a:srcRect b="0" l="0" r="0" t="0"/>
          <a:stretch/>
        </p:blipFill>
        <p:spPr>
          <a:xfrm>
            <a:off x="6296843" y="4330017"/>
            <a:ext cx="3106371" cy="692093"/>
          </a:xfrm>
          <a:prstGeom prst="rect">
            <a:avLst/>
          </a:prstGeom>
          <a:noFill/>
          <a:ln>
            <a:noFill/>
          </a:ln>
        </p:spPr>
      </p:pic>
      <p:pic>
        <p:nvPicPr>
          <p:cNvPr id="48" name="Google Shape;48;p16"/>
          <p:cNvPicPr preferRelativeResize="0"/>
          <p:nvPr/>
        </p:nvPicPr>
        <p:blipFill rotWithShape="1">
          <a:blip r:embed="rId6">
            <a:alphaModFix/>
          </a:blip>
          <a:srcRect b="0" l="0" r="0" t="0"/>
          <a:stretch/>
        </p:blipFill>
        <p:spPr>
          <a:xfrm>
            <a:off x="4485737" y="2495115"/>
            <a:ext cx="3191774" cy="705160"/>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7">
    <p:bg>
      <p:bgPr>
        <a:solidFill>
          <a:srgbClr val="991346"/>
        </a:solidFill>
      </p:bgPr>
    </p:bg>
    <p:spTree>
      <p:nvGrpSpPr>
        <p:cNvPr id="49" name="Shape 49"/>
        <p:cNvGrpSpPr/>
        <p:nvPr/>
      </p:nvGrpSpPr>
      <p:grpSpPr>
        <a:xfrm>
          <a:off x="0" y="0"/>
          <a:ext cx="0" cy="0"/>
          <a:chOff x="0" y="0"/>
          <a:chExt cx="0" cy="0"/>
        </a:xfrm>
      </p:grpSpPr>
      <p:sp>
        <p:nvSpPr>
          <p:cNvPr id="50" name="Google Shape;50;p18"/>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1" name="Google Shape;51;p18"/>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fontScale="85000" lnSpcReduction="10000"/>
          </a:bodyPr>
          <a:lstStyle/>
          <a:p>
            <a:pPr indent="0" lvl="0" marL="0" marR="0" rtl="0" algn="ctr">
              <a:lnSpc>
                <a:spcPct val="90000"/>
              </a:lnSpc>
              <a:spcBef>
                <a:spcPts val="0"/>
              </a:spcBef>
              <a:spcAft>
                <a:spcPts val="0"/>
              </a:spcAft>
              <a:buClr>
                <a:schemeClr val="lt1"/>
              </a:buClr>
              <a:buSzPct val="245098"/>
              <a:buFont typeface="Arial"/>
              <a:buNone/>
            </a:pPr>
            <a:r>
              <a:rPr b="1" i="0" lang="en-CA" sz="3600" u="none" cap="none" strike="noStrike">
                <a:solidFill>
                  <a:schemeClr val="lt1"/>
                </a:solidFill>
                <a:latin typeface="Montserrat"/>
                <a:ea typeface="Montserrat"/>
                <a:cs typeface="Montserrat"/>
                <a:sym typeface="Montserrat"/>
              </a:rPr>
              <a:t>Thank you to our SESSION RECORDING Sponsor!</a:t>
            </a:r>
            <a:endParaRPr b="0" i="0" sz="600" u="none" cap="none" strike="noStrike">
              <a:solidFill>
                <a:srgbClr val="000000"/>
              </a:solidFill>
              <a:latin typeface="Montserrat"/>
              <a:ea typeface="Montserrat"/>
              <a:cs typeface="Montserrat"/>
              <a:sym typeface="Montserrat"/>
            </a:endParaRPr>
          </a:p>
        </p:txBody>
      </p:sp>
      <p:pic>
        <p:nvPicPr>
          <p:cNvPr id="52" name="Google Shape;52;p18"/>
          <p:cNvPicPr preferRelativeResize="0"/>
          <p:nvPr/>
        </p:nvPicPr>
        <p:blipFill rotWithShape="1">
          <a:blip r:embed="rId2">
            <a:alphaModFix/>
          </a:blip>
          <a:srcRect b="0" l="0" r="0" t="0"/>
          <a:stretch/>
        </p:blipFill>
        <p:spPr>
          <a:xfrm>
            <a:off x="3288074" y="2724912"/>
            <a:ext cx="5396396" cy="1847088"/>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2"/>
          <p:cNvSpPr txBox="1"/>
          <p:nvPr/>
        </p:nvSpPr>
        <p:spPr>
          <a:xfrm>
            <a:off x="729046" y="3574272"/>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3600"/>
              <a:buFont typeface="Arial"/>
              <a:buNone/>
            </a:pPr>
            <a:r>
              <a:rPr b="0" i="1" lang="en-CA" sz="1800" u="none" cap="none" strike="noStrike">
                <a:solidFill>
                  <a:schemeClr val="lt1"/>
                </a:solidFill>
                <a:latin typeface="Arial"/>
                <a:ea typeface="Arial"/>
                <a:cs typeface="Arial"/>
                <a:sym typeface="Arial"/>
              </a:rPr>
              <a:t>Danilo Souza, AWS Professional Services</a:t>
            </a:r>
            <a:endParaRPr b="0" i="0" sz="1400" u="none" cap="none" strike="noStrike">
              <a:solidFill>
                <a:schemeClr val="lt1"/>
              </a:solidFill>
              <a:latin typeface="Arial"/>
              <a:ea typeface="Arial"/>
              <a:cs typeface="Arial"/>
              <a:sym typeface="Arial"/>
            </a:endParaRPr>
          </a:p>
          <a:p>
            <a:pPr indent="0" lvl="0" marL="0" marR="0" rtl="0" algn="l">
              <a:lnSpc>
                <a:spcPct val="90000"/>
              </a:lnSpc>
              <a:spcBef>
                <a:spcPts val="0"/>
              </a:spcBef>
              <a:spcAft>
                <a:spcPts val="0"/>
              </a:spcAft>
              <a:buClr>
                <a:schemeClr val="lt1"/>
              </a:buClr>
              <a:buSzPts val="3600"/>
              <a:buFont typeface="Arial"/>
              <a:buNone/>
            </a:pPr>
            <a:r>
              <a:rPr b="0" i="1" lang="en-CA" sz="1800" u="none" cap="none" strike="noStrike">
                <a:solidFill>
                  <a:schemeClr val="lt1"/>
                </a:solidFill>
                <a:latin typeface="Arial"/>
                <a:ea typeface="Arial"/>
                <a:cs typeface="Arial"/>
                <a:sym typeface="Arial"/>
              </a:rPr>
              <a:t>Henrique Santana, AWS Support</a:t>
            </a:r>
            <a:endParaRPr b="0" i="0" sz="1400" u="none" cap="none" strike="noStrike">
              <a:solidFill>
                <a:schemeClr val="lt1"/>
              </a:solidFill>
              <a:latin typeface="Arial"/>
              <a:ea typeface="Arial"/>
              <a:cs typeface="Arial"/>
              <a:sym typeface="Arial"/>
            </a:endParaRPr>
          </a:p>
          <a:p>
            <a:pPr algn="l"/>
            <a:r>
              <a:rPr b="0" i="1" lang="en-CA" sz="1400" u="none" cap="none" strike="noStrike">
                <a:solidFill>
                  <a:schemeClr val="lt1"/>
                </a:solidFill>
                <a:latin typeface="Arial"/>
                <a:ea typeface="Arial"/>
                <a:cs typeface="Arial"/>
                <a:sym typeface="Arial"/>
              </a:rPr>
              <a:t>Observability Day North America, Salt Lake City, 9 November 2026</a:t>
            </a:r>
          </a:p>
        </p:txBody>
      </p:sp>
      <p:sp>
        <p:nvSpPr>
          <p:cNvPr id="80" name="Google Shape;80;p2"/>
          <p:cNvSpPr txBox="1"/>
          <p:nvPr/>
        </p:nvSpPr>
        <p:spPr>
          <a:xfrm>
            <a:off x="627791" y="2098709"/>
            <a:ext cx="10515600" cy="15000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7500"/>
              <a:buFont typeface="Arial"/>
              <a:buNone/>
            </a:pPr>
            <a:r>
              <a:rPr b="1" i="0" lang="en-CA" sz="4000" u="none" cap="none" strike="noStrike">
                <a:solidFill>
                  <a:schemeClr val="lt1"/>
                </a:solidFill>
                <a:latin typeface="Arial"/>
                <a:ea typeface="Arial"/>
                <a:cs typeface="Arial"/>
                <a:sym typeface="Arial"/>
              </a:rPr>
              <a:t>Inference Is a Black Box</a:t>
            </a:r>
            <a:endParaRPr b="0" i="0" sz="1400" u="none" cap="none" strike="noStrike">
              <a:solidFill>
                <a:schemeClr val="lt1"/>
              </a:solidFill>
              <a:latin typeface="Arial"/>
              <a:ea typeface="Arial"/>
              <a:cs typeface="Arial"/>
              <a:sym typeface="Arial"/>
            </a:endParaRPr>
          </a:p>
          <a:p>
            <a:pPr algn="l"/>
            <a:r>
              <a:rPr b="0" i="0" lang="en-CA" sz="2200" u="none" cap="none" strike="noStrike">
                <a:solidFill>
                  <a:schemeClr val="lt1"/>
                </a:solidFill>
                <a:latin typeface="Arial"/>
                <a:ea typeface="Arial"/>
                <a:cs typeface="Arial"/>
                <a:sym typeface="Arial"/>
              </a:rPr>
              <a:t>How We Built GPU-Aware Observability with Fluent Bit and OpenTelemetry</a:t>
            </a:r>
          </a:p>
        </p:txBody>
      </p:sp>
      <p:sp>
        <p:nvSpPr>
          <p:cNvPr id="81" name="Rounded Rectangle 80"/>
          <p:cNvSpPr/>
          <p:nvPr/>
        </p:nvSpPr>
        <p:spPr>
          <a:xfrm>
            <a:off x="729046" y="5100000"/>
            <a:ext cx="3000000" cy="560000"/>
          </a:xfrm>
          <a:prstGeom prst="roundRect">
            <a:avLst>
              <a:gd name="adj" fmla="val 50000"/>
            </a:avLst>
          </a:prstGeom>
          <a:solidFill>
            <a:srgbClr val="FFFFFF"/>
          </a:solidFill>
          <a:ln>
            <a:noFill/>
          </a:ln>
        </p:spPr>
        <p:txBody>
          <a:bodyPr rtlCol="0" anchor="ctr" lIns="90000" rIns="90000" tIns="0" bIns="0"/>
          <a:lstStyle/>
          <a:p>
            <a:pPr algn="ctr"/>
            <a:r>
              <a:rPr sz="1800" b="1" i="0">
                <a:solidFill>
                  <a:srgbClr val="C62828"/>
                </a:solidFill>
                <a:latin typeface="Arial"/>
              </a:rPr>
              <a:t>GPU dashboard = ?</a:t>
            </a:r>
          </a:p>
        </p:txBody>
      </p:sp>
      <p:sp>
        <p:nvSpPr>
          <p:cNvPr id="82" name="Rounded Rectangle 81"/>
          <p:cNvSpPr/>
          <p:nvPr/>
        </p:nvSpPr>
        <p:spPr>
          <a:xfrm>
            <a:off x="4029046" y="5100000"/>
            <a:ext cx="3400000" cy="560000"/>
          </a:xfrm>
          <a:prstGeom prst="roundRect">
            <a:avLst>
              <a:gd name="adj" fmla="val 50000"/>
            </a:avLst>
          </a:prstGeom>
          <a:solidFill>
            <a:srgbClr val="FFFFFF"/>
          </a:solidFill>
          <a:ln>
            <a:noFill/>
          </a:ln>
        </p:spPr>
        <p:txBody>
          <a:bodyPr rtlCol="0" anchor="ctr" lIns="90000" rIns="90000" tIns="0" bIns="0"/>
          <a:lstStyle/>
          <a:p>
            <a:pPr algn="ctr"/>
            <a:r>
              <a:rPr sz="1800" b="1" i="0">
                <a:solidFill>
                  <a:srgbClr val="2E7D32"/>
                </a:solidFill>
                <a:latin typeface="Arial"/>
              </a:rPr>
              <a:t>One log line = answer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02:14. p99 doubles. Every GPU chart is green.</a:t>
            </a:r>
          </a:p>
        </p:txBody>
      </p:sp>
      <p:sp>
        <p:nvSpPr>
          <p:cNvPr id="3" name="TextBox 2"/>
          <p:cNvSpPr txBox="1"/>
          <p:nvPr/>
        </p:nvSpPr>
        <p:spPr>
          <a:xfrm>
            <a:off x="403682" y="1400000"/>
            <a:ext cx="4300000" cy="1000000"/>
          </a:xfrm>
          <a:prstGeom prst="rect">
            <a:avLst/>
          </a:prstGeom>
          <a:noFill/>
        </p:spPr>
        <p:txBody>
          <a:bodyPr wrap="square" anchor="t">
            <a:spAutoFit/>
          </a:bodyPr>
          <a:lstStyle/>
          <a:p>
            <a:pPr algn="l">
              <a:spcAft>
                <a:spcPts val="0"/>
              </a:spcAft>
            </a:pPr>
            <a:r>
              <a:rPr sz="7200" b="1" i="0">
                <a:solidFill>
                  <a:srgbClr val="991346"/>
                </a:solidFill>
                <a:latin typeface="Arial"/>
              </a:rPr>
              <a:t>02:14</a:t>
            </a:r>
          </a:p>
        </p:txBody>
      </p:sp>
      <p:pic>
        <p:nvPicPr>
          <p:cNvPr id="4" name="Picture 3" descr="p99-spark.png"/>
          <p:cNvPicPr>
            <a:picLocks noChangeAspect="1"/>
          </p:cNvPicPr>
          <p:nvPr/>
        </p:nvPicPr>
        <p:blipFill>
          <a:blip r:embed="rId3"/>
          <a:stretch>
            <a:fillRect/>
          </a:stretch>
        </p:blipFill>
        <p:spPr>
          <a:xfrm>
            <a:off x="403682" y="2300000"/>
            <a:ext cx="4100000" cy="2050000"/>
          </a:xfrm>
          <a:prstGeom prst="rect">
            <a:avLst/>
          </a:prstGeom>
        </p:spPr>
      </p:pic>
      <p:sp>
        <p:nvSpPr>
          <p:cNvPr id="5" name="TextBox 4"/>
          <p:cNvSpPr txBox="1"/>
          <p:nvPr/>
        </p:nvSpPr>
        <p:spPr>
          <a:xfrm>
            <a:off x="403682" y="4400000"/>
            <a:ext cx="4000000" cy="1100000"/>
          </a:xfrm>
          <a:prstGeom prst="rect">
            <a:avLst/>
          </a:prstGeom>
          <a:noFill/>
        </p:spPr>
        <p:txBody>
          <a:bodyPr wrap="square" anchor="t">
            <a:spAutoFit/>
          </a:bodyPr>
          <a:lstStyle/>
          <a:p>
            <a:pPr algn="l">
              <a:spcAft>
                <a:spcPts val="600"/>
              </a:spcAft>
            </a:pPr>
            <a:r>
              <a:rPr sz="2000" b="0" i="0">
                <a:solidFill>
                  <a:srgbClr val="262626"/>
                </a:solidFill>
                <a:latin typeface="Arial"/>
              </a:rPr>
              <a:t>The model is healthy.</a:t>
            </a:r>
          </a:p>
          <a:p>
            <a:pPr algn="l">
              <a:spcAft>
                <a:spcPts val="600"/>
              </a:spcAft>
            </a:pPr>
            <a:r>
              <a:rPr sz="2000" b="0" i="0">
                <a:solidFill>
                  <a:srgbClr val="262626"/>
                </a:solidFill>
                <a:latin typeface="Arial"/>
              </a:rPr>
              <a:t>The pods are Ready.</a:t>
            </a:r>
          </a:p>
          <a:p>
            <a:pPr algn="l">
              <a:spcAft>
                <a:spcPts val="0"/>
              </a:spcAft>
            </a:pPr>
            <a:r>
              <a:rPr sz="2000" b="0" i="0">
                <a:solidFill>
                  <a:srgbClr val="262626"/>
                </a:solidFill>
                <a:latin typeface="Arial"/>
              </a:rPr>
              <a:t>Nothing is throttled.</a:t>
            </a:r>
          </a:p>
        </p:txBody>
      </p:sp>
      <p:sp>
        <p:nvSpPr>
          <p:cNvPr id="6" name="TextBox 5"/>
          <p:cNvSpPr txBox="1"/>
          <p:nvPr/>
        </p:nvSpPr>
        <p:spPr>
          <a:xfrm>
            <a:off x="403682" y="5550000"/>
            <a:ext cx="4300000" cy="800000"/>
          </a:xfrm>
          <a:prstGeom prst="rect">
            <a:avLst/>
          </a:prstGeom>
          <a:noFill/>
        </p:spPr>
        <p:txBody>
          <a:bodyPr wrap="square" anchor="t">
            <a:spAutoFit/>
          </a:bodyPr>
          <a:lstStyle/>
          <a:p>
            <a:pPr algn="l">
              <a:spcAft>
                <a:spcPts val="0"/>
              </a:spcAft>
            </a:pPr>
            <a:r>
              <a:rPr sz="3200" b="1" i="0">
                <a:solidFill>
                  <a:srgbClr val="991346"/>
                </a:solidFill>
                <a:latin typeface="Arial"/>
              </a:rPr>
              <a:t>Nobody knows why.</a:t>
            </a:r>
          </a:p>
        </p:txBody>
      </p:sp>
      <p:pic>
        <p:nvPicPr>
          <p:cNvPr id="7" name="Picture 6" descr="incident-oncall.png"/>
          <p:cNvPicPr>
            <a:picLocks noChangeAspect="1"/>
          </p:cNvPicPr>
          <p:nvPr/>
        </p:nvPicPr>
        <p:blipFill>
          <a:blip r:embed="rId4"/>
          <a:stretch>
            <a:fillRect/>
          </a:stretch>
        </p:blipFill>
        <p:spPr>
          <a:xfrm>
            <a:off x="4759031" y="1350000"/>
            <a:ext cx="6973937" cy="3985107"/>
          </a:xfrm>
          <a:prstGeom prst="rect">
            <a:avLst/>
          </a:prstGeom>
        </p:spPr>
      </p:pic>
      <p:sp>
        <p:nvSpPr>
          <p:cNvPr id="8" name="Rectangle 7"/>
          <p:cNvSpPr/>
          <p:nvPr/>
        </p:nvSpPr>
        <p:spPr>
          <a:xfrm>
            <a:off x="4759031" y="1350000"/>
            <a:ext cx="6973937" cy="3985107"/>
          </a:xfrm>
          <a:prstGeom prst="rect">
            <a:avLst/>
          </a:prstGeom>
          <a:noFill/>
          <a:ln w="9525">
            <a:solidFill>
              <a:srgbClr val="DDDDDD"/>
            </a:solidFill>
          </a:ln>
        </p:spPr>
        <p:txBody>
          <a:bodyPr rtlCol="0" anchor="ctr"/>
          <a:lstStyle/>
          <a:p>
            <a:pPr algn="ctr"/>
          </a:p>
        </p:txBody>
      </p:sp>
      <p:sp>
        <p:nvSpPr>
          <p:cNvPr id="9" name="TextBox 8"/>
          <p:cNvSpPr txBox="1"/>
          <p:nvPr/>
        </p:nvSpPr>
        <p:spPr>
          <a:xfrm>
            <a:off x="4703682" y="5485107"/>
            <a:ext cx="7084636" cy="700000"/>
          </a:xfrm>
          <a:prstGeom prst="rect">
            <a:avLst/>
          </a:prstGeom>
          <a:noFill/>
        </p:spPr>
        <p:txBody>
          <a:bodyPr wrap="square" anchor="t">
            <a:spAutoFit/>
          </a:bodyPr>
          <a:lstStyle/>
          <a:p>
            <a:pPr algn="ctr">
              <a:spcAft>
                <a:spcPts val="0"/>
              </a:spcAft>
            </a:pPr>
            <a:r>
              <a:rPr sz="1800" b="0" i="0">
                <a:solidFill>
                  <a:srgbClr val="6B6B6B"/>
                </a:solidFill>
                <a:latin typeface="Arial"/>
              </a:rPr>
              <a:t>Every signal the hardware gives you says: busy and healthy.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Utilisation alone tells you nothing.</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Industry average production GPU utilisation ~5%: Cast AI, State of GPU utilisation 2026 (cast.ai/blog/fractional-gpu-kubernetes)</a:t>
            </a:r>
          </a:p>
        </p:txBody>
      </p:sp>
      <p:sp>
        <p:nvSpPr>
          <p:cNvPr id="4" name="Rounded Rectangle 3"/>
          <p:cNvSpPr/>
          <p:nvPr/>
        </p:nvSpPr>
        <p:spPr>
          <a:xfrm>
            <a:off x="403682" y="1250000"/>
            <a:ext cx="5492318" cy="3600000"/>
          </a:xfrm>
          <a:prstGeom prst="roundRect">
            <a:avLst>
              <a:gd name="adj" fmla="val 8000"/>
            </a:avLst>
          </a:prstGeom>
          <a:solidFill>
            <a:srgbClr val="FBE5E5"/>
          </a:solidFill>
          <a:ln>
            <a:noFill/>
          </a:ln>
        </p:spPr>
        <p:txBody>
          <a:bodyPr rtlCol="0" anchor="ctr"/>
          <a:lstStyle/>
          <a:p/>
        </p:txBody>
      </p:sp>
      <p:sp>
        <p:nvSpPr>
          <p:cNvPr id="5" name="TextBox 4"/>
          <p:cNvSpPr txBox="1"/>
          <p:nvPr/>
        </p:nvSpPr>
        <p:spPr>
          <a:xfrm>
            <a:off x="403682" y="1250000"/>
            <a:ext cx="5492318" cy="3600000"/>
          </a:xfrm>
          <a:prstGeom prst="rect">
            <a:avLst/>
          </a:prstGeom>
          <a:noFill/>
        </p:spPr>
        <p:txBody>
          <a:bodyPr wrap="square" anchor="ctr">
            <a:spAutoFit/>
          </a:bodyPr>
          <a:lstStyle/>
          <a:p>
            <a:pPr algn="ctr">
              <a:spcAft>
                <a:spcPts val="0"/>
              </a:spcAft>
            </a:pPr>
            <a:r>
              <a:rPr sz="13000" b="1" i="0">
                <a:solidFill>
                  <a:srgbClr val="C62828"/>
                </a:solidFill>
                <a:latin typeface="Arial"/>
              </a:rPr>
              <a:t>95%</a:t>
            </a:r>
          </a:p>
          <a:p>
            <a:pPr algn="ctr">
              <a:spcAft>
                <a:spcPts val="0"/>
              </a:spcAft>
            </a:pPr>
            <a:r>
              <a:rPr sz="2200" b="1" i="0">
                <a:solidFill>
                  <a:srgbClr val="262626"/>
                </a:solidFill>
                <a:latin typeface="Arial"/>
              </a:rPr>
              <a:t>our fleet at 02:14</a:t>
            </a:r>
          </a:p>
          <a:p>
            <a:pPr algn="ctr">
              <a:spcAft>
                <a:spcPts val="0"/>
              </a:spcAft>
            </a:pPr>
            <a:r>
              <a:rPr sz="1800" b="0" i="0">
                <a:solidFill>
                  <a:srgbClr val="6B6B6B"/>
                </a:solidFill>
                <a:latin typeface="Arial"/>
              </a:rPr>
              <a:t>looks saturated</a:t>
            </a:r>
          </a:p>
        </p:txBody>
      </p:sp>
      <p:sp>
        <p:nvSpPr>
          <p:cNvPr id="6" name="Rounded Rectangle 5"/>
          <p:cNvSpPr/>
          <p:nvPr/>
        </p:nvSpPr>
        <p:spPr>
          <a:xfrm>
            <a:off x="6296000" y="1250000"/>
            <a:ext cx="5492318" cy="3600000"/>
          </a:xfrm>
          <a:prstGeom prst="roundRect">
            <a:avLst>
              <a:gd name="adj" fmla="val 8000"/>
            </a:avLst>
          </a:prstGeom>
          <a:solidFill>
            <a:srgbClr val="E4EEF8"/>
          </a:solidFill>
          <a:ln>
            <a:noFill/>
          </a:ln>
        </p:spPr>
        <p:txBody>
          <a:bodyPr rtlCol="0" anchor="ctr"/>
          <a:lstStyle/>
          <a:p/>
        </p:txBody>
      </p:sp>
      <p:sp>
        <p:nvSpPr>
          <p:cNvPr id="7" name="TextBox 6"/>
          <p:cNvSpPr txBox="1"/>
          <p:nvPr/>
        </p:nvSpPr>
        <p:spPr>
          <a:xfrm>
            <a:off x="6296000" y="1250000"/>
            <a:ext cx="5492318" cy="3600000"/>
          </a:xfrm>
          <a:prstGeom prst="rect">
            <a:avLst/>
          </a:prstGeom>
          <a:noFill/>
        </p:spPr>
        <p:txBody>
          <a:bodyPr wrap="square" anchor="ctr">
            <a:spAutoFit/>
          </a:bodyPr>
          <a:lstStyle/>
          <a:p>
            <a:pPr algn="ctr">
              <a:spcAft>
                <a:spcPts val="0"/>
              </a:spcAft>
            </a:pPr>
            <a:r>
              <a:rPr sz="13000" b="1" i="0">
                <a:solidFill>
                  <a:srgbClr val="1F5FA8"/>
                </a:solidFill>
                <a:latin typeface="Arial"/>
              </a:rPr>
              <a:t>~5%</a:t>
            </a:r>
          </a:p>
          <a:p>
            <a:pPr algn="ctr">
              <a:spcAft>
                <a:spcPts val="0"/>
              </a:spcAft>
            </a:pPr>
            <a:r>
              <a:rPr sz="2200" b="1" i="0">
                <a:solidFill>
                  <a:srgbClr val="262626"/>
                </a:solidFill>
                <a:latin typeface="Arial"/>
              </a:rPr>
              <a:t>industry average</a:t>
            </a:r>
          </a:p>
          <a:p>
            <a:pPr algn="ctr">
              <a:spcAft>
                <a:spcPts val="0"/>
              </a:spcAft>
            </a:pPr>
            <a:r>
              <a:rPr sz="1800" b="0" i="0">
                <a:solidFill>
                  <a:srgbClr val="6B6B6B"/>
                </a:solidFill>
                <a:latin typeface="Arial"/>
              </a:rPr>
              <a:t>looks idle</a:t>
            </a:r>
          </a:p>
        </p:txBody>
      </p:sp>
      <p:sp>
        <p:nvSpPr>
          <p:cNvPr id="8" name="TextBox 7"/>
          <p:cNvSpPr txBox="1"/>
          <p:nvPr/>
        </p:nvSpPr>
        <p:spPr>
          <a:xfrm>
            <a:off x="403682" y="4900000"/>
            <a:ext cx="11384636" cy="500000"/>
          </a:xfrm>
          <a:prstGeom prst="rect">
            <a:avLst/>
          </a:prstGeom>
          <a:noFill/>
        </p:spPr>
        <p:txBody>
          <a:bodyPr wrap="square" anchor="t">
            <a:spAutoFit/>
          </a:bodyPr>
          <a:lstStyle/>
          <a:p>
            <a:pPr algn="ctr">
              <a:spcAft>
                <a:spcPts val="0"/>
              </a:spcAft>
            </a:pPr>
            <a:r>
              <a:rPr sz="1800" b="0" i="0">
                <a:solidFill>
                  <a:srgbClr val="6B6B6B"/>
                </a:solidFill>
                <a:latin typeface="Courier New"/>
              </a:rPr>
              <a:t>DCGM_FI_DEV_GPU_UTIL</a:t>
            </a:r>
          </a:p>
        </p:txBody>
      </p:sp>
      <p:sp>
        <p:nvSpPr>
          <p:cNvPr id="9" name="TextBox 8"/>
          <p:cNvSpPr txBox="1"/>
          <p:nvPr/>
        </p:nvSpPr>
        <p:spPr>
          <a:xfrm>
            <a:off x="403682" y="5450000"/>
            <a:ext cx="11384636" cy="800000"/>
          </a:xfrm>
          <a:prstGeom prst="rect">
            <a:avLst/>
          </a:prstGeom>
          <a:noFill/>
        </p:spPr>
        <p:txBody>
          <a:bodyPr wrap="square" anchor="ctr">
            <a:spAutoFit/>
          </a:bodyPr>
          <a:lstStyle/>
          <a:p>
            <a:pPr algn="l">
              <a:spcAft>
                <a:spcPts val="0"/>
              </a:spcAft>
            </a:pPr>
            <a:r>
              <a:rPr sz="2400" b="1" i="0">
                <a:solidFill>
                  <a:srgbClr val="991346"/>
                </a:solidFill>
                <a:latin typeface="Arial"/>
              </a:rPr>
              <a:t>On its own, this number says nothing about the inference 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Memory usage is a config value, not a warning.</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Live rig, Oct 15 2026: two vLLM pods, facebook/opt-125m, EKS Auto Mode, NVIDIA L4 24 GB. Orange line: load starts.</a:t>
            </a:r>
          </a:p>
        </p:txBody>
      </p:sp>
      <p:pic>
        <p:nvPicPr>
          <p:cNvPr id="4" name="Picture 3" descr="panel-gpu-memory.png"/>
          <p:cNvPicPr>
            <a:picLocks noChangeAspect="1"/>
          </p:cNvPicPr>
          <p:nvPr/>
        </p:nvPicPr>
        <p:blipFill>
          <a:blip r:embed="rId3"/>
          <a:stretch>
            <a:fillRect/>
          </a:stretch>
        </p:blipFill>
        <p:spPr>
          <a:xfrm>
            <a:off x="1689220" y="1250000"/>
            <a:ext cx="8813559" cy="3900000"/>
          </a:xfrm>
          <a:prstGeom prst="rect">
            <a:avLst/>
          </a:prstGeom>
        </p:spPr>
      </p:pic>
      <p:sp>
        <p:nvSpPr>
          <p:cNvPr id="5" name="Rounded Rectangle 4"/>
          <p:cNvSpPr/>
          <p:nvPr/>
        </p:nvSpPr>
        <p:spPr>
          <a:xfrm>
            <a:off x="8002779" y="1718000"/>
            <a:ext cx="2300000" cy="640000"/>
          </a:xfrm>
          <a:prstGeom prst="roundRect">
            <a:avLst>
              <a:gd name="adj" fmla="val 12000"/>
            </a:avLst>
          </a:prstGeom>
          <a:solidFill>
            <a:srgbClr val="1F5FA8"/>
          </a:solidFill>
          <a:ln>
            <a:noFill/>
          </a:ln>
        </p:spPr>
        <p:txBody>
          <a:bodyPr rtlCol="0" anchor="ctr"/>
          <a:lstStyle/>
          <a:p/>
        </p:txBody>
      </p:sp>
      <p:sp>
        <p:nvSpPr>
          <p:cNvPr id="6" name="TextBox 5"/>
          <p:cNvSpPr txBox="1"/>
          <p:nvPr/>
        </p:nvSpPr>
        <p:spPr>
          <a:xfrm>
            <a:off x="8002779" y="1718000"/>
            <a:ext cx="2300000" cy="640000"/>
          </a:xfrm>
          <a:prstGeom prst="rect">
            <a:avLst/>
          </a:prstGeom>
          <a:noFill/>
        </p:spPr>
        <p:txBody>
          <a:bodyPr wrap="square" anchor="ctr">
            <a:spAutoFit/>
          </a:bodyPr>
          <a:lstStyle/>
          <a:p>
            <a:pPr algn="ctr">
              <a:spcAft>
                <a:spcPts val="0"/>
              </a:spcAft>
            </a:pPr>
            <a:r>
              <a:rPr sz="2000" b="1" i="0">
                <a:solidFill>
                  <a:srgbClr val="FFFFFF"/>
                </a:solidFill>
                <a:latin typeface="Arial"/>
              </a:rPr>
              <a:t>20.5 GB, flat</a:t>
            </a:r>
          </a:p>
          <a:p>
            <a:pPr algn="ctr">
              <a:spcAft>
                <a:spcPts val="0"/>
              </a:spcAft>
            </a:pPr>
            <a:r>
              <a:rPr sz="1400" b="0" i="0">
                <a:solidFill>
                  <a:srgbClr val="FFFFFF"/>
                </a:solidFill>
                <a:latin typeface="Arial"/>
              </a:rPr>
              <a:t>gpu-mem-util 0.90</a:t>
            </a:r>
          </a:p>
        </p:txBody>
      </p:sp>
      <p:sp>
        <p:nvSpPr>
          <p:cNvPr id="7" name="Rounded Rectangle 6"/>
          <p:cNvSpPr/>
          <p:nvPr/>
        </p:nvSpPr>
        <p:spPr>
          <a:xfrm>
            <a:off x="8002779" y="3824000"/>
            <a:ext cx="2300000" cy="640000"/>
          </a:xfrm>
          <a:prstGeom prst="roundRect">
            <a:avLst>
              <a:gd name="adj" fmla="val 12000"/>
            </a:avLst>
          </a:prstGeom>
          <a:solidFill>
            <a:srgbClr val="C62828"/>
          </a:solidFill>
          <a:ln>
            <a:noFill/>
          </a:ln>
        </p:spPr>
        <p:txBody>
          <a:bodyPr rtlCol="0" anchor="ctr"/>
          <a:lstStyle/>
          <a:p/>
        </p:txBody>
      </p:sp>
      <p:sp>
        <p:nvSpPr>
          <p:cNvPr id="8" name="TextBox 7"/>
          <p:cNvSpPr txBox="1"/>
          <p:nvPr/>
        </p:nvSpPr>
        <p:spPr>
          <a:xfrm>
            <a:off x="8002779" y="3824000"/>
            <a:ext cx="2300000" cy="640000"/>
          </a:xfrm>
          <a:prstGeom prst="rect">
            <a:avLst/>
          </a:prstGeom>
          <a:noFill/>
        </p:spPr>
        <p:txBody>
          <a:bodyPr wrap="square" anchor="ctr">
            <a:spAutoFit/>
          </a:bodyPr>
          <a:lstStyle/>
          <a:p>
            <a:pPr algn="ctr">
              <a:spcAft>
                <a:spcPts val="0"/>
              </a:spcAft>
            </a:pPr>
            <a:r>
              <a:rPr sz="2000" b="1" i="0">
                <a:solidFill>
                  <a:srgbClr val="FFFFFF"/>
                </a:solidFill>
                <a:latin typeface="Arial"/>
              </a:rPr>
              <a:t>3.5 GB, flat</a:t>
            </a:r>
          </a:p>
          <a:p>
            <a:pPr algn="ctr">
              <a:spcAft>
                <a:spcPts val="0"/>
              </a:spcAft>
            </a:pPr>
            <a:r>
              <a:rPr sz="1400" b="0" i="0">
                <a:solidFill>
                  <a:srgbClr val="FFFFFF"/>
                </a:solidFill>
                <a:latin typeface="Arial"/>
              </a:rPr>
              <a:t>gpu-mem-util 0.15</a:t>
            </a:r>
          </a:p>
        </p:txBody>
      </p:sp>
      <p:sp>
        <p:nvSpPr>
          <p:cNvPr id="9" name="TextBox 8"/>
          <p:cNvSpPr txBox="1"/>
          <p:nvPr/>
        </p:nvSpPr>
        <p:spPr>
          <a:xfrm>
            <a:off x="403682" y="5200000"/>
            <a:ext cx="11384636" cy="350000"/>
          </a:xfrm>
          <a:prstGeom prst="rect">
            <a:avLst/>
          </a:prstGeom>
          <a:noFill/>
        </p:spPr>
        <p:txBody>
          <a:bodyPr wrap="square" anchor="t">
            <a:spAutoFit/>
          </a:bodyPr>
          <a:lstStyle/>
          <a:p>
            <a:pPr algn="ctr">
              <a:spcAft>
                <a:spcPts val="0"/>
              </a:spcAft>
            </a:pPr>
            <a:r>
              <a:rPr sz="1700" b="0" i="0">
                <a:solidFill>
                  <a:srgbClr val="6B6B6B"/>
                </a:solidFill>
                <a:latin typeface="Courier New"/>
              </a:rPr>
              <a:t>DCGM_FI_DEV_FB_USED</a:t>
            </a:r>
          </a:p>
        </p:txBody>
      </p:sp>
      <p:sp>
        <p:nvSpPr>
          <p:cNvPr id="10" name="TextBox 9"/>
          <p:cNvSpPr txBox="1"/>
          <p:nvPr/>
        </p:nvSpPr>
        <p:spPr>
          <a:xfrm>
            <a:off x="403682" y="5600000"/>
            <a:ext cx="11384636" cy="600000"/>
          </a:xfrm>
          <a:prstGeom prst="rect">
            <a:avLst/>
          </a:prstGeom>
          <a:noFill/>
        </p:spPr>
        <p:txBody>
          <a:bodyPr wrap="square" anchor="ctr">
            <a:spAutoFit/>
          </a:bodyPr>
          <a:lstStyle/>
          <a:p>
            <a:pPr algn="l">
              <a:spcAft>
                <a:spcPts val="0"/>
              </a:spcAft>
            </a:pPr>
            <a:r>
              <a:rPr sz="2400" b="1" i="0">
                <a:solidFill>
                  <a:srgbClr val="991346"/>
                </a:solidFill>
                <a:latin typeface="Arial"/>
              </a:rPr>
              <a:t>Sized once at start-up. Flat forever, including the one about to fall over.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GPU util % cannot tell prefill from decode.</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DCGM_FI_DEV_GPU_UTIL (field 203) is NVML-polled: 'a kernel ran during the sample window'. The profiling fields on the next slide come from the GPU's hardware profiler.</a:t>
            </a:r>
          </a:p>
        </p:txBody>
      </p:sp>
      <p:sp>
        <p:nvSpPr>
          <p:cNvPr id="4" name="Rounded Rectangle 3"/>
          <p:cNvSpPr/>
          <p:nvPr/>
        </p:nvSpPr>
        <p:spPr>
          <a:xfrm>
            <a:off x="403682" y="1250000"/>
            <a:ext cx="5492318" cy="2900000"/>
          </a:xfrm>
          <a:prstGeom prst="roundRect">
            <a:avLst>
              <a:gd name="adj" fmla="val 8000"/>
            </a:avLst>
          </a:prstGeom>
          <a:solidFill>
            <a:srgbClr val="F6E3EA"/>
          </a:solidFill>
          <a:ln>
            <a:noFill/>
          </a:ln>
        </p:spPr>
        <p:txBody>
          <a:bodyPr rtlCol="0" anchor="ctr"/>
          <a:lstStyle/>
          <a:p/>
        </p:txBody>
      </p:sp>
      <p:sp>
        <p:nvSpPr>
          <p:cNvPr id="5" name="TextBox 4"/>
          <p:cNvSpPr txBox="1"/>
          <p:nvPr/>
        </p:nvSpPr>
        <p:spPr>
          <a:xfrm>
            <a:off x="463682" y="1310000"/>
            <a:ext cx="5372318" cy="2780000"/>
          </a:xfrm>
          <a:prstGeom prst="rect">
            <a:avLst/>
          </a:prstGeom>
          <a:noFill/>
        </p:spPr>
        <p:txBody>
          <a:bodyPr wrap="square" anchor="t" lIns="120000" rIns="120000">
            <a:spAutoFit/>
          </a:bodyPr>
          <a:lstStyle/>
          <a:p>
            <a:pPr algn="l">
              <a:spcAft>
                <a:spcPts val="800"/>
              </a:spcAft>
            </a:pPr>
            <a:r>
              <a:rPr sz="3200" b="1" i="0">
                <a:solidFill>
                  <a:srgbClr val="991346"/>
                </a:solidFill>
                <a:latin typeface="Arial"/>
              </a:rPr>
              <a:t>Prefill</a:t>
            </a:r>
          </a:p>
          <a:p>
            <a:pPr algn="l">
              <a:spcAft>
                <a:spcPts val="800"/>
              </a:spcAft>
            </a:pPr>
            <a:r>
              <a:rPr sz="2200" b="0" i="0">
                <a:solidFill>
                  <a:srgbClr val="262626"/>
                </a:solidFill>
                <a:latin typeface="Arial"/>
              </a:rPr>
              <a:t>Whole prompt in one pass.</a:t>
            </a:r>
          </a:p>
          <a:p>
            <a:pPr algn="l">
              <a:spcAft>
                <a:spcPts val="800"/>
              </a:spcAft>
            </a:pPr>
            <a:r>
              <a:rPr sz="2200" b="0" i="0">
                <a:solidFill>
                  <a:srgbClr val="262626"/>
                </a:solidFill>
                <a:latin typeface="Arial"/>
              </a:rPr>
              <a:t>Large matmuls. Compute-bound.</a:t>
            </a:r>
          </a:p>
          <a:p>
            <a:pPr algn="l">
              <a:spcAft>
                <a:spcPts val="0"/>
              </a:spcAft>
            </a:pPr>
            <a:r>
              <a:rPr sz="1800" b="0" i="0">
                <a:solidFill>
                  <a:srgbClr val="6B6B6B"/>
                </a:solidFill>
                <a:latin typeface="Arial"/>
              </a:rPr>
              <a:t>Tensor cores busy, memory bus quiet.</a:t>
            </a:r>
          </a:p>
        </p:txBody>
      </p:sp>
      <p:sp>
        <p:nvSpPr>
          <p:cNvPr id="6" name="Rounded Rectangle 5"/>
          <p:cNvSpPr/>
          <p:nvPr/>
        </p:nvSpPr>
        <p:spPr>
          <a:xfrm>
            <a:off x="6296000" y="1250000"/>
            <a:ext cx="5492318" cy="2900000"/>
          </a:xfrm>
          <a:prstGeom prst="roundRect">
            <a:avLst>
              <a:gd name="adj" fmla="val 8000"/>
            </a:avLst>
          </a:prstGeom>
          <a:solidFill>
            <a:srgbClr val="F6E3EA"/>
          </a:solidFill>
          <a:ln>
            <a:noFill/>
          </a:ln>
        </p:spPr>
        <p:txBody>
          <a:bodyPr rtlCol="0" anchor="ctr"/>
          <a:lstStyle/>
          <a:p/>
        </p:txBody>
      </p:sp>
      <p:sp>
        <p:nvSpPr>
          <p:cNvPr id="7" name="TextBox 6"/>
          <p:cNvSpPr txBox="1"/>
          <p:nvPr/>
        </p:nvSpPr>
        <p:spPr>
          <a:xfrm>
            <a:off x="6356000" y="1310000"/>
            <a:ext cx="5372318" cy="2780000"/>
          </a:xfrm>
          <a:prstGeom prst="rect">
            <a:avLst/>
          </a:prstGeom>
          <a:noFill/>
        </p:spPr>
        <p:txBody>
          <a:bodyPr wrap="square" anchor="t" lIns="120000" rIns="120000">
            <a:spAutoFit/>
          </a:bodyPr>
          <a:lstStyle/>
          <a:p>
            <a:pPr algn="l">
              <a:spcAft>
                <a:spcPts val="800"/>
              </a:spcAft>
            </a:pPr>
            <a:r>
              <a:rPr sz="3200" b="1" i="0">
                <a:solidFill>
                  <a:srgbClr val="991346"/>
                </a:solidFill>
                <a:latin typeface="Arial"/>
              </a:rPr>
              <a:t>Decode</a:t>
            </a:r>
          </a:p>
          <a:p>
            <a:pPr algn="l">
              <a:spcAft>
                <a:spcPts val="800"/>
              </a:spcAft>
            </a:pPr>
            <a:r>
              <a:rPr sz="2200" b="0" i="0">
                <a:solidFill>
                  <a:srgbClr val="262626"/>
                </a:solidFill>
                <a:latin typeface="Arial"/>
              </a:rPr>
              <a:t>One token per step.</a:t>
            </a:r>
          </a:p>
          <a:p>
            <a:pPr algn="l">
              <a:spcAft>
                <a:spcPts val="800"/>
              </a:spcAft>
            </a:pPr>
            <a:r>
              <a:rPr sz="2200" b="0" i="0">
                <a:solidFill>
                  <a:srgbClr val="262626"/>
                </a:solidFill>
                <a:latin typeface="Arial"/>
              </a:rPr>
              <a:t>Re-reads the entire KV cache each step. Memory-bandwidth-bound.</a:t>
            </a:r>
          </a:p>
          <a:p>
            <a:pPr algn="l">
              <a:spcAft>
                <a:spcPts val="0"/>
              </a:spcAft>
            </a:pPr>
            <a:r>
              <a:rPr sz="1800" b="0" i="0">
                <a:solidFill>
                  <a:srgbClr val="6B6B6B"/>
                </a:solidFill>
                <a:latin typeface="Arial"/>
              </a:rPr>
              <a:t>Memory bus busy, tensor cores waiting.</a:t>
            </a:r>
          </a:p>
        </p:txBody>
      </p:sp>
      <p:sp>
        <p:nvSpPr>
          <p:cNvPr id="8" name="Rounded Rectangle 7"/>
          <p:cNvSpPr/>
          <p:nvPr/>
        </p:nvSpPr>
        <p:spPr>
          <a:xfrm>
            <a:off x="3346000" y="3500000"/>
            <a:ext cx="2400000" cy="520000"/>
          </a:xfrm>
          <a:prstGeom prst="roundRect">
            <a:avLst>
              <a:gd name="adj" fmla="val 50000"/>
            </a:avLst>
          </a:prstGeom>
          <a:solidFill>
            <a:srgbClr val="C62828"/>
          </a:solidFill>
          <a:ln>
            <a:noFill/>
          </a:ln>
        </p:spPr>
        <p:txBody>
          <a:bodyPr rtlCol="0" anchor="ctr" lIns="90000" rIns="90000" tIns="0" bIns="0"/>
          <a:lstStyle/>
          <a:p>
            <a:pPr algn="ctr"/>
            <a:r>
              <a:rPr sz="1800" b="1" i="0">
                <a:solidFill>
                  <a:srgbClr val="FFFFFF"/>
                </a:solidFill>
                <a:latin typeface="Arial"/>
              </a:rPr>
              <a:t>GPU_UTIL 100%</a:t>
            </a:r>
          </a:p>
        </p:txBody>
      </p:sp>
      <p:sp>
        <p:nvSpPr>
          <p:cNvPr id="9" name="Rounded Rectangle 8"/>
          <p:cNvSpPr/>
          <p:nvPr/>
        </p:nvSpPr>
        <p:spPr>
          <a:xfrm>
            <a:off x="9238318" y="3500000"/>
            <a:ext cx="2400000" cy="520000"/>
          </a:xfrm>
          <a:prstGeom prst="roundRect">
            <a:avLst>
              <a:gd name="adj" fmla="val 50000"/>
            </a:avLst>
          </a:prstGeom>
          <a:solidFill>
            <a:srgbClr val="C62828"/>
          </a:solidFill>
          <a:ln>
            <a:noFill/>
          </a:ln>
        </p:spPr>
        <p:txBody>
          <a:bodyPr rtlCol="0" anchor="ctr" lIns="90000" rIns="90000" tIns="0" bIns="0"/>
          <a:lstStyle/>
          <a:p>
            <a:pPr algn="ctr"/>
            <a:r>
              <a:rPr sz="1800" b="1" i="0">
                <a:solidFill>
                  <a:srgbClr val="FFFFFF"/>
                </a:solidFill>
                <a:latin typeface="Arial"/>
              </a:rPr>
              <a:t>GPU_UTIL 100%</a:t>
            </a:r>
          </a:p>
        </p:txBody>
      </p:sp>
      <p:sp>
        <p:nvSpPr>
          <p:cNvPr id="10" name="Rounded Rectangle 9"/>
          <p:cNvSpPr/>
          <p:nvPr/>
        </p:nvSpPr>
        <p:spPr>
          <a:xfrm>
            <a:off x="403682" y="4450000"/>
            <a:ext cx="11384636" cy="700000"/>
          </a:xfrm>
          <a:prstGeom prst="roundRect">
            <a:avLst>
              <a:gd name="adj" fmla="val 30000"/>
            </a:avLst>
          </a:prstGeom>
          <a:solidFill>
            <a:srgbClr val="E8B4C4"/>
          </a:solidFill>
          <a:ln>
            <a:noFill/>
          </a:ln>
        </p:spPr>
        <p:txBody>
          <a:bodyPr rtlCol="0" anchor="ctr"/>
          <a:lstStyle/>
          <a:p/>
        </p:txBody>
      </p:sp>
      <p:sp>
        <p:nvSpPr>
          <p:cNvPr id="11" name="TextBox 10"/>
          <p:cNvSpPr txBox="1"/>
          <p:nvPr/>
        </p:nvSpPr>
        <p:spPr>
          <a:xfrm>
            <a:off x="403682" y="4450000"/>
            <a:ext cx="11384636" cy="700000"/>
          </a:xfrm>
          <a:prstGeom prst="rect">
            <a:avLst/>
          </a:prstGeom>
          <a:noFill/>
        </p:spPr>
        <p:txBody>
          <a:bodyPr wrap="square" anchor="ctr">
            <a:spAutoFit/>
          </a:bodyPr>
          <a:lstStyle/>
          <a:p>
            <a:pPr algn="ctr">
              <a:spcAft>
                <a:spcPts val="600"/>
              </a:spcAft>
            </a:pPr>
            <a:r>
              <a:rPr sz="2000" b="1" i="0">
                <a:solidFill>
                  <a:srgbClr val="262626"/>
                </a:solidFill>
                <a:latin typeface="Courier New"/>
              </a:rPr>
              <a:t>DCGM_FI_DEV_GPU_UTIL</a:t>
            </a:r>
          </a:p>
        </p:txBody>
      </p:sp>
      <p:sp>
        <p:nvSpPr>
          <p:cNvPr id="12" name="TextBox 11"/>
          <p:cNvSpPr txBox="1"/>
          <p:nvPr/>
        </p:nvSpPr>
        <p:spPr>
          <a:xfrm>
            <a:off x="403682" y="5300000"/>
            <a:ext cx="11384636" cy="700000"/>
          </a:xfrm>
          <a:prstGeom prst="rect">
            <a:avLst/>
          </a:prstGeom>
          <a:noFill/>
        </p:spPr>
        <p:txBody>
          <a:bodyPr wrap="square" anchor="ctr">
            <a:spAutoFit/>
          </a:bodyPr>
          <a:lstStyle/>
          <a:p>
            <a:pPr algn="l">
              <a:spcAft>
                <a:spcPts val="0"/>
              </a:spcAft>
            </a:pPr>
            <a:r>
              <a:rPr sz="2200" b="1" i="0">
                <a:solidFill>
                  <a:srgbClr val="991346"/>
                </a:solidFill>
                <a:latin typeface="Arial"/>
              </a:rPr>
              <a:t>One busy thread reads as 100%. The counter has no idea which phase you are 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Three profiler counters, same second.</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Measured on vLLM by Elastic Observability Labs (2025): DCGM_FI_PROF_GR_ENGINE_ACTIVE 99.8%, PIPE_TENSOR_ACTIVE 16.6%, DRAM_ACTIVE 80.4%. MFU/MBU vocabulary: Lightbits, The Utilization Illusion.</a:t>
            </a:r>
          </a:p>
        </p:txBody>
      </p:sp>
      <p:sp>
        <p:nvSpPr>
          <p:cNvPr id="4" name="Rounded Rectangle 3"/>
          <p:cNvSpPr/>
          <p:nvPr/>
        </p:nvSpPr>
        <p:spPr>
          <a:xfrm>
            <a:off x="403682" y="1250000"/>
            <a:ext cx="3594878" cy="3000000"/>
          </a:xfrm>
          <a:prstGeom prst="roundRect">
            <a:avLst>
              <a:gd name="adj" fmla="val 8000"/>
            </a:avLst>
          </a:prstGeom>
          <a:solidFill>
            <a:srgbClr val="F3F3F3"/>
          </a:solidFill>
          <a:ln>
            <a:noFill/>
          </a:ln>
        </p:spPr>
        <p:txBody>
          <a:bodyPr rtlCol="0" anchor="ctr"/>
          <a:lstStyle/>
          <a:p/>
        </p:txBody>
      </p:sp>
      <p:sp>
        <p:nvSpPr>
          <p:cNvPr id="5" name="TextBox 4"/>
          <p:cNvSpPr txBox="1"/>
          <p:nvPr/>
        </p:nvSpPr>
        <p:spPr>
          <a:xfrm>
            <a:off x="403682" y="1250000"/>
            <a:ext cx="3594878" cy="3000000"/>
          </a:xfrm>
          <a:prstGeom prst="rect">
            <a:avLst/>
          </a:prstGeom>
          <a:noFill/>
        </p:spPr>
        <p:txBody>
          <a:bodyPr wrap="square" anchor="ctr">
            <a:spAutoFit/>
          </a:bodyPr>
          <a:lstStyle/>
          <a:p>
            <a:pPr algn="ctr">
              <a:spcAft>
                <a:spcPts val="200"/>
              </a:spcAft>
            </a:pPr>
            <a:r>
              <a:rPr sz="7200" b="1" i="0">
                <a:solidFill>
                  <a:srgbClr val="6B6B6B"/>
                </a:solidFill>
                <a:latin typeface="Arial"/>
              </a:rPr>
              <a:t>99.8%</a:t>
            </a:r>
          </a:p>
          <a:p>
            <a:pPr algn="ctr">
              <a:spcAft>
                <a:spcPts val="0"/>
              </a:spcAft>
            </a:pPr>
            <a:r>
              <a:rPr sz="1600" b="1" i="0">
                <a:solidFill>
                  <a:srgbClr val="262626"/>
                </a:solidFill>
                <a:latin typeface="Courier New"/>
              </a:rPr>
              <a:t>GR_ENGINE_ACTIVE</a:t>
            </a:r>
          </a:p>
          <a:p>
            <a:pPr algn="ctr">
              <a:spcAft>
                <a:spcPts val="0"/>
              </a:spcAft>
            </a:pPr>
            <a:r>
              <a:rPr sz="1600" b="0" i="0">
                <a:solidFill>
                  <a:srgbClr val="6B6B6B"/>
                </a:solidFill>
                <a:latin typeface="Arial"/>
              </a:rPr>
              <a:t>the profiler's 'busy'</a:t>
            </a:r>
          </a:p>
        </p:txBody>
      </p:sp>
      <p:sp>
        <p:nvSpPr>
          <p:cNvPr id="6" name="Rounded Rectangle 5"/>
          <p:cNvSpPr/>
          <p:nvPr/>
        </p:nvSpPr>
        <p:spPr>
          <a:xfrm>
            <a:off x="4298560" y="1250000"/>
            <a:ext cx="3594878" cy="3000000"/>
          </a:xfrm>
          <a:prstGeom prst="roundRect">
            <a:avLst>
              <a:gd name="adj" fmla="val 8000"/>
            </a:avLst>
          </a:prstGeom>
          <a:solidFill>
            <a:srgbClr val="F3F3F3"/>
          </a:solidFill>
          <a:ln>
            <a:noFill/>
          </a:ln>
        </p:spPr>
        <p:txBody>
          <a:bodyPr rtlCol="0" anchor="ctr"/>
          <a:lstStyle/>
          <a:p/>
        </p:txBody>
      </p:sp>
      <p:sp>
        <p:nvSpPr>
          <p:cNvPr id="7" name="TextBox 6"/>
          <p:cNvSpPr txBox="1"/>
          <p:nvPr/>
        </p:nvSpPr>
        <p:spPr>
          <a:xfrm>
            <a:off x="4298560" y="1250000"/>
            <a:ext cx="3594878" cy="3000000"/>
          </a:xfrm>
          <a:prstGeom prst="rect">
            <a:avLst/>
          </a:prstGeom>
          <a:noFill/>
        </p:spPr>
        <p:txBody>
          <a:bodyPr wrap="square" anchor="ctr">
            <a:spAutoFit/>
          </a:bodyPr>
          <a:lstStyle/>
          <a:p>
            <a:pPr algn="ctr">
              <a:spcAft>
                <a:spcPts val="200"/>
              </a:spcAft>
            </a:pPr>
            <a:r>
              <a:rPr sz="7200" b="1" i="0">
                <a:solidFill>
                  <a:srgbClr val="C62828"/>
                </a:solidFill>
                <a:latin typeface="Arial"/>
              </a:rPr>
              <a:t>16.6%</a:t>
            </a:r>
          </a:p>
          <a:p>
            <a:pPr algn="ctr">
              <a:spcAft>
                <a:spcPts val="0"/>
              </a:spcAft>
            </a:pPr>
            <a:r>
              <a:rPr sz="1600" b="1" i="0">
                <a:solidFill>
                  <a:srgbClr val="262626"/>
                </a:solidFill>
                <a:latin typeface="Courier New"/>
              </a:rPr>
              <a:t>PIPE_TENSOR_ACTIVE</a:t>
            </a:r>
          </a:p>
          <a:p>
            <a:pPr algn="ctr">
              <a:spcAft>
                <a:spcPts val="0"/>
              </a:spcAft>
            </a:pPr>
            <a:r>
              <a:rPr sz="1600" b="0" i="0">
                <a:solidFill>
                  <a:srgbClr val="6B6B6B"/>
                </a:solidFill>
                <a:latin typeface="Arial"/>
              </a:rPr>
              <a:t>tensor cores doing matmuls</a:t>
            </a:r>
          </a:p>
        </p:txBody>
      </p:sp>
      <p:sp>
        <p:nvSpPr>
          <p:cNvPr id="8" name="Rounded Rectangle 7"/>
          <p:cNvSpPr/>
          <p:nvPr/>
        </p:nvSpPr>
        <p:spPr>
          <a:xfrm>
            <a:off x="8193438" y="1250000"/>
            <a:ext cx="3594878" cy="3000000"/>
          </a:xfrm>
          <a:prstGeom prst="roundRect">
            <a:avLst>
              <a:gd name="adj" fmla="val 8000"/>
            </a:avLst>
          </a:prstGeom>
          <a:solidFill>
            <a:srgbClr val="F3F3F3"/>
          </a:solidFill>
          <a:ln>
            <a:noFill/>
          </a:ln>
        </p:spPr>
        <p:txBody>
          <a:bodyPr rtlCol="0" anchor="ctr"/>
          <a:lstStyle/>
          <a:p/>
        </p:txBody>
      </p:sp>
      <p:sp>
        <p:nvSpPr>
          <p:cNvPr id="9" name="TextBox 8"/>
          <p:cNvSpPr txBox="1"/>
          <p:nvPr/>
        </p:nvSpPr>
        <p:spPr>
          <a:xfrm>
            <a:off x="8193438" y="1250000"/>
            <a:ext cx="3594878" cy="3000000"/>
          </a:xfrm>
          <a:prstGeom prst="rect">
            <a:avLst/>
          </a:prstGeom>
          <a:noFill/>
        </p:spPr>
        <p:txBody>
          <a:bodyPr wrap="square" anchor="ctr">
            <a:spAutoFit/>
          </a:bodyPr>
          <a:lstStyle/>
          <a:p>
            <a:pPr algn="ctr">
              <a:spcAft>
                <a:spcPts val="200"/>
              </a:spcAft>
            </a:pPr>
            <a:r>
              <a:rPr sz="7200" b="1" i="0">
                <a:solidFill>
                  <a:srgbClr val="B26A00"/>
                </a:solidFill>
                <a:latin typeface="Arial"/>
              </a:rPr>
              <a:t>80.4%</a:t>
            </a:r>
          </a:p>
          <a:p>
            <a:pPr algn="ctr">
              <a:spcAft>
                <a:spcPts val="0"/>
              </a:spcAft>
            </a:pPr>
            <a:r>
              <a:rPr sz="1600" b="1" i="0">
                <a:solidFill>
                  <a:srgbClr val="262626"/>
                </a:solidFill>
                <a:latin typeface="Courier New"/>
              </a:rPr>
              <a:t>DRAM_ACTIVE</a:t>
            </a:r>
          </a:p>
          <a:p>
            <a:pPr algn="ctr">
              <a:spcAft>
                <a:spcPts val="0"/>
              </a:spcAft>
            </a:pPr>
            <a:r>
              <a:rPr sz="1600" b="0" i="0">
                <a:solidFill>
                  <a:srgbClr val="6B6B6B"/>
                </a:solidFill>
                <a:latin typeface="Arial"/>
              </a:rPr>
              <a:t>memory bus</a:t>
            </a:r>
          </a:p>
        </p:txBody>
      </p:sp>
      <p:sp>
        <p:nvSpPr>
          <p:cNvPr id="10" name="TextBox 9"/>
          <p:cNvSpPr txBox="1"/>
          <p:nvPr/>
        </p:nvSpPr>
        <p:spPr>
          <a:xfrm>
            <a:off x="403682" y="4450000"/>
            <a:ext cx="11384636" cy="800000"/>
          </a:xfrm>
          <a:prstGeom prst="rect">
            <a:avLst/>
          </a:prstGeom>
          <a:noFill/>
        </p:spPr>
        <p:txBody>
          <a:bodyPr wrap="square" anchor="ctr">
            <a:spAutoFit/>
          </a:bodyPr>
          <a:lstStyle/>
          <a:p>
            <a:pPr algn="l">
              <a:spcAft>
                <a:spcPts val="0"/>
              </a:spcAft>
            </a:pPr>
            <a:r>
              <a:rPr sz="2100" b="1" i="0">
                <a:solidFill>
                  <a:srgbClr val="991346"/>
                </a:solidFill>
                <a:latin typeface="Arial"/>
              </a:rPr>
              <a:t>Bandwidth-bound, not compute-saturated, and "utilisation" never said which.</a:t>
            </a:r>
          </a:p>
        </p:txBody>
      </p:sp>
      <p:sp>
        <p:nvSpPr>
          <p:cNvPr id="11" name="TextBox 10"/>
          <p:cNvSpPr txBox="1"/>
          <p:nvPr/>
        </p:nvSpPr>
        <p:spPr>
          <a:xfrm>
            <a:off x="403682" y="5250000"/>
            <a:ext cx="11384636" cy="700000"/>
          </a:xfrm>
          <a:prstGeom prst="rect">
            <a:avLst/>
          </a:prstGeom>
          <a:noFill/>
        </p:spPr>
        <p:txBody>
          <a:bodyPr wrap="square" anchor="t">
            <a:spAutoFit/>
          </a:bodyPr>
          <a:lstStyle/>
          <a:p>
            <a:pPr algn="l">
              <a:spcAft>
                <a:spcPts val="0"/>
              </a:spcAft>
            </a:pPr>
            <a:r>
              <a:rPr sz="1600" b="0" i="0">
                <a:solidFill>
                  <a:srgbClr val="6B6B6B"/>
                </a:solidFill>
                <a:latin typeface="Arial"/>
              </a:rPr>
              <a:t>The counter on your dashboard is the least informative one the hardware offers. Serving teams are borrowing MFU and MBU (model FLOPs and bandwidth utilisation) from the training world to say so.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Counters that lie, counters you can trust.</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DCGM field IDs: docs.nvidia.com/datacenter/dcgm. PROF_* fields need a profiling-capable GPU and DCGM &gt;= 2.x. SM_OCCUPANCY is a ratio: resident warps over the SM maximum.</a:t>
            </a:r>
          </a:p>
        </p:txBody>
      </p:sp>
      <p:sp>
        <p:nvSpPr>
          <p:cNvPr id="4" name="Rounded Rectangle 3"/>
          <p:cNvSpPr/>
          <p:nvPr/>
        </p:nvSpPr>
        <p:spPr>
          <a:xfrm>
            <a:off x="403682" y="1250000"/>
            <a:ext cx="5492318" cy="2900000"/>
          </a:xfrm>
          <a:prstGeom prst="roundRect">
            <a:avLst>
              <a:gd name="adj" fmla="val 8000"/>
            </a:avLst>
          </a:prstGeom>
          <a:solidFill>
            <a:srgbClr val="FBE5E5"/>
          </a:solidFill>
          <a:ln>
            <a:noFill/>
          </a:ln>
        </p:spPr>
        <p:txBody>
          <a:bodyPr rtlCol="0" anchor="ctr"/>
          <a:lstStyle/>
          <a:p/>
        </p:txBody>
      </p:sp>
      <p:sp>
        <p:nvSpPr>
          <p:cNvPr id="5" name="TextBox 4"/>
          <p:cNvSpPr txBox="1"/>
          <p:nvPr/>
        </p:nvSpPr>
        <p:spPr>
          <a:xfrm>
            <a:off x="553682" y="1350000"/>
            <a:ext cx="5192318" cy="500000"/>
          </a:xfrm>
          <a:prstGeom prst="rect">
            <a:avLst/>
          </a:prstGeom>
          <a:noFill/>
        </p:spPr>
        <p:txBody>
          <a:bodyPr wrap="square" anchor="t">
            <a:spAutoFit/>
          </a:bodyPr>
          <a:lstStyle/>
          <a:p>
            <a:pPr algn="l">
              <a:spcAft>
                <a:spcPts val="0"/>
              </a:spcAft>
            </a:pPr>
            <a:r>
              <a:rPr sz="1800" b="1" i="0">
                <a:solidFill>
                  <a:srgbClr val="C62828"/>
                </a:solidFill>
                <a:latin typeface="Arial"/>
              </a:rPr>
              <a:t>Misleading on an inference server</a:t>
            </a:r>
          </a:p>
        </p:txBody>
      </p:sp>
      <p:sp>
        <p:nvSpPr>
          <p:cNvPr id="6" name="Rounded Rectangle 5"/>
          <p:cNvSpPr/>
          <p:nvPr/>
        </p:nvSpPr>
        <p:spPr>
          <a:xfrm>
            <a:off x="553682" y="1950000"/>
            <a:ext cx="3200000" cy="480000"/>
          </a:xfrm>
          <a:prstGeom prst="roundRect">
            <a:avLst>
              <a:gd name="adj" fmla="val 50000"/>
            </a:avLst>
          </a:prstGeom>
          <a:solidFill>
            <a:srgbClr val="FFFFFF"/>
          </a:solidFill>
          <a:ln>
            <a:noFill/>
          </a:ln>
        </p:spPr>
        <p:txBody>
          <a:bodyPr rtlCol="0" anchor="ctr" lIns="90000" rIns="90000" tIns="0" bIns="0"/>
          <a:lstStyle/>
          <a:p>
            <a:pPr algn="ctr"/>
            <a:r>
              <a:rPr sz="1400" b="1" i="0">
                <a:solidFill>
                  <a:srgbClr val="C62828"/>
                </a:solidFill>
                <a:latin typeface="Courier New"/>
              </a:rPr>
              <a:t>DCGM_FI_DEV_GPU_UTIL</a:t>
            </a:r>
          </a:p>
        </p:txBody>
      </p:sp>
      <p:sp>
        <p:nvSpPr>
          <p:cNvPr id="7" name="TextBox 6"/>
          <p:cNvSpPr txBox="1"/>
          <p:nvPr/>
        </p:nvSpPr>
        <p:spPr>
          <a:xfrm>
            <a:off x="3853682" y="1950000"/>
            <a:ext cx="1892318" cy="480000"/>
          </a:xfrm>
          <a:prstGeom prst="rect">
            <a:avLst/>
          </a:prstGeom>
          <a:noFill/>
        </p:spPr>
        <p:txBody>
          <a:bodyPr wrap="square" anchor="ctr">
            <a:spAutoFit/>
          </a:bodyPr>
          <a:lstStyle/>
          <a:p>
            <a:pPr algn="l">
              <a:spcAft>
                <a:spcPts val="0"/>
              </a:spcAft>
            </a:pPr>
            <a:r>
              <a:rPr sz="1600" b="0" i="0">
                <a:solidFill>
                  <a:srgbClr val="262626"/>
                </a:solidFill>
                <a:latin typeface="Arial"/>
              </a:rPr>
              <a:t>any kernel = busy</a:t>
            </a:r>
          </a:p>
        </p:txBody>
      </p:sp>
      <p:sp>
        <p:nvSpPr>
          <p:cNvPr id="8" name="Rounded Rectangle 7"/>
          <p:cNvSpPr/>
          <p:nvPr/>
        </p:nvSpPr>
        <p:spPr>
          <a:xfrm>
            <a:off x="553682" y="2650000"/>
            <a:ext cx="3200000" cy="480000"/>
          </a:xfrm>
          <a:prstGeom prst="roundRect">
            <a:avLst>
              <a:gd name="adj" fmla="val 50000"/>
            </a:avLst>
          </a:prstGeom>
          <a:solidFill>
            <a:srgbClr val="FFFFFF"/>
          </a:solidFill>
          <a:ln>
            <a:noFill/>
          </a:ln>
        </p:spPr>
        <p:txBody>
          <a:bodyPr rtlCol="0" anchor="ctr" lIns="90000" rIns="90000" tIns="0" bIns="0"/>
          <a:lstStyle/>
          <a:p>
            <a:pPr algn="ctr"/>
            <a:r>
              <a:rPr sz="1400" b="1" i="0">
                <a:solidFill>
                  <a:srgbClr val="C62828"/>
                </a:solidFill>
                <a:latin typeface="Courier New"/>
              </a:rPr>
              <a:t>DCGM_FI_DEV_FB_USED</a:t>
            </a:r>
          </a:p>
        </p:txBody>
      </p:sp>
      <p:sp>
        <p:nvSpPr>
          <p:cNvPr id="9" name="TextBox 8"/>
          <p:cNvSpPr txBox="1"/>
          <p:nvPr/>
        </p:nvSpPr>
        <p:spPr>
          <a:xfrm>
            <a:off x="3853682" y="2650000"/>
            <a:ext cx="1892318" cy="480000"/>
          </a:xfrm>
          <a:prstGeom prst="rect">
            <a:avLst/>
          </a:prstGeom>
          <a:noFill/>
        </p:spPr>
        <p:txBody>
          <a:bodyPr wrap="square" anchor="ctr">
            <a:spAutoFit/>
          </a:bodyPr>
          <a:lstStyle/>
          <a:p>
            <a:pPr algn="l">
              <a:spcAft>
                <a:spcPts val="0"/>
              </a:spcAft>
            </a:pPr>
            <a:r>
              <a:rPr sz="1600" b="0" i="0">
                <a:solidFill>
                  <a:srgbClr val="262626"/>
                </a:solidFill>
                <a:latin typeface="Arial"/>
              </a:rPr>
              <a:t>pre-allocated, flat</a:t>
            </a:r>
          </a:p>
        </p:txBody>
      </p:sp>
      <p:sp>
        <p:nvSpPr>
          <p:cNvPr id="10" name="Rounded Rectangle 9"/>
          <p:cNvSpPr/>
          <p:nvPr/>
        </p:nvSpPr>
        <p:spPr>
          <a:xfrm>
            <a:off x="553682" y="3350000"/>
            <a:ext cx="3200000" cy="480000"/>
          </a:xfrm>
          <a:prstGeom prst="roundRect">
            <a:avLst>
              <a:gd name="adj" fmla="val 50000"/>
            </a:avLst>
          </a:prstGeom>
          <a:solidFill>
            <a:srgbClr val="FFFFFF"/>
          </a:solidFill>
          <a:ln>
            <a:noFill/>
          </a:ln>
        </p:spPr>
        <p:txBody>
          <a:bodyPr rtlCol="0" anchor="ctr" lIns="90000" rIns="90000" tIns="0" bIns="0"/>
          <a:lstStyle/>
          <a:p>
            <a:pPr algn="ctr"/>
            <a:r>
              <a:rPr sz="1400" b="1" i="0">
                <a:solidFill>
                  <a:srgbClr val="C62828"/>
                </a:solidFill>
                <a:latin typeface="Courier New"/>
              </a:rPr>
              <a:t>nvidia-smi Volatile GPU-Util</a:t>
            </a:r>
          </a:p>
        </p:txBody>
      </p:sp>
      <p:sp>
        <p:nvSpPr>
          <p:cNvPr id="11" name="TextBox 10"/>
          <p:cNvSpPr txBox="1"/>
          <p:nvPr/>
        </p:nvSpPr>
        <p:spPr>
          <a:xfrm>
            <a:off x="3853682" y="3350000"/>
            <a:ext cx="1892318" cy="480000"/>
          </a:xfrm>
          <a:prstGeom prst="rect">
            <a:avLst/>
          </a:prstGeom>
          <a:noFill/>
        </p:spPr>
        <p:txBody>
          <a:bodyPr wrap="square" anchor="ctr">
            <a:spAutoFit/>
          </a:bodyPr>
          <a:lstStyle/>
          <a:p>
            <a:pPr algn="l">
              <a:spcAft>
                <a:spcPts val="0"/>
              </a:spcAft>
            </a:pPr>
            <a:r>
              <a:rPr sz="1600" b="0" i="0">
                <a:solidFill>
                  <a:srgbClr val="262626"/>
                </a:solidFill>
                <a:latin typeface="Arial"/>
              </a:rPr>
              <a:t>same as GPU_UTIL</a:t>
            </a:r>
          </a:p>
        </p:txBody>
      </p:sp>
      <p:sp>
        <p:nvSpPr>
          <p:cNvPr id="12" name="Rounded Rectangle 11"/>
          <p:cNvSpPr/>
          <p:nvPr/>
        </p:nvSpPr>
        <p:spPr>
          <a:xfrm>
            <a:off x="6296000" y="1250000"/>
            <a:ext cx="5492318" cy="2900000"/>
          </a:xfrm>
          <a:prstGeom prst="roundRect">
            <a:avLst>
              <a:gd name="adj" fmla="val 8000"/>
            </a:avLst>
          </a:prstGeom>
          <a:solidFill>
            <a:srgbClr val="E3F1E4"/>
          </a:solidFill>
          <a:ln>
            <a:noFill/>
          </a:ln>
        </p:spPr>
        <p:txBody>
          <a:bodyPr rtlCol="0" anchor="ctr"/>
          <a:lstStyle/>
          <a:p/>
        </p:txBody>
      </p:sp>
      <p:sp>
        <p:nvSpPr>
          <p:cNvPr id="13" name="TextBox 12"/>
          <p:cNvSpPr txBox="1"/>
          <p:nvPr/>
        </p:nvSpPr>
        <p:spPr>
          <a:xfrm>
            <a:off x="6446000" y="1350000"/>
            <a:ext cx="5192318" cy="500000"/>
          </a:xfrm>
          <a:prstGeom prst="rect">
            <a:avLst/>
          </a:prstGeom>
          <a:noFill/>
        </p:spPr>
        <p:txBody>
          <a:bodyPr wrap="square" anchor="t">
            <a:spAutoFit/>
          </a:bodyPr>
          <a:lstStyle/>
          <a:p>
            <a:pPr algn="l">
              <a:spcAft>
                <a:spcPts val="0"/>
              </a:spcAft>
            </a:pPr>
            <a:r>
              <a:rPr sz="1800" b="1" i="0">
                <a:solidFill>
                  <a:srgbClr val="2E7D32"/>
                </a:solidFill>
                <a:latin typeface="Arial"/>
              </a:rPr>
              <a:t>Meaningful</a:t>
            </a:r>
          </a:p>
        </p:txBody>
      </p:sp>
      <p:sp>
        <p:nvSpPr>
          <p:cNvPr id="14" name="Rounded Rectangle 13"/>
          <p:cNvSpPr/>
          <p:nvPr/>
        </p:nvSpPr>
        <p:spPr>
          <a:xfrm>
            <a:off x="6446000" y="1900000"/>
            <a:ext cx="3400000" cy="440000"/>
          </a:xfrm>
          <a:prstGeom prst="roundRect">
            <a:avLst>
              <a:gd name="adj" fmla="val 50000"/>
            </a:avLst>
          </a:prstGeom>
          <a:solidFill>
            <a:srgbClr val="FFFFFF"/>
          </a:solidFill>
          <a:ln>
            <a:noFill/>
          </a:ln>
        </p:spPr>
        <p:txBody>
          <a:bodyPr rtlCol="0" anchor="ctr" lIns="90000" rIns="90000" tIns="0" bIns="0"/>
          <a:lstStyle/>
          <a:p>
            <a:pPr algn="ctr"/>
            <a:r>
              <a:rPr sz="1200" b="1" i="0">
                <a:solidFill>
                  <a:srgbClr val="2E7D32"/>
                </a:solidFill>
                <a:latin typeface="Courier New"/>
              </a:rPr>
              <a:t>DCGM_FI_PROF_SM_ACTIVE</a:t>
            </a:r>
          </a:p>
        </p:txBody>
      </p:sp>
      <p:sp>
        <p:nvSpPr>
          <p:cNvPr id="15" name="TextBox 14"/>
          <p:cNvSpPr txBox="1"/>
          <p:nvPr/>
        </p:nvSpPr>
        <p:spPr>
          <a:xfrm>
            <a:off x="9946000" y="1900000"/>
            <a:ext cx="1692318" cy="440000"/>
          </a:xfrm>
          <a:prstGeom prst="rect">
            <a:avLst/>
          </a:prstGeom>
          <a:noFill/>
        </p:spPr>
        <p:txBody>
          <a:bodyPr wrap="square" anchor="ctr">
            <a:spAutoFit/>
          </a:bodyPr>
          <a:lstStyle/>
          <a:p>
            <a:pPr algn="l">
              <a:spcAft>
                <a:spcPts val="0"/>
              </a:spcAft>
            </a:pPr>
            <a:r>
              <a:rPr sz="1500" b="0" i="0">
                <a:solidFill>
                  <a:srgbClr val="262626"/>
                </a:solidFill>
                <a:latin typeface="Arial"/>
              </a:rPr>
              <a:t>share of SMs doing work</a:t>
            </a:r>
          </a:p>
        </p:txBody>
      </p:sp>
      <p:sp>
        <p:nvSpPr>
          <p:cNvPr id="16" name="Rounded Rectangle 15"/>
          <p:cNvSpPr/>
          <p:nvPr/>
        </p:nvSpPr>
        <p:spPr>
          <a:xfrm>
            <a:off x="6446000" y="2440000"/>
            <a:ext cx="3400000" cy="440000"/>
          </a:xfrm>
          <a:prstGeom prst="roundRect">
            <a:avLst>
              <a:gd name="adj" fmla="val 50000"/>
            </a:avLst>
          </a:prstGeom>
          <a:solidFill>
            <a:srgbClr val="FFFFFF"/>
          </a:solidFill>
          <a:ln>
            <a:noFill/>
          </a:ln>
        </p:spPr>
        <p:txBody>
          <a:bodyPr rtlCol="0" anchor="ctr" lIns="90000" rIns="90000" tIns="0" bIns="0"/>
          <a:lstStyle/>
          <a:p>
            <a:pPr algn="ctr"/>
            <a:r>
              <a:rPr sz="1200" b="1" i="0">
                <a:solidFill>
                  <a:srgbClr val="2E7D32"/>
                </a:solidFill>
                <a:latin typeface="Courier New"/>
              </a:rPr>
              <a:t>DCGM_FI_PROF_SM_OCCUPANCY</a:t>
            </a:r>
          </a:p>
        </p:txBody>
      </p:sp>
      <p:sp>
        <p:nvSpPr>
          <p:cNvPr id="17" name="TextBox 16"/>
          <p:cNvSpPr txBox="1"/>
          <p:nvPr/>
        </p:nvSpPr>
        <p:spPr>
          <a:xfrm>
            <a:off x="9946000" y="2440000"/>
            <a:ext cx="1692318" cy="440000"/>
          </a:xfrm>
          <a:prstGeom prst="rect">
            <a:avLst/>
          </a:prstGeom>
          <a:noFill/>
        </p:spPr>
        <p:txBody>
          <a:bodyPr wrap="square" anchor="ctr">
            <a:spAutoFit/>
          </a:bodyPr>
          <a:lstStyle/>
          <a:p>
            <a:pPr algn="l">
              <a:spcAft>
                <a:spcPts val="0"/>
              </a:spcAft>
            </a:pPr>
            <a:r>
              <a:rPr sz="1500" b="0" i="0">
                <a:solidFill>
                  <a:srgbClr val="262626"/>
                </a:solidFill>
                <a:latin typeface="Arial"/>
              </a:rPr>
              <a:t>resident warps / SM maximum</a:t>
            </a:r>
          </a:p>
        </p:txBody>
      </p:sp>
      <p:sp>
        <p:nvSpPr>
          <p:cNvPr id="18" name="Rounded Rectangle 17"/>
          <p:cNvSpPr/>
          <p:nvPr/>
        </p:nvSpPr>
        <p:spPr>
          <a:xfrm>
            <a:off x="6446000" y="2980000"/>
            <a:ext cx="3400000" cy="440000"/>
          </a:xfrm>
          <a:prstGeom prst="roundRect">
            <a:avLst>
              <a:gd name="adj" fmla="val 50000"/>
            </a:avLst>
          </a:prstGeom>
          <a:solidFill>
            <a:srgbClr val="FFFFFF"/>
          </a:solidFill>
          <a:ln>
            <a:noFill/>
          </a:ln>
        </p:spPr>
        <p:txBody>
          <a:bodyPr rtlCol="0" anchor="ctr" lIns="90000" rIns="90000" tIns="0" bIns="0"/>
          <a:lstStyle/>
          <a:p>
            <a:pPr algn="ctr"/>
            <a:r>
              <a:rPr sz="1200" b="1" i="0">
                <a:solidFill>
                  <a:srgbClr val="2E7D32"/>
                </a:solidFill>
                <a:latin typeface="Courier New"/>
              </a:rPr>
              <a:t>DCGM_FI_PROF_DRAM_ACTIVE</a:t>
            </a:r>
          </a:p>
        </p:txBody>
      </p:sp>
      <p:sp>
        <p:nvSpPr>
          <p:cNvPr id="19" name="TextBox 18"/>
          <p:cNvSpPr txBox="1"/>
          <p:nvPr/>
        </p:nvSpPr>
        <p:spPr>
          <a:xfrm>
            <a:off x="9946000" y="2980000"/>
            <a:ext cx="1692318" cy="440000"/>
          </a:xfrm>
          <a:prstGeom prst="rect">
            <a:avLst/>
          </a:prstGeom>
          <a:noFill/>
        </p:spPr>
        <p:txBody>
          <a:bodyPr wrap="square" anchor="ctr">
            <a:spAutoFit/>
          </a:bodyPr>
          <a:lstStyle/>
          <a:p>
            <a:pPr algn="l">
              <a:spcAft>
                <a:spcPts val="0"/>
              </a:spcAft>
            </a:pPr>
            <a:r>
              <a:rPr sz="1500" b="0" i="0">
                <a:solidFill>
                  <a:srgbClr val="262626"/>
                </a:solidFill>
                <a:latin typeface="Arial"/>
              </a:rPr>
              <a:t>bandwidth-bound?</a:t>
            </a:r>
          </a:p>
        </p:txBody>
      </p:sp>
      <p:sp>
        <p:nvSpPr>
          <p:cNvPr id="20" name="Rounded Rectangle 19"/>
          <p:cNvSpPr/>
          <p:nvPr/>
        </p:nvSpPr>
        <p:spPr>
          <a:xfrm>
            <a:off x="6446000" y="3520000"/>
            <a:ext cx="3400000" cy="440000"/>
          </a:xfrm>
          <a:prstGeom prst="roundRect">
            <a:avLst>
              <a:gd name="adj" fmla="val 50000"/>
            </a:avLst>
          </a:prstGeom>
          <a:solidFill>
            <a:srgbClr val="FFFFFF"/>
          </a:solidFill>
          <a:ln>
            <a:noFill/>
          </a:ln>
        </p:spPr>
        <p:txBody>
          <a:bodyPr rtlCol="0" anchor="ctr" lIns="90000" rIns="90000" tIns="0" bIns="0"/>
          <a:lstStyle/>
          <a:p>
            <a:pPr algn="ctr"/>
            <a:r>
              <a:rPr sz="1200" b="1" i="0">
                <a:solidFill>
                  <a:srgbClr val="2E7D32"/>
                </a:solidFill>
                <a:latin typeface="Courier New"/>
              </a:rPr>
              <a:t>DCGM_FI_PROF_PIPE_TENSOR_ACTIVE</a:t>
            </a:r>
          </a:p>
        </p:txBody>
      </p:sp>
      <p:sp>
        <p:nvSpPr>
          <p:cNvPr id="21" name="TextBox 20"/>
          <p:cNvSpPr txBox="1"/>
          <p:nvPr/>
        </p:nvSpPr>
        <p:spPr>
          <a:xfrm>
            <a:off x="9946000" y="3520000"/>
            <a:ext cx="1692318" cy="440000"/>
          </a:xfrm>
          <a:prstGeom prst="rect">
            <a:avLst/>
          </a:prstGeom>
          <a:noFill/>
        </p:spPr>
        <p:txBody>
          <a:bodyPr wrap="square" anchor="ctr">
            <a:spAutoFit/>
          </a:bodyPr>
          <a:lstStyle/>
          <a:p>
            <a:pPr algn="l">
              <a:spcAft>
                <a:spcPts val="0"/>
              </a:spcAft>
            </a:pPr>
            <a:r>
              <a:rPr sz="1500" b="0" i="0">
                <a:solidFill>
                  <a:srgbClr val="262626"/>
                </a:solidFill>
                <a:latin typeface="Arial"/>
              </a:rPr>
              <a:t>tensor cores in use</a:t>
            </a:r>
          </a:p>
        </p:txBody>
      </p:sp>
      <p:sp>
        <p:nvSpPr>
          <p:cNvPr id="22" name="TextBox 21"/>
          <p:cNvSpPr txBox="1"/>
          <p:nvPr/>
        </p:nvSpPr>
        <p:spPr>
          <a:xfrm>
            <a:off x="403682" y="4300000"/>
            <a:ext cx="11384636" cy="800000"/>
          </a:xfrm>
          <a:prstGeom prst="rect">
            <a:avLst/>
          </a:prstGeom>
          <a:noFill/>
        </p:spPr>
        <p:txBody>
          <a:bodyPr wrap="square" anchor="ctr">
            <a:spAutoFit/>
          </a:bodyPr>
          <a:lstStyle/>
          <a:p>
            <a:pPr algn="l">
              <a:spcAft>
                <a:spcPts val="0"/>
              </a:spcAft>
            </a:pPr>
            <a:r>
              <a:rPr sz="2800" b="1" i="0">
                <a:solidFill>
                  <a:srgbClr val="991346"/>
                </a:solidFill>
                <a:latin typeface="Arial"/>
              </a:rPr>
              <a:t>And none of them know what a token is.</a:t>
            </a:r>
          </a:p>
        </p:txBody>
      </p:sp>
      <p:sp>
        <p:nvSpPr>
          <p:cNvPr id="23" name="TextBox 22"/>
          <p:cNvSpPr txBox="1"/>
          <p:nvPr/>
        </p:nvSpPr>
        <p:spPr>
          <a:xfrm>
            <a:off x="403682" y="5050000"/>
            <a:ext cx="11384636" cy="600000"/>
          </a:xfrm>
          <a:prstGeom prst="rect">
            <a:avLst/>
          </a:prstGeom>
          <a:noFill/>
        </p:spPr>
        <p:txBody>
          <a:bodyPr wrap="square" anchor="t">
            <a:spAutoFit/>
          </a:bodyPr>
          <a:lstStyle/>
          <a:p>
            <a:pPr algn="l">
              <a:spcAft>
                <a:spcPts val="0"/>
              </a:spcAft>
            </a:pPr>
            <a:r>
              <a:rPr sz="1800" b="0" i="0">
                <a:solidFill>
                  <a:srgbClr val="262626"/>
                </a:solidFill>
                <a:latin typeface="Arial"/>
              </a:rPr>
              <a:t>Queue depth, KV cache pressure, tokens per second. The serving framework owns those, the silicon doesn't.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The pod is the join key.</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K8s 1.35: Dynamic Resource Allocation is stable; dcgm-exporter 4.8.4 adds pod_uid and ResourceSlice mapping because the device-plugin mapping breaks under DRA. Same join key, new plumbing.</a:t>
            </a:r>
          </a:p>
        </p:txBody>
      </p:sp>
      <p:sp>
        <p:nvSpPr>
          <p:cNvPr id="4" name="Rounded Rectangle 3"/>
          <p:cNvSpPr/>
          <p:nvPr/>
        </p:nvSpPr>
        <p:spPr>
          <a:xfrm>
            <a:off x="403682" y="1450000"/>
            <a:ext cx="3100000" cy="1500000"/>
          </a:xfrm>
          <a:prstGeom prst="roundRect">
            <a:avLst>
              <a:gd name="adj" fmla="val 8000"/>
            </a:avLst>
          </a:prstGeom>
          <a:solidFill>
            <a:srgbClr val="F3F3F3"/>
          </a:solidFill>
          <a:ln>
            <a:noFill/>
          </a:ln>
        </p:spPr>
        <p:txBody>
          <a:bodyPr rtlCol="0" anchor="ctr"/>
          <a:lstStyle/>
          <a:p/>
        </p:txBody>
      </p:sp>
      <p:sp>
        <p:nvSpPr>
          <p:cNvPr id="5" name="TextBox 4"/>
          <p:cNvSpPr txBox="1"/>
          <p:nvPr/>
        </p:nvSpPr>
        <p:spPr>
          <a:xfrm>
            <a:off x="403682" y="1450000"/>
            <a:ext cx="3100000" cy="1500000"/>
          </a:xfrm>
          <a:prstGeom prst="rect">
            <a:avLst/>
          </a:prstGeom>
          <a:noFill/>
        </p:spPr>
        <p:txBody>
          <a:bodyPr wrap="square" anchor="ctr">
            <a:spAutoFit/>
          </a:bodyPr>
          <a:lstStyle/>
          <a:p>
            <a:pPr algn="ctr">
              <a:spcAft>
                <a:spcPts val="200"/>
              </a:spcAft>
            </a:pPr>
            <a:r>
              <a:rPr sz="2400" b="1" i="0">
                <a:solidFill>
                  <a:srgbClr val="991346"/>
                </a:solidFill>
                <a:latin typeface="Arial"/>
              </a:rPr>
              <a:t>DCGM</a:t>
            </a:r>
          </a:p>
          <a:p>
            <a:pPr algn="ctr">
              <a:spcAft>
                <a:spcPts val="600"/>
              </a:spcAft>
            </a:pPr>
            <a:r>
              <a:rPr sz="1400" b="0" i="0">
                <a:solidFill>
                  <a:srgbClr val="6B6B6B"/>
                </a:solidFill>
                <a:latin typeface="Arial"/>
              </a:rPr>
              <a:t>dcgm-exporter --kubernetes</a:t>
            </a:r>
          </a:p>
          <a:p>
            <a:pPr algn="ctr">
              <a:spcAft>
                <a:spcPts val="0"/>
              </a:spcAft>
            </a:pPr>
            <a:r>
              <a:rPr sz="1500" b="1" i="0">
                <a:solidFill>
                  <a:srgbClr val="262626"/>
                </a:solidFill>
                <a:latin typeface="Courier New"/>
              </a:rPr>
              <a:t>exported_pod</a:t>
            </a:r>
          </a:p>
        </p:txBody>
      </p:sp>
      <p:cxnSp>
        <p:nvCxnSpPr>
          <p:cNvPr id="6" name="Connector 5"/>
          <p:cNvCxnSpPr/>
          <p:nvPr/>
        </p:nvCxnSpPr>
        <p:spPr>
          <a:xfrm>
            <a:off x="1953682" y="2950000"/>
            <a:ext cx="3451931" cy="200000"/>
          </a:xfrm>
          <a:prstGeom prst="line">
            <a:avLst/>
          </a:prstGeom>
          <a:ln w="38100">
            <a:solidFill>
              <a:srgbClr val="991346"/>
            </a:solidFill>
            <a:tailEnd type="triangle" w="med" len="med"/>
          </a:ln>
        </p:spPr>
      </p:cxnSp>
      <p:sp>
        <p:nvSpPr>
          <p:cNvPr id="7" name="Rounded Rectangle 6"/>
          <p:cNvSpPr/>
          <p:nvPr/>
        </p:nvSpPr>
        <p:spPr>
          <a:xfrm>
            <a:off x="4546000" y="1450000"/>
            <a:ext cx="3100000" cy="1500000"/>
          </a:xfrm>
          <a:prstGeom prst="roundRect">
            <a:avLst>
              <a:gd name="adj" fmla="val 8000"/>
            </a:avLst>
          </a:prstGeom>
          <a:solidFill>
            <a:srgbClr val="F3F3F3"/>
          </a:solidFill>
          <a:ln>
            <a:noFill/>
          </a:ln>
        </p:spPr>
        <p:txBody>
          <a:bodyPr rtlCol="0" anchor="ctr"/>
          <a:lstStyle/>
          <a:p/>
        </p:txBody>
      </p:sp>
      <p:sp>
        <p:nvSpPr>
          <p:cNvPr id="8" name="TextBox 7"/>
          <p:cNvSpPr txBox="1"/>
          <p:nvPr/>
        </p:nvSpPr>
        <p:spPr>
          <a:xfrm>
            <a:off x="4546000" y="1450000"/>
            <a:ext cx="3100000" cy="1500000"/>
          </a:xfrm>
          <a:prstGeom prst="rect">
            <a:avLst/>
          </a:prstGeom>
          <a:noFill/>
        </p:spPr>
        <p:txBody>
          <a:bodyPr wrap="square" anchor="ctr">
            <a:spAutoFit/>
          </a:bodyPr>
          <a:lstStyle/>
          <a:p>
            <a:pPr algn="ctr">
              <a:spcAft>
                <a:spcPts val="200"/>
              </a:spcAft>
            </a:pPr>
            <a:r>
              <a:rPr sz="2400" b="1" i="0">
                <a:solidFill>
                  <a:srgbClr val="991346"/>
                </a:solidFill>
                <a:latin typeface="Arial"/>
              </a:rPr>
              <a:t>Serving log</a:t>
            </a:r>
          </a:p>
          <a:p>
            <a:pPr algn="ctr">
              <a:spcAft>
                <a:spcPts val="600"/>
              </a:spcAft>
            </a:pPr>
            <a:r>
              <a:rPr sz="1400" b="0" i="0">
                <a:solidFill>
                  <a:srgbClr val="6B6B6B"/>
                </a:solidFill>
                <a:latin typeface="Arial"/>
              </a:rPr>
              <a:t>Fluent Bit kubernetes filter</a:t>
            </a:r>
          </a:p>
          <a:p>
            <a:pPr algn="ctr">
              <a:spcAft>
                <a:spcPts val="0"/>
              </a:spcAft>
            </a:pPr>
            <a:r>
              <a:rPr sz="1500" b="1" i="0">
                <a:solidFill>
                  <a:srgbClr val="262626"/>
                </a:solidFill>
                <a:latin typeface="Courier New"/>
              </a:rPr>
              <a:t>pod_name</a:t>
            </a:r>
          </a:p>
        </p:txBody>
      </p:sp>
      <p:cxnSp>
        <p:nvCxnSpPr>
          <p:cNvPr id="9" name="Connector 8"/>
          <p:cNvCxnSpPr/>
          <p:nvPr/>
        </p:nvCxnSpPr>
        <p:spPr>
          <a:xfrm>
            <a:off x="6096000" y="2950000"/>
            <a:ext cx="0" cy="200000"/>
          </a:xfrm>
          <a:prstGeom prst="line">
            <a:avLst/>
          </a:prstGeom>
          <a:ln w="38100">
            <a:solidFill>
              <a:srgbClr val="991346"/>
            </a:solidFill>
            <a:tailEnd type="triangle" w="med" len="med"/>
          </a:ln>
        </p:spPr>
      </p:cxnSp>
      <p:sp>
        <p:nvSpPr>
          <p:cNvPr id="10" name="Rounded Rectangle 9"/>
          <p:cNvSpPr/>
          <p:nvPr/>
        </p:nvSpPr>
        <p:spPr>
          <a:xfrm>
            <a:off x="8688318" y="1450000"/>
            <a:ext cx="3100000" cy="1500000"/>
          </a:xfrm>
          <a:prstGeom prst="roundRect">
            <a:avLst>
              <a:gd name="adj" fmla="val 8000"/>
            </a:avLst>
          </a:prstGeom>
          <a:solidFill>
            <a:srgbClr val="F3F3F3"/>
          </a:solidFill>
          <a:ln>
            <a:noFill/>
          </a:ln>
        </p:spPr>
        <p:txBody>
          <a:bodyPr rtlCol="0" anchor="ctr"/>
          <a:lstStyle/>
          <a:p/>
        </p:txBody>
      </p:sp>
      <p:sp>
        <p:nvSpPr>
          <p:cNvPr id="11" name="TextBox 10"/>
          <p:cNvSpPr txBox="1"/>
          <p:nvPr/>
        </p:nvSpPr>
        <p:spPr>
          <a:xfrm>
            <a:off x="8688318" y="1450000"/>
            <a:ext cx="3100000" cy="1500000"/>
          </a:xfrm>
          <a:prstGeom prst="rect">
            <a:avLst/>
          </a:prstGeom>
          <a:noFill/>
        </p:spPr>
        <p:txBody>
          <a:bodyPr wrap="square" anchor="ctr">
            <a:spAutoFit/>
          </a:bodyPr>
          <a:lstStyle/>
          <a:p>
            <a:pPr algn="ctr">
              <a:spcAft>
                <a:spcPts val="200"/>
              </a:spcAft>
            </a:pPr>
            <a:r>
              <a:rPr sz="2400" b="1" i="0">
                <a:solidFill>
                  <a:srgbClr val="991346"/>
                </a:solidFill>
                <a:latin typeface="Arial"/>
              </a:rPr>
              <a:t>Traces</a:t>
            </a:r>
          </a:p>
          <a:p>
            <a:pPr algn="ctr">
              <a:spcAft>
                <a:spcPts val="600"/>
              </a:spcAft>
            </a:pPr>
            <a:r>
              <a:rPr sz="1400" b="0" i="0">
                <a:solidFill>
                  <a:srgbClr val="6B6B6B"/>
                </a:solidFill>
                <a:latin typeface="Arial"/>
              </a:rPr>
              <a:t>OTel Collector k8sattributes</a:t>
            </a:r>
          </a:p>
          <a:p>
            <a:pPr algn="ctr">
              <a:spcAft>
                <a:spcPts val="0"/>
              </a:spcAft>
            </a:pPr>
            <a:r>
              <a:rPr sz="1500" b="1" i="0">
                <a:solidFill>
                  <a:srgbClr val="262626"/>
                </a:solidFill>
                <a:latin typeface="Courier New"/>
              </a:rPr>
              <a:t>k8s.pod.name</a:t>
            </a:r>
          </a:p>
        </p:txBody>
      </p:sp>
      <p:cxnSp>
        <p:nvCxnSpPr>
          <p:cNvPr id="12" name="Connector 11"/>
          <p:cNvCxnSpPr/>
          <p:nvPr/>
        </p:nvCxnSpPr>
        <p:spPr>
          <a:xfrm flipH="1">
            <a:off x="6786386" y="2950000"/>
            <a:ext cx="3451932" cy="200000"/>
          </a:xfrm>
          <a:prstGeom prst="line">
            <a:avLst/>
          </a:prstGeom>
          <a:ln w="38100">
            <a:solidFill>
              <a:srgbClr val="991346"/>
            </a:solidFill>
            <a:tailEnd type="triangle" w="med" len="med"/>
          </a:ln>
        </p:spPr>
      </p:cxnSp>
      <p:sp>
        <p:nvSpPr>
          <p:cNvPr id="13" name="Rounded Rectangle 12"/>
          <p:cNvSpPr/>
          <p:nvPr/>
        </p:nvSpPr>
        <p:spPr>
          <a:xfrm>
            <a:off x="3696000" y="3150000"/>
            <a:ext cx="4800000" cy="1200000"/>
          </a:xfrm>
          <a:prstGeom prst="roundRect">
            <a:avLst>
              <a:gd name="adj" fmla="val 50000"/>
            </a:avLst>
          </a:prstGeom>
          <a:solidFill>
            <a:srgbClr val="991346"/>
          </a:solidFill>
          <a:ln>
            <a:noFill/>
          </a:ln>
        </p:spPr>
        <p:txBody>
          <a:bodyPr rtlCol="0" anchor="ctr" lIns="90000" rIns="90000" tIns="0" bIns="0"/>
          <a:lstStyle/>
          <a:p>
            <a:pPr algn="ctr"/>
            <a:r>
              <a:rPr sz="4000" b="1" i="0">
                <a:solidFill>
                  <a:srgbClr val="FFFFFF"/>
                </a:solidFill>
                <a:latin typeface="Courier New"/>
              </a:rPr>
              <a:t>pod_name</a:t>
            </a:r>
          </a:p>
        </p:txBody>
      </p:sp>
      <p:sp>
        <p:nvSpPr>
          <p:cNvPr id="14" name="Rounded Rectangle 13"/>
          <p:cNvSpPr/>
          <p:nvPr/>
        </p:nvSpPr>
        <p:spPr>
          <a:xfrm>
            <a:off x="3996000" y="4500000"/>
            <a:ext cx="4200000" cy="560000"/>
          </a:xfrm>
          <a:prstGeom prst="roundRect">
            <a:avLst>
              <a:gd name="adj" fmla="val 50000"/>
            </a:avLst>
          </a:prstGeom>
          <a:solidFill>
            <a:srgbClr val="FFFFFF"/>
          </a:solidFill>
          <a:ln w="15875">
            <a:solidFill>
              <a:srgbClr val="991346"/>
            </a:solidFill>
          </a:ln>
        </p:spPr>
        <p:txBody>
          <a:bodyPr rtlCol="0" anchor="ctr" lIns="90000" rIns="90000" tIns="0" bIns="0"/>
          <a:lstStyle/>
          <a:p>
            <a:pPr algn="ctr"/>
            <a:r>
              <a:rPr sz="1800" b="1" i="0">
                <a:solidFill>
                  <a:srgbClr val="991346"/>
                </a:solidFill>
                <a:latin typeface="Courier New"/>
              </a:rPr>
              <a:t>WHERE pod_name = $pod</a:t>
            </a:r>
          </a:p>
        </p:txBody>
      </p:sp>
      <p:sp>
        <p:nvSpPr>
          <p:cNvPr id="15" name="TextBox 14"/>
          <p:cNvSpPr txBox="1"/>
          <p:nvPr/>
        </p:nvSpPr>
        <p:spPr>
          <a:xfrm>
            <a:off x="403682" y="5200000"/>
            <a:ext cx="11384636" cy="700000"/>
          </a:xfrm>
          <a:prstGeom prst="rect">
            <a:avLst/>
          </a:prstGeom>
          <a:noFill/>
        </p:spPr>
        <p:txBody>
          <a:bodyPr wrap="square" anchor="t">
            <a:spAutoFit/>
          </a:bodyPr>
          <a:lstStyle/>
          <a:p>
            <a:pPr algn="ctr">
              <a:spcAft>
                <a:spcPts val="0"/>
              </a:spcAft>
            </a:pPr>
            <a:r>
              <a:rPr sz="2000" b="1" i="0">
                <a:solidFill>
                  <a:srgbClr val="262626"/>
                </a:solidFill>
                <a:latin typeface="Arial"/>
              </a:rPr>
              <a:t>Stamp it on every metric, log record and span. Join at query time. Nothing else is common to all three.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7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7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Signal 1: DCGM, per pod.</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dcgm-exporter --kubernetes reads /var/lib/kubelet/pod-resources. EKS Auto Mode: standalone dcgm-exporter, not the GPU Operator (slide 18).</a:t>
            </a:r>
          </a:p>
        </p:txBody>
      </p:sp>
      <p:pic>
        <p:nvPicPr>
          <p:cNvPr id="4" name="Picture 3" descr="panel-4.png"/>
          <p:cNvPicPr>
            <a:picLocks noChangeAspect="1"/>
          </p:cNvPicPr>
          <p:nvPr/>
        </p:nvPicPr>
        <p:blipFill>
          <a:blip r:embed="rId3"/>
          <a:stretch>
            <a:fillRect/>
          </a:stretch>
        </p:blipFill>
        <p:spPr>
          <a:xfrm>
            <a:off x="403682" y="1252143"/>
            <a:ext cx="6200000" cy="2745714"/>
          </a:xfrm>
          <a:prstGeom prst="rect">
            <a:avLst/>
          </a:prstGeom>
        </p:spPr>
      </p:pic>
      <p:sp>
        <p:nvSpPr>
          <p:cNvPr id="5" name="Rectangle 4"/>
          <p:cNvSpPr/>
          <p:nvPr/>
        </p:nvSpPr>
        <p:spPr>
          <a:xfrm>
            <a:off x="403682" y="1252143"/>
            <a:ext cx="6200000" cy="2745714"/>
          </a:xfrm>
          <a:prstGeom prst="rect">
            <a:avLst/>
          </a:prstGeom>
          <a:noFill/>
          <a:ln w="9525">
            <a:solidFill>
              <a:srgbClr val="DDDDDD"/>
            </a:solidFill>
          </a:ln>
        </p:spPr>
        <p:txBody>
          <a:bodyPr rtlCol="0" anchor="ctr"/>
          <a:lstStyle/>
          <a:p>
            <a:pPr algn="ctr"/>
          </a:p>
        </p:txBody>
      </p:sp>
      <p:sp>
        <p:nvSpPr>
          <p:cNvPr id="6" name="Rounded Rectangle 5"/>
          <p:cNvSpPr/>
          <p:nvPr/>
        </p:nvSpPr>
        <p:spPr>
          <a:xfrm>
            <a:off x="4103682" y="1801285"/>
            <a:ext cx="2300000" cy="560000"/>
          </a:xfrm>
          <a:prstGeom prst="roundRect">
            <a:avLst>
              <a:gd name="adj" fmla="val 12000"/>
            </a:avLst>
          </a:prstGeom>
          <a:solidFill>
            <a:srgbClr val="991346"/>
          </a:solidFill>
          <a:ln>
            <a:noFill/>
          </a:ln>
        </p:spPr>
        <p:txBody>
          <a:bodyPr rtlCol="0" anchor="ctr"/>
          <a:lstStyle/>
          <a:p/>
        </p:txBody>
      </p:sp>
      <p:sp>
        <p:nvSpPr>
          <p:cNvPr id="7" name="TextBox 6"/>
          <p:cNvSpPr txBox="1"/>
          <p:nvPr/>
        </p:nvSpPr>
        <p:spPr>
          <a:xfrm>
            <a:off x="4103682" y="1801285"/>
            <a:ext cx="2300000" cy="560000"/>
          </a:xfrm>
          <a:prstGeom prst="rect">
            <a:avLst/>
          </a:prstGeom>
          <a:noFill/>
        </p:spPr>
        <p:txBody>
          <a:bodyPr wrap="square" anchor="ctr">
            <a:spAutoFit/>
          </a:bodyPr>
          <a:lstStyle/>
          <a:p>
            <a:pPr algn="ctr">
              <a:spcAft>
                <a:spcPts val="0"/>
              </a:spcAft>
            </a:pPr>
            <a:r>
              <a:rPr sz="1600" b="1" i="0">
                <a:solidFill>
                  <a:srgbClr val="FFFFFF"/>
                </a:solidFill>
                <a:latin typeface="Arial"/>
              </a:rPr>
              <a:t>SM active, per pod</a:t>
            </a:r>
          </a:p>
        </p:txBody>
      </p:sp>
      <p:sp>
        <p:nvSpPr>
          <p:cNvPr id="8" name="TextBox 7"/>
          <p:cNvSpPr txBox="1"/>
          <p:nvPr/>
        </p:nvSpPr>
        <p:spPr>
          <a:xfrm>
            <a:off x="403682" y="4150000"/>
            <a:ext cx="6200000" cy="1500000"/>
          </a:xfrm>
          <a:prstGeom prst="rect">
            <a:avLst/>
          </a:prstGeom>
          <a:noFill/>
        </p:spPr>
        <p:txBody>
          <a:bodyPr wrap="square" anchor="t">
            <a:spAutoFit/>
          </a:bodyPr>
          <a:lstStyle/>
          <a:p>
            <a:pPr algn="l">
              <a:spcAft>
                <a:spcPts val="600"/>
              </a:spcAft>
            </a:pPr>
            <a:r>
              <a:rPr sz="1400" b="1" i="0">
                <a:solidFill>
                  <a:srgbClr val="262626"/>
                </a:solidFill>
                <a:latin typeface="Courier New"/>
              </a:rPr>
              <a:t>--kubernetes=true  </a:t>
            </a:r>
            <a:r>
              <a:rPr sz="1500" b="0" i="0">
                <a:solidFill>
                  <a:srgbClr val="262626"/>
                </a:solidFill>
                <a:latin typeface="Arial"/>
              </a:rPr>
              <a:t>asks the kubelet who owns each GPU</a:t>
            </a:r>
          </a:p>
          <a:p>
            <a:pPr algn="l">
              <a:spcAft>
                <a:spcPts val="600"/>
              </a:spcAft>
            </a:pPr>
            <a:r>
              <a:rPr sz="1400" b="1" i="0">
                <a:solidFill>
                  <a:srgbClr val="262626"/>
                </a:solidFill>
                <a:latin typeface="Courier New"/>
              </a:rPr>
              <a:t>ENABLE_POD_LABELS=false  </a:t>
            </a:r>
            <a:r>
              <a:rPr sz="1500" b="0" i="0">
                <a:solidFill>
                  <a:srgbClr val="262626"/>
                </a:solidFill>
                <a:latin typeface="Arial"/>
              </a:rPr>
              <a:t>keep the join key, nothing else (next slide)</a:t>
            </a:r>
          </a:p>
        </p:txBody>
      </p:sp>
      <p:sp>
        <p:nvSpPr>
          <p:cNvPr id="9" name="Rounded Rectangle 8"/>
          <p:cNvSpPr/>
          <p:nvPr/>
        </p:nvSpPr>
        <p:spPr>
          <a:xfrm>
            <a:off x="6903682" y="1250000"/>
            <a:ext cx="4884636" cy="2050000"/>
          </a:xfrm>
          <a:prstGeom prst="roundRect">
            <a:avLst>
              <a:gd name="adj" fmla="val 8000"/>
            </a:avLst>
          </a:prstGeom>
          <a:solidFill>
            <a:srgbClr val="E3F1E4"/>
          </a:solidFill>
          <a:ln>
            <a:noFill/>
          </a:ln>
        </p:spPr>
        <p:txBody>
          <a:bodyPr rtlCol="0" anchor="ctr"/>
          <a:lstStyle/>
          <a:p/>
        </p:txBody>
      </p:sp>
      <p:sp>
        <p:nvSpPr>
          <p:cNvPr id="10" name="TextBox 9"/>
          <p:cNvSpPr txBox="1"/>
          <p:nvPr/>
        </p:nvSpPr>
        <p:spPr>
          <a:xfrm>
            <a:off x="7003682" y="1330000"/>
            <a:ext cx="4684636" cy="1900000"/>
          </a:xfrm>
          <a:prstGeom prst="rect">
            <a:avLst/>
          </a:prstGeom>
          <a:noFill/>
        </p:spPr>
        <p:txBody>
          <a:bodyPr wrap="square" anchor="t">
            <a:spAutoFit/>
          </a:bodyPr>
          <a:lstStyle/>
          <a:p>
            <a:pPr algn="l">
              <a:spcAft>
                <a:spcPts val="500"/>
              </a:spcAft>
            </a:pPr>
            <a:r>
              <a:rPr sz="1800" b="1" i="0">
                <a:solidFill>
                  <a:srgbClr val="2E7D32"/>
                </a:solidFill>
                <a:latin typeface="Arial"/>
              </a:rPr>
              <a:t>What it tells you</a:t>
            </a:r>
          </a:p>
          <a:p>
            <a:pPr algn="l" marL="285750" indent="-285750">
              <a:spcAft>
                <a:spcPts val="500"/>
              </a:spcAft>
              <a:buChar char="•"/>
            </a:pPr>
            <a:r>
              <a:rPr sz="1600" b="0" i="0">
                <a:solidFill>
                  <a:srgbClr val="262626"/>
                </a:solidFill>
                <a:latin typeface="Arial"/>
              </a:rPr>
              <a:t>Which pod holds which GPU</a:t>
            </a:r>
          </a:p>
          <a:p>
            <a:pPr algn="l" marL="285750" indent="-285750">
              <a:spcAft>
                <a:spcPts val="500"/>
              </a:spcAft>
              <a:buChar char="•"/>
            </a:pPr>
            <a:r>
              <a:rPr sz="1600" b="0" i="0">
                <a:solidFill>
                  <a:srgbClr val="262626"/>
                </a:solidFill>
                <a:latin typeface="Arial"/>
              </a:rPr>
              <a:t>Whether the silicon is busy (SM_ACTIVE, DRAM_ACTIVE)</a:t>
            </a:r>
          </a:p>
          <a:p>
            <a:pPr algn="l" marL="285750" indent="-285750">
              <a:spcAft>
                <a:spcPts val="0"/>
              </a:spcAft>
              <a:buChar char="•"/>
            </a:pPr>
            <a:r>
              <a:rPr sz="1600" b="0" i="0">
                <a:solidFill>
                  <a:srgbClr val="262626"/>
                </a:solidFill>
                <a:latin typeface="Arial"/>
              </a:rPr>
              <a:t>Power, temperature, pool size</a:t>
            </a:r>
          </a:p>
        </p:txBody>
      </p:sp>
      <p:sp>
        <p:nvSpPr>
          <p:cNvPr id="11" name="Rounded Rectangle 10"/>
          <p:cNvSpPr/>
          <p:nvPr/>
        </p:nvSpPr>
        <p:spPr>
          <a:xfrm>
            <a:off x="6903682" y="3450000"/>
            <a:ext cx="4884636" cy="2300000"/>
          </a:xfrm>
          <a:prstGeom prst="roundRect">
            <a:avLst>
              <a:gd name="adj" fmla="val 8000"/>
            </a:avLst>
          </a:prstGeom>
          <a:solidFill>
            <a:srgbClr val="FBE5E5"/>
          </a:solidFill>
          <a:ln>
            <a:noFill/>
          </a:ln>
        </p:spPr>
        <p:txBody>
          <a:bodyPr rtlCol="0" anchor="ctr"/>
          <a:lstStyle/>
          <a:p/>
        </p:txBody>
      </p:sp>
      <p:sp>
        <p:nvSpPr>
          <p:cNvPr id="12" name="TextBox 11"/>
          <p:cNvSpPr txBox="1"/>
          <p:nvPr/>
        </p:nvSpPr>
        <p:spPr>
          <a:xfrm>
            <a:off x="7003682" y="3530000"/>
            <a:ext cx="4684636" cy="2150000"/>
          </a:xfrm>
          <a:prstGeom prst="rect">
            <a:avLst/>
          </a:prstGeom>
          <a:noFill/>
        </p:spPr>
        <p:txBody>
          <a:bodyPr wrap="square" anchor="t">
            <a:spAutoFit/>
          </a:bodyPr>
          <a:lstStyle/>
          <a:p>
            <a:pPr algn="l">
              <a:spcAft>
                <a:spcPts val="500"/>
              </a:spcAft>
            </a:pPr>
            <a:r>
              <a:rPr sz="1800" b="1" i="0">
                <a:solidFill>
                  <a:srgbClr val="C62828"/>
                </a:solidFill>
                <a:latin typeface="Arial"/>
              </a:rPr>
              <a:t>What it has no idea about</a:t>
            </a:r>
          </a:p>
          <a:p>
            <a:pPr algn="l" marL="285750" indent="-285750">
              <a:spcAft>
                <a:spcPts val="500"/>
              </a:spcAft>
              <a:buChar char="•"/>
            </a:pPr>
            <a:r>
              <a:rPr sz="1600" b="0" i="0">
                <a:solidFill>
                  <a:srgbClr val="262626"/>
                </a:solidFill>
                <a:latin typeface="Arial"/>
              </a:rPr>
              <a:t>Why the GPU is busy</a:t>
            </a:r>
          </a:p>
          <a:p>
            <a:pPr algn="l" marL="285750" indent="-285750">
              <a:spcAft>
                <a:spcPts val="500"/>
              </a:spcAft>
              <a:buChar char="•"/>
            </a:pPr>
            <a:r>
              <a:rPr sz="1600" b="0" i="0">
                <a:solidFill>
                  <a:srgbClr val="262626"/>
                </a:solidFill>
                <a:latin typeface="Arial"/>
              </a:rPr>
              <a:t>How many requests are queued</a:t>
            </a:r>
          </a:p>
          <a:p>
            <a:pPr algn="l" marL="285750" indent="-285750">
              <a:spcAft>
                <a:spcPts val="500"/>
              </a:spcAft>
              <a:buChar char="•"/>
            </a:pPr>
            <a:r>
              <a:rPr sz="1600" b="0" i="0">
                <a:solidFill>
                  <a:srgbClr val="262626"/>
                </a:solidFill>
                <a:latin typeface="Arial"/>
              </a:rPr>
              <a:t>Whether the KV cache is full</a:t>
            </a:r>
          </a:p>
          <a:p>
            <a:pPr algn="l" marL="285750" indent="-285750">
              <a:spcAft>
                <a:spcPts val="0"/>
              </a:spcAft>
              <a:buChar char="•"/>
            </a:pPr>
            <a:r>
              <a:rPr sz="1600" b="0" i="0">
                <a:solidFill>
                  <a:srgbClr val="262626"/>
                </a:solidFill>
                <a:latin typeface="Arial"/>
              </a:rPr>
              <a:t>Anything about tokens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1 · What broke: series per pod name.</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Our rig, Oct 15 2026: count({__name__=~"DCGM_.*"}) = 14 live; sum of count(count_over_time(...[1h])) over the 7 counters = 56 after three vLLM restarts. Fleet math: Last9, 10,000 GPUs, one TSDB.</a:t>
            </a:r>
          </a:p>
        </p:txBody>
      </p:sp>
      <p:sp>
        <p:nvSpPr>
          <p:cNvPr id="4" name="Rounded Rectangle 3"/>
          <p:cNvSpPr/>
          <p:nvPr/>
        </p:nvSpPr>
        <p:spPr>
          <a:xfrm>
            <a:off x="403682" y="1250000"/>
            <a:ext cx="6900000" cy="2600000"/>
          </a:xfrm>
          <a:prstGeom prst="roundRect">
            <a:avLst>
              <a:gd name="adj" fmla="val 8000"/>
            </a:avLst>
          </a:prstGeom>
          <a:solidFill>
            <a:srgbClr val="F3F3F3"/>
          </a:solidFill>
          <a:ln>
            <a:noFill/>
          </a:ln>
        </p:spPr>
        <p:txBody>
          <a:bodyPr rtlCol="0" anchor="ctr"/>
          <a:lstStyle/>
          <a:p/>
        </p:txBody>
      </p:sp>
      <p:sp>
        <p:nvSpPr>
          <p:cNvPr id="5" name="TextBox 4"/>
          <p:cNvSpPr txBox="1"/>
          <p:nvPr/>
        </p:nvSpPr>
        <p:spPr>
          <a:xfrm>
            <a:off x="403682" y="1310000"/>
            <a:ext cx="6900000" cy="500000"/>
          </a:xfrm>
          <a:prstGeom prst="rect">
            <a:avLst/>
          </a:prstGeom>
          <a:noFill/>
        </p:spPr>
        <p:txBody>
          <a:bodyPr wrap="square" anchor="t">
            <a:spAutoFit/>
          </a:bodyPr>
          <a:lstStyle/>
          <a:p>
            <a:pPr algn="ctr">
              <a:spcAft>
                <a:spcPts val="0"/>
              </a:spcAft>
            </a:pPr>
            <a:r>
              <a:rPr sz="1800" b="0" i="0">
                <a:solidFill>
                  <a:srgbClr val="6B6B6B"/>
                </a:solidFill>
                <a:latin typeface="Arial"/>
              </a:rPr>
              <a:t>Same 2 GPUs, same 7 counters</a:t>
            </a:r>
          </a:p>
        </p:txBody>
      </p:sp>
      <p:sp>
        <p:nvSpPr>
          <p:cNvPr id="6" name="TextBox 5"/>
          <p:cNvSpPr txBox="1"/>
          <p:nvPr/>
        </p:nvSpPr>
        <p:spPr>
          <a:xfrm>
            <a:off x="603682" y="1650000"/>
            <a:ext cx="3150000" cy="1600000"/>
          </a:xfrm>
          <a:prstGeom prst="rect">
            <a:avLst/>
          </a:prstGeom>
          <a:noFill/>
        </p:spPr>
        <p:txBody>
          <a:bodyPr wrap="square" anchor="ctr">
            <a:spAutoFit/>
          </a:bodyPr>
          <a:lstStyle/>
          <a:p>
            <a:pPr algn="ctr">
              <a:spcAft>
                <a:spcPts val="0"/>
              </a:spcAft>
            </a:pPr>
            <a:r>
              <a:rPr sz="10000" b="1" i="0">
                <a:solidFill>
                  <a:srgbClr val="262626"/>
                </a:solidFill>
                <a:latin typeface="Arial"/>
              </a:rPr>
              <a:t>14</a:t>
            </a:r>
          </a:p>
          <a:p>
            <a:pPr algn="ctr">
              <a:spcAft>
                <a:spcPts val="0"/>
              </a:spcAft>
            </a:pPr>
            <a:r>
              <a:rPr sz="1800" b="0" i="0">
                <a:solidFill>
                  <a:srgbClr val="262626"/>
                </a:solidFill>
                <a:latin typeface="Arial"/>
              </a:rPr>
              <a:t>series live now</a:t>
            </a:r>
          </a:p>
        </p:txBody>
      </p:sp>
      <p:sp>
        <p:nvSpPr>
          <p:cNvPr id="7" name="TextBox 6"/>
          <p:cNvSpPr txBox="1"/>
          <p:nvPr/>
        </p:nvSpPr>
        <p:spPr>
          <a:xfrm>
            <a:off x="3953682" y="1650000"/>
            <a:ext cx="3150000" cy="1600000"/>
          </a:xfrm>
          <a:prstGeom prst="rect">
            <a:avLst/>
          </a:prstGeom>
          <a:noFill/>
        </p:spPr>
        <p:txBody>
          <a:bodyPr wrap="square" anchor="ctr">
            <a:spAutoFit/>
          </a:bodyPr>
          <a:lstStyle/>
          <a:p>
            <a:pPr algn="ctr">
              <a:spcAft>
                <a:spcPts val="0"/>
              </a:spcAft>
            </a:pPr>
            <a:r>
              <a:rPr sz="10000" b="1" i="0">
                <a:solidFill>
                  <a:srgbClr val="991346"/>
                </a:solidFill>
                <a:latin typeface="Arial"/>
              </a:rPr>
              <a:t>56</a:t>
            </a:r>
          </a:p>
          <a:p>
            <a:pPr algn="ctr">
              <a:spcAft>
                <a:spcPts val="0"/>
              </a:spcAft>
            </a:pPr>
            <a:r>
              <a:rPr sz="1800" b="0" i="0">
                <a:solidFill>
                  <a:srgbClr val="262626"/>
                </a:solidFill>
                <a:latin typeface="Arial"/>
              </a:rPr>
              <a:t>seen in the last hour</a:t>
            </a:r>
          </a:p>
        </p:txBody>
      </p:sp>
      <p:cxnSp>
        <p:nvCxnSpPr>
          <p:cNvPr id="8" name="Connector 7"/>
          <p:cNvCxnSpPr/>
          <p:nvPr/>
        </p:nvCxnSpPr>
        <p:spPr>
          <a:xfrm>
            <a:off x="3603682" y="2400000"/>
            <a:ext cx="500000" cy="0"/>
          </a:xfrm>
          <a:prstGeom prst="line">
            <a:avLst/>
          </a:prstGeom>
          <a:ln w="38100">
            <a:solidFill>
              <a:srgbClr val="991346"/>
            </a:solidFill>
            <a:tailEnd type="triangle" w="med" len="med"/>
          </a:ln>
        </p:spPr>
      </p:cxnSp>
      <p:sp>
        <p:nvSpPr>
          <p:cNvPr id="9" name="TextBox 8"/>
          <p:cNvSpPr txBox="1"/>
          <p:nvPr/>
        </p:nvSpPr>
        <p:spPr>
          <a:xfrm>
            <a:off x="403682" y="3400000"/>
            <a:ext cx="6900000" cy="400000"/>
          </a:xfrm>
          <a:prstGeom prst="rect">
            <a:avLst/>
          </a:prstGeom>
          <a:noFill/>
        </p:spPr>
        <p:txBody>
          <a:bodyPr wrap="square" anchor="t">
            <a:spAutoFit/>
          </a:bodyPr>
          <a:lstStyle/>
          <a:p>
            <a:pPr algn="ctr">
              <a:spcAft>
                <a:spcPts val="0"/>
              </a:spcAft>
            </a:pPr>
            <a:r>
              <a:rPr sz="1600" b="0" i="0">
                <a:solidFill>
                  <a:srgbClr val="6B6B6B"/>
                </a:solidFill>
                <a:latin typeface="Arial"/>
              </a:rPr>
              <a:t>3 pod restarts. Prometheus keeps every old series until retention ends.</a:t>
            </a:r>
          </a:p>
        </p:txBody>
      </p:sp>
      <p:sp>
        <p:nvSpPr>
          <p:cNvPr id="10" name="Rounded Rectangle 9"/>
          <p:cNvSpPr/>
          <p:nvPr/>
        </p:nvSpPr>
        <p:spPr>
          <a:xfrm>
            <a:off x="7553682" y="1250000"/>
            <a:ext cx="4234636" cy="2600000"/>
          </a:xfrm>
          <a:prstGeom prst="roundRect">
            <a:avLst>
              <a:gd name="adj" fmla="val 8000"/>
            </a:avLst>
          </a:prstGeom>
          <a:solidFill>
            <a:srgbClr val="F6E3EA"/>
          </a:solidFill>
          <a:ln>
            <a:noFill/>
          </a:ln>
        </p:spPr>
        <p:txBody>
          <a:bodyPr rtlCol="0" anchor="ctr"/>
          <a:lstStyle/>
          <a:p/>
        </p:txBody>
      </p:sp>
      <p:sp>
        <p:nvSpPr>
          <p:cNvPr id="11" name="TextBox 10"/>
          <p:cNvSpPr txBox="1"/>
          <p:nvPr/>
        </p:nvSpPr>
        <p:spPr>
          <a:xfrm>
            <a:off x="7653682" y="1350000"/>
            <a:ext cx="4034636" cy="2400000"/>
          </a:xfrm>
          <a:prstGeom prst="rect">
            <a:avLst/>
          </a:prstGeom>
          <a:noFill/>
        </p:spPr>
        <p:txBody>
          <a:bodyPr wrap="square" anchor="ctr">
            <a:spAutoFit/>
          </a:bodyPr>
          <a:lstStyle/>
          <a:p>
            <a:pPr algn="l">
              <a:spcAft>
                <a:spcPts val="600"/>
              </a:spcAft>
            </a:pPr>
            <a:r>
              <a:rPr sz="1800" b="1" i="0">
                <a:solidFill>
                  <a:srgbClr val="991346"/>
                </a:solidFill>
                <a:latin typeface="Arial"/>
              </a:rPr>
              <a:t>At fleet scale</a:t>
            </a:r>
          </a:p>
          <a:p>
            <a:pPr algn="l">
              <a:spcAft>
                <a:spcPts val="400"/>
              </a:spcAft>
            </a:pPr>
            <a:r>
              <a:rPr sz="1300" b="0" i="0">
                <a:solidFill>
                  <a:srgbClr val="262626"/>
                </a:solidFill>
                <a:latin typeface="Courier New"/>
              </a:rPr>
              <a:t>1,000 nodes x 8 GPUs x 60 counters x 3 labels</a:t>
            </a:r>
          </a:p>
          <a:p>
            <a:pPr algn="l">
              <a:spcAft>
                <a:spcPts val="600"/>
              </a:spcAft>
            </a:pPr>
            <a:r>
              <a:rPr sz="4000" b="1" i="0">
                <a:solidFill>
                  <a:srgbClr val="991346"/>
                </a:solidFill>
                <a:latin typeface="Arial"/>
              </a:rPr>
              <a:t>= 1.4M series</a:t>
            </a:r>
          </a:p>
          <a:p>
            <a:pPr algn="l">
              <a:spcAft>
                <a:spcPts val="0"/>
              </a:spcAft>
            </a:pPr>
            <a:r>
              <a:rPr sz="1500" b="0" i="0">
                <a:solidFill>
                  <a:srgbClr val="6B6B6B"/>
                </a:solidFill>
                <a:latin typeface="Arial"/>
              </a:rPr>
              <a:t>before one pod label. Every label you add multiplies by pod churn.</a:t>
            </a:r>
          </a:p>
        </p:txBody>
      </p:sp>
      <p:sp>
        <p:nvSpPr>
          <p:cNvPr id="12" name="Rounded Rectangle 11"/>
          <p:cNvSpPr/>
          <p:nvPr/>
        </p:nvSpPr>
        <p:spPr>
          <a:xfrm>
            <a:off x="403682" y="4100000"/>
            <a:ext cx="3594878" cy="1150000"/>
          </a:xfrm>
          <a:prstGeom prst="roundRect">
            <a:avLst>
              <a:gd name="adj" fmla="val 8000"/>
            </a:avLst>
          </a:prstGeom>
          <a:solidFill>
            <a:srgbClr val="F3F3F3"/>
          </a:solidFill>
          <a:ln>
            <a:noFill/>
          </a:ln>
        </p:spPr>
        <p:txBody>
          <a:bodyPr rtlCol="0" anchor="ctr"/>
          <a:lstStyle/>
          <a:p/>
        </p:txBody>
      </p:sp>
      <p:sp>
        <p:nvSpPr>
          <p:cNvPr id="13" name="TextBox 12"/>
          <p:cNvSpPr txBox="1"/>
          <p:nvPr/>
        </p:nvSpPr>
        <p:spPr>
          <a:xfrm>
            <a:off x="403682" y="4100000"/>
            <a:ext cx="3594878" cy="1150000"/>
          </a:xfrm>
          <a:prstGeom prst="rect">
            <a:avLst/>
          </a:prstGeom>
          <a:noFill/>
        </p:spPr>
        <p:txBody>
          <a:bodyPr wrap="square" anchor="ctr">
            <a:spAutoFit/>
          </a:bodyPr>
          <a:lstStyle/>
          <a:p>
            <a:pPr algn="ctr">
              <a:spcAft>
                <a:spcPts val="0"/>
              </a:spcAft>
            </a:pPr>
            <a:r>
              <a:rPr sz="2800" b="1" i="0">
                <a:solidFill>
                  <a:srgbClr val="991346"/>
                </a:solidFill>
                <a:latin typeface="Arial"/>
              </a:rPr>
              <a:t>Keep</a:t>
            </a:r>
          </a:p>
          <a:p>
            <a:pPr algn="ctr">
              <a:spcAft>
                <a:spcPts val="0"/>
              </a:spcAft>
            </a:pPr>
            <a:r>
              <a:rPr sz="1800" b="0" i="0">
                <a:solidFill>
                  <a:srgbClr val="262626"/>
                </a:solidFill>
                <a:latin typeface="Arial"/>
              </a:rPr>
              <a:t>the pod name (exported_pod)</a:t>
            </a:r>
          </a:p>
        </p:txBody>
      </p:sp>
      <p:sp>
        <p:nvSpPr>
          <p:cNvPr id="14" name="Rounded Rectangle 13"/>
          <p:cNvSpPr/>
          <p:nvPr/>
        </p:nvSpPr>
        <p:spPr>
          <a:xfrm>
            <a:off x="4298560" y="4100000"/>
            <a:ext cx="3594878" cy="1150000"/>
          </a:xfrm>
          <a:prstGeom prst="roundRect">
            <a:avLst>
              <a:gd name="adj" fmla="val 8000"/>
            </a:avLst>
          </a:prstGeom>
          <a:solidFill>
            <a:srgbClr val="F3F3F3"/>
          </a:solidFill>
          <a:ln>
            <a:noFill/>
          </a:ln>
        </p:spPr>
        <p:txBody>
          <a:bodyPr rtlCol="0" anchor="ctr"/>
          <a:lstStyle/>
          <a:p/>
        </p:txBody>
      </p:sp>
      <p:sp>
        <p:nvSpPr>
          <p:cNvPr id="15" name="TextBox 14"/>
          <p:cNvSpPr txBox="1"/>
          <p:nvPr/>
        </p:nvSpPr>
        <p:spPr>
          <a:xfrm>
            <a:off x="4298560" y="4100000"/>
            <a:ext cx="3594878" cy="1150000"/>
          </a:xfrm>
          <a:prstGeom prst="rect">
            <a:avLst/>
          </a:prstGeom>
          <a:noFill/>
        </p:spPr>
        <p:txBody>
          <a:bodyPr wrap="square" anchor="ctr">
            <a:spAutoFit/>
          </a:bodyPr>
          <a:lstStyle/>
          <a:p>
            <a:pPr algn="ctr">
              <a:spcAft>
                <a:spcPts val="0"/>
              </a:spcAft>
            </a:pPr>
            <a:r>
              <a:rPr sz="2800" b="1" i="0">
                <a:solidFill>
                  <a:srgbClr val="991346"/>
                </a:solidFill>
                <a:latin typeface="Arial"/>
              </a:rPr>
              <a:t>Drop</a:t>
            </a:r>
          </a:p>
          <a:p>
            <a:pPr algn="ctr">
              <a:spcAft>
                <a:spcPts val="0"/>
              </a:spcAft>
            </a:pPr>
            <a:r>
              <a:rPr sz="1800" b="0" i="0">
                <a:solidFill>
                  <a:srgbClr val="262626"/>
                </a:solidFill>
                <a:latin typeface="Arial"/>
              </a:rPr>
              <a:t>every other pod label</a:t>
            </a:r>
          </a:p>
        </p:txBody>
      </p:sp>
      <p:sp>
        <p:nvSpPr>
          <p:cNvPr id="16" name="Rounded Rectangle 15"/>
          <p:cNvSpPr/>
          <p:nvPr/>
        </p:nvSpPr>
        <p:spPr>
          <a:xfrm>
            <a:off x="8193438" y="4100000"/>
            <a:ext cx="3594878" cy="1150000"/>
          </a:xfrm>
          <a:prstGeom prst="roundRect">
            <a:avLst>
              <a:gd name="adj" fmla="val 8000"/>
            </a:avLst>
          </a:prstGeom>
          <a:solidFill>
            <a:srgbClr val="F3F3F3"/>
          </a:solidFill>
          <a:ln>
            <a:noFill/>
          </a:ln>
        </p:spPr>
        <p:txBody>
          <a:bodyPr rtlCol="0" anchor="ctr"/>
          <a:lstStyle/>
          <a:p/>
        </p:txBody>
      </p:sp>
      <p:sp>
        <p:nvSpPr>
          <p:cNvPr id="17" name="TextBox 16"/>
          <p:cNvSpPr txBox="1"/>
          <p:nvPr/>
        </p:nvSpPr>
        <p:spPr>
          <a:xfrm>
            <a:off x="8193438" y="4100000"/>
            <a:ext cx="3594878" cy="1150000"/>
          </a:xfrm>
          <a:prstGeom prst="rect">
            <a:avLst/>
          </a:prstGeom>
          <a:noFill/>
        </p:spPr>
        <p:txBody>
          <a:bodyPr wrap="square" anchor="ctr">
            <a:spAutoFit/>
          </a:bodyPr>
          <a:lstStyle/>
          <a:p>
            <a:pPr algn="ctr">
              <a:spcAft>
                <a:spcPts val="0"/>
              </a:spcAft>
            </a:pPr>
            <a:r>
              <a:rPr sz="2800" b="1" i="0">
                <a:solidFill>
                  <a:srgbClr val="991346"/>
                </a:solidFill>
                <a:latin typeface="Arial"/>
              </a:rPr>
              <a:t>Join</a:t>
            </a:r>
          </a:p>
          <a:p>
            <a:pPr algn="ctr">
              <a:spcAft>
                <a:spcPts val="0"/>
              </a:spcAft>
            </a:pPr>
            <a:r>
              <a:rPr sz="1800" b="0" i="0">
                <a:solidFill>
                  <a:srgbClr val="262626"/>
                </a:solidFill>
                <a:latin typeface="Arial"/>
              </a:rPr>
              <a:t>at query time</a:t>
            </a:r>
          </a:p>
        </p:txBody>
      </p:sp>
      <p:sp>
        <p:nvSpPr>
          <p:cNvPr id="18" name="TextBox 17"/>
          <p:cNvSpPr txBox="1"/>
          <p:nvPr/>
        </p:nvSpPr>
        <p:spPr>
          <a:xfrm>
            <a:off x="403682" y="5400000"/>
            <a:ext cx="11384636" cy="500000"/>
          </a:xfrm>
          <a:prstGeom prst="rect">
            <a:avLst/>
          </a:prstGeom>
          <a:noFill/>
        </p:spPr>
        <p:txBody>
          <a:bodyPr wrap="square" anchor="t">
            <a:spAutoFit/>
          </a:bodyPr>
          <a:lstStyle/>
          <a:p>
            <a:pPr algn="ctr">
              <a:spcAft>
                <a:spcPts val="600"/>
              </a:spcAft>
            </a:pPr>
            <a:r>
              <a:rPr sz="1600" b="0" i="0">
                <a:solidFill>
                  <a:srgbClr val="6B6B6B"/>
                </a:solidFill>
                <a:latin typeface="Arial"/>
              </a:rPr>
              <a:t>dcgm-exporter:  </a:t>
            </a:r>
            <a:r>
              <a:rPr sz="1600" b="1" i="0">
                <a:solidFill>
                  <a:srgbClr val="262626"/>
                </a:solidFill>
                <a:latin typeface="Courier New"/>
              </a:rPr>
              <a:t>--kubernetes=true</a:t>
            </a:r>
            <a:r>
              <a:rPr sz="1600" b="0" i="0">
                <a:solidFill>
                  <a:srgbClr val="262626"/>
                </a:solidFill>
                <a:latin typeface="Arial"/>
              </a:rPr>
              <a:t>   </a:t>
            </a:r>
            <a:r>
              <a:rPr sz="1600" b="1" i="0">
                <a:solidFill>
                  <a:srgbClr val="262626"/>
                </a:solidFill>
                <a:latin typeface="Courier New"/>
              </a:rPr>
              <a:t>ENABLE_POD_LABELS=false</a:t>
            </a:r>
            <a:r>
              <a:rPr sz="1600" b="0" i="0">
                <a:solidFill>
                  <a:srgbClr val="6B6B6B"/>
                </a:solidFill>
                <a:latin typeface="Arial"/>
              </a:rPr>
              <a:t>   7 counters in counters.csv</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7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The log says six things the GPU can't.</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vLLM V1 engine, vllm/v1/metrics/loggers.py: one stats line every 10 s while the engine is busy (DEBUG level when idle). Numbers from the live rig.</a:t>
            </a:r>
          </a:p>
        </p:txBody>
      </p:sp>
      <p:sp>
        <p:nvSpPr>
          <p:cNvPr id="4" name="TextBox 3"/>
          <p:cNvSpPr txBox="1"/>
          <p:nvPr/>
        </p:nvSpPr>
        <p:spPr>
          <a:xfrm>
            <a:off x="403682" y="1400000"/>
            <a:ext cx="11384636" cy="400000"/>
          </a:xfrm>
          <a:prstGeom prst="rect">
            <a:avLst/>
          </a:prstGeom>
          <a:noFill/>
        </p:spPr>
        <p:txBody>
          <a:bodyPr wrap="square" anchor="t">
            <a:spAutoFit/>
          </a:bodyPr>
          <a:lstStyle/>
          <a:p>
            <a:pPr algn="l">
              <a:spcAft>
                <a:spcPts val="0"/>
              </a:spcAft>
            </a:pPr>
            <a:r>
              <a:rPr sz="1600" b="0" i="0">
                <a:solidFill>
                  <a:srgbClr val="6B6B6B"/>
                </a:solidFill>
                <a:latin typeface="Arial"/>
              </a:rPr>
              <a:t>vllm-overprov, steady load</a:t>
            </a:r>
          </a:p>
        </p:txBody>
      </p:sp>
      <p:sp>
        <p:nvSpPr>
          <p:cNvPr id="5" name="Rounded Rectangle 4"/>
          <p:cNvSpPr/>
          <p:nvPr/>
        </p:nvSpPr>
        <p:spPr>
          <a:xfrm>
            <a:off x="403682" y="1880000"/>
            <a:ext cx="11384636" cy="1100000"/>
          </a:xfrm>
          <a:prstGeom prst="roundRect">
            <a:avLst>
              <a:gd name="adj" fmla="val 50000"/>
            </a:avLst>
          </a:prstGeom>
          <a:solidFill>
            <a:srgbClr val="6B6B6B"/>
          </a:solidFill>
          <a:ln>
            <a:noFill/>
          </a:ln>
        </p:spPr>
        <p:txBody>
          <a:bodyPr rtlCol="0" anchor="ctr" lIns="90000" rIns="90000" tIns="0" bIns="0"/>
          <a:lstStyle/>
          <a:p>
            <a:pPr algn="ctr"/>
            <a:r>
              <a:rPr sz="3200" b="1" i="0">
                <a:solidFill>
                  <a:srgbClr val="FFFFFF"/>
                </a:solidFill>
                <a:latin typeface="Arial"/>
              </a:rPr>
              <a:t>4,711 tok/s  ·  0 waiting  ·  0.1% KV cache</a:t>
            </a:r>
          </a:p>
        </p:txBody>
      </p:sp>
      <p:sp>
        <p:nvSpPr>
          <p:cNvPr id="6" name="TextBox 5"/>
          <p:cNvSpPr txBox="1"/>
          <p:nvPr/>
        </p:nvSpPr>
        <p:spPr>
          <a:xfrm>
            <a:off x="403682" y="3150000"/>
            <a:ext cx="11384636" cy="400000"/>
          </a:xfrm>
          <a:prstGeom prst="rect">
            <a:avLst/>
          </a:prstGeom>
          <a:noFill/>
        </p:spPr>
        <p:txBody>
          <a:bodyPr wrap="square" anchor="t">
            <a:spAutoFit/>
          </a:bodyPr>
          <a:lstStyle/>
          <a:p>
            <a:pPr algn="l">
              <a:spcAft>
                <a:spcPts val="0"/>
              </a:spcAft>
            </a:pPr>
            <a:r>
              <a:rPr sz="1600" b="0" i="0">
                <a:solidFill>
                  <a:srgbClr val="6B6B6B"/>
                </a:solidFill>
                <a:latin typeface="Arial"/>
              </a:rPr>
              <a:t>vllm-constrained, saturating load</a:t>
            </a:r>
          </a:p>
        </p:txBody>
      </p:sp>
      <p:sp>
        <p:nvSpPr>
          <p:cNvPr id="7" name="Rounded Rectangle 6"/>
          <p:cNvSpPr/>
          <p:nvPr/>
        </p:nvSpPr>
        <p:spPr>
          <a:xfrm>
            <a:off x="403682" y="3630000"/>
            <a:ext cx="11384636" cy="1100000"/>
          </a:xfrm>
          <a:prstGeom prst="roundRect">
            <a:avLst>
              <a:gd name="adj" fmla="val 50000"/>
            </a:avLst>
          </a:prstGeom>
          <a:solidFill>
            <a:srgbClr val="C62828"/>
          </a:solidFill>
          <a:ln>
            <a:noFill/>
          </a:ln>
        </p:spPr>
        <p:txBody>
          <a:bodyPr rtlCol="0" anchor="ctr" lIns="90000" rIns="90000" tIns="0" bIns="0"/>
          <a:lstStyle/>
          <a:p>
            <a:pPr algn="ctr"/>
            <a:r>
              <a:rPr sz="3200" b="1" i="0">
                <a:solidFill>
                  <a:srgbClr val="FFFFFF"/>
                </a:solidFill>
                <a:latin typeface="Arial"/>
              </a:rPr>
              <a:t>17,227 tok/s  ·  116 waiting  ·  99.6% KV cache</a:t>
            </a:r>
          </a:p>
        </p:txBody>
      </p:sp>
      <p:sp>
        <p:nvSpPr>
          <p:cNvPr id="8" name="TextBox 7"/>
          <p:cNvSpPr txBox="1"/>
          <p:nvPr/>
        </p:nvSpPr>
        <p:spPr>
          <a:xfrm>
            <a:off x="403682" y="4950000"/>
            <a:ext cx="11384636" cy="450000"/>
          </a:xfrm>
          <a:prstGeom prst="rect">
            <a:avLst/>
          </a:prstGeom>
          <a:noFill/>
        </p:spPr>
        <p:txBody>
          <a:bodyPr wrap="square" anchor="t">
            <a:spAutoFit/>
          </a:bodyPr>
          <a:lstStyle/>
          <a:p>
            <a:pPr algn="ctr">
              <a:spcAft>
                <a:spcPts val="0"/>
              </a:spcAft>
            </a:pPr>
            <a:r>
              <a:rPr sz="1600" b="0" i="0">
                <a:solidFill>
                  <a:srgbClr val="6B6B6B"/>
                </a:solidFill>
                <a:latin typeface="Courier New"/>
              </a:rPr>
              <a:t>tokens/s  ·  running  ·  waiting  ·  KV cache %  ·  prefix hits  ·  preemptions</a:t>
            </a:r>
          </a:p>
        </p:txBody>
      </p:sp>
      <p:sp>
        <p:nvSpPr>
          <p:cNvPr id="9" name="TextBox 8"/>
          <p:cNvSpPr txBox="1"/>
          <p:nvPr/>
        </p:nvSpPr>
        <p:spPr>
          <a:xfrm>
            <a:off x="403682" y="5350000"/>
            <a:ext cx="11384636" cy="800000"/>
          </a:xfrm>
          <a:prstGeom prst="rect">
            <a:avLst/>
          </a:prstGeom>
          <a:noFill/>
        </p:spPr>
        <p:txBody>
          <a:bodyPr wrap="square" anchor="ctr">
            <a:spAutoFit/>
          </a:bodyPr>
          <a:lstStyle/>
          <a:p>
            <a:pPr algn="l">
              <a:spcAft>
                <a:spcPts val="0"/>
              </a:spcAft>
            </a:pPr>
            <a:r>
              <a:rPr sz="2200" b="1" i="0">
                <a:solidFill>
                  <a:srgbClr val="991346"/>
                </a:solidFill>
                <a:latin typeface="Arial"/>
              </a:rPr>
              <a:t>Six facts about the inference work, and not one of them shows up in a GPU counter.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2 · The log line becomes a metric.</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Fluent Bit 5.1. Full filter and pipeline config in the repo. vLLM native metrics: docs.vllm.ai/en/latest/design/metrics</a:t>
            </a:r>
          </a:p>
        </p:txBody>
      </p:sp>
      <p:sp>
        <p:nvSpPr>
          <p:cNvPr id="4" name="TextBox 3"/>
          <p:cNvSpPr txBox="1"/>
          <p:nvPr/>
        </p:nvSpPr>
        <p:spPr>
          <a:xfrm>
            <a:off x="403682" y="1250000"/>
            <a:ext cx="11384636" cy="900000"/>
          </a:xfrm>
          <a:prstGeom prst="rect">
            <a:avLst/>
          </a:prstGeom>
          <a:solidFill>
            <a:srgbClr val="F3F3F3"/>
          </a:solidFill>
        </p:spPr>
        <p:txBody>
          <a:bodyPr wrap="square" anchor="ctr" lIns="150000" rIns="150000">
            <a:spAutoFit/>
          </a:bodyPr>
          <a:lstStyle/>
          <a:p>
            <a:pPr algn="l">
              <a:spcAft>
                <a:spcPts val="600"/>
              </a:spcAft>
            </a:pPr>
            <a:r>
              <a:rPr sz="1300" b="0" i="0">
                <a:solidFill>
                  <a:srgbClr val="6B6B6B"/>
                </a:solidFill>
                <a:latin typeface="Courier New"/>
              </a:rPr>
              <a:t>Engine 000: Avg prompt throughput: 11553.3 tokens/s, Avg generation throughput: </a:t>
            </a:r>
            <a:r>
              <a:rPr sz="1300" b="1" i="0">
                <a:solidFill>
                  <a:srgbClr val="991346"/>
                </a:solidFill>
                <a:latin typeface="Courier New"/>
              </a:rPr>
              <a:t>6310.2 tokens/s</a:t>
            </a:r>
            <a:r>
              <a:rPr sz="1300" b="0" i="0">
                <a:solidFill>
                  <a:srgbClr val="6B6B6B"/>
                </a:solidFill>
                <a:latin typeface="Courier New"/>
              </a:rPr>
              <a:t>, Running: </a:t>
            </a:r>
            <a:r>
              <a:rPr sz="1300" b="1" i="0">
                <a:solidFill>
                  <a:srgbClr val="991346"/>
                </a:solidFill>
                <a:latin typeface="Courier New"/>
              </a:rPr>
              <a:t>93 reqs</a:t>
            </a:r>
            <a:r>
              <a:rPr sz="1300" b="0" i="0">
                <a:solidFill>
                  <a:srgbClr val="6B6B6B"/>
                </a:solidFill>
                <a:latin typeface="Courier New"/>
              </a:rPr>
              <a:t>, Waiting: </a:t>
            </a:r>
            <a:r>
              <a:rPr sz="1300" b="1" i="0">
                <a:solidFill>
                  <a:srgbClr val="991346"/>
                </a:solidFill>
                <a:latin typeface="Courier New"/>
              </a:rPr>
              <a:t>98 reqs</a:t>
            </a:r>
            <a:r>
              <a:rPr sz="1300" b="0" i="0">
                <a:solidFill>
                  <a:srgbClr val="6B6B6B"/>
                </a:solidFill>
                <a:latin typeface="Courier New"/>
              </a:rPr>
              <a:t>, GPU KV cache usage: </a:t>
            </a:r>
            <a:r>
              <a:rPr sz="1300" b="1" i="0">
                <a:solidFill>
                  <a:srgbClr val="991346"/>
                </a:solidFill>
                <a:latin typeface="Courier New"/>
              </a:rPr>
              <a:t>98.0%</a:t>
            </a:r>
          </a:p>
        </p:txBody>
      </p:sp>
      <p:sp>
        <p:nvSpPr>
          <p:cNvPr id="5" name="Rounded Rectangle 4"/>
          <p:cNvSpPr/>
          <p:nvPr/>
        </p:nvSpPr>
        <p:spPr>
          <a:xfrm>
            <a:off x="403682" y="2350000"/>
            <a:ext cx="1747439" cy="1600000"/>
          </a:xfrm>
          <a:prstGeom prst="roundRect">
            <a:avLst>
              <a:gd name="adj" fmla="val 15000"/>
            </a:avLst>
          </a:prstGeom>
          <a:solidFill>
            <a:srgbClr val="F3F3F3"/>
          </a:solidFill>
          <a:ln>
            <a:noFill/>
          </a:ln>
        </p:spPr>
        <p:txBody>
          <a:bodyPr rtlCol="0" anchor="ctr"/>
          <a:lstStyle/>
          <a:p/>
        </p:txBody>
      </p:sp>
      <p:sp>
        <p:nvSpPr>
          <p:cNvPr id="6" name="TextBox 5"/>
          <p:cNvSpPr txBox="1"/>
          <p:nvPr/>
        </p:nvSpPr>
        <p:spPr>
          <a:xfrm>
            <a:off x="403682" y="2350000"/>
            <a:ext cx="1747439" cy="1600000"/>
          </a:xfrm>
          <a:prstGeom prst="rect">
            <a:avLst/>
          </a:prstGeom>
          <a:noFill/>
        </p:spPr>
        <p:txBody>
          <a:bodyPr wrap="square" anchor="ctr" lIns="30000" rIns="30000">
            <a:spAutoFit/>
          </a:bodyPr>
          <a:lstStyle/>
          <a:p>
            <a:pPr algn="ctr">
              <a:spcAft>
                <a:spcPts val="600"/>
              </a:spcAft>
            </a:pPr>
            <a:r>
              <a:rPr sz="1800" b="1" i="0">
                <a:solidFill>
                  <a:srgbClr val="262626"/>
                </a:solidFill>
                <a:latin typeface="Courier New"/>
              </a:rPr>
              <a:t>tail</a:t>
            </a:r>
          </a:p>
          <a:p>
            <a:pPr algn="ctr">
              <a:spcAft>
                <a:spcPts val="0"/>
              </a:spcAft>
            </a:pPr>
            <a:r>
              <a:rPr sz="1400" b="0" i="0">
                <a:solidFill>
                  <a:srgbClr val="6B6B6B"/>
                </a:solidFill>
                <a:latin typeface="Arial"/>
              </a:rPr>
              <a:t>container log</a:t>
            </a:r>
          </a:p>
        </p:txBody>
      </p:sp>
      <p:cxnSp>
        <p:nvCxnSpPr>
          <p:cNvPr id="7" name="Connector 6"/>
          <p:cNvCxnSpPr/>
          <p:nvPr/>
        </p:nvCxnSpPr>
        <p:spPr>
          <a:xfrm>
            <a:off x="2151121" y="3150000"/>
            <a:ext cx="180000" cy="0"/>
          </a:xfrm>
          <a:prstGeom prst="line">
            <a:avLst/>
          </a:prstGeom>
          <a:ln w="25400">
            <a:solidFill>
              <a:srgbClr val="6B6B6B"/>
            </a:solidFill>
            <a:tailEnd type="triangle" w="med" len="med"/>
          </a:ln>
        </p:spPr>
      </p:cxnSp>
      <p:sp>
        <p:nvSpPr>
          <p:cNvPr id="8" name="Rounded Rectangle 7"/>
          <p:cNvSpPr/>
          <p:nvPr/>
        </p:nvSpPr>
        <p:spPr>
          <a:xfrm>
            <a:off x="2331121" y="2350000"/>
            <a:ext cx="1747439" cy="1600000"/>
          </a:xfrm>
          <a:prstGeom prst="roundRect">
            <a:avLst>
              <a:gd name="adj" fmla="val 15000"/>
            </a:avLst>
          </a:prstGeom>
          <a:solidFill>
            <a:srgbClr val="991346"/>
          </a:solidFill>
          <a:ln>
            <a:noFill/>
          </a:ln>
        </p:spPr>
        <p:txBody>
          <a:bodyPr rtlCol="0" anchor="ctr"/>
          <a:lstStyle/>
          <a:p/>
        </p:txBody>
      </p:sp>
      <p:sp>
        <p:nvSpPr>
          <p:cNvPr id="9" name="TextBox 8"/>
          <p:cNvSpPr txBox="1"/>
          <p:nvPr/>
        </p:nvSpPr>
        <p:spPr>
          <a:xfrm>
            <a:off x="2331121" y="2350000"/>
            <a:ext cx="1747439" cy="1600000"/>
          </a:xfrm>
          <a:prstGeom prst="rect">
            <a:avLst/>
          </a:prstGeom>
          <a:noFill/>
        </p:spPr>
        <p:txBody>
          <a:bodyPr wrap="square" anchor="ctr" lIns="30000" rIns="30000">
            <a:spAutoFit/>
          </a:bodyPr>
          <a:lstStyle/>
          <a:p>
            <a:pPr algn="ctr">
              <a:spcAft>
                <a:spcPts val="600"/>
              </a:spcAft>
            </a:pPr>
            <a:r>
              <a:rPr sz="1200" b="1" i="0">
                <a:solidFill>
                  <a:srgbClr val="FFFFFF"/>
                </a:solidFill>
                <a:latin typeface="Courier New"/>
              </a:rPr>
              <a:t>kubernetes</a:t>
            </a:r>
          </a:p>
          <a:p>
            <a:pPr algn="ctr">
              <a:spcAft>
                <a:spcPts val="0"/>
              </a:spcAft>
            </a:pPr>
            <a:r>
              <a:rPr sz="1400" b="0" i="0">
                <a:solidFill>
                  <a:srgbClr val="FFFFFF"/>
                </a:solidFill>
                <a:latin typeface="Arial"/>
              </a:rPr>
              <a:t>+ pod_name</a:t>
            </a:r>
          </a:p>
        </p:txBody>
      </p:sp>
      <p:cxnSp>
        <p:nvCxnSpPr>
          <p:cNvPr id="10" name="Connector 9"/>
          <p:cNvCxnSpPr/>
          <p:nvPr/>
        </p:nvCxnSpPr>
        <p:spPr>
          <a:xfrm>
            <a:off x="4078560" y="3150000"/>
            <a:ext cx="180000" cy="0"/>
          </a:xfrm>
          <a:prstGeom prst="line">
            <a:avLst/>
          </a:prstGeom>
          <a:ln w="25400">
            <a:solidFill>
              <a:srgbClr val="6B6B6B"/>
            </a:solidFill>
            <a:tailEnd type="triangle" w="med" len="med"/>
          </a:ln>
        </p:spPr>
      </p:cxnSp>
      <p:sp>
        <p:nvSpPr>
          <p:cNvPr id="11" name="Rounded Rectangle 10"/>
          <p:cNvSpPr/>
          <p:nvPr/>
        </p:nvSpPr>
        <p:spPr>
          <a:xfrm>
            <a:off x="4258560" y="2350000"/>
            <a:ext cx="1747439" cy="1600000"/>
          </a:xfrm>
          <a:prstGeom prst="roundRect">
            <a:avLst>
              <a:gd name="adj" fmla="val 15000"/>
            </a:avLst>
          </a:prstGeom>
          <a:solidFill>
            <a:srgbClr val="991346"/>
          </a:solidFill>
          <a:ln>
            <a:noFill/>
          </a:ln>
        </p:spPr>
        <p:txBody>
          <a:bodyPr rtlCol="0" anchor="ctr"/>
          <a:lstStyle/>
          <a:p/>
        </p:txBody>
      </p:sp>
      <p:sp>
        <p:nvSpPr>
          <p:cNvPr id="12" name="TextBox 11"/>
          <p:cNvSpPr txBox="1"/>
          <p:nvPr/>
        </p:nvSpPr>
        <p:spPr>
          <a:xfrm>
            <a:off x="4258560" y="2350000"/>
            <a:ext cx="1747439" cy="1600000"/>
          </a:xfrm>
          <a:prstGeom prst="rect">
            <a:avLst/>
          </a:prstGeom>
          <a:noFill/>
        </p:spPr>
        <p:txBody>
          <a:bodyPr wrap="square" anchor="ctr" lIns="30000" rIns="30000">
            <a:spAutoFit/>
          </a:bodyPr>
          <a:lstStyle/>
          <a:p>
            <a:pPr algn="ctr">
              <a:spcAft>
                <a:spcPts val="600"/>
              </a:spcAft>
            </a:pPr>
            <a:r>
              <a:rPr sz="1800" b="1" i="0">
                <a:solidFill>
                  <a:srgbClr val="FFFFFF"/>
                </a:solidFill>
                <a:latin typeface="Courier New"/>
              </a:rPr>
              <a:t>lua</a:t>
            </a:r>
          </a:p>
          <a:p>
            <a:pPr algn="ctr">
              <a:spcAft>
                <a:spcPts val="0"/>
              </a:spcAft>
            </a:pPr>
            <a:r>
              <a:rPr sz="1400" b="0" i="0">
                <a:solidFill>
                  <a:srgbClr val="FFFFFF"/>
                </a:solidFill>
                <a:latin typeface="Arial"/>
              </a:rPr>
              <a:t>5 x string.match: tokens/s, KV %, waiting</a:t>
            </a:r>
          </a:p>
        </p:txBody>
      </p:sp>
      <p:cxnSp>
        <p:nvCxnSpPr>
          <p:cNvPr id="13" name="Connector 12"/>
          <p:cNvCxnSpPr/>
          <p:nvPr/>
        </p:nvCxnSpPr>
        <p:spPr>
          <a:xfrm>
            <a:off x="6005999" y="3150000"/>
            <a:ext cx="180000" cy="0"/>
          </a:xfrm>
          <a:prstGeom prst="line">
            <a:avLst/>
          </a:prstGeom>
          <a:ln w="25400">
            <a:solidFill>
              <a:srgbClr val="6B6B6B"/>
            </a:solidFill>
            <a:tailEnd type="triangle" w="med" len="med"/>
          </a:ln>
        </p:spPr>
      </p:cxnSp>
      <p:sp>
        <p:nvSpPr>
          <p:cNvPr id="14" name="Rounded Rectangle 13"/>
          <p:cNvSpPr/>
          <p:nvPr/>
        </p:nvSpPr>
        <p:spPr>
          <a:xfrm>
            <a:off x="6185999" y="2350000"/>
            <a:ext cx="1747439" cy="1600000"/>
          </a:xfrm>
          <a:prstGeom prst="roundRect">
            <a:avLst>
              <a:gd name="adj" fmla="val 15000"/>
            </a:avLst>
          </a:prstGeom>
          <a:solidFill>
            <a:srgbClr val="F3F3F3"/>
          </a:solidFill>
          <a:ln>
            <a:noFill/>
          </a:ln>
        </p:spPr>
        <p:txBody>
          <a:bodyPr rtlCol="0" anchor="ctr"/>
          <a:lstStyle/>
          <a:p/>
        </p:txBody>
      </p:sp>
      <p:sp>
        <p:nvSpPr>
          <p:cNvPr id="15" name="TextBox 14"/>
          <p:cNvSpPr txBox="1"/>
          <p:nvPr/>
        </p:nvSpPr>
        <p:spPr>
          <a:xfrm>
            <a:off x="6185999" y="2350000"/>
            <a:ext cx="1747439" cy="1600000"/>
          </a:xfrm>
          <a:prstGeom prst="rect">
            <a:avLst/>
          </a:prstGeom>
          <a:noFill/>
        </p:spPr>
        <p:txBody>
          <a:bodyPr wrap="square" anchor="ctr" lIns="30000" rIns="30000">
            <a:spAutoFit/>
          </a:bodyPr>
          <a:lstStyle/>
          <a:p>
            <a:pPr algn="ctr">
              <a:spcAft>
                <a:spcPts val="600"/>
              </a:spcAft>
            </a:pPr>
            <a:r>
              <a:rPr sz="1800" b="1" i="0">
                <a:solidFill>
                  <a:srgbClr val="262626"/>
                </a:solidFill>
                <a:latin typeface="Courier New"/>
              </a:rPr>
              <a:t>grep</a:t>
            </a:r>
          </a:p>
          <a:p>
            <a:pPr algn="ctr">
              <a:spcAft>
                <a:spcPts val="0"/>
              </a:spcAft>
            </a:pPr>
            <a:r>
              <a:rPr sz="1400" b="0" i="0">
                <a:solidFill>
                  <a:srgbClr val="6B6B6B"/>
                </a:solidFill>
                <a:latin typeface="Arial"/>
              </a:rPr>
              <a:t>stats lines only</a:t>
            </a:r>
          </a:p>
        </p:txBody>
      </p:sp>
      <p:cxnSp>
        <p:nvCxnSpPr>
          <p:cNvPr id="16" name="Connector 15"/>
          <p:cNvCxnSpPr/>
          <p:nvPr/>
        </p:nvCxnSpPr>
        <p:spPr>
          <a:xfrm>
            <a:off x="7933438" y="3150000"/>
            <a:ext cx="180000" cy="0"/>
          </a:xfrm>
          <a:prstGeom prst="line">
            <a:avLst/>
          </a:prstGeom>
          <a:ln w="25400">
            <a:solidFill>
              <a:srgbClr val="6B6B6B"/>
            </a:solidFill>
            <a:tailEnd type="triangle" w="med" len="med"/>
          </a:ln>
        </p:spPr>
      </p:cxnSp>
      <p:sp>
        <p:nvSpPr>
          <p:cNvPr id="17" name="Rounded Rectangle 16"/>
          <p:cNvSpPr/>
          <p:nvPr/>
        </p:nvSpPr>
        <p:spPr>
          <a:xfrm>
            <a:off x="8113438" y="2350000"/>
            <a:ext cx="1747439" cy="1600000"/>
          </a:xfrm>
          <a:prstGeom prst="roundRect">
            <a:avLst>
              <a:gd name="adj" fmla="val 15000"/>
            </a:avLst>
          </a:prstGeom>
          <a:solidFill>
            <a:srgbClr val="F3F3F3"/>
          </a:solidFill>
          <a:ln>
            <a:noFill/>
          </a:ln>
        </p:spPr>
        <p:txBody>
          <a:bodyPr rtlCol="0" anchor="ctr"/>
          <a:lstStyle/>
          <a:p/>
        </p:txBody>
      </p:sp>
      <p:sp>
        <p:nvSpPr>
          <p:cNvPr id="18" name="TextBox 17"/>
          <p:cNvSpPr txBox="1"/>
          <p:nvPr/>
        </p:nvSpPr>
        <p:spPr>
          <a:xfrm>
            <a:off x="8113438" y="2350000"/>
            <a:ext cx="1747439" cy="1600000"/>
          </a:xfrm>
          <a:prstGeom prst="rect">
            <a:avLst/>
          </a:prstGeom>
          <a:noFill/>
        </p:spPr>
        <p:txBody>
          <a:bodyPr wrap="square" anchor="ctr" lIns="30000" rIns="30000">
            <a:spAutoFit/>
          </a:bodyPr>
          <a:lstStyle/>
          <a:p>
            <a:pPr algn="ctr">
              <a:spcAft>
                <a:spcPts val="600"/>
              </a:spcAft>
            </a:pPr>
            <a:r>
              <a:rPr sz="1200" b="1" i="0">
                <a:solidFill>
                  <a:srgbClr val="262626"/>
                </a:solidFill>
                <a:latin typeface="Courier New"/>
              </a:rPr>
              <a:t>log_to_metrics</a:t>
            </a:r>
          </a:p>
          <a:p>
            <a:pPr algn="ctr">
              <a:spcAft>
                <a:spcPts val="0"/>
              </a:spcAft>
            </a:pPr>
            <a:r>
              <a:rPr sz="1400" b="0" i="0">
                <a:solidFill>
                  <a:srgbClr val="6B6B6B"/>
                </a:solidFill>
                <a:latin typeface="Arial"/>
              </a:rPr>
              <a:t>fields -&gt; gauges</a:t>
            </a:r>
          </a:p>
        </p:txBody>
      </p:sp>
      <p:cxnSp>
        <p:nvCxnSpPr>
          <p:cNvPr id="19" name="Connector 18"/>
          <p:cNvCxnSpPr/>
          <p:nvPr/>
        </p:nvCxnSpPr>
        <p:spPr>
          <a:xfrm>
            <a:off x="9860877" y="3150000"/>
            <a:ext cx="180000" cy="0"/>
          </a:xfrm>
          <a:prstGeom prst="line">
            <a:avLst/>
          </a:prstGeom>
          <a:ln w="25400">
            <a:solidFill>
              <a:srgbClr val="6B6B6B"/>
            </a:solidFill>
            <a:tailEnd type="triangle" w="med" len="med"/>
          </a:ln>
        </p:spPr>
      </p:cxnSp>
      <p:sp>
        <p:nvSpPr>
          <p:cNvPr id="20" name="Rounded Rectangle 19"/>
          <p:cNvSpPr/>
          <p:nvPr/>
        </p:nvSpPr>
        <p:spPr>
          <a:xfrm>
            <a:off x="10040877" y="2350000"/>
            <a:ext cx="1747439" cy="1600000"/>
          </a:xfrm>
          <a:prstGeom prst="roundRect">
            <a:avLst>
              <a:gd name="adj" fmla="val 15000"/>
            </a:avLst>
          </a:prstGeom>
          <a:solidFill>
            <a:srgbClr val="F3F3F3"/>
          </a:solidFill>
          <a:ln>
            <a:noFill/>
          </a:ln>
        </p:spPr>
        <p:txBody>
          <a:bodyPr rtlCol="0" anchor="ctr"/>
          <a:lstStyle/>
          <a:p/>
        </p:txBody>
      </p:sp>
      <p:sp>
        <p:nvSpPr>
          <p:cNvPr id="21" name="TextBox 20"/>
          <p:cNvSpPr txBox="1"/>
          <p:nvPr/>
        </p:nvSpPr>
        <p:spPr>
          <a:xfrm>
            <a:off x="10040877" y="2350000"/>
            <a:ext cx="1747439" cy="1600000"/>
          </a:xfrm>
          <a:prstGeom prst="rect">
            <a:avLst/>
          </a:prstGeom>
          <a:noFill/>
        </p:spPr>
        <p:txBody>
          <a:bodyPr wrap="square" anchor="ctr" lIns="30000" rIns="30000">
            <a:spAutoFit/>
          </a:bodyPr>
          <a:lstStyle/>
          <a:p>
            <a:pPr algn="ctr">
              <a:spcAft>
                <a:spcPts val="600"/>
              </a:spcAft>
            </a:pPr>
            <a:r>
              <a:rPr sz="1000" b="1" i="0">
                <a:solidFill>
                  <a:srgbClr val="262626"/>
                </a:solidFill>
                <a:latin typeface="Courier New"/>
              </a:rPr>
              <a:t>prometheus_exporter</a:t>
            </a:r>
          </a:p>
          <a:p>
            <a:pPr algn="ctr">
              <a:spcAft>
                <a:spcPts val="0"/>
              </a:spcAft>
            </a:pPr>
            <a:r>
              <a:rPr sz="1400" b="0" i="0">
                <a:solidFill>
                  <a:srgbClr val="6B6B6B"/>
                </a:solidFill>
                <a:latin typeface="Arial"/>
              </a:rPr>
              <a:t>:2021</a:t>
            </a:r>
          </a:p>
        </p:txBody>
      </p:sp>
      <p:sp>
        <p:nvSpPr>
          <p:cNvPr id="22" name="Oval 21"/>
          <p:cNvSpPr/>
          <p:nvPr/>
        </p:nvSpPr>
        <p:spPr>
          <a:xfrm>
            <a:off x="3094840" y="4250000"/>
            <a:ext cx="220000" cy="220000"/>
          </a:xfrm>
          <a:prstGeom prst="ellipse">
            <a:avLst/>
          </a:prstGeom>
          <a:solidFill>
            <a:srgbClr val="991346"/>
          </a:solidFill>
          <a:ln>
            <a:noFill/>
          </a:ln>
        </p:spPr>
        <p:txBody>
          <a:bodyPr rtlCol="0" anchor="ctr"/>
          <a:lstStyle/>
          <a:p>
            <a:pPr algn="ctr"/>
          </a:p>
        </p:txBody>
      </p:sp>
      <p:sp>
        <p:nvSpPr>
          <p:cNvPr id="23" name="Oval 22"/>
          <p:cNvSpPr/>
          <p:nvPr/>
        </p:nvSpPr>
        <p:spPr>
          <a:xfrm>
            <a:off x="5022279" y="4250000"/>
            <a:ext cx="220000" cy="220000"/>
          </a:xfrm>
          <a:prstGeom prst="ellipse">
            <a:avLst/>
          </a:prstGeom>
          <a:solidFill>
            <a:srgbClr val="991346"/>
          </a:solidFill>
          <a:ln>
            <a:noFill/>
          </a:ln>
        </p:spPr>
        <p:txBody>
          <a:bodyPr rtlCol="0" anchor="ctr"/>
          <a:lstStyle/>
          <a:p>
            <a:pPr algn="ctr"/>
          </a:p>
        </p:txBody>
      </p:sp>
      <p:sp>
        <p:nvSpPr>
          <p:cNvPr id="24" name="Oval 23"/>
          <p:cNvSpPr/>
          <p:nvPr/>
        </p:nvSpPr>
        <p:spPr>
          <a:xfrm>
            <a:off x="6949718" y="4250000"/>
            <a:ext cx="220000" cy="220000"/>
          </a:xfrm>
          <a:prstGeom prst="ellipse">
            <a:avLst/>
          </a:prstGeom>
          <a:solidFill>
            <a:srgbClr val="991346"/>
          </a:solidFill>
          <a:ln>
            <a:noFill/>
          </a:ln>
        </p:spPr>
        <p:txBody>
          <a:bodyPr rtlCol="0" anchor="ctr"/>
          <a:lstStyle/>
          <a:p>
            <a:pPr algn="ctr"/>
          </a:p>
        </p:txBody>
      </p:sp>
      <p:sp>
        <p:nvSpPr>
          <p:cNvPr id="25" name="Oval 24"/>
          <p:cNvSpPr/>
          <p:nvPr/>
        </p:nvSpPr>
        <p:spPr>
          <a:xfrm>
            <a:off x="8877157" y="4250000"/>
            <a:ext cx="220000" cy="220000"/>
          </a:xfrm>
          <a:prstGeom prst="ellipse">
            <a:avLst/>
          </a:prstGeom>
          <a:solidFill>
            <a:srgbClr val="991346"/>
          </a:solidFill>
          <a:ln>
            <a:noFill/>
          </a:ln>
        </p:spPr>
        <p:txBody>
          <a:bodyPr rtlCol="0" anchor="ctr"/>
          <a:lstStyle/>
          <a:p>
            <a:pPr algn="ctr"/>
          </a:p>
        </p:txBody>
      </p:sp>
      <p:sp>
        <p:nvSpPr>
          <p:cNvPr id="26" name="Oval 25"/>
          <p:cNvSpPr/>
          <p:nvPr/>
        </p:nvSpPr>
        <p:spPr>
          <a:xfrm>
            <a:off x="10804596" y="4250000"/>
            <a:ext cx="220000" cy="220000"/>
          </a:xfrm>
          <a:prstGeom prst="ellipse">
            <a:avLst/>
          </a:prstGeom>
          <a:solidFill>
            <a:srgbClr val="991346"/>
          </a:solidFill>
          <a:ln>
            <a:noFill/>
          </a:ln>
        </p:spPr>
        <p:txBody>
          <a:bodyPr rtlCol="0" anchor="ctr"/>
          <a:lstStyle/>
          <a:p>
            <a:pPr algn="ctr"/>
          </a:p>
        </p:txBody>
      </p:sp>
      <p:sp>
        <p:nvSpPr>
          <p:cNvPr id="27" name="TextBox 26"/>
          <p:cNvSpPr txBox="1"/>
          <p:nvPr/>
        </p:nvSpPr>
        <p:spPr>
          <a:xfrm>
            <a:off x="403682" y="4570000"/>
            <a:ext cx="11384636" cy="500000"/>
          </a:xfrm>
          <a:prstGeom prst="rect">
            <a:avLst/>
          </a:prstGeom>
          <a:noFill/>
        </p:spPr>
        <p:txBody>
          <a:bodyPr wrap="square" anchor="t">
            <a:spAutoFit/>
          </a:bodyPr>
          <a:lstStyle/>
          <a:p>
            <a:pPr algn="ctr">
              <a:spcAft>
                <a:spcPts val="0"/>
              </a:spcAft>
            </a:pPr>
            <a:r>
              <a:rPr sz="2000" b="1" i="0">
                <a:solidFill>
                  <a:srgbClr val="991346"/>
                </a:solidFill>
                <a:latin typeface="Arial"/>
              </a:rPr>
              <a:t>pod_name rides along from the kubernetes filter onward: the join key</a:t>
            </a:r>
          </a:p>
        </p:txBody>
      </p:sp>
      <p:sp>
        <p:nvSpPr>
          <p:cNvPr id="28" name="TextBox 27"/>
          <p:cNvSpPr txBox="1"/>
          <p:nvPr/>
        </p:nvSpPr>
        <p:spPr>
          <a:xfrm>
            <a:off x="403682" y="5100000"/>
            <a:ext cx="11384636" cy="400000"/>
          </a:xfrm>
          <a:prstGeom prst="rect">
            <a:avLst/>
          </a:prstGeom>
          <a:noFill/>
        </p:spPr>
        <p:txBody>
          <a:bodyPr wrap="square" anchor="t">
            <a:spAutoFit/>
          </a:bodyPr>
          <a:lstStyle/>
          <a:p>
            <a:pPr algn="ctr">
              <a:spcAft>
                <a:spcPts val="0"/>
              </a:spcAft>
            </a:pPr>
            <a:r>
              <a:rPr sz="1600" b="0" i="0">
                <a:solidFill>
                  <a:srgbClr val="6B6B6B"/>
                </a:solidFill>
                <a:latin typeface="Arial"/>
              </a:rPr>
              <a:t>For serving engines without a /metrics endpoint. vLLM exposes most of this natively; same pipeline, different regex.</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Live: which pod is in trouble?</a:t>
            </a:r>
          </a:p>
        </p:txBody>
      </p:sp>
      <p:sp>
        <p:nvSpPr>
          <p:cNvPr id="3" name="Rounded Rectangle 2"/>
          <p:cNvSpPr/>
          <p:nvPr/>
        </p:nvSpPr>
        <p:spPr>
          <a:xfrm>
            <a:off x="403682" y="1250000"/>
            <a:ext cx="5492318" cy="1900000"/>
          </a:xfrm>
          <a:prstGeom prst="roundRect">
            <a:avLst>
              <a:gd name="adj" fmla="val 8000"/>
            </a:avLst>
          </a:prstGeom>
          <a:solidFill>
            <a:srgbClr val="FBE5E5"/>
          </a:solidFill>
          <a:ln>
            <a:noFill/>
          </a:ln>
        </p:spPr>
        <p:txBody>
          <a:bodyPr rtlCol="0" anchor="ctr"/>
          <a:lstStyle/>
          <a:p/>
        </p:txBody>
      </p:sp>
      <p:sp>
        <p:nvSpPr>
          <p:cNvPr id="4" name="TextBox 3"/>
          <p:cNvSpPr txBox="1"/>
          <p:nvPr/>
        </p:nvSpPr>
        <p:spPr>
          <a:xfrm>
            <a:off x="403682" y="1250000"/>
            <a:ext cx="5492318" cy="1900000"/>
          </a:xfrm>
          <a:prstGeom prst="rect">
            <a:avLst/>
          </a:prstGeom>
          <a:noFill/>
        </p:spPr>
        <p:txBody>
          <a:bodyPr wrap="square" anchor="ctr">
            <a:spAutoFit/>
          </a:bodyPr>
          <a:lstStyle/>
          <a:p>
            <a:pPr algn="ctr">
              <a:spcAft>
                <a:spcPts val="600"/>
              </a:spcAft>
            </a:pPr>
            <a:r>
              <a:rPr sz="3000" b="1" i="0">
                <a:solidFill>
                  <a:srgbClr val="C62828"/>
                </a:solidFill>
                <a:latin typeface="Courier New"/>
              </a:rPr>
              <a:t>vllm-constrained</a:t>
            </a:r>
          </a:p>
          <a:p>
            <a:pPr algn="ctr">
              <a:spcAft>
                <a:spcPts val="0"/>
              </a:spcAft>
            </a:pPr>
            <a:r>
              <a:rPr sz="2000" b="0" i="0">
                <a:solidFill>
                  <a:srgbClr val="262626"/>
                </a:solidFill>
                <a:latin typeface="Arial"/>
              </a:rPr>
              <a:t>15% of the GPU memory</a:t>
            </a:r>
          </a:p>
        </p:txBody>
      </p:sp>
      <p:sp>
        <p:nvSpPr>
          <p:cNvPr id="5" name="Rounded Rectangle 4"/>
          <p:cNvSpPr/>
          <p:nvPr/>
        </p:nvSpPr>
        <p:spPr>
          <a:xfrm>
            <a:off x="6296000" y="1250000"/>
            <a:ext cx="5492318" cy="1900000"/>
          </a:xfrm>
          <a:prstGeom prst="roundRect">
            <a:avLst>
              <a:gd name="adj" fmla="val 8000"/>
            </a:avLst>
          </a:prstGeom>
          <a:solidFill>
            <a:srgbClr val="E4EEF8"/>
          </a:solidFill>
          <a:ln>
            <a:noFill/>
          </a:ln>
        </p:spPr>
        <p:txBody>
          <a:bodyPr rtlCol="0" anchor="ctr"/>
          <a:lstStyle/>
          <a:p/>
        </p:txBody>
      </p:sp>
      <p:sp>
        <p:nvSpPr>
          <p:cNvPr id="6" name="TextBox 5"/>
          <p:cNvSpPr txBox="1"/>
          <p:nvPr/>
        </p:nvSpPr>
        <p:spPr>
          <a:xfrm>
            <a:off x="6296000" y="1250000"/>
            <a:ext cx="5492318" cy="1900000"/>
          </a:xfrm>
          <a:prstGeom prst="rect">
            <a:avLst/>
          </a:prstGeom>
          <a:noFill/>
        </p:spPr>
        <p:txBody>
          <a:bodyPr wrap="square" anchor="ctr">
            <a:spAutoFit/>
          </a:bodyPr>
          <a:lstStyle/>
          <a:p>
            <a:pPr algn="ctr">
              <a:spcAft>
                <a:spcPts val="600"/>
              </a:spcAft>
            </a:pPr>
            <a:r>
              <a:rPr sz="3000" b="1" i="0">
                <a:solidFill>
                  <a:srgbClr val="1F5FA8"/>
                </a:solidFill>
                <a:latin typeface="Courier New"/>
              </a:rPr>
              <a:t>vllm-overprov</a:t>
            </a:r>
          </a:p>
          <a:p>
            <a:pPr algn="ctr">
              <a:spcAft>
                <a:spcPts val="0"/>
              </a:spcAft>
            </a:pPr>
            <a:r>
              <a:rPr sz="2000" b="0" i="0">
                <a:solidFill>
                  <a:srgbClr val="262626"/>
                </a:solidFill>
                <a:latin typeface="Arial"/>
              </a:rPr>
              <a:t>90% of the GPU memory</a:t>
            </a:r>
          </a:p>
        </p:txBody>
      </p:sp>
      <p:sp>
        <p:nvSpPr>
          <p:cNvPr id="7" name="TextBox 6"/>
          <p:cNvSpPr txBox="1"/>
          <p:nvPr/>
        </p:nvSpPr>
        <p:spPr>
          <a:xfrm>
            <a:off x="403682" y="3300000"/>
            <a:ext cx="11384636" cy="450000"/>
          </a:xfrm>
          <a:prstGeom prst="rect">
            <a:avLst/>
          </a:prstGeom>
          <a:noFill/>
        </p:spPr>
        <p:txBody>
          <a:bodyPr wrap="square" anchor="t">
            <a:spAutoFit/>
          </a:bodyPr>
          <a:lstStyle/>
          <a:p>
            <a:pPr algn="ctr">
              <a:spcAft>
                <a:spcPts val="0"/>
              </a:spcAft>
            </a:pPr>
            <a:r>
              <a:rPr sz="1600" b="0" i="0">
                <a:solidFill>
                  <a:srgbClr val="6B6B6B"/>
                </a:solidFill>
                <a:latin typeface="Arial"/>
              </a:rPr>
              <a:t>facebook/opt-125m on both  ·  NVIDIA L4  ·  lots of long requests to red, a trickle to blue</a:t>
            </a:r>
          </a:p>
        </p:txBody>
      </p:sp>
      <p:sp>
        <p:nvSpPr>
          <p:cNvPr id="8" name="Rounded Rectangle 7"/>
          <p:cNvSpPr/>
          <p:nvPr/>
        </p:nvSpPr>
        <p:spPr>
          <a:xfrm>
            <a:off x="403682" y="3950000"/>
            <a:ext cx="3628212" cy="1500000"/>
          </a:xfrm>
          <a:prstGeom prst="roundRect">
            <a:avLst>
              <a:gd name="adj" fmla="val 8000"/>
            </a:avLst>
          </a:prstGeom>
          <a:solidFill>
            <a:srgbClr val="991346"/>
          </a:solidFill>
          <a:ln>
            <a:noFill/>
          </a:ln>
        </p:spPr>
        <p:txBody>
          <a:bodyPr rtlCol="0" anchor="ctr"/>
          <a:lstStyle/>
          <a:p/>
        </p:txBody>
      </p:sp>
      <p:sp>
        <p:nvSpPr>
          <p:cNvPr id="9" name="TextBox 8"/>
          <p:cNvSpPr txBox="1"/>
          <p:nvPr/>
        </p:nvSpPr>
        <p:spPr>
          <a:xfrm>
            <a:off x="403682" y="3950000"/>
            <a:ext cx="3628212" cy="1500000"/>
          </a:xfrm>
          <a:prstGeom prst="rect">
            <a:avLst/>
          </a:prstGeom>
          <a:noFill/>
        </p:spPr>
        <p:txBody>
          <a:bodyPr wrap="square" anchor="ctr">
            <a:spAutoFit/>
          </a:bodyPr>
          <a:lstStyle/>
          <a:p>
            <a:pPr algn="ctr">
              <a:spcAft>
                <a:spcPts val="200"/>
              </a:spcAft>
            </a:pPr>
            <a:r>
              <a:rPr sz="3000" b="1" i="0">
                <a:solidFill>
                  <a:srgbClr val="FFFFFF"/>
                </a:solidFill>
                <a:latin typeface="Arial"/>
              </a:rPr>
              <a:t>GPU memory</a:t>
            </a:r>
          </a:p>
          <a:p>
            <a:pPr algn="ctr">
              <a:spcAft>
                <a:spcPts val="0"/>
              </a:spcAft>
            </a:pPr>
            <a:r>
              <a:rPr sz="1800" b="0" i="0">
                <a:solidFill>
                  <a:srgbClr val="FFFFFF"/>
                </a:solidFill>
                <a:latin typeface="Arial"/>
              </a:rPr>
              <a:t>what we page on</a:t>
            </a:r>
          </a:p>
        </p:txBody>
      </p:sp>
      <p:sp>
        <p:nvSpPr>
          <p:cNvPr id="10" name="Rounded Rectangle 9"/>
          <p:cNvSpPr/>
          <p:nvPr/>
        </p:nvSpPr>
        <p:spPr>
          <a:xfrm>
            <a:off x="4281894" y="3950000"/>
            <a:ext cx="3628212" cy="1500000"/>
          </a:xfrm>
          <a:prstGeom prst="roundRect">
            <a:avLst>
              <a:gd name="adj" fmla="val 8000"/>
            </a:avLst>
          </a:prstGeom>
          <a:solidFill>
            <a:srgbClr val="991346"/>
          </a:solidFill>
          <a:ln>
            <a:noFill/>
          </a:ln>
        </p:spPr>
        <p:txBody>
          <a:bodyPr rtlCol="0" anchor="ctr"/>
          <a:lstStyle/>
          <a:p/>
        </p:txBody>
      </p:sp>
      <p:sp>
        <p:nvSpPr>
          <p:cNvPr id="11" name="TextBox 10"/>
          <p:cNvSpPr txBox="1"/>
          <p:nvPr/>
        </p:nvSpPr>
        <p:spPr>
          <a:xfrm>
            <a:off x="4281894" y="3950000"/>
            <a:ext cx="3628212" cy="1500000"/>
          </a:xfrm>
          <a:prstGeom prst="rect">
            <a:avLst/>
          </a:prstGeom>
          <a:noFill/>
        </p:spPr>
        <p:txBody>
          <a:bodyPr wrap="square" anchor="ctr">
            <a:spAutoFit/>
          </a:bodyPr>
          <a:lstStyle/>
          <a:p>
            <a:pPr algn="ctr">
              <a:spcAft>
                <a:spcPts val="200"/>
              </a:spcAft>
            </a:pPr>
            <a:r>
              <a:rPr sz="3000" b="1" i="0">
                <a:solidFill>
                  <a:srgbClr val="FFFFFF"/>
                </a:solidFill>
                <a:latin typeface="Arial"/>
              </a:rPr>
              <a:t>KV cache %</a:t>
            </a:r>
          </a:p>
          <a:p>
            <a:pPr algn="ctr">
              <a:spcAft>
                <a:spcPts val="0"/>
              </a:spcAft>
            </a:pPr>
            <a:r>
              <a:rPr sz="1800" b="0" i="0">
                <a:solidFill>
                  <a:srgbClr val="FFFFFF"/>
                </a:solidFill>
                <a:latin typeface="Arial"/>
              </a:rPr>
              <a:t>how full the car park is</a:t>
            </a:r>
          </a:p>
        </p:txBody>
      </p:sp>
      <p:sp>
        <p:nvSpPr>
          <p:cNvPr id="12" name="Rounded Rectangle 11"/>
          <p:cNvSpPr/>
          <p:nvPr/>
        </p:nvSpPr>
        <p:spPr>
          <a:xfrm>
            <a:off x="8160106" y="3950000"/>
            <a:ext cx="3628212" cy="1500000"/>
          </a:xfrm>
          <a:prstGeom prst="roundRect">
            <a:avLst>
              <a:gd name="adj" fmla="val 8000"/>
            </a:avLst>
          </a:prstGeom>
          <a:solidFill>
            <a:srgbClr val="991346"/>
          </a:solidFill>
          <a:ln>
            <a:noFill/>
          </a:ln>
        </p:spPr>
        <p:txBody>
          <a:bodyPr rtlCol="0" anchor="ctr"/>
          <a:lstStyle/>
          <a:p/>
        </p:txBody>
      </p:sp>
      <p:sp>
        <p:nvSpPr>
          <p:cNvPr id="13" name="TextBox 12"/>
          <p:cNvSpPr txBox="1"/>
          <p:nvPr/>
        </p:nvSpPr>
        <p:spPr>
          <a:xfrm>
            <a:off x="8160106" y="3950000"/>
            <a:ext cx="3628212" cy="1500000"/>
          </a:xfrm>
          <a:prstGeom prst="rect">
            <a:avLst/>
          </a:prstGeom>
          <a:noFill/>
        </p:spPr>
        <p:txBody>
          <a:bodyPr wrap="square" anchor="ctr">
            <a:spAutoFit/>
          </a:bodyPr>
          <a:lstStyle/>
          <a:p>
            <a:pPr algn="ctr">
              <a:spcAft>
                <a:spcPts val="200"/>
              </a:spcAft>
            </a:pPr>
            <a:r>
              <a:rPr sz="3000" b="1" i="0">
                <a:solidFill>
                  <a:srgbClr val="FFFFFF"/>
                </a:solidFill>
                <a:latin typeface="Arial"/>
              </a:rPr>
              <a:t>request time</a:t>
            </a:r>
          </a:p>
          <a:p>
            <a:pPr algn="ctr">
              <a:spcAft>
                <a:spcPts val="0"/>
              </a:spcAft>
            </a:pPr>
            <a:r>
              <a:rPr sz="1800" b="0" i="0">
                <a:solidFill>
                  <a:srgbClr val="FFFFFF"/>
                </a:solidFill>
                <a:latin typeface="Arial"/>
              </a:rPr>
              <a:t>what the user feels</a:t>
            </a:r>
          </a:p>
        </p:txBody>
      </p:sp>
      <p:sp>
        <p:nvSpPr>
          <p:cNvPr id="14" name="TextBox 13"/>
          <p:cNvSpPr txBox="1"/>
          <p:nvPr/>
        </p:nvSpPr>
        <p:spPr>
          <a:xfrm>
            <a:off x="403682" y="5650000"/>
            <a:ext cx="11384636" cy="550000"/>
          </a:xfrm>
          <a:prstGeom prst="rect">
            <a:avLst/>
          </a:prstGeom>
          <a:noFill/>
        </p:spPr>
        <p:txBody>
          <a:bodyPr wrap="square" anchor="ctr">
            <a:spAutoFit/>
          </a:bodyPr>
          <a:lstStyle/>
          <a:p>
            <a:pPr algn="l">
              <a:spcAft>
                <a:spcPts val="0"/>
              </a:spcAft>
            </a:pPr>
            <a:r>
              <a:rPr sz="2400" b="1" i="0">
                <a:solidFill>
                  <a:srgbClr val="991346"/>
                </a:solidFill>
                <a:latin typeface="Arial"/>
              </a:rPr>
              <a:t>Watch three numbers. Guess which pod breaks first.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Red is full. GPU memory never moved.</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Stage dashboard, live rig, Oct 15 2026 21:05 Dublin. KV cache % from the vLLM log line (Fluent Bit + Lua); request time from vLLM /metrics; durations from Jaeger.</a:t>
            </a:r>
          </a:p>
        </p:txBody>
      </p:sp>
      <p:pic>
        <p:nvPicPr>
          <p:cNvPr id="4" name="Picture 3" descr="stage-load.png"/>
          <p:cNvPicPr>
            <a:picLocks noChangeAspect="1"/>
          </p:cNvPicPr>
          <p:nvPr/>
        </p:nvPicPr>
        <p:blipFill>
          <a:blip r:embed="rId3"/>
          <a:stretch>
            <a:fillRect/>
          </a:stretch>
        </p:blipFill>
        <p:spPr>
          <a:xfrm>
            <a:off x="2002400" y="1200000"/>
            <a:ext cx="8187200" cy="4300000"/>
          </a:xfrm>
          <a:prstGeom prst="rect">
            <a:avLst/>
          </a:prstGeom>
        </p:spPr>
      </p:pic>
      <p:sp>
        <p:nvSpPr>
          <p:cNvPr id="5" name="Rectangle 4"/>
          <p:cNvSpPr/>
          <p:nvPr/>
        </p:nvSpPr>
        <p:spPr>
          <a:xfrm>
            <a:off x="2002400" y="1200000"/>
            <a:ext cx="8187200" cy="4300000"/>
          </a:xfrm>
          <a:prstGeom prst="rect">
            <a:avLst/>
          </a:prstGeom>
          <a:noFill/>
          <a:ln w="9525">
            <a:solidFill>
              <a:srgbClr val="DDDDDD"/>
            </a:solidFill>
          </a:ln>
        </p:spPr>
        <p:txBody>
          <a:bodyPr rtlCol="0" anchor="ctr"/>
          <a:lstStyle/>
          <a:p>
            <a:pPr algn="ctr"/>
          </a:p>
        </p:txBody>
      </p:sp>
      <p:sp>
        <p:nvSpPr>
          <p:cNvPr id="6" name="Rounded Rectangle 5"/>
          <p:cNvSpPr/>
          <p:nvPr/>
        </p:nvSpPr>
        <p:spPr>
          <a:xfrm>
            <a:off x="403682" y="5600000"/>
            <a:ext cx="2696159" cy="750000"/>
          </a:xfrm>
          <a:prstGeom prst="roundRect">
            <a:avLst>
              <a:gd name="adj" fmla="val 8000"/>
            </a:avLst>
          </a:prstGeom>
          <a:solidFill>
            <a:srgbClr val="F3F3F3"/>
          </a:solidFill>
          <a:ln>
            <a:noFill/>
          </a:ln>
        </p:spPr>
        <p:txBody>
          <a:bodyPr rtlCol="0" anchor="ctr"/>
          <a:lstStyle/>
          <a:p/>
        </p:txBody>
      </p:sp>
      <p:sp>
        <p:nvSpPr>
          <p:cNvPr id="7" name="TextBox 6"/>
          <p:cNvSpPr txBox="1"/>
          <p:nvPr/>
        </p:nvSpPr>
        <p:spPr>
          <a:xfrm>
            <a:off x="403682" y="5600000"/>
            <a:ext cx="2696159" cy="750000"/>
          </a:xfrm>
          <a:prstGeom prst="rect">
            <a:avLst/>
          </a:prstGeom>
          <a:noFill/>
        </p:spPr>
        <p:txBody>
          <a:bodyPr wrap="square" anchor="ctr">
            <a:spAutoFit/>
          </a:bodyPr>
          <a:lstStyle/>
          <a:p>
            <a:pPr algn="ctr">
              <a:spcAft>
                <a:spcPts val="0"/>
              </a:spcAft>
            </a:pPr>
            <a:r>
              <a:rPr sz="2200" b="1" i="0">
                <a:solidFill>
                  <a:srgbClr val="6B6B6B"/>
                </a:solidFill>
                <a:latin typeface="Arial"/>
              </a:rPr>
              <a:t>3.5 vs 20.5 GB</a:t>
            </a:r>
          </a:p>
          <a:p>
            <a:pPr algn="ctr">
              <a:spcAft>
                <a:spcPts val="0"/>
              </a:spcAft>
            </a:pPr>
            <a:r>
              <a:rPr sz="1300" b="0" i="0">
                <a:solidFill>
                  <a:srgbClr val="6B6B6B"/>
                </a:solidFill>
                <a:latin typeface="Arial"/>
              </a:rPr>
              <a:t>GPU memory, both flat</a:t>
            </a:r>
          </a:p>
        </p:txBody>
      </p:sp>
      <p:sp>
        <p:nvSpPr>
          <p:cNvPr id="8" name="Rounded Rectangle 7"/>
          <p:cNvSpPr/>
          <p:nvPr/>
        </p:nvSpPr>
        <p:spPr>
          <a:xfrm>
            <a:off x="3299841" y="5600000"/>
            <a:ext cx="2696159" cy="750000"/>
          </a:xfrm>
          <a:prstGeom prst="roundRect">
            <a:avLst>
              <a:gd name="adj" fmla="val 8000"/>
            </a:avLst>
          </a:prstGeom>
          <a:solidFill>
            <a:srgbClr val="F3F3F3"/>
          </a:solidFill>
          <a:ln>
            <a:noFill/>
          </a:ln>
        </p:spPr>
        <p:txBody>
          <a:bodyPr rtlCol="0" anchor="ctr"/>
          <a:lstStyle/>
          <a:p/>
        </p:txBody>
      </p:sp>
      <p:sp>
        <p:nvSpPr>
          <p:cNvPr id="9" name="TextBox 8"/>
          <p:cNvSpPr txBox="1"/>
          <p:nvPr/>
        </p:nvSpPr>
        <p:spPr>
          <a:xfrm>
            <a:off x="3299841" y="5600000"/>
            <a:ext cx="2696159" cy="750000"/>
          </a:xfrm>
          <a:prstGeom prst="rect">
            <a:avLst/>
          </a:prstGeom>
          <a:noFill/>
        </p:spPr>
        <p:txBody>
          <a:bodyPr wrap="square" anchor="ctr">
            <a:spAutoFit/>
          </a:bodyPr>
          <a:lstStyle/>
          <a:p>
            <a:pPr algn="ctr">
              <a:spcAft>
                <a:spcPts val="0"/>
              </a:spcAft>
            </a:pPr>
            <a:r>
              <a:rPr sz="2200" b="1" i="0">
                <a:solidFill>
                  <a:srgbClr val="991346"/>
                </a:solidFill>
                <a:latin typeface="Arial"/>
              </a:rPr>
              <a:t>100% vs 0%</a:t>
            </a:r>
          </a:p>
          <a:p>
            <a:pPr algn="ctr">
              <a:spcAft>
                <a:spcPts val="0"/>
              </a:spcAft>
            </a:pPr>
            <a:r>
              <a:rPr sz="1300" b="0" i="0">
                <a:solidFill>
                  <a:srgbClr val="6B6B6B"/>
                </a:solidFill>
                <a:latin typeface="Arial"/>
              </a:rPr>
              <a:t>KV cache, from the log</a:t>
            </a:r>
          </a:p>
        </p:txBody>
      </p:sp>
      <p:sp>
        <p:nvSpPr>
          <p:cNvPr id="10" name="Rounded Rectangle 9"/>
          <p:cNvSpPr/>
          <p:nvPr/>
        </p:nvSpPr>
        <p:spPr>
          <a:xfrm>
            <a:off x="6196000" y="5600000"/>
            <a:ext cx="2696159" cy="750000"/>
          </a:xfrm>
          <a:prstGeom prst="roundRect">
            <a:avLst>
              <a:gd name="adj" fmla="val 8000"/>
            </a:avLst>
          </a:prstGeom>
          <a:solidFill>
            <a:srgbClr val="F3F3F3"/>
          </a:solidFill>
          <a:ln>
            <a:noFill/>
          </a:ln>
        </p:spPr>
        <p:txBody>
          <a:bodyPr rtlCol="0" anchor="ctr"/>
          <a:lstStyle/>
          <a:p/>
        </p:txBody>
      </p:sp>
      <p:sp>
        <p:nvSpPr>
          <p:cNvPr id="11" name="TextBox 10"/>
          <p:cNvSpPr txBox="1"/>
          <p:nvPr/>
        </p:nvSpPr>
        <p:spPr>
          <a:xfrm>
            <a:off x="6196000" y="5600000"/>
            <a:ext cx="2696159" cy="750000"/>
          </a:xfrm>
          <a:prstGeom prst="rect">
            <a:avLst/>
          </a:prstGeom>
          <a:noFill/>
        </p:spPr>
        <p:txBody>
          <a:bodyPr wrap="square" anchor="ctr">
            <a:spAutoFit/>
          </a:bodyPr>
          <a:lstStyle/>
          <a:p>
            <a:pPr algn="ctr">
              <a:spcAft>
                <a:spcPts val="0"/>
              </a:spcAft>
            </a:pPr>
            <a:r>
              <a:rPr sz="2200" b="1" i="0">
                <a:solidFill>
                  <a:srgbClr val="C62828"/>
                </a:solidFill>
                <a:latin typeface="Arial"/>
              </a:rPr>
              <a:t>12 s vs 0.13 s</a:t>
            </a:r>
          </a:p>
          <a:p>
            <a:pPr algn="ctr">
              <a:spcAft>
                <a:spcPts val="0"/>
              </a:spcAft>
            </a:pPr>
            <a:r>
              <a:rPr sz="1300" b="0" i="0">
                <a:solidFill>
                  <a:srgbClr val="6B6B6B"/>
                </a:solidFill>
                <a:latin typeface="Arial"/>
              </a:rPr>
              <a:t>request time</a:t>
            </a:r>
          </a:p>
        </p:txBody>
      </p:sp>
      <p:sp>
        <p:nvSpPr>
          <p:cNvPr id="12" name="Rounded Rectangle 11"/>
          <p:cNvSpPr/>
          <p:nvPr/>
        </p:nvSpPr>
        <p:spPr>
          <a:xfrm>
            <a:off x="9092159" y="5600000"/>
            <a:ext cx="2696159" cy="750000"/>
          </a:xfrm>
          <a:prstGeom prst="roundRect">
            <a:avLst>
              <a:gd name="adj" fmla="val 8000"/>
            </a:avLst>
          </a:prstGeom>
          <a:solidFill>
            <a:srgbClr val="F3F3F3"/>
          </a:solidFill>
          <a:ln>
            <a:noFill/>
          </a:ln>
        </p:spPr>
        <p:txBody>
          <a:bodyPr rtlCol="0" anchor="ctr"/>
          <a:lstStyle/>
          <a:p/>
        </p:txBody>
      </p:sp>
      <p:sp>
        <p:nvSpPr>
          <p:cNvPr id="13" name="TextBox 12"/>
          <p:cNvSpPr txBox="1"/>
          <p:nvPr/>
        </p:nvSpPr>
        <p:spPr>
          <a:xfrm>
            <a:off x="9092159" y="5600000"/>
            <a:ext cx="2696159" cy="750000"/>
          </a:xfrm>
          <a:prstGeom prst="rect">
            <a:avLst/>
          </a:prstGeom>
          <a:noFill/>
        </p:spPr>
        <p:txBody>
          <a:bodyPr wrap="square" anchor="ctr">
            <a:spAutoFit/>
          </a:bodyPr>
          <a:lstStyle/>
          <a:p>
            <a:pPr algn="ctr">
              <a:spcAft>
                <a:spcPts val="0"/>
              </a:spcAft>
            </a:pPr>
            <a:r>
              <a:rPr sz="2200" b="1" i="0">
                <a:solidFill>
                  <a:srgbClr val="991346"/>
                </a:solidFill>
                <a:latin typeface="Arial"/>
              </a:rPr>
              <a:t>1 pod name</a:t>
            </a:r>
          </a:p>
          <a:p>
            <a:pPr algn="ctr">
              <a:spcAft>
                <a:spcPts val="0"/>
              </a:spcAft>
            </a:pPr>
            <a:r>
              <a:rPr sz="1300" b="0" i="0">
                <a:solidFill>
                  <a:srgbClr val="6B6B6B"/>
                </a:solidFill>
                <a:latin typeface="Arial"/>
              </a:rPr>
              <a:t>on every signal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3 · The Collector stamps the pod name.</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vLLM --otlp-traces-endpoint (needs vLLM &gt;= 0.10.2; rig 0.30) -&gt; OTel Collector k8sattributes -&gt; Jaeger. Client span + traceparent = two hops in one trace. Grafana Jaeger datasource: tracesToMetrics. Configs: manifests/40-traces, manifests/60-grafana.</a:t>
            </a:r>
          </a:p>
        </p:txBody>
      </p:sp>
      <p:pic>
        <p:nvPicPr>
          <p:cNvPr id="4" name="Picture 3" descr="trace-two-hops.png"/>
          <p:cNvPicPr>
            <a:picLocks noChangeAspect="1"/>
          </p:cNvPicPr>
          <p:nvPr/>
        </p:nvPicPr>
        <p:blipFill>
          <a:blip r:embed="rId3"/>
          <a:stretch>
            <a:fillRect/>
          </a:stretch>
        </p:blipFill>
        <p:spPr>
          <a:xfrm>
            <a:off x="1198128" y="1200000"/>
            <a:ext cx="6495744" cy="2150000"/>
          </a:xfrm>
          <a:prstGeom prst="rect">
            <a:avLst/>
          </a:prstGeom>
        </p:spPr>
      </p:pic>
      <p:sp>
        <p:nvSpPr>
          <p:cNvPr id="5" name="Rectangle 4"/>
          <p:cNvSpPr/>
          <p:nvPr/>
        </p:nvSpPr>
        <p:spPr>
          <a:xfrm>
            <a:off x="1198128" y="1200000"/>
            <a:ext cx="6495744" cy="2150000"/>
          </a:xfrm>
          <a:prstGeom prst="rect">
            <a:avLst/>
          </a:prstGeom>
          <a:noFill/>
          <a:ln w="9525">
            <a:solidFill>
              <a:srgbClr val="DDDDDD"/>
            </a:solidFill>
          </a:ln>
        </p:spPr>
        <p:txBody>
          <a:bodyPr rtlCol="0" anchor="ctr"/>
          <a:lstStyle/>
          <a:p>
            <a:pPr algn="ctr"/>
          </a:p>
        </p:txBody>
      </p:sp>
      <p:sp>
        <p:nvSpPr>
          <p:cNvPr id="6" name="Rounded Rectangle 5"/>
          <p:cNvSpPr/>
          <p:nvPr/>
        </p:nvSpPr>
        <p:spPr>
          <a:xfrm>
            <a:off x="7843872" y="1400000"/>
            <a:ext cx="3944446" cy="900000"/>
          </a:xfrm>
          <a:prstGeom prst="roundRect">
            <a:avLst>
              <a:gd name="adj" fmla="val 12000"/>
            </a:avLst>
          </a:prstGeom>
          <a:solidFill>
            <a:srgbClr val="C62828"/>
          </a:solidFill>
          <a:ln>
            <a:noFill/>
          </a:ln>
        </p:spPr>
        <p:txBody>
          <a:bodyPr rtlCol="0" anchor="ctr"/>
          <a:lstStyle/>
          <a:p/>
        </p:txBody>
      </p:sp>
      <p:sp>
        <p:nvSpPr>
          <p:cNvPr id="7" name="TextBox 6"/>
          <p:cNvSpPr txBox="1"/>
          <p:nvPr/>
        </p:nvSpPr>
        <p:spPr>
          <a:xfrm>
            <a:off x="7843872" y="1400000"/>
            <a:ext cx="3944446" cy="900000"/>
          </a:xfrm>
          <a:prstGeom prst="rect">
            <a:avLst/>
          </a:prstGeom>
          <a:noFill/>
        </p:spPr>
        <p:txBody>
          <a:bodyPr wrap="square" anchor="ctr">
            <a:spAutoFit/>
          </a:bodyPr>
          <a:lstStyle/>
          <a:p>
            <a:pPr algn="ctr">
              <a:spcAft>
                <a:spcPts val="0"/>
              </a:spcAft>
            </a:pPr>
            <a:r>
              <a:rPr sz="3000" b="1" i="0">
                <a:solidFill>
                  <a:srgbClr val="FFFFFF"/>
                </a:solidFill>
                <a:latin typeface="Arial"/>
              </a:rPr>
              <a:t>11.9 s</a:t>
            </a:r>
          </a:p>
          <a:p>
            <a:pPr algn="ctr">
              <a:spcAft>
                <a:spcPts val="0"/>
              </a:spcAft>
            </a:pPr>
            <a:r>
              <a:rPr sz="1400" b="0" i="0">
                <a:solidFill>
                  <a:srgbClr val="FFFFFF"/>
                </a:solidFill>
                <a:latin typeface="Arial"/>
              </a:rPr>
              <a:t>2 hops, 1 trace, pod vllm-constrained</a:t>
            </a:r>
          </a:p>
        </p:txBody>
      </p:sp>
      <p:sp>
        <p:nvSpPr>
          <p:cNvPr id="8" name="TextBox 7"/>
          <p:cNvSpPr txBox="1"/>
          <p:nvPr/>
        </p:nvSpPr>
        <p:spPr>
          <a:xfrm>
            <a:off x="403682" y="3500000"/>
            <a:ext cx="5542318" cy="1950000"/>
          </a:xfrm>
          <a:prstGeom prst="rect">
            <a:avLst/>
          </a:prstGeom>
          <a:solidFill>
            <a:srgbClr val="F3F3F3"/>
          </a:solidFill>
        </p:spPr>
        <p:txBody>
          <a:bodyPr wrap="square" anchor="t" lIns="150000" rIns="150000">
            <a:spAutoFit/>
          </a:bodyPr>
          <a:lstStyle/>
          <a:p>
            <a:pPr algn="l">
              <a:spcAft>
                <a:spcPts val="400"/>
              </a:spcAft>
            </a:pPr>
            <a:r>
              <a:rPr sz="1600" b="1" i="0">
                <a:solidFill>
                  <a:srgbClr val="991346"/>
                </a:solidFill>
                <a:latin typeface="Arial"/>
              </a:rPr>
              <a:t>OTel Collector</a:t>
            </a:r>
          </a:p>
          <a:p>
            <a:pPr algn="l">
              <a:spcAft>
                <a:spcPts val="100"/>
              </a:spcAft>
            </a:pPr>
            <a:r>
              <a:rPr sz="1400" b="0" i="0">
                <a:solidFill>
                  <a:srgbClr val="262626"/>
                </a:solidFill>
                <a:latin typeface="Courier New"/>
              </a:rPr>
              <a:t>processors:</a:t>
            </a:r>
          </a:p>
          <a:p>
            <a:pPr algn="l">
              <a:spcAft>
                <a:spcPts val="100"/>
              </a:spcAft>
            </a:pPr>
            <a:r>
              <a:rPr sz="1400" b="1" i="0">
                <a:solidFill>
                  <a:srgbClr val="262626"/>
                </a:solidFill>
                <a:latin typeface="Courier New"/>
              </a:rPr>
              <a:t>  k8sattributes:</a:t>
            </a:r>
          </a:p>
          <a:p>
            <a:pPr algn="l">
              <a:spcAft>
                <a:spcPts val="100"/>
              </a:spcAft>
            </a:pPr>
            <a:r>
              <a:rPr sz="1400" b="0" i="0">
                <a:solidFill>
                  <a:srgbClr val="262626"/>
                </a:solidFill>
                <a:latin typeface="Courier New"/>
              </a:rPr>
              <a:t>    extract:</a:t>
            </a:r>
          </a:p>
          <a:p>
            <a:pPr algn="l">
              <a:spcAft>
                <a:spcPts val="100"/>
              </a:spcAft>
            </a:pPr>
            <a:r>
              <a:rPr sz="1400" b="1" i="0">
                <a:solidFill>
                  <a:srgbClr val="991346"/>
                </a:solidFill>
                <a:latin typeface="Courier New"/>
              </a:rPr>
              <a:t>      metadata: [k8s.pod.name, ...]</a:t>
            </a:r>
          </a:p>
          <a:p>
            <a:pPr algn="l">
              <a:spcAft>
                <a:spcPts val="100"/>
              </a:spcAft>
            </a:pPr>
            <a:r>
              <a:rPr sz="1400" b="0" i="0">
                <a:solidFill>
                  <a:srgbClr val="262626"/>
                </a:solidFill>
                <a:latin typeface="Courier New"/>
              </a:rPr>
              <a:t>    pod_association:</a:t>
            </a:r>
          </a:p>
          <a:p>
            <a:pPr algn="l">
              <a:spcAft>
                <a:spcPts val="0"/>
              </a:spcAft>
            </a:pPr>
            <a:r>
              <a:rPr sz="1400" b="0" i="0">
                <a:solidFill>
                  <a:srgbClr val="262626"/>
                </a:solidFill>
                <a:latin typeface="Courier New"/>
              </a:rPr>
              <a:t>      - sources: [{from: connection}]</a:t>
            </a:r>
          </a:p>
        </p:txBody>
      </p:sp>
      <p:sp>
        <p:nvSpPr>
          <p:cNvPr id="9" name="TextBox 8"/>
          <p:cNvSpPr txBox="1"/>
          <p:nvPr/>
        </p:nvSpPr>
        <p:spPr>
          <a:xfrm>
            <a:off x="6246000" y="3500000"/>
            <a:ext cx="5542318" cy="1950000"/>
          </a:xfrm>
          <a:prstGeom prst="rect">
            <a:avLst/>
          </a:prstGeom>
          <a:solidFill>
            <a:srgbClr val="F3F3F3"/>
          </a:solidFill>
        </p:spPr>
        <p:txBody>
          <a:bodyPr wrap="square" anchor="t" lIns="150000" rIns="150000">
            <a:spAutoFit/>
          </a:bodyPr>
          <a:lstStyle/>
          <a:p>
            <a:pPr algn="l">
              <a:spcAft>
                <a:spcPts val="400"/>
              </a:spcAft>
            </a:pPr>
            <a:r>
              <a:rPr sz="1600" b="1" i="0">
                <a:solidFill>
                  <a:srgbClr val="991346"/>
                </a:solidFill>
                <a:latin typeface="Arial"/>
              </a:rPr>
              <a:t>Grafana Jaeger datasource</a:t>
            </a:r>
          </a:p>
          <a:p>
            <a:pPr algn="l">
              <a:spcAft>
                <a:spcPts val="100"/>
              </a:spcAft>
            </a:pPr>
            <a:r>
              <a:rPr sz="1400" b="0" i="0">
                <a:solidFill>
                  <a:srgbClr val="262626"/>
                </a:solidFill>
                <a:latin typeface="Courier New"/>
              </a:rPr>
              <a:t>tracesToMetrics:</a:t>
            </a:r>
          </a:p>
          <a:p>
            <a:pPr algn="l">
              <a:spcAft>
                <a:spcPts val="100"/>
              </a:spcAft>
            </a:pPr>
            <a:r>
              <a:rPr sz="1400" b="0" i="0">
                <a:solidFill>
                  <a:srgbClr val="262626"/>
                </a:solidFill>
                <a:latin typeface="Courier New"/>
              </a:rPr>
              <a:t>  tags:</a:t>
            </a:r>
          </a:p>
          <a:p>
            <a:pPr algn="l">
              <a:spcAft>
                <a:spcPts val="100"/>
              </a:spcAft>
            </a:pPr>
            <a:r>
              <a:rPr sz="1400" b="1" i="0">
                <a:solidFill>
                  <a:srgbClr val="991346"/>
                </a:solidFill>
                <a:latin typeface="Courier New"/>
              </a:rPr>
              <a:t>    - {key: k8s.pod.name, value: exported_pod}</a:t>
            </a:r>
          </a:p>
          <a:p>
            <a:pPr algn="l">
              <a:spcAft>
                <a:spcPts val="100"/>
              </a:spcAft>
            </a:pPr>
            <a:r>
              <a:rPr sz="1400" b="0" i="0">
                <a:solidFill>
                  <a:srgbClr val="262626"/>
                </a:solidFill>
                <a:latin typeface="Courier New"/>
              </a:rPr>
              <a:t>  queries:</a:t>
            </a:r>
          </a:p>
          <a:p>
            <a:pPr algn="l">
              <a:spcAft>
                <a:spcPts val="100"/>
              </a:spcAft>
            </a:pPr>
            <a:r>
              <a:rPr sz="1400" b="0" i="0">
                <a:solidFill>
                  <a:srgbClr val="262626"/>
                </a:solidFill>
                <a:latin typeface="Courier New"/>
              </a:rPr>
              <a:t>    - name: This pod: how full it was</a:t>
            </a:r>
          </a:p>
          <a:p>
            <a:pPr algn="l">
              <a:spcAft>
                <a:spcPts val="0"/>
              </a:spcAft>
            </a:pPr>
            <a:r>
              <a:rPr sz="1400" b="0" i="0">
                <a:solidFill>
                  <a:srgbClr val="262626"/>
                </a:solidFill>
                <a:latin typeface="Courier New"/>
              </a:rPr>
              <a:t>      query: vllm_log_kv_cache_usage_pct{...}</a:t>
            </a:r>
          </a:p>
        </p:txBody>
      </p:sp>
      <p:cxnSp>
        <p:nvCxnSpPr>
          <p:cNvPr id="10" name="Connector 9"/>
          <p:cNvCxnSpPr/>
          <p:nvPr/>
        </p:nvCxnSpPr>
        <p:spPr>
          <a:xfrm>
            <a:off x="5966000" y="4475000"/>
            <a:ext cx="260000" cy="0"/>
          </a:xfrm>
          <a:prstGeom prst="line">
            <a:avLst/>
          </a:prstGeom>
          <a:ln w="38100">
            <a:solidFill>
              <a:srgbClr val="991346"/>
            </a:solidFill>
            <a:tailEnd type="triangle" w="med" len="med"/>
          </a:ln>
        </p:spPr>
      </p:cxnSp>
      <p:sp>
        <p:nvSpPr>
          <p:cNvPr id="11" name="TextBox 10"/>
          <p:cNvSpPr txBox="1"/>
          <p:nvPr/>
        </p:nvSpPr>
        <p:spPr>
          <a:xfrm>
            <a:off x="403682" y="5620000"/>
            <a:ext cx="11384636" cy="600000"/>
          </a:xfrm>
          <a:prstGeom prst="rect">
            <a:avLst/>
          </a:prstGeom>
          <a:noFill/>
        </p:spPr>
        <p:txBody>
          <a:bodyPr wrap="square" anchor="ctr">
            <a:spAutoFit/>
          </a:bodyPr>
          <a:lstStyle/>
          <a:p>
            <a:pPr algn="l">
              <a:spcAft>
                <a:spcPts val="0"/>
              </a:spcAft>
            </a:pPr>
            <a:r>
              <a:rPr sz="1800" b="1" i="0">
                <a:solidFill>
                  <a:srgbClr val="991346"/>
                </a:solidFill>
                <a:latin typeface="Arial"/>
              </a:rPr>
              <a:t>The app never knew its pod name. Now one click goes from a slow request to that pod's KV cache.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Same pod name. Three sources. One row.</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Grafana dashboard uid gpu-inference-obs, variable $pod matches exported_pod (DCGM), pod_name (Fluent Bit) and pod (vLLM, traces). Constrained pod, 16:52 to 17:09.</a:t>
            </a:r>
          </a:p>
        </p:txBody>
      </p:sp>
      <p:pic>
        <p:nvPicPr>
          <p:cNvPr id="4" name="Picture 3" descr="panel-2-wide.png"/>
          <p:cNvPicPr>
            <a:picLocks noChangeAspect="1"/>
          </p:cNvPicPr>
          <p:nvPr/>
        </p:nvPicPr>
        <p:blipFill>
          <a:blip r:embed="rId3"/>
          <a:stretch>
            <a:fillRect/>
          </a:stretch>
        </p:blipFill>
        <p:spPr>
          <a:xfrm>
            <a:off x="543682" y="1250000"/>
            <a:ext cx="7000000" cy="1500000"/>
          </a:xfrm>
          <a:prstGeom prst="rect">
            <a:avLst/>
          </a:prstGeom>
        </p:spPr>
      </p:pic>
      <p:sp>
        <p:nvSpPr>
          <p:cNvPr id="5" name="Rectangle 4"/>
          <p:cNvSpPr/>
          <p:nvPr/>
        </p:nvSpPr>
        <p:spPr>
          <a:xfrm>
            <a:off x="543682" y="1250000"/>
            <a:ext cx="7000000" cy="1500000"/>
          </a:xfrm>
          <a:prstGeom prst="rect">
            <a:avLst/>
          </a:prstGeom>
          <a:noFill/>
          <a:ln w="9525">
            <a:solidFill>
              <a:srgbClr val="DDDDDD"/>
            </a:solidFill>
          </a:ln>
        </p:spPr>
        <p:txBody>
          <a:bodyPr rtlCol="0" anchor="ctr"/>
          <a:lstStyle/>
          <a:p>
            <a:pPr algn="ctr"/>
          </a:p>
        </p:txBody>
      </p:sp>
      <p:sp>
        <p:nvSpPr>
          <p:cNvPr id="6" name="Rounded Rectangle 5"/>
          <p:cNvSpPr/>
          <p:nvPr/>
        </p:nvSpPr>
        <p:spPr>
          <a:xfrm>
            <a:off x="7693682" y="1250000"/>
            <a:ext cx="4234636" cy="1500000"/>
          </a:xfrm>
          <a:prstGeom prst="roundRect">
            <a:avLst>
              <a:gd name="adj" fmla="val 8000"/>
            </a:avLst>
          </a:prstGeom>
          <a:solidFill>
            <a:srgbClr val="F3F3F3"/>
          </a:solidFill>
          <a:ln>
            <a:noFill/>
          </a:ln>
        </p:spPr>
        <p:txBody>
          <a:bodyPr rtlCol="0" anchor="ctr"/>
          <a:lstStyle/>
          <a:p/>
        </p:txBody>
      </p:sp>
      <p:sp>
        <p:nvSpPr>
          <p:cNvPr id="7" name="TextBox 6"/>
          <p:cNvSpPr txBox="1"/>
          <p:nvPr/>
        </p:nvSpPr>
        <p:spPr>
          <a:xfrm>
            <a:off x="7693682" y="1250000"/>
            <a:ext cx="4234636" cy="1500000"/>
          </a:xfrm>
          <a:prstGeom prst="rect">
            <a:avLst/>
          </a:prstGeom>
          <a:noFill/>
        </p:spPr>
        <p:txBody>
          <a:bodyPr wrap="square" anchor="ctr">
            <a:spAutoFit/>
          </a:bodyPr>
          <a:lstStyle/>
          <a:p>
            <a:pPr algn="ctr">
              <a:spcAft>
                <a:spcPts val="200"/>
              </a:spcAft>
            </a:pPr>
            <a:r>
              <a:rPr sz="2600" b="1" i="0">
                <a:solidFill>
                  <a:srgbClr val="6B6B6B"/>
                </a:solidFill>
                <a:latin typeface="Arial"/>
              </a:rPr>
              <a:t>flat</a:t>
            </a:r>
          </a:p>
          <a:p>
            <a:pPr algn="ctr">
              <a:spcAft>
                <a:spcPts val="0"/>
              </a:spcAft>
            </a:pPr>
            <a:r>
              <a:rPr sz="1300" b="0" i="0">
                <a:solidFill>
                  <a:srgbClr val="6B6B6B"/>
                </a:solidFill>
                <a:latin typeface="Arial"/>
              </a:rPr>
              <a:t>DCGM memory</a:t>
            </a:r>
          </a:p>
        </p:txBody>
      </p:sp>
      <p:pic>
        <p:nvPicPr>
          <p:cNvPr id="8" name="Picture 7" descr="panel-6-wide.png"/>
          <p:cNvPicPr>
            <a:picLocks noChangeAspect="1"/>
          </p:cNvPicPr>
          <p:nvPr/>
        </p:nvPicPr>
        <p:blipFill>
          <a:blip r:embed="rId4"/>
          <a:stretch>
            <a:fillRect/>
          </a:stretch>
        </p:blipFill>
        <p:spPr>
          <a:xfrm>
            <a:off x="543682" y="2810000"/>
            <a:ext cx="7000000" cy="1500000"/>
          </a:xfrm>
          <a:prstGeom prst="rect">
            <a:avLst/>
          </a:prstGeom>
        </p:spPr>
      </p:pic>
      <p:sp>
        <p:nvSpPr>
          <p:cNvPr id="9" name="Rectangle 8"/>
          <p:cNvSpPr/>
          <p:nvPr/>
        </p:nvSpPr>
        <p:spPr>
          <a:xfrm>
            <a:off x="543682" y="2810000"/>
            <a:ext cx="7000000" cy="1500000"/>
          </a:xfrm>
          <a:prstGeom prst="rect">
            <a:avLst/>
          </a:prstGeom>
          <a:noFill/>
          <a:ln w="9525">
            <a:solidFill>
              <a:srgbClr val="DDDDDD"/>
            </a:solidFill>
          </a:ln>
        </p:spPr>
        <p:txBody>
          <a:bodyPr rtlCol="0" anchor="ctr"/>
          <a:lstStyle/>
          <a:p>
            <a:pPr algn="ctr"/>
          </a:p>
        </p:txBody>
      </p:sp>
      <p:sp>
        <p:nvSpPr>
          <p:cNvPr id="10" name="Rounded Rectangle 9"/>
          <p:cNvSpPr/>
          <p:nvPr/>
        </p:nvSpPr>
        <p:spPr>
          <a:xfrm>
            <a:off x="7693682" y="2810000"/>
            <a:ext cx="4234636" cy="1500000"/>
          </a:xfrm>
          <a:prstGeom prst="roundRect">
            <a:avLst>
              <a:gd name="adj" fmla="val 8000"/>
            </a:avLst>
          </a:prstGeom>
          <a:solidFill>
            <a:srgbClr val="F3F3F3"/>
          </a:solidFill>
          <a:ln>
            <a:noFill/>
          </a:ln>
        </p:spPr>
        <p:txBody>
          <a:bodyPr rtlCol="0" anchor="ctr"/>
          <a:lstStyle/>
          <a:p/>
        </p:txBody>
      </p:sp>
      <p:sp>
        <p:nvSpPr>
          <p:cNvPr id="11" name="TextBox 10"/>
          <p:cNvSpPr txBox="1"/>
          <p:nvPr/>
        </p:nvSpPr>
        <p:spPr>
          <a:xfrm>
            <a:off x="7693682" y="2810000"/>
            <a:ext cx="4234636" cy="1500000"/>
          </a:xfrm>
          <a:prstGeom prst="rect">
            <a:avLst/>
          </a:prstGeom>
          <a:noFill/>
        </p:spPr>
        <p:txBody>
          <a:bodyPr wrap="square" anchor="ctr">
            <a:spAutoFit/>
          </a:bodyPr>
          <a:lstStyle/>
          <a:p>
            <a:pPr algn="ctr">
              <a:spcAft>
                <a:spcPts val="200"/>
              </a:spcAft>
            </a:pPr>
            <a:r>
              <a:rPr sz="2600" b="1" i="0">
                <a:solidFill>
                  <a:srgbClr val="991346"/>
                </a:solidFill>
                <a:latin typeface="Arial"/>
              </a:rPr>
              <a:t>100%</a:t>
            </a:r>
          </a:p>
          <a:p>
            <a:pPr algn="ctr">
              <a:spcAft>
                <a:spcPts val="0"/>
              </a:spcAft>
            </a:pPr>
            <a:r>
              <a:rPr sz="1300" b="0" i="0">
                <a:solidFill>
                  <a:srgbClr val="6B6B6B"/>
                </a:solidFill>
                <a:latin typeface="Arial"/>
              </a:rPr>
              <a:t>KV cache (log)</a:t>
            </a:r>
          </a:p>
        </p:txBody>
      </p:sp>
      <p:pic>
        <p:nvPicPr>
          <p:cNvPr id="12" name="Picture 11" descr="panel-10-wide.png"/>
          <p:cNvPicPr>
            <a:picLocks noChangeAspect="1"/>
          </p:cNvPicPr>
          <p:nvPr/>
        </p:nvPicPr>
        <p:blipFill>
          <a:blip r:embed="rId5"/>
          <a:stretch>
            <a:fillRect/>
          </a:stretch>
        </p:blipFill>
        <p:spPr>
          <a:xfrm>
            <a:off x="543682" y="4370000"/>
            <a:ext cx="7000000" cy="1500000"/>
          </a:xfrm>
          <a:prstGeom prst="rect">
            <a:avLst/>
          </a:prstGeom>
        </p:spPr>
      </p:pic>
      <p:sp>
        <p:nvSpPr>
          <p:cNvPr id="13" name="Rectangle 12"/>
          <p:cNvSpPr/>
          <p:nvPr/>
        </p:nvSpPr>
        <p:spPr>
          <a:xfrm>
            <a:off x="543682" y="4370000"/>
            <a:ext cx="7000000" cy="1500000"/>
          </a:xfrm>
          <a:prstGeom prst="rect">
            <a:avLst/>
          </a:prstGeom>
          <a:noFill/>
          <a:ln w="9525">
            <a:solidFill>
              <a:srgbClr val="DDDDDD"/>
            </a:solidFill>
          </a:ln>
        </p:spPr>
        <p:txBody>
          <a:bodyPr rtlCol="0" anchor="ctr"/>
          <a:lstStyle/>
          <a:p>
            <a:pPr algn="ctr"/>
          </a:p>
        </p:txBody>
      </p:sp>
      <p:sp>
        <p:nvSpPr>
          <p:cNvPr id="14" name="Rounded Rectangle 13"/>
          <p:cNvSpPr/>
          <p:nvPr/>
        </p:nvSpPr>
        <p:spPr>
          <a:xfrm>
            <a:off x="7693682" y="4370000"/>
            <a:ext cx="4234636" cy="1500000"/>
          </a:xfrm>
          <a:prstGeom prst="roundRect">
            <a:avLst>
              <a:gd name="adj" fmla="val 8000"/>
            </a:avLst>
          </a:prstGeom>
          <a:solidFill>
            <a:srgbClr val="F3F3F3"/>
          </a:solidFill>
          <a:ln>
            <a:noFill/>
          </a:ln>
        </p:spPr>
        <p:txBody>
          <a:bodyPr rtlCol="0" anchor="ctr"/>
          <a:lstStyle/>
          <a:p/>
        </p:txBody>
      </p:sp>
      <p:sp>
        <p:nvSpPr>
          <p:cNvPr id="15" name="TextBox 14"/>
          <p:cNvSpPr txBox="1"/>
          <p:nvPr/>
        </p:nvSpPr>
        <p:spPr>
          <a:xfrm>
            <a:off x="7693682" y="4370000"/>
            <a:ext cx="4234636" cy="1500000"/>
          </a:xfrm>
          <a:prstGeom prst="rect">
            <a:avLst/>
          </a:prstGeom>
          <a:noFill/>
        </p:spPr>
        <p:txBody>
          <a:bodyPr wrap="square" anchor="ctr">
            <a:spAutoFit/>
          </a:bodyPr>
          <a:lstStyle/>
          <a:p>
            <a:pPr algn="ctr">
              <a:spcAft>
                <a:spcPts val="200"/>
              </a:spcAft>
            </a:pPr>
            <a:r>
              <a:rPr sz="1800" b="1" i="0">
                <a:solidFill>
                  <a:srgbClr val="C62828"/>
                </a:solidFill>
                <a:latin typeface="Arial"/>
              </a:rPr>
              <a:t>0.3 s to 4.8 s</a:t>
            </a:r>
          </a:p>
          <a:p>
            <a:pPr algn="ctr">
              <a:spcAft>
                <a:spcPts val="0"/>
              </a:spcAft>
            </a:pPr>
            <a:r>
              <a:rPr sz="1300" b="0" i="0">
                <a:solidFill>
                  <a:srgbClr val="6B6B6B"/>
                </a:solidFill>
                <a:latin typeface="Arial"/>
              </a:rPr>
              <a:t>queue time p95 (/metrics)</a:t>
            </a:r>
          </a:p>
        </p:txBody>
      </p:sp>
      <p:cxnSp>
        <p:nvCxnSpPr>
          <p:cNvPr id="16" name="Connector 15"/>
          <p:cNvCxnSpPr/>
          <p:nvPr/>
        </p:nvCxnSpPr>
        <p:spPr>
          <a:xfrm>
            <a:off x="2308093" y="1210000"/>
            <a:ext cx="0" cy="4700000"/>
          </a:xfrm>
          <a:prstGeom prst="line">
            <a:avLst/>
          </a:prstGeom>
          <a:ln w="31750">
            <a:solidFill>
              <a:srgbClr val="C62828"/>
            </a:solidFill>
            <a:prstDash val="dash"/>
          </a:ln>
        </p:spPr>
      </p:cxnSp>
      <p:sp>
        <p:nvSpPr>
          <p:cNvPr id="17" name="Rounded Rectangle 16"/>
          <p:cNvSpPr/>
          <p:nvPr/>
        </p:nvSpPr>
        <p:spPr>
          <a:xfrm>
            <a:off x="2388093" y="1310000"/>
            <a:ext cx="1350000" cy="300000"/>
          </a:xfrm>
          <a:prstGeom prst="roundRect">
            <a:avLst>
              <a:gd name="adj" fmla="val 50000"/>
            </a:avLst>
          </a:prstGeom>
          <a:solidFill>
            <a:srgbClr val="C62828"/>
          </a:solidFill>
          <a:ln>
            <a:noFill/>
          </a:ln>
        </p:spPr>
        <p:txBody>
          <a:bodyPr rtlCol="0" anchor="ctr" lIns="90000" rIns="90000" tIns="0" bIns="0"/>
          <a:lstStyle/>
          <a:p>
            <a:pPr algn="ctr"/>
            <a:r>
              <a:rPr sz="1100" b="1" i="0">
                <a:solidFill>
                  <a:srgbClr val="FFFFFF"/>
                </a:solidFill>
                <a:latin typeface="Arial"/>
              </a:rPr>
              <a:t>16:56  load hits</a:t>
            </a:r>
          </a:p>
        </p:txBody>
      </p:sp>
      <p:sp>
        <p:nvSpPr>
          <p:cNvPr id="18" name="Rounded Rectangle 17"/>
          <p:cNvSpPr/>
          <p:nvPr/>
        </p:nvSpPr>
        <p:spPr>
          <a:xfrm>
            <a:off x="403682" y="5930000"/>
            <a:ext cx="1650000" cy="460000"/>
          </a:xfrm>
          <a:prstGeom prst="roundRect">
            <a:avLst>
              <a:gd name="adj" fmla="val 50000"/>
            </a:avLst>
          </a:prstGeom>
          <a:solidFill>
            <a:srgbClr val="991346"/>
          </a:solidFill>
          <a:ln>
            <a:noFill/>
          </a:ln>
        </p:spPr>
        <p:txBody>
          <a:bodyPr rtlCol="0" anchor="ctr" lIns="90000" rIns="90000" tIns="0" bIns="0"/>
          <a:lstStyle/>
          <a:p>
            <a:pPr algn="ctr"/>
            <a:r>
              <a:rPr sz="2000" b="1" i="0">
                <a:solidFill>
                  <a:srgbClr val="FFFFFF"/>
                </a:solidFill>
                <a:latin typeface="Arial"/>
              </a:rPr>
              <a:t>Opened.</a:t>
            </a:r>
          </a:p>
        </p:txBody>
      </p:sp>
      <p:sp>
        <p:nvSpPr>
          <p:cNvPr id="19" name="TextBox 18"/>
          <p:cNvSpPr txBox="1"/>
          <p:nvPr/>
        </p:nvSpPr>
        <p:spPr>
          <a:xfrm>
            <a:off x="2203682" y="5930000"/>
            <a:ext cx="9584636" cy="460000"/>
          </a:xfrm>
          <a:prstGeom prst="rect">
            <a:avLst/>
          </a:prstGeom>
          <a:noFill/>
        </p:spPr>
        <p:txBody>
          <a:bodyPr wrap="square" anchor="ctr">
            <a:spAutoFit/>
          </a:bodyPr>
          <a:lstStyle/>
          <a:p>
            <a:pPr algn="l">
              <a:spcAft>
                <a:spcPts val="0"/>
              </a:spcAft>
            </a:pPr>
            <a:r>
              <a:rPr sz="1800" b="1" i="0">
                <a:solidFill>
                  <a:srgbClr val="991346"/>
                </a:solidFill>
                <a:latin typeface="Arial"/>
              </a:rPr>
              <a:t>No new agent, no vendor, no eBPF. Just the pod name on every signal.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7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What silently broke along the way.</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EKS Auto Mode GPU support: docs.aws.amazon.com/eks/latest/userguide/device-management-nvidia-dra-device-plugin.html. Two more gotchas (Fluent Bit Kube_Tag_Prefix, 1-GPU RollingUpdate) in the repo README.</a:t>
            </a:r>
          </a:p>
        </p:txBody>
      </p:sp>
      <p:sp>
        <p:nvSpPr>
          <p:cNvPr id="4" name="Rounded Rectangle 3"/>
          <p:cNvSpPr/>
          <p:nvPr/>
        </p:nvSpPr>
        <p:spPr>
          <a:xfrm>
            <a:off x="403682" y="1550000"/>
            <a:ext cx="3594878" cy="2600000"/>
          </a:xfrm>
          <a:prstGeom prst="roundRect">
            <a:avLst>
              <a:gd name="adj" fmla="val 8000"/>
            </a:avLst>
          </a:prstGeom>
          <a:solidFill>
            <a:srgbClr val="F3F3F3"/>
          </a:solidFill>
          <a:ln>
            <a:noFill/>
          </a:ln>
        </p:spPr>
        <p:txBody>
          <a:bodyPr rtlCol="0" anchor="ctr"/>
          <a:lstStyle/>
          <a:p/>
        </p:txBody>
      </p:sp>
      <p:sp>
        <p:nvSpPr>
          <p:cNvPr id="5" name="TextBox 4"/>
          <p:cNvSpPr txBox="1"/>
          <p:nvPr/>
        </p:nvSpPr>
        <p:spPr>
          <a:xfrm>
            <a:off x="463682" y="1610000"/>
            <a:ext cx="3474878" cy="2480000"/>
          </a:xfrm>
          <a:prstGeom prst="rect">
            <a:avLst/>
          </a:prstGeom>
          <a:noFill/>
        </p:spPr>
        <p:txBody>
          <a:bodyPr wrap="square" anchor="t" lIns="120000" rIns="120000">
            <a:spAutoFit/>
          </a:bodyPr>
          <a:lstStyle/>
          <a:p>
            <a:pPr algn="l">
              <a:spcAft>
                <a:spcPts val="800"/>
              </a:spcAft>
            </a:pPr>
            <a:r>
              <a:rPr sz="2200" b="1" i="0">
                <a:solidFill>
                  <a:srgbClr val="6B6B6B"/>
                </a:solidFill>
                <a:latin typeface="Arial"/>
              </a:rPr>
              <a:t>What we expected</a:t>
            </a:r>
          </a:p>
          <a:p>
            <a:pPr algn="l">
              <a:spcAft>
                <a:spcPts val="0"/>
              </a:spcAft>
            </a:pPr>
            <a:r>
              <a:rPr sz="1800" b="0" i="0">
                <a:solidFill>
                  <a:srgbClr val="262626"/>
                </a:solidFill>
                <a:latin typeface="Arial"/>
              </a:rPr>
              <a:t>Every DCGM how-to assumes the GPU Operator. Check your platform's driver model before you follow one.</a:t>
            </a:r>
          </a:p>
        </p:txBody>
      </p:sp>
      <p:sp>
        <p:nvSpPr>
          <p:cNvPr id="6" name="Rounded Rectangle 5"/>
          <p:cNvSpPr/>
          <p:nvPr/>
        </p:nvSpPr>
        <p:spPr>
          <a:xfrm>
            <a:off x="1001121" y="3530000"/>
            <a:ext cx="2400000" cy="460000"/>
          </a:xfrm>
          <a:prstGeom prst="roundRect">
            <a:avLst>
              <a:gd name="adj" fmla="val 50000"/>
            </a:avLst>
          </a:prstGeom>
          <a:solidFill>
            <a:srgbClr val="FFFFFF"/>
          </a:solidFill>
          <a:ln w="12700">
            <a:solidFill>
              <a:srgbClr val="DDDDDD"/>
            </a:solidFill>
          </a:ln>
        </p:spPr>
        <p:txBody>
          <a:bodyPr rtlCol="0" anchor="ctr" lIns="90000" rIns="90000" tIns="0" bIns="0"/>
          <a:lstStyle/>
          <a:p>
            <a:pPr algn="ctr"/>
            <a:r>
              <a:rPr sz="1600" b="1" i="0">
                <a:solidFill>
                  <a:srgbClr val="262626"/>
                </a:solidFill>
                <a:latin typeface="Arial"/>
              </a:rPr>
              <a:t>GPU Operator</a:t>
            </a:r>
          </a:p>
        </p:txBody>
      </p:sp>
      <p:cxnSp>
        <p:nvCxnSpPr>
          <p:cNvPr id="7" name="Connector 6"/>
          <p:cNvCxnSpPr/>
          <p:nvPr/>
        </p:nvCxnSpPr>
        <p:spPr>
          <a:xfrm flipV="1">
            <a:off x="1001121" y="3570000"/>
            <a:ext cx="2400000" cy="380000"/>
          </a:xfrm>
          <a:prstGeom prst="line">
            <a:avLst/>
          </a:prstGeom>
          <a:ln w="38100">
            <a:solidFill>
              <a:srgbClr val="C62828"/>
            </a:solidFill>
          </a:ln>
        </p:spPr>
      </p:cxnSp>
      <p:cxnSp>
        <p:nvCxnSpPr>
          <p:cNvPr id="8" name="Connector 7"/>
          <p:cNvCxnSpPr/>
          <p:nvPr/>
        </p:nvCxnSpPr>
        <p:spPr>
          <a:xfrm>
            <a:off x="4038560" y="2850000"/>
            <a:ext cx="220000" cy="0"/>
          </a:xfrm>
          <a:prstGeom prst="line">
            <a:avLst/>
          </a:prstGeom>
          <a:ln w="31750">
            <a:solidFill>
              <a:srgbClr val="6B6B6B"/>
            </a:solidFill>
            <a:tailEnd type="triangle" w="med" len="med"/>
          </a:ln>
        </p:spPr>
      </p:cxnSp>
      <p:sp>
        <p:nvSpPr>
          <p:cNvPr id="9" name="Rounded Rectangle 8"/>
          <p:cNvSpPr/>
          <p:nvPr/>
        </p:nvSpPr>
        <p:spPr>
          <a:xfrm>
            <a:off x="4298560" y="1550000"/>
            <a:ext cx="3594878" cy="2600000"/>
          </a:xfrm>
          <a:prstGeom prst="roundRect">
            <a:avLst>
              <a:gd name="adj" fmla="val 8000"/>
            </a:avLst>
          </a:prstGeom>
          <a:solidFill>
            <a:srgbClr val="FBE5E5"/>
          </a:solidFill>
          <a:ln>
            <a:noFill/>
          </a:ln>
        </p:spPr>
        <p:txBody>
          <a:bodyPr rtlCol="0" anchor="ctr"/>
          <a:lstStyle/>
          <a:p/>
        </p:txBody>
      </p:sp>
      <p:sp>
        <p:nvSpPr>
          <p:cNvPr id="10" name="TextBox 9"/>
          <p:cNvSpPr txBox="1"/>
          <p:nvPr/>
        </p:nvSpPr>
        <p:spPr>
          <a:xfrm>
            <a:off x="4358560" y="1610000"/>
            <a:ext cx="3474878" cy="2480000"/>
          </a:xfrm>
          <a:prstGeom prst="rect">
            <a:avLst/>
          </a:prstGeom>
          <a:noFill/>
        </p:spPr>
        <p:txBody>
          <a:bodyPr wrap="square" anchor="t" lIns="120000" rIns="120000">
            <a:spAutoFit/>
          </a:bodyPr>
          <a:lstStyle/>
          <a:p>
            <a:pPr algn="l">
              <a:spcAft>
                <a:spcPts val="800"/>
              </a:spcAft>
            </a:pPr>
            <a:r>
              <a:rPr sz="2200" b="1" i="0">
                <a:solidFill>
                  <a:srgbClr val="C62828"/>
                </a:solidFill>
                <a:latin typeface="Arial"/>
              </a:rPr>
              <a:t>What happened</a:t>
            </a:r>
          </a:p>
          <a:p>
            <a:pPr algn="l">
              <a:spcAft>
                <a:spcPts val="0"/>
              </a:spcAft>
            </a:pPr>
            <a:r>
              <a:rPr sz="1800" b="0" i="0">
                <a:solidFill>
                  <a:srgbClr val="262626"/>
                </a:solidFill>
                <a:latin typeface="Arial"/>
              </a:rPr>
              <a:t>EKS Auto Mode supports neither the GPU Operator nor the NVIDIA DRA driver. Drivers and device plugin ship with the AMI.</a:t>
            </a:r>
          </a:p>
        </p:txBody>
      </p:sp>
      <p:cxnSp>
        <p:nvCxnSpPr>
          <p:cNvPr id="11" name="Connector 10"/>
          <p:cNvCxnSpPr/>
          <p:nvPr/>
        </p:nvCxnSpPr>
        <p:spPr>
          <a:xfrm>
            <a:off x="7933438" y="2850000"/>
            <a:ext cx="220000" cy="0"/>
          </a:xfrm>
          <a:prstGeom prst="line">
            <a:avLst/>
          </a:prstGeom>
          <a:ln w="31750">
            <a:solidFill>
              <a:srgbClr val="6B6B6B"/>
            </a:solidFill>
            <a:tailEnd type="triangle" w="med" len="med"/>
          </a:ln>
        </p:spPr>
      </p:cxnSp>
      <p:sp>
        <p:nvSpPr>
          <p:cNvPr id="12" name="Rounded Rectangle 11"/>
          <p:cNvSpPr/>
          <p:nvPr/>
        </p:nvSpPr>
        <p:spPr>
          <a:xfrm>
            <a:off x="8193438" y="1550000"/>
            <a:ext cx="3594878" cy="2600000"/>
          </a:xfrm>
          <a:prstGeom prst="roundRect">
            <a:avLst>
              <a:gd name="adj" fmla="val 8000"/>
            </a:avLst>
          </a:prstGeom>
          <a:solidFill>
            <a:srgbClr val="E3F1E4"/>
          </a:solidFill>
          <a:ln>
            <a:noFill/>
          </a:ln>
        </p:spPr>
        <p:txBody>
          <a:bodyPr rtlCol="0" anchor="ctr"/>
          <a:lstStyle/>
          <a:p/>
        </p:txBody>
      </p:sp>
      <p:sp>
        <p:nvSpPr>
          <p:cNvPr id="13" name="TextBox 12"/>
          <p:cNvSpPr txBox="1"/>
          <p:nvPr/>
        </p:nvSpPr>
        <p:spPr>
          <a:xfrm>
            <a:off x="8253438" y="1610000"/>
            <a:ext cx="3474878" cy="2480000"/>
          </a:xfrm>
          <a:prstGeom prst="rect">
            <a:avLst/>
          </a:prstGeom>
          <a:noFill/>
        </p:spPr>
        <p:txBody>
          <a:bodyPr wrap="square" anchor="t" lIns="120000" rIns="120000">
            <a:spAutoFit/>
          </a:bodyPr>
          <a:lstStyle/>
          <a:p>
            <a:pPr algn="l">
              <a:spcAft>
                <a:spcPts val="800"/>
              </a:spcAft>
            </a:pPr>
            <a:r>
              <a:rPr sz="2200" b="1" i="0">
                <a:solidFill>
                  <a:srgbClr val="2E7D32"/>
                </a:solidFill>
                <a:latin typeface="Arial"/>
              </a:rPr>
              <a:t>Fix</a:t>
            </a:r>
          </a:p>
          <a:p>
            <a:pPr algn="l">
              <a:spcAft>
                <a:spcPts val="0"/>
              </a:spcAft>
            </a:pPr>
            <a:r>
              <a:rPr sz="1800" b="0" i="0">
                <a:solidFill>
                  <a:srgbClr val="262626"/>
                </a:solidFill>
                <a:latin typeface="Arial"/>
              </a:rPr>
              <a:t>Standalone dcgm-exporter DaemonSet, pod-resources hostPath, SYS_ADMIN. Seven counters.</a:t>
            </a:r>
          </a:p>
        </p:txBody>
      </p:sp>
      <p:sp>
        <p:nvSpPr>
          <p:cNvPr id="14" name="TextBox 13"/>
          <p:cNvSpPr txBox="1"/>
          <p:nvPr/>
        </p:nvSpPr>
        <p:spPr>
          <a:xfrm>
            <a:off x="403682" y="4550000"/>
            <a:ext cx="11384636" cy="1200000"/>
          </a:xfrm>
          <a:prstGeom prst="rect">
            <a:avLst/>
          </a:prstGeom>
          <a:noFill/>
        </p:spPr>
        <p:txBody>
          <a:bodyPr wrap="square" anchor="t">
            <a:spAutoFit/>
          </a:bodyPr>
          <a:lstStyle/>
          <a:p>
            <a:pPr algn="l">
              <a:spcAft>
                <a:spcPts val="0"/>
              </a:spcAft>
            </a:pPr>
            <a:r>
              <a:rPr sz="1500" b="0" i="0">
                <a:solidFill>
                  <a:srgbClr val="6B6B6B"/>
                </a:solidFill>
                <a:latin typeface="Arial"/>
              </a:rPr>
              <a:t>Also in the repo: Fluent Bit Kube_Tag_Prefix must match the tail tag or the join key arrives empty; a 1-GPU pod on a 2-GPU NodePool never finishes a RollingUpdate, use Recreate.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The join key is moving into the router.</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llm-d on AWS: aws.amazon.com/blogs/machine-learning/introducing-disaggregated-inference-on-aws-powered-by-llm-d. Gateway API Inference Extension: github.com/kubernetes-sigs/gateway-api-inference-extension.</a:t>
            </a:r>
          </a:p>
        </p:txBody>
      </p:sp>
      <p:sp>
        <p:nvSpPr>
          <p:cNvPr id="4" name="Rounded Rectangle 3"/>
          <p:cNvSpPr/>
          <p:nvPr/>
        </p:nvSpPr>
        <p:spPr>
          <a:xfrm>
            <a:off x="403682" y="1850000"/>
            <a:ext cx="3594878" cy="2600000"/>
          </a:xfrm>
          <a:prstGeom prst="roundRect">
            <a:avLst>
              <a:gd name="adj" fmla="val 8000"/>
            </a:avLst>
          </a:prstGeom>
          <a:solidFill>
            <a:srgbClr val="F3F3F3"/>
          </a:solidFill>
          <a:ln>
            <a:noFill/>
          </a:ln>
        </p:spPr>
        <p:txBody>
          <a:bodyPr rtlCol="0" anchor="ctr"/>
          <a:lstStyle/>
          <a:p/>
        </p:txBody>
      </p:sp>
      <p:sp>
        <p:nvSpPr>
          <p:cNvPr id="5" name="TextBox 4"/>
          <p:cNvSpPr txBox="1"/>
          <p:nvPr/>
        </p:nvSpPr>
        <p:spPr>
          <a:xfrm>
            <a:off x="483682" y="1850000"/>
            <a:ext cx="3434878" cy="2600000"/>
          </a:xfrm>
          <a:prstGeom prst="rect">
            <a:avLst/>
          </a:prstGeom>
          <a:noFill/>
        </p:spPr>
        <p:txBody>
          <a:bodyPr wrap="square" anchor="ctr" lIns="120000" rIns="120000">
            <a:spAutoFit/>
          </a:bodyPr>
          <a:lstStyle/>
          <a:p>
            <a:pPr algn="ctr">
              <a:spcAft>
                <a:spcPts val="1000"/>
              </a:spcAft>
            </a:pPr>
            <a:r>
              <a:rPr sz="2600" b="1" i="0">
                <a:solidFill>
                  <a:srgbClr val="262626"/>
                </a:solidFill>
                <a:latin typeface="Arial"/>
              </a:rPr>
              <a:t>Today: join in Grafana</a:t>
            </a:r>
          </a:p>
          <a:p>
            <a:pPr algn="ctr">
              <a:spcAft>
                <a:spcPts val="400"/>
              </a:spcAft>
            </a:pPr>
            <a:r>
              <a:rPr sz="1600" b="0" i="0">
                <a:solidFill>
                  <a:srgbClr val="6B6B6B"/>
                </a:solidFill>
                <a:latin typeface="Arial"/>
              </a:rPr>
              <a:t>one pod, one request</a:t>
            </a:r>
          </a:p>
          <a:p>
            <a:pPr algn="ctr">
              <a:spcAft>
                <a:spcPts val="0"/>
              </a:spcAft>
            </a:pPr>
            <a:r>
              <a:rPr sz="1400" b="0" i="0">
                <a:solidFill>
                  <a:srgbClr val="6B6B6B"/>
                </a:solidFill>
                <a:latin typeface="Courier New"/>
              </a:rPr>
              <a:t>PromQL on pod_name</a:t>
            </a:r>
          </a:p>
        </p:txBody>
      </p:sp>
      <p:cxnSp>
        <p:nvCxnSpPr>
          <p:cNvPr id="6" name="Connector 5"/>
          <p:cNvCxnSpPr/>
          <p:nvPr/>
        </p:nvCxnSpPr>
        <p:spPr>
          <a:xfrm>
            <a:off x="4038560" y="3150000"/>
            <a:ext cx="220000" cy="0"/>
          </a:xfrm>
          <a:prstGeom prst="line">
            <a:avLst/>
          </a:prstGeom>
          <a:ln w="38100">
            <a:solidFill>
              <a:srgbClr val="991346"/>
            </a:solidFill>
            <a:tailEnd type="triangle" w="med" len="med"/>
          </a:ln>
        </p:spPr>
      </p:cxnSp>
      <p:sp>
        <p:nvSpPr>
          <p:cNvPr id="7" name="Rounded Rectangle 6"/>
          <p:cNvSpPr/>
          <p:nvPr/>
        </p:nvSpPr>
        <p:spPr>
          <a:xfrm>
            <a:off x="4298560" y="1850000"/>
            <a:ext cx="3594878" cy="2600000"/>
          </a:xfrm>
          <a:prstGeom prst="roundRect">
            <a:avLst>
              <a:gd name="adj" fmla="val 8000"/>
            </a:avLst>
          </a:prstGeom>
          <a:solidFill>
            <a:srgbClr val="F6E3EA"/>
          </a:solidFill>
          <a:ln>
            <a:noFill/>
          </a:ln>
        </p:spPr>
        <p:txBody>
          <a:bodyPr rtlCol="0" anchor="ctr"/>
          <a:lstStyle/>
          <a:p/>
        </p:txBody>
      </p:sp>
      <p:sp>
        <p:nvSpPr>
          <p:cNvPr id="8" name="TextBox 7"/>
          <p:cNvSpPr txBox="1"/>
          <p:nvPr/>
        </p:nvSpPr>
        <p:spPr>
          <a:xfrm>
            <a:off x="4378560" y="1850000"/>
            <a:ext cx="3434878" cy="2600000"/>
          </a:xfrm>
          <a:prstGeom prst="rect">
            <a:avLst/>
          </a:prstGeom>
          <a:noFill/>
        </p:spPr>
        <p:txBody>
          <a:bodyPr wrap="square" anchor="ctr" lIns="120000" rIns="120000">
            <a:spAutoFit/>
          </a:bodyPr>
          <a:lstStyle/>
          <a:p>
            <a:pPr algn="ctr">
              <a:spcAft>
                <a:spcPts val="1000"/>
              </a:spcAft>
            </a:pPr>
            <a:r>
              <a:rPr sz="2600" b="1" i="0">
                <a:solidFill>
                  <a:srgbClr val="991346"/>
                </a:solidFill>
                <a:latin typeface="Arial"/>
              </a:rPr>
              <a:t>Next: join key = request id + pod</a:t>
            </a:r>
          </a:p>
          <a:p>
            <a:pPr algn="ctr">
              <a:spcAft>
                <a:spcPts val="400"/>
              </a:spcAft>
            </a:pPr>
            <a:r>
              <a:rPr sz="1600" b="0" i="0">
                <a:solidFill>
                  <a:srgbClr val="991346"/>
                </a:solidFill>
                <a:latin typeface="Arial"/>
              </a:rPr>
              <a:t>prefill and decode on different pods</a:t>
            </a:r>
          </a:p>
          <a:p>
            <a:pPr algn="ctr">
              <a:spcAft>
                <a:spcPts val="0"/>
              </a:spcAft>
            </a:pPr>
            <a:r>
              <a:rPr sz="1400" b="0" i="0">
                <a:solidFill>
                  <a:srgbClr val="991346"/>
                </a:solidFill>
                <a:latin typeface="Courier New"/>
              </a:rPr>
              <a:t>llm-d, NVIDIA Dynamo</a:t>
            </a:r>
          </a:p>
        </p:txBody>
      </p:sp>
      <p:cxnSp>
        <p:nvCxnSpPr>
          <p:cNvPr id="9" name="Connector 8"/>
          <p:cNvCxnSpPr/>
          <p:nvPr/>
        </p:nvCxnSpPr>
        <p:spPr>
          <a:xfrm>
            <a:off x="7933438" y="3150000"/>
            <a:ext cx="220000" cy="0"/>
          </a:xfrm>
          <a:prstGeom prst="line">
            <a:avLst/>
          </a:prstGeom>
          <a:ln w="38100">
            <a:solidFill>
              <a:srgbClr val="991346"/>
            </a:solidFill>
            <a:tailEnd type="triangle" w="med" len="med"/>
          </a:ln>
        </p:spPr>
      </p:cxnSp>
      <p:sp>
        <p:nvSpPr>
          <p:cNvPr id="10" name="Rounded Rectangle 9"/>
          <p:cNvSpPr/>
          <p:nvPr/>
        </p:nvSpPr>
        <p:spPr>
          <a:xfrm>
            <a:off x="8193438" y="1850000"/>
            <a:ext cx="3594878" cy="2600000"/>
          </a:xfrm>
          <a:prstGeom prst="roundRect">
            <a:avLst>
              <a:gd name="adj" fmla="val 8000"/>
            </a:avLst>
          </a:prstGeom>
          <a:solidFill>
            <a:srgbClr val="991346"/>
          </a:solidFill>
          <a:ln>
            <a:noFill/>
          </a:ln>
        </p:spPr>
        <p:txBody>
          <a:bodyPr rtlCol="0" anchor="ctr"/>
          <a:lstStyle/>
          <a:p/>
        </p:txBody>
      </p:sp>
      <p:sp>
        <p:nvSpPr>
          <p:cNvPr id="11" name="TextBox 10"/>
          <p:cNvSpPr txBox="1"/>
          <p:nvPr/>
        </p:nvSpPr>
        <p:spPr>
          <a:xfrm>
            <a:off x="8273438" y="1850000"/>
            <a:ext cx="3434878" cy="2600000"/>
          </a:xfrm>
          <a:prstGeom prst="rect">
            <a:avLst/>
          </a:prstGeom>
          <a:noFill/>
        </p:spPr>
        <p:txBody>
          <a:bodyPr wrap="square" anchor="ctr" lIns="120000" rIns="120000">
            <a:spAutoFit/>
          </a:bodyPr>
          <a:lstStyle/>
          <a:p>
            <a:pPr algn="ctr">
              <a:spcAft>
                <a:spcPts val="1000"/>
              </a:spcAft>
            </a:pPr>
            <a:r>
              <a:rPr sz="2600" b="1" i="0">
                <a:solidFill>
                  <a:srgbClr val="FFFFFF"/>
                </a:solidFill>
                <a:latin typeface="Arial"/>
              </a:rPr>
              <a:t>Then: router consumes the join</a:t>
            </a:r>
          </a:p>
          <a:p>
            <a:pPr algn="ctr">
              <a:spcAft>
                <a:spcPts val="400"/>
              </a:spcAft>
            </a:pPr>
            <a:r>
              <a:rPr sz="1600" b="0" i="0">
                <a:solidFill>
                  <a:srgbClr val="FFFFFF"/>
                </a:solidFill>
                <a:latin typeface="Arial"/>
              </a:rPr>
              <a:t>routes on queue depth and KV cache</a:t>
            </a:r>
          </a:p>
          <a:p>
            <a:pPr algn="ctr">
              <a:spcAft>
                <a:spcPts val="0"/>
              </a:spcAft>
            </a:pPr>
            <a:r>
              <a:rPr sz="1400" b="0" i="0">
                <a:solidFill>
                  <a:srgbClr val="FFFFFF"/>
                </a:solidFill>
                <a:latin typeface="Courier New"/>
              </a:rPr>
              <a:t>Gateway API Inference Extension</a:t>
            </a:r>
          </a:p>
        </p:txBody>
      </p:sp>
      <p:sp>
        <p:nvSpPr>
          <p:cNvPr id="12" name="Rounded Rectangle 11"/>
          <p:cNvSpPr/>
          <p:nvPr/>
        </p:nvSpPr>
        <p:spPr>
          <a:xfrm>
            <a:off x="403682" y="4800000"/>
            <a:ext cx="1900000" cy="480000"/>
          </a:xfrm>
          <a:prstGeom prst="roundRect">
            <a:avLst>
              <a:gd name="adj" fmla="val 50000"/>
            </a:avLst>
          </a:prstGeom>
          <a:solidFill>
            <a:srgbClr val="F3F3F3"/>
          </a:solidFill>
          <a:ln>
            <a:noFill/>
          </a:ln>
        </p:spPr>
        <p:txBody>
          <a:bodyPr rtlCol="0" anchor="ctr" lIns="90000" rIns="90000" tIns="0" bIns="0"/>
          <a:lstStyle/>
          <a:p>
            <a:pPr algn="ctr"/>
            <a:r>
              <a:rPr sz="1800" b="1" i="0">
                <a:solidFill>
                  <a:srgbClr val="991346"/>
                </a:solidFill>
                <a:latin typeface="Courier New"/>
              </a:rPr>
              <a:t>join key</a:t>
            </a:r>
          </a:p>
        </p:txBody>
      </p:sp>
      <p:cxnSp>
        <p:nvCxnSpPr>
          <p:cNvPr id="13" name="Connector 12"/>
          <p:cNvCxnSpPr/>
          <p:nvPr/>
        </p:nvCxnSpPr>
        <p:spPr>
          <a:xfrm>
            <a:off x="2453682" y="5040000"/>
            <a:ext cx="9234636" cy="0"/>
          </a:xfrm>
          <a:prstGeom prst="line">
            <a:avLst/>
          </a:prstGeom>
          <a:ln w="38100">
            <a:solidFill>
              <a:srgbClr val="991346"/>
            </a:solidFill>
            <a:tailEnd type="triangle" w="med" len="med"/>
          </a:ln>
        </p:spPr>
      </p:cxn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Steal this for your cluster.</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Reproduced clean-room on EKS Auto Mode; all configs in the repo.</a:t>
            </a:r>
          </a:p>
        </p:txBody>
      </p:sp>
      <p:sp>
        <p:nvSpPr>
          <p:cNvPr id="4" name="Rounded Rectangle 3"/>
          <p:cNvSpPr/>
          <p:nvPr/>
        </p:nvSpPr>
        <p:spPr>
          <a:xfrm>
            <a:off x="403682" y="1250000"/>
            <a:ext cx="3594878" cy="4300000"/>
          </a:xfrm>
          <a:prstGeom prst="roundRect">
            <a:avLst>
              <a:gd name="adj" fmla="val 8000"/>
            </a:avLst>
          </a:prstGeom>
          <a:solidFill>
            <a:srgbClr val="F3F3F3"/>
          </a:solidFill>
          <a:ln>
            <a:noFill/>
          </a:ln>
        </p:spPr>
        <p:txBody>
          <a:bodyPr rtlCol="0" anchor="ctr"/>
          <a:lstStyle/>
          <a:p/>
        </p:txBody>
      </p:sp>
      <p:sp>
        <p:nvSpPr>
          <p:cNvPr id="5" name="TextBox 4"/>
          <p:cNvSpPr txBox="1"/>
          <p:nvPr/>
        </p:nvSpPr>
        <p:spPr>
          <a:xfrm>
            <a:off x="403682" y="1350000"/>
            <a:ext cx="3594878" cy="900000"/>
          </a:xfrm>
          <a:prstGeom prst="rect">
            <a:avLst/>
          </a:prstGeom>
          <a:noFill/>
        </p:spPr>
        <p:txBody>
          <a:bodyPr wrap="square" anchor="ctr">
            <a:spAutoFit/>
          </a:bodyPr>
          <a:lstStyle/>
          <a:p>
            <a:pPr algn="ctr">
              <a:spcAft>
                <a:spcPts val="0"/>
              </a:spcAft>
            </a:pPr>
            <a:r>
              <a:rPr sz="4000" b="1" i="0">
                <a:solidFill>
                  <a:srgbClr val="991346"/>
                </a:solidFill>
                <a:latin typeface="Arial"/>
              </a:rPr>
              <a:t>3 numbers</a:t>
            </a:r>
          </a:p>
        </p:txBody>
      </p:sp>
      <p:sp>
        <p:nvSpPr>
          <p:cNvPr id="6" name="Rounded Rectangle 5"/>
          <p:cNvSpPr/>
          <p:nvPr/>
        </p:nvSpPr>
        <p:spPr>
          <a:xfrm>
            <a:off x="553682" y="2400000"/>
            <a:ext cx="3294878" cy="850000"/>
          </a:xfrm>
          <a:prstGeom prst="roundRect">
            <a:avLst>
              <a:gd name="adj" fmla="val 8000"/>
            </a:avLst>
          </a:prstGeom>
          <a:solidFill>
            <a:srgbClr val="FFFFFF"/>
          </a:solidFill>
          <a:ln>
            <a:noFill/>
          </a:ln>
        </p:spPr>
        <p:txBody>
          <a:bodyPr rtlCol="0" anchor="ctr"/>
          <a:lstStyle/>
          <a:p/>
        </p:txBody>
      </p:sp>
      <p:sp>
        <p:nvSpPr>
          <p:cNvPr id="7" name="TextBox 6"/>
          <p:cNvSpPr txBox="1"/>
          <p:nvPr/>
        </p:nvSpPr>
        <p:spPr>
          <a:xfrm>
            <a:off x="553682" y="2400000"/>
            <a:ext cx="3294878" cy="850000"/>
          </a:xfrm>
          <a:prstGeom prst="rect">
            <a:avLst/>
          </a:prstGeom>
          <a:noFill/>
        </p:spPr>
        <p:txBody>
          <a:bodyPr wrap="square" anchor="ctr">
            <a:spAutoFit/>
          </a:bodyPr>
          <a:lstStyle/>
          <a:p>
            <a:pPr algn="ctr">
              <a:spcAft>
                <a:spcPts val="0"/>
              </a:spcAft>
            </a:pPr>
            <a:r>
              <a:rPr sz="1800" b="1" i="0">
                <a:solidFill>
                  <a:srgbClr val="262626"/>
                </a:solidFill>
                <a:latin typeface="Arial"/>
              </a:rPr>
              <a:t>KV cache %</a:t>
            </a:r>
          </a:p>
          <a:p>
            <a:pPr algn="ctr">
              <a:spcAft>
                <a:spcPts val="0"/>
              </a:spcAft>
            </a:pPr>
            <a:r>
              <a:rPr sz="1400" b="0" i="0">
                <a:solidFill>
                  <a:srgbClr val="6B6B6B"/>
                </a:solidFill>
                <a:latin typeface="Arial"/>
              </a:rPr>
              <a:t>how full the car park is</a:t>
            </a:r>
          </a:p>
        </p:txBody>
      </p:sp>
      <p:sp>
        <p:nvSpPr>
          <p:cNvPr id="8" name="Rounded Rectangle 7"/>
          <p:cNvSpPr/>
          <p:nvPr/>
        </p:nvSpPr>
        <p:spPr>
          <a:xfrm>
            <a:off x="553682" y="3400000"/>
            <a:ext cx="3294878" cy="850000"/>
          </a:xfrm>
          <a:prstGeom prst="roundRect">
            <a:avLst>
              <a:gd name="adj" fmla="val 8000"/>
            </a:avLst>
          </a:prstGeom>
          <a:solidFill>
            <a:srgbClr val="FFFFFF"/>
          </a:solidFill>
          <a:ln>
            <a:noFill/>
          </a:ln>
        </p:spPr>
        <p:txBody>
          <a:bodyPr rtlCol="0" anchor="ctr"/>
          <a:lstStyle/>
          <a:p/>
        </p:txBody>
      </p:sp>
      <p:sp>
        <p:nvSpPr>
          <p:cNvPr id="9" name="TextBox 8"/>
          <p:cNvSpPr txBox="1"/>
          <p:nvPr/>
        </p:nvSpPr>
        <p:spPr>
          <a:xfrm>
            <a:off x="553682" y="3400000"/>
            <a:ext cx="3294878" cy="850000"/>
          </a:xfrm>
          <a:prstGeom prst="rect">
            <a:avLst/>
          </a:prstGeom>
          <a:noFill/>
        </p:spPr>
        <p:txBody>
          <a:bodyPr wrap="square" anchor="ctr">
            <a:spAutoFit/>
          </a:bodyPr>
          <a:lstStyle/>
          <a:p>
            <a:pPr algn="ctr">
              <a:spcAft>
                <a:spcPts val="0"/>
              </a:spcAft>
            </a:pPr>
            <a:r>
              <a:rPr sz="1800" b="1" i="0">
                <a:solidFill>
                  <a:srgbClr val="262626"/>
                </a:solidFill>
                <a:latin typeface="Arial"/>
              </a:rPr>
              <a:t>request / queue time</a:t>
            </a:r>
          </a:p>
          <a:p>
            <a:pPr algn="ctr">
              <a:spcAft>
                <a:spcPts val="0"/>
              </a:spcAft>
            </a:pPr>
            <a:r>
              <a:rPr sz="1400" b="0" i="0">
                <a:solidFill>
                  <a:srgbClr val="6B6B6B"/>
                </a:solidFill>
                <a:latin typeface="Arial"/>
              </a:rPr>
              <a:t>what the user feels</a:t>
            </a:r>
          </a:p>
        </p:txBody>
      </p:sp>
      <p:sp>
        <p:nvSpPr>
          <p:cNvPr id="10" name="Rounded Rectangle 9"/>
          <p:cNvSpPr/>
          <p:nvPr/>
        </p:nvSpPr>
        <p:spPr>
          <a:xfrm>
            <a:off x="553682" y="4400000"/>
            <a:ext cx="3294878" cy="850000"/>
          </a:xfrm>
          <a:prstGeom prst="roundRect">
            <a:avLst>
              <a:gd name="adj" fmla="val 8000"/>
            </a:avLst>
          </a:prstGeom>
          <a:solidFill>
            <a:srgbClr val="FFFFFF"/>
          </a:solidFill>
          <a:ln>
            <a:noFill/>
          </a:ln>
        </p:spPr>
        <p:txBody>
          <a:bodyPr rtlCol="0" anchor="ctr"/>
          <a:lstStyle/>
          <a:p/>
        </p:txBody>
      </p:sp>
      <p:sp>
        <p:nvSpPr>
          <p:cNvPr id="11" name="TextBox 10"/>
          <p:cNvSpPr txBox="1"/>
          <p:nvPr/>
        </p:nvSpPr>
        <p:spPr>
          <a:xfrm>
            <a:off x="553682" y="4400000"/>
            <a:ext cx="3294878" cy="850000"/>
          </a:xfrm>
          <a:prstGeom prst="rect">
            <a:avLst/>
          </a:prstGeom>
          <a:noFill/>
        </p:spPr>
        <p:txBody>
          <a:bodyPr wrap="square" anchor="ctr">
            <a:spAutoFit/>
          </a:bodyPr>
          <a:lstStyle/>
          <a:p>
            <a:pPr algn="ctr">
              <a:spcAft>
                <a:spcPts val="0"/>
              </a:spcAft>
            </a:pPr>
            <a:r>
              <a:rPr sz="1600" b="1" i="0">
                <a:solidFill>
                  <a:srgbClr val="262626"/>
                </a:solidFill>
                <a:latin typeface="Courier New"/>
              </a:rPr>
              <a:t>DCGM_FI_PROF_SM_ACTIVE</a:t>
            </a:r>
          </a:p>
          <a:p>
            <a:pPr algn="ctr">
              <a:spcAft>
                <a:spcPts val="0"/>
              </a:spcAft>
            </a:pPr>
            <a:r>
              <a:rPr sz="1400" b="0" i="0">
                <a:solidFill>
                  <a:srgbClr val="6B6B6B"/>
                </a:solidFill>
                <a:latin typeface="Arial"/>
              </a:rPr>
              <a:t>instead of GPU_UTIL</a:t>
            </a:r>
          </a:p>
        </p:txBody>
      </p:sp>
      <p:sp>
        <p:nvSpPr>
          <p:cNvPr id="12" name="Rounded Rectangle 11"/>
          <p:cNvSpPr/>
          <p:nvPr/>
        </p:nvSpPr>
        <p:spPr>
          <a:xfrm>
            <a:off x="4298560" y="1250000"/>
            <a:ext cx="3594878" cy="4300000"/>
          </a:xfrm>
          <a:prstGeom prst="roundRect">
            <a:avLst>
              <a:gd name="adj" fmla="val 8000"/>
            </a:avLst>
          </a:prstGeom>
          <a:solidFill>
            <a:srgbClr val="F3F3F3"/>
          </a:solidFill>
          <a:ln>
            <a:noFill/>
          </a:ln>
        </p:spPr>
        <p:txBody>
          <a:bodyPr rtlCol="0" anchor="ctr"/>
          <a:lstStyle/>
          <a:p/>
        </p:txBody>
      </p:sp>
      <p:sp>
        <p:nvSpPr>
          <p:cNvPr id="13" name="TextBox 12"/>
          <p:cNvSpPr txBox="1"/>
          <p:nvPr/>
        </p:nvSpPr>
        <p:spPr>
          <a:xfrm>
            <a:off x="4298560" y="1350000"/>
            <a:ext cx="3594878" cy="900000"/>
          </a:xfrm>
          <a:prstGeom prst="rect">
            <a:avLst/>
          </a:prstGeom>
          <a:noFill/>
        </p:spPr>
        <p:txBody>
          <a:bodyPr wrap="square" anchor="ctr">
            <a:spAutoFit/>
          </a:bodyPr>
          <a:lstStyle/>
          <a:p>
            <a:pPr algn="ctr">
              <a:spcAft>
                <a:spcPts val="0"/>
              </a:spcAft>
            </a:pPr>
            <a:r>
              <a:rPr sz="4000" b="1" i="0">
                <a:solidFill>
                  <a:srgbClr val="991346"/>
                </a:solidFill>
                <a:latin typeface="Arial"/>
              </a:rPr>
              <a:t>1 filter</a:t>
            </a:r>
          </a:p>
        </p:txBody>
      </p:sp>
      <p:sp>
        <p:nvSpPr>
          <p:cNvPr id="14" name="Rounded Rectangle 13"/>
          <p:cNvSpPr/>
          <p:nvPr/>
        </p:nvSpPr>
        <p:spPr>
          <a:xfrm>
            <a:off x="4448560" y="2400000"/>
            <a:ext cx="3294878" cy="850000"/>
          </a:xfrm>
          <a:prstGeom prst="roundRect">
            <a:avLst>
              <a:gd name="adj" fmla="val 8000"/>
            </a:avLst>
          </a:prstGeom>
          <a:solidFill>
            <a:srgbClr val="FFFFFF"/>
          </a:solidFill>
          <a:ln>
            <a:noFill/>
          </a:ln>
        </p:spPr>
        <p:txBody>
          <a:bodyPr rtlCol="0" anchor="ctr"/>
          <a:lstStyle/>
          <a:p/>
        </p:txBody>
      </p:sp>
      <p:sp>
        <p:nvSpPr>
          <p:cNvPr id="15" name="TextBox 14"/>
          <p:cNvSpPr txBox="1"/>
          <p:nvPr/>
        </p:nvSpPr>
        <p:spPr>
          <a:xfrm>
            <a:off x="4448560" y="2400000"/>
            <a:ext cx="3294878" cy="850000"/>
          </a:xfrm>
          <a:prstGeom prst="rect">
            <a:avLst/>
          </a:prstGeom>
          <a:noFill/>
        </p:spPr>
        <p:txBody>
          <a:bodyPr wrap="square" anchor="ctr">
            <a:spAutoFit/>
          </a:bodyPr>
          <a:lstStyle/>
          <a:p>
            <a:pPr algn="ctr">
              <a:spcAft>
                <a:spcPts val="0"/>
              </a:spcAft>
            </a:pPr>
            <a:r>
              <a:rPr sz="1800" b="1" i="0">
                <a:solidFill>
                  <a:srgbClr val="262626"/>
                </a:solidFill>
                <a:latin typeface="Arial"/>
              </a:rPr>
              <a:t>15 lines of Lua</a:t>
            </a:r>
          </a:p>
          <a:p>
            <a:pPr algn="ctr">
              <a:spcAft>
                <a:spcPts val="0"/>
              </a:spcAft>
            </a:pPr>
            <a:r>
              <a:rPr sz="1400" b="0" i="0">
                <a:solidFill>
                  <a:srgbClr val="6B6B6B"/>
                </a:solidFill>
                <a:latin typeface="Arial"/>
              </a:rPr>
              <a:t>+ log_to_metrics</a:t>
            </a:r>
          </a:p>
        </p:txBody>
      </p:sp>
      <p:sp>
        <p:nvSpPr>
          <p:cNvPr id="16" name="Rounded Rectangle 15"/>
          <p:cNvSpPr/>
          <p:nvPr/>
        </p:nvSpPr>
        <p:spPr>
          <a:xfrm>
            <a:off x="4448560" y="3400000"/>
            <a:ext cx="3294878" cy="850000"/>
          </a:xfrm>
          <a:prstGeom prst="roundRect">
            <a:avLst>
              <a:gd name="adj" fmla="val 8000"/>
            </a:avLst>
          </a:prstGeom>
          <a:solidFill>
            <a:srgbClr val="FFFFFF"/>
          </a:solidFill>
          <a:ln>
            <a:noFill/>
          </a:ln>
        </p:spPr>
        <p:txBody>
          <a:bodyPr rtlCol="0" anchor="ctr"/>
          <a:lstStyle/>
          <a:p/>
        </p:txBody>
      </p:sp>
      <p:sp>
        <p:nvSpPr>
          <p:cNvPr id="17" name="TextBox 16"/>
          <p:cNvSpPr txBox="1"/>
          <p:nvPr/>
        </p:nvSpPr>
        <p:spPr>
          <a:xfrm>
            <a:off x="4448560" y="3400000"/>
            <a:ext cx="3294878" cy="850000"/>
          </a:xfrm>
          <a:prstGeom prst="rect">
            <a:avLst/>
          </a:prstGeom>
          <a:noFill/>
        </p:spPr>
        <p:txBody>
          <a:bodyPr wrap="square" anchor="ctr">
            <a:spAutoFit/>
          </a:bodyPr>
          <a:lstStyle/>
          <a:p>
            <a:pPr algn="ctr">
              <a:spcAft>
                <a:spcPts val="0"/>
              </a:spcAft>
            </a:pPr>
            <a:r>
              <a:rPr sz="1800" b="1" i="0">
                <a:solidFill>
                  <a:srgbClr val="262626"/>
                </a:solidFill>
                <a:latin typeface="Arial"/>
              </a:rPr>
              <a:t>change the regex</a:t>
            </a:r>
          </a:p>
          <a:p>
            <a:pPr algn="ctr">
              <a:spcAft>
                <a:spcPts val="0"/>
              </a:spcAft>
            </a:pPr>
            <a:r>
              <a:rPr sz="1400" b="0" i="0">
                <a:solidFill>
                  <a:srgbClr val="6B6B6B"/>
                </a:solidFill>
                <a:latin typeface="Arial"/>
              </a:rPr>
              <a:t>keep the pipeline</a:t>
            </a:r>
          </a:p>
        </p:txBody>
      </p:sp>
      <p:sp>
        <p:nvSpPr>
          <p:cNvPr id="18" name="Rounded Rectangle 17"/>
          <p:cNvSpPr/>
          <p:nvPr/>
        </p:nvSpPr>
        <p:spPr>
          <a:xfrm>
            <a:off x="4448560" y="4400000"/>
            <a:ext cx="3294878" cy="850000"/>
          </a:xfrm>
          <a:prstGeom prst="roundRect">
            <a:avLst>
              <a:gd name="adj" fmla="val 8000"/>
            </a:avLst>
          </a:prstGeom>
          <a:solidFill>
            <a:srgbClr val="FFFFFF"/>
          </a:solidFill>
          <a:ln>
            <a:noFill/>
          </a:ln>
        </p:spPr>
        <p:txBody>
          <a:bodyPr rtlCol="0" anchor="ctr"/>
          <a:lstStyle/>
          <a:p/>
        </p:txBody>
      </p:sp>
      <p:sp>
        <p:nvSpPr>
          <p:cNvPr id="19" name="TextBox 18"/>
          <p:cNvSpPr txBox="1"/>
          <p:nvPr/>
        </p:nvSpPr>
        <p:spPr>
          <a:xfrm>
            <a:off x="4448560" y="4400000"/>
            <a:ext cx="3294878" cy="850000"/>
          </a:xfrm>
          <a:prstGeom prst="rect">
            <a:avLst/>
          </a:prstGeom>
          <a:noFill/>
        </p:spPr>
        <p:txBody>
          <a:bodyPr wrap="square" anchor="ctr">
            <a:spAutoFit/>
          </a:bodyPr>
          <a:lstStyle/>
          <a:p>
            <a:pPr algn="ctr">
              <a:spcAft>
                <a:spcPts val="0"/>
              </a:spcAft>
            </a:pPr>
            <a:r>
              <a:rPr sz="1800" b="1" i="0">
                <a:solidFill>
                  <a:srgbClr val="262626"/>
                </a:solidFill>
                <a:latin typeface="Arial"/>
              </a:rPr>
              <a:t>works for</a:t>
            </a:r>
          </a:p>
          <a:p>
            <a:pPr algn="ctr">
              <a:spcAft>
                <a:spcPts val="0"/>
              </a:spcAft>
            </a:pPr>
            <a:r>
              <a:rPr sz="1400" b="0" i="0">
                <a:solidFill>
                  <a:srgbClr val="6B6B6B"/>
                </a:solidFill>
                <a:latin typeface="Arial"/>
              </a:rPr>
              <a:t>TGI, Triton, anything that logs</a:t>
            </a:r>
          </a:p>
        </p:txBody>
      </p:sp>
      <p:sp>
        <p:nvSpPr>
          <p:cNvPr id="20" name="Rounded Rectangle 19"/>
          <p:cNvSpPr/>
          <p:nvPr/>
        </p:nvSpPr>
        <p:spPr>
          <a:xfrm>
            <a:off x="8193438" y="1250000"/>
            <a:ext cx="3594878" cy="4300000"/>
          </a:xfrm>
          <a:prstGeom prst="roundRect">
            <a:avLst>
              <a:gd name="adj" fmla="val 8000"/>
            </a:avLst>
          </a:prstGeom>
          <a:solidFill>
            <a:srgbClr val="F3F3F3"/>
          </a:solidFill>
          <a:ln>
            <a:noFill/>
          </a:ln>
        </p:spPr>
        <p:txBody>
          <a:bodyPr rtlCol="0" anchor="ctr"/>
          <a:lstStyle/>
          <a:p/>
        </p:txBody>
      </p:sp>
      <p:sp>
        <p:nvSpPr>
          <p:cNvPr id="21" name="TextBox 20"/>
          <p:cNvSpPr txBox="1"/>
          <p:nvPr/>
        </p:nvSpPr>
        <p:spPr>
          <a:xfrm>
            <a:off x="8193438" y="1350000"/>
            <a:ext cx="3594878" cy="900000"/>
          </a:xfrm>
          <a:prstGeom prst="rect">
            <a:avLst/>
          </a:prstGeom>
          <a:noFill/>
        </p:spPr>
        <p:txBody>
          <a:bodyPr wrap="square" anchor="ctr">
            <a:spAutoFit/>
          </a:bodyPr>
          <a:lstStyle/>
          <a:p>
            <a:pPr algn="ctr">
              <a:spcAft>
                <a:spcPts val="0"/>
              </a:spcAft>
            </a:pPr>
            <a:r>
              <a:rPr sz="4000" b="1" i="0">
                <a:solidFill>
                  <a:srgbClr val="991346"/>
                </a:solidFill>
                <a:latin typeface="Arial"/>
              </a:rPr>
              <a:t>1 rule</a:t>
            </a:r>
          </a:p>
        </p:txBody>
      </p:sp>
      <p:sp>
        <p:nvSpPr>
          <p:cNvPr id="22" name="Rounded Rectangle 21"/>
          <p:cNvSpPr/>
          <p:nvPr/>
        </p:nvSpPr>
        <p:spPr>
          <a:xfrm>
            <a:off x="8343438" y="2400000"/>
            <a:ext cx="3294878" cy="850000"/>
          </a:xfrm>
          <a:prstGeom prst="roundRect">
            <a:avLst>
              <a:gd name="adj" fmla="val 8000"/>
            </a:avLst>
          </a:prstGeom>
          <a:solidFill>
            <a:srgbClr val="FFFFFF"/>
          </a:solidFill>
          <a:ln>
            <a:noFill/>
          </a:ln>
        </p:spPr>
        <p:txBody>
          <a:bodyPr rtlCol="0" anchor="ctr"/>
          <a:lstStyle/>
          <a:p/>
        </p:txBody>
      </p:sp>
      <p:sp>
        <p:nvSpPr>
          <p:cNvPr id="23" name="TextBox 22"/>
          <p:cNvSpPr txBox="1"/>
          <p:nvPr/>
        </p:nvSpPr>
        <p:spPr>
          <a:xfrm>
            <a:off x="8343438" y="2400000"/>
            <a:ext cx="3294878" cy="850000"/>
          </a:xfrm>
          <a:prstGeom prst="rect">
            <a:avLst/>
          </a:prstGeom>
          <a:noFill/>
        </p:spPr>
        <p:txBody>
          <a:bodyPr wrap="square" anchor="ctr">
            <a:spAutoFit/>
          </a:bodyPr>
          <a:lstStyle/>
          <a:p>
            <a:pPr algn="ctr">
              <a:spcAft>
                <a:spcPts val="0"/>
              </a:spcAft>
            </a:pPr>
            <a:r>
              <a:rPr sz="1800" b="1" i="0">
                <a:solidFill>
                  <a:srgbClr val="262626"/>
                </a:solidFill>
                <a:latin typeface="Arial"/>
              </a:rPr>
              <a:t>pod name</a:t>
            </a:r>
          </a:p>
          <a:p>
            <a:pPr algn="ctr">
              <a:spcAft>
                <a:spcPts val="0"/>
              </a:spcAft>
            </a:pPr>
            <a:r>
              <a:rPr sz="1400" b="0" i="0">
                <a:solidFill>
                  <a:srgbClr val="6B6B6B"/>
                </a:solidFill>
                <a:latin typeface="Arial"/>
              </a:rPr>
              <a:t>on every signal</a:t>
            </a:r>
          </a:p>
        </p:txBody>
      </p:sp>
      <p:sp>
        <p:nvSpPr>
          <p:cNvPr id="24" name="Rounded Rectangle 23"/>
          <p:cNvSpPr/>
          <p:nvPr/>
        </p:nvSpPr>
        <p:spPr>
          <a:xfrm>
            <a:off x="8343438" y="3400000"/>
            <a:ext cx="3294878" cy="850000"/>
          </a:xfrm>
          <a:prstGeom prst="roundRect">
            <a:avLst>
              <a:gd name="adj" fmla="val 8000"/>
            </a:avLst>
          </a:prstGeom>
          <a:solidFill>
            <a:srgbClr val="FFFFFF"/>
          </a:solidFill>
          <a:ln>
            <a:noFill/>
          </a:ln>
        </p:spPr>
        <p:txBody>
          <a:bodyPr rtlCol="0" anchor="ctr"/>
          <a:lstStyle/>
          <a:p/>
        </p:txBody>
      </p:sp>
      <p:sp>
        <p:nvSpPr>
          <p:cNvPr id="25" name="TextBox 24"/>
          <p:cNvSpPr txBox="1"/>
          <p:nvPr/>
        </p:nvSpPr>
        <p:spPr>
          <a:xfrm>
            <a:off x="8343438" y="3400000"/>
            <a:ext cx="3294878" cy="850000"/>
          </a:xfrm>
          <a:prstGeom prst="rect">
            <a:avLst/>
          </a:prstGeom>
          <a:noFill/>
        </p:spPr>
        <p:txBody>
          <a:bodyPr wrap="square" anchor="ctr">
            <a:spAutoFit/>
          </a:bodyPr>
          <a:lstStyle/>
          <a:p>
            <a:pPr algn="ctr">
              <a:spcAft>
                <a:spcPts val="0"/>
              </a:spcAft>
            </a:pPr>
            <a:r>
              <a:rPr sz="1800" b="1" i="0">
                <a:solidFill>
                  <a:srgbClr val="262626"/>
                </a:solidFill>
                <a:latin typeface="Arial"/>
              </a:rPr>
              <a:t>identity on logs</a:t>
            </a:r>
          </a:p>
          <a:p>
            <a:pPr algn="ctr">
              <a:spcAft>
                <a:spcPts val="0"/>
              </a:spcAft>
            </a:pPr>
            <a:r>
              <a:rPr sz="1400" b="0" i="0">
                <a:solidFill>
                  <a:srgbClr val="6B6B6B"/>
                </a:solidFill>
                <a:latin typeface="Arial"/>
              </a:rPr>
              <a:t>stable dimensions on metrics</a:t>
            </a:r>
          </a:p>
        </p:txBody>
      </p:sp>
      <p:sp>
        <p:nvSpPr>
          <p:cNvPr id="26" name="Rounded Rectangle 25"/>
          <p:cNvSpPr/>
          <p:nvPr/>
        </p:nvSpPr>
        <p:spPr>
          <a:xfrm>
            <a:off x="8343438" y="4400000"/>
            <a:ext cx="3294878" cy="850000"/>
          </a:xfrm>
          <a:prstGeom prst="roundRect">
            <a:avLst>
              <a:gd name="adj" fmla="val 8000"/>
            </a:avLst>
          </a:prstGeom>
          <a:solidFill>
            <a:srgbClr val="FFFFFF"/>
          </a:solidFill>
          <a:ln>
            <a:noFill/>
          </a:ln>
        </p:spPr>
        <p:txBody>
          <a:bodyPr rtlCol="0" anchor="ctr"/>
          <a:lstStyle/>
          <a:p/>
        </p:txBody>
      </p:sp>
      <p:sp>
        <p:nvSpPr>
          <p:cNvPr id="27" name="TextBox 26"/>
          <p:cNvSpPr txBox="1"/>
          <p:nvPr/>
        </p:nvSpPr>
        <p:spPr>
          <a:xfrm>
            <a:off x="8343438" y="4400000"/>
            <a:ext cx="3294878" cy="850000"/>
          </a:xfrm>
          <a:prstGeom prst="rect">
            <a:avLst/>
          </a:prstGeom>
          <a:noFill/>
        </p:spPr>
        <p:txBody>
          <a:bodyPr wrap="square" anchor="ctr">
            <a:spAutoFit/>
          </a:bodyPr>
          <a:lstStyle/>
          <a:p>
            <a:pPr algn="ctr">
              <a:spcAft>
                <a:spcPts val="0"/>
              </a:spcAft>
            </a:pPr>
            <a:r>
              <a:rPr sz="1800" b="1" i="0">
                <a:solidFill>
                  <a:srgbClr val="262626"/>
                </a:solidFill>
                <a:latin typeface="Arial"/>
              </a:rPr>
              <a:t>join</a:t>
            </a:r>
          </a:p>
          <a:p>
            <a:pPr algn="ctr">
              <a:spcAft>
                <a:spcPts val="0"/>
              </a:spcAft>
            </a:pPr>
            <a:r>
              <a:rPr sz="1400" b="0" i="0">
                <a:solidFill>
                  <a:srgbClr val="6B6B6B"/>
                </a:solidFill>
                <a:latin typeface="Arial"/>
              </a:rPr>
              <a:t>at query time</a:t>
            </a:r>
          </a:p>
        </p:txBody>
      </p:sp>
      <p:sp>
        <p:nvSpPr>
          <p:cNvPr id="28" name="Rounded Rectangle 27"/>
          <p:cNvSpPr/>
          <p:nvPr/>
        </p:nvSpPr>
        <p:spPr>
          <a:xfrm>
            <a:off x="4646000" y="5700000"/>
            <a:ext cx="2900000" cy="560000"/>
          </a:xfrm>
          <a:prstGeom prst="roundRect">
            <a:avLst>
              <a:gd name="adj" fmla="val 50000"/>
            </a:avLst>
          </a:prstGeom>
          <a:solidFill>
            <a:srgbClr val="991346"/>
          </a:solidFill>
          <a:ln>
            <a:noFill/>
          </a:ln>
        </p:spPr>
        <p:txBody>
          <a:bodyPr rtlCol="0" anchor="ctr" lIns="90000" rIns="90000" tIns="0" bIns="0"/>
          <a:lstStyle/>
          <a:p>
            <a:pPr algn="ctr"/>
            <a:r>
              <a:rPr sz="2400" b="1" i="0">
                <a:solidFill>
                  <a:srgbClr val="FFFFFF"/>
                </a:solidFill>
                <a:latin typeface="Arial"/>
              </a:rPr>
              <a:t>0 new agents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1500000"/>
            <a:ext cx="7200000" cy="3600000"/>
          </a:xfrm>
          <a:prstGeom prst="rect">
            <a:avLst/>
          </a:prstGeom>
          <a:noFill/>
        </p:spPr>
        <p:txBody>
          <a:bodyPr wrap="square" anchor="ctr">
            <a:spAutoFit/>
          </a:bodyPr>
          <a:lstStyle/>
          <a:p>
            <a:pPr algn="l">
              <a:spcAft>
                <a:spcPts val="1800"/>
              </a:spcAft>
            </a:pPr>
            <a:r>
              <a:rPr sz="4400" b="1" i="0">
                <a:solidFill>
                  <a:srgbClr val="FFFFFF"/>
                </a:solidFill>
                <a:latin typeface="Arial"/>
              </a:rPr>
              <a:t>Thank you.</a:t>
            </a:r>
          </a:p>
          <a:p>
            <a:pPr algn="l">
              <a:spcAft>
                <a:spcPts val="0"/>
              </a:spcAft>
            </a:pPr>
            <a:r>
              <a:rPr sz="2600" b="1" i="0">
                <a:solidFill>
                  <a:srgbClr val="FFFFFF"/>
                </a:solidFill>
                <a:latin typeface="Arial"/>
              </a:rPr>
              <a:t>github.com/danilosilvase/</a:t>
            </a:r>
          </a:p>
          <a:p>
            <a:pPr algn="l">
              <a:spcAft>
                <a:spcPts val="1800"/>
              </a:spcAft>
            </a:pPr>
            <a:r>
              <a:rPr sz="2600" b="1" i="0">
                <a:solidFill>
                  <a:srgbClr val="FFFFFF"/>
                </a:solidFill>
                <a:latin typeface="Arial"/>
              </a:rPr>
              <a:t>gpu-observability-kubecon-na-2026</a:t>
            </a:r>
          </a:p>
          <a:p>
            <a:pPr algn="l">
              <a:spcAft>
                <a:spcPts val="200"/>
              </a:spcAft>
            </a:pPr>
            <a:r>
              <a:rPr sz="1800" b="0" i="0">
                <a:solidFill>
                  <a:srgbClr val="FFFFFF"/>
                </a:solidFill>
                <a:latin typeface="Arial"/>
              </a:rPr>
              <a:t>Danilo Souza, AWS Professional Services</a:t>
            </a:r>
          </a:p>
          <a:p>
            <a:pPr algn="l">
              <a:spcAft>
                <a:spcPts val="1800"/>
              </a:spcAft>
            </a:pPr>
            <a:r>
              <a:rPr sz="1800" b="0" i="0">
                <a:solidFill>
                  <a:srgbClr val="FFFFFF"/>
                </a:solidFill>
                <a:latin typeface="Arial"/>
              </a:rPr>
              <a:t>Henrique Santana, AWS</a:t>
            </a:r>
          </a:p>
          <a:p>
            <a:pPr algn="l">
              <a:spcAft>
                <a:spcPts val="0"/>
              </a:spcAft>
            </a:pPr>
            <a:r>
              <a:rPr sz="1800" b="0" i="0">
                <a:solidFill>
                  <a:srgbClr val="FFFFFF"/>
                </a:solidFill>
                <a:latin typeface="Arial"/>
              </a:rPr>
              <a:t>Scan to rate this session.</a:t>
            </a:r>
          </a:p>
        </p:txBody>
      </p:sp>
      <p:sp>
        <p:nvSpPr>
          <p:cNvPr id="3" name="Rounded Rectangle 2"/>
          <p:cNvSpPr/>
          <p:nvPr/>
        </p:nvSpPr>
        <p:spPr>
          <a:xfrm>
            <a:off x="7988318" y="1429000"/>
            <a:ext cx="4000000" cy="4000000"/>
          </a:xfrm>
          <a:prstGeom prst="roundRect">
            <a:avLst>
              <a:gd name="adj" fmla="val 5000"/>
            </a:avLst>
          </a:prstGeom>
          <a:solidFill>
            <a:srgbClr val="FFFFFF"/>
          </a:solidFill>
          <a:ln>
            <a:noFill/>
          </a:ln>
        </p:spPr>
        <p:txBody>
          <a:bodyPr rtlCol="0" anchor="ctr"/>
          <a:lstStyle/>
          <a:p/>
        </p:txBody>
      </p:sp>
      <p:pic>
        <p:nvPicPr>
          <p:cNvPr id="4" name="Picture 3" descr="cncf-feedback-qr.png"/>
          <p:cNvPicPr>
            <a:picLocks noChangeAspect="1"/>
          </p:cNvPicPr>
          <p:nvPr/>
        </p:nvPicPr>
        <p:blipFill>
          <a:blip r:embed="rId3"/>
          <a:stretch>
            <a:fillRect/>
          </a:stretch>
        </p:blipFill>
        <p:spPr>
          <a:xfrm>
            <a:off x="8240287" y="1629000"/>
            <a:ext cx="3496062" cy="3600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GPU memory is a car park.</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vLLM reserves its pool at start-up (--gpu-memory-utilization); the KV cache lives inside it. Each running request parks its attention state there; when it is full, new requests wait.</a:t>
            </a:r>
          </a:p>
        </p:txBody>
      </p:sp>
      <p:sp>
        <p:nvSpPr>
          <p:cNvPr id="4" name="TextBox 3"/>
          <p:cNvSpPr txBox="1"/>
          <p:nvPr/>
        </p:nvSpPr>
        <p:spPr>
          <a:xfrm>
            <a:off x="403682" y="1200000"/>
            <a:ext cx="5442318" cy="450000"/>
          </a:xfrm>
          <a:prstGeom prst="rect">
            <a:avLst/>
          </a:prstGeom>
          <a:noFill/>
        </p:spPr>
        <p:txBody>
          <a:bodyPr wrap="square" anchor="t">
            <a:spAutoFit/>
          </a:bodyPr>
          <a:lstStyle/>
          <a:p>
            <a:pPr algn="l">
              <a:spcAft>
                <a:spcPts val="600"/>
              </a:spcAft>
            </a:pPr>
            <a:r>
              <a:rPr sz="2000" b="1" i="0">
                <a:solidFill>
                  <a:srgbClr val="C62828"/>
                </a:solidFill>
                <a:latin typeface="Courier New"/>
              </a:rPr>
              <a:t>vllm-constrained</a:t>
            </a:r>
            <a:r>
              <a:rPr sz="1600" b="0" i="0">
                <a:solidFill>
                  <a:srgbClr val="6B6B6B"/>
                </a:solidFill>
                <a:latin typeface="Arial"/>
              </a:rPr>
              <a:t>   15% of the GPU</a:t>
            </a:r>
          </a:p>
        </p:txBody>
      </p:sp>
      <p:sp>
        <p:nvSpPr>
          <p:cNvPr id="5" name="Rounded Rectangle 4"/>
          <p:cNvSpPr/>
          <p:nvPr/>
        </p:nvSpPr>
        <p:spPr>
          <a:xfrm>
            <a:off x="403682" y="1670000"/>
            <a:ext cx="2176927" cy="1353076"/>
          </a:xfrm>
          <a:prstGeom prst="roundRect">
            <a:avLst>
              <a:gd name="adj" fmla="val 4000"/>
            </a:avLst>
          </a:prstGeom>
          <a:solidFill>
            <a:srgbClr val="FBE5E5"/>
          </a:solidFill>
          <a:ln>
            <a:noFill/>
          </a:ln>
        </p:spPr>
        <p:txBody>
          <a:bodyPr rtlCol="0" anchor="ctr"/>
          <a:lstStyle/>
          <a:p/>
        </p:txBody>
      </p:sp>
      <p:sp>
        <p:nvSpPr>
          <p:cNvPr id="6" name="Rounded Rectangle 5"/>
          <p:cNvSpPr/>
          <p:nvPr/>
        </p:nvSpPr>
        <p:spPr>
          <a:xfrm>
            <a:off x="463682" y="1730000"/>
            <a:ext cx="469231" cy="586538"/>
          </a:xfrm>
          <a:prstGeom prst="roundRect">
            <a:avLst>
              <a:gd name="adj" fmla="val 15000"/>
            </a:avLst>
          </a:prstGeom>
          <a:solidFill>
            <a:srgbClr val="C62828"/>
          </a:solidFill>
          <a:ln w="12700">
            <a:solidFill>
              <a:srgbClr val="DDDDDD"/>
            </a:solidFill>
          </a:ln>
        </p:spPr>
        <p:txBody>
          <a:bodyPr rtlCol="0" anchor="ctr"/>
          <a:lstStyle/>
          <a:p/>
        </p:txBody>
      </p:sp>
      <p:sp>
        <p:nvSpPr>
          <p:cNvPr id="7" name="Rounded Rectangle 6"/>
          <p:cNvSpPr/>
          <p:nvPr/>
        </p:nvSpPr>
        <p:spPr>
          <a:xfrm>
            <a:off x="992913" y="1730000"/>
            <a:ext cx="469231" cy="586538"/>
          </a:xfrm>
          <a:prstGeom prst="roundRect">
            <a:avLst>
              <a:gd name="adj" fmla="val 15000"/>
            </a:avLst>
          </a:prstGeom>
          <a:solidFill>
            <a:srgbClr val="C62828"/>
          </a:solidFill>
          <a:ln w="12700">
            <a:solidFill>
              <a:srgbClr val="DDDDDD"/>
            </a:solidFill>
          </a:ln>
        </p:spPr>
        <p:txBody>
          <a:bodyPr rtlCol="0" anchor="ctr"/>
          <a:lstStyle/>
          <a:p/>
        </p:txBody>
      </p:sp>
      <p:sp>
        <p:nvSpPr>
          <p:cNvPr id="8" name="Rounded Rectangle 7"/>
          <p:cNvSpPr/>
          <p:nvPr/>
        </p:nvSpPr>
        <p:spPr>
          <a:xfrm>
            <a:off x="1522144" y="1730000"/>
            <a:ext cx="469231" cy="586538"/>
          </a:xfrm>
          <a:prstGeom prst="roundRect">
            <a:avLst>
              <a:gd name="adj" fmla="val 15000"/>
            </a:avLst>
          </a:prstGeom>
          <a:solidFill>
            <a:srgbClr val="C62828"/>
          </a:solidFill>
          <a:ln w="12700">
            <a:solidFill>
              <a:srgbClr val="DDDDDD"/>
            </a:solidFill>
          </a:ln>
        </p:spPr>
        <p:txBody>
          <a:bodyPr rtlCol="0" anchor="ctr"/>
          <a:lstStyle/>
          <a:p/>
        </p:txBody>
      </p:sp>
      <p:sp>
        <p:nvSpPr>
          <p:cNvPr id="9" name="Rounded Rectangle 8"/>
          <p:cNvSpPr/>
          <p:nvPr/>
        </p:nvSpPr>
        <p:spPr>
          <a:xfrm>
            <a:off x="2051375" y="1730000"/>
            <a:ext cx="469231" cy="586538"/>
          </a:xfrm>
          <a:prstGeom prst="roundRect">
            <a:avLst>
              <a:gd name="adj" fmla="val 15000"/>
            </a:avLst>
          </a:prstGeom>
          <a:solidFill>
            <a:srgbClr val="C62828"/>
          </a:solidFill>
          <a:ln w="12700">
            <a:solidFill>
              <a:srgbClr val="DDDDDD"/>
            </a:solidFill>
          </a:ln>
        </p:spPr>
        <p:txBody>
          <a:bodyPr rtlCol="0" anchor="ctr"/>
          <a:lstStyle/>
          <a:p/>
        </p:txBody>
      </p:sp>
      <p:sp>
        <p:nvSpPr>
          <p:cNvPr id="10" name="Rounded Rectangle 9"/>
          <p:cNvSpPr/>
          <p:nvPr/>
        </p:nvSpPr>
        <p:spPr>
          <a:xfrm>
            <a:off x="463682" y="2376538"/>
            <a:ext cx="469231" cy="586538"/>
          </a:xfrm>
          <a:prstGeom prst="roundRect">
            <a:avLst>
              <a:gd name="adj" fmla="val 15000"/>
            </a:avLst>
          </a:prstGeom>
          <a:solidFill>
            <a:srgbClr val="C62828"/>
          </a:solidFill>
          <a:ln w="12700">
            <a:solidFill>
              <a:srgbClr val="DDDDDD"/>
            </a:solidFill>
          </a:ln>
        </p:spPr>
        <p:txBody>
          <a:bodyPr rtlCol="0" anchor="ctr"/>
          <a:lstStyle/>
          <a:p/>
        </p:txBody>
      </p:sp>
      <p:sp>
        <p:nvSpPr>
          <p:cNvPr id="11" name="Rounded Rectangle 10"/>
          <p:cNvSpPr/>
          <p:nvPr/>
        </p:nvSpPr>
        <p:spPr>
          <a:xfrm>
            <a:off x="992913" y="2376538"/>
            <a:ext cx="469231" cy="586538"/>
          </a:xfrm>
          <a:prstGeom prst="roundRect">
            <a:avLst>
              <a:gd name="adj" fmla="val 15000"/>
            </a:avLst>
          </a:prstGeom>
          <a:solidFill>
            <a:srgbClr val="C62828"/>
          </a:solidFill>
          <a:ln w="12700">
            <a:solidFill>
              <a:srgbClr val="DDDDDD"/>
            </a:solidFill>
          </a:ln>
        </p:spPr>
        <p:txBody>
          <a:bodyPr rtlCol="0" anchor="ctr"/>
          <a:lstStyle/>
          <a:p/>
        </p:txBody>
      </p:sp>
      <p:sp>
        <p:nvSpPr>
          <p:cNvPr id="12" name="Rounded Rectangle 11"/>
          <p:cNvSpPr/>
          <p:nvPr/>
        </p:nvSpPr>
        <p:spPr>
          <a:xfrm>
            <a:off x="1522144" y="2376538"/>
            <a:ext cx="469231" cy="586538"/>
          </a:xfrm>
          <a:prstGeom prst="roundRect">
            <a:avLst>
              <a:gd name="adj" fmla="val 15000"/>
            </a:avLst>
          </a:prstGeom>
          <a:solidFill>
            <a:srgbClr val="C62828"/>
          </a:solidFill>
          <a:ln w="12700">
            <a:solidFill>
              <a:srgbClr val="DDDDDD"/>
            </a:solidFill>
          </a:ln>
        </p:spPr>
        <p:txBody>
          <a:bodyPr rtlCol="0" anchor="ctr"/>
          <a:lstStyle/>
          <a:p/>
        </p:txBody>
      </p:sp>
      <p:sp>
        <p:nvSpPr>
          <p:cNvPr id="13" name="Rounded Rectangle 12"/>
          <p:cNvSpPr/>
          <p:nvPr/>
        </p:nvSpPr>
        <p:spPr>
          <a:xfrm>
            <a:off x="2051375" y="2376538"/>
            <a:ext cx="469231" cy="586538"/>
          </a:xfrm>
          <a:prstGeom prst="roundRect">
            <a:avLst>
              <a:gd name="adj" fmla="val 15000"/>
            </a:avLst>
          </a:prstGeom>
          <a:solidFill>
            <a:srgbClr val="C62828"/>
          </a:solidFill>
          <a:ln w="12700">
            <a:solidFill>
              <a:srgbClr val="DDDDDD"/>
            </a:solidFill>
          </a:ln>
        </p:spPr>
        <p:txBody>
          <a:bodyPr rtlCol="0" anchor="ctr"/>
          <a:lstStyle/>
          <a:p/>
        </p:txBody>
      </p:sp>
      <p:sp>
        <p:nvSpPr>
          <p:cNvPr id="14" name="Oval 13"/>
          <p:cNvSpPr/>
          <p:nvPr/>
        </p:nvSpPr>
        <p:spPr>
          <a:xfrm>
            <a:off x="2830609" y="2216538"/>
            <a:ext cx="260000" cy="260000"/>
          </a:xfrm>
          <a:prstGeom prst="ellipse">
            <a:avLst/>
          </a:prstGeom>
          <a:solidFill>
            <a:srgbClr val="B26A00"/>
          </a:solidFill>
          <a:ln>
            <a:noFill/>
          </a:ln>
        </p:spPr>
        <p:txBody>
          <a:bodyPr rtlCol="0" anchor="ctr"/>
          <a:lstStyle/>
          <a:p>
            <a:pPr algn="ctr"/>
          </a:p>
        </p:txBody>
      </p:sp>
      <p:sp>
        <p:nvSpPr>
          <p:cNvPr id="15" name="Oval 14"/>
          <p:cNvSpPr/>
          <p:nvPr/>
        </p:nvSpPr>
        <p:spPr>
          <a:xfrm>
            <a:off x="3160609" y="2216538"/>
            <a:ext cx="260000" cy="260000"/>
          </a:xfrm>
          <a:prstGeom prst="ellipse">
            <a:avLst/>
          </a:prstGeom>
          <a:solidFill>
            <a:srgbClr val="B26A00"/>
          </a:solidFill>
          <a:ln>
            <a:noFill/>
          </a:ln>
        </p:spPr>
        <p:txBody>
          <a:bodyPr rtlCol="0" anchor="ctr"/>
          <a:lstStyle/>
          <a:p>
            <a:pPr algn="ctr"/>
          </a:p>
        </p:txBody>
      </p:sp>
      <p:sp>
        <p:nvSpPr>
          <p:cNvPr id="16" name="Oval 15"/>
          <p:cNvSpPr/>
          <p:nvPr/>
        </p:nvSpPr>
        <p:spPr>
          <a:xfrm>
            <a:off x="3490609" y="2216538"/>
            <a:ext cx="260000" cy="260000"/>
          </a:xfrm>
          <a:prstGeom prst="ellipse">
            <a:avLst/>
          </a:prstGeom>
          <a:solidFill>
            <a:srgbClr val="B26A00"/>
          </a:solidFill>
          <a:ln>
            <a:noFill/>
          </a:ln>
        </p:spPr>
        <p:txBody>
          <a:bodyPr rtlCol="0" anchor="ctr"/>
          <a:lstStyle/>
          <a:p>
            <a:pPr algn="ctr"/>
          </a:p>
        </p:txBody>
      </p:sp>
      <p:sp>
        <p:nvSpPr>
          <p:cNvPr id="17" name="Oval 16"/>
          <p:cNvSpPr/>
          <p:nvPr/>
        </p:nvSpPr>
        <p:spPr>
          <a:xfrm>
            <a:off x="3820609" y="2216538"/>
            <a:ext cx="260000" cy="260000"/>
          </a:xfrm>
          <a:prstGeom prst="ellipse">
            <a:avLst/>
          </a:prstGeom>
          <a:solidFill>
            <a:srgbClr val="B26A00"/>
          </a:solidFill>
          <a:ln>
            <a:noFill/>
          </a:ln>
        </p:spPr>
        <p:txBody>
          <a:bodyPr rtlCol="0" anchor="ctr"/>
          <a:lstStyle/>
          <a:p>
            <a:pPr algn="ctr"/>
          </a:p>
        </p:txBody>
      </p:sp>
      <p:sp>
        <p:nvSpPr>
          <p:cNvPr id="18" name="Oval 17"/>
          <p:cNvSpPr/>
          <p:nvPr/>
        </p:nvSpPr>
        <p:spPr>
          <a:xfrm>
            <a:off x="4150609" y="2216538"/>
            <a:ext cx="260000" cy="260000"/>
          </a:xfrm>
          <a:prstGeom prst="ellipse">
            <a:avLst/>
          </a:prstGeom>
          <a:solidFill>
            <a:srgbClr val="B26A00"/>
          </a:solidFill>
          <a:ln>
            <a:noFill/>
          </a:ln>
        </p:spPr>
        <p:txBody>
          <a:bodyPr rtlCol="0" anchor="ctr"/>
          <a:lstStyle/>
          <a:p>
            <a:pPr algn="ctr"/>
          </a:p>
        </p:txBody>
      </p:sp>
      <p:sp>
        <p:nvSpPr>
          <p:cNvPr id="19" name="TextBox 18"/>
          <p:cNvSpPr txBox="1"/>
          <p:nvPr/>
        </p:nvSpPr>
        <p:spPr>
          <a:xfrm>
            <a:off x="2830609" y="2546538"/>
            <a:ext cx="3015391" cy="500000"/>
          </a:xfrm>
          <a:prstGeom prst="rect">
            <a:avLst/>
          </a:prstGeom>
          <a:noFill/>
        </p:spPr>
        <p:txBody>
          <a:bodyPr wrap="square" anchor="t">
            <a:spAutoFit/>
          </a:bodyPr>
          <a:lstStyle/>
          <a:p>
            <a:pPr algn="l">
              <a:spcAft>
                <a:spcPts val="0"/>
              </a:spcAft>
            </a:pPr>
            <a:r>
              <a:rPr sz="1500" b="1" i="0">
                <a:solidFill>
                  <a:srgbClr val="B26A00"/>
                </a:solidFill>
                <a:latin typeface="Arial"/>
              </a:rPr>
              <a:t>cars circling: requests waiting</a:t>
            </a:r>
          </a:p>
        </p:txBody>
      </p:sp>
      <p:sp>
        <p:nvSpPr>
          <p:cNvPr id="20" name="TextBox 19"/>
          <p:cNvSpPr txBox="1"/>
          <p:nvPr/>
        </p:nvSpPr>
        <p:spPr>
          <a:xfrm>
            <a:off x="6346000" y="1200000"/>
            <a:ext cx="5442318" cy="450000"/>
          </a:xfrm>
          <a:prstGeom prst="rect">
            <a:avLst/>
          </a:prstGeom>
          <a:noFill/>
        </p:spPr>
        <p:txBody>
          <a:bodyPr wrap="square" anchor="t">
            <a:spAutoFit/>
          </a:bodyPr>
          <a:lstStyle/>
          <a:p>
            <a:pPr algn="l">
              <a:spcAft>
                <a:spcPts val="600"/>
              </a:spcAft>
            </a:pPr>
            <a:r>
              <a:rPr sz="2000" b="1" i="0">
                <a:solidFill>
                  <a:srgbClr val="1F5FA8"/>
                </a:solidFill>
                <a:latin typeface="Courier New"/>
              </a:rPr>
              <a:t>vllm-overprov</a:t>
            </a:r>
            <a:r>
              <a:rPr sz="1600" b="0" i="0">
                <a:solidFill>
                  <a:srgbClr val="6B6B6B"/>
                </a:solidFill>
                <a:latin typeface="Arial"/>
              </a:rPr>
              <a:t>   90% of the GPU</a:t>
            </a:r>
          </a:p>
        </p:txBody>
      </p:sp>
      <p:sp>
        <p:nvSpPr>
          <p:cNvPr id="21" name="Rounded Rectangle 20"/>
          <p:cNvSpPr/>
          <p:nvPr/>
        </p:nvSpPr>
        <p:spPr>
          <a:xfrm>
            <a:off x="6346000" y="1670000"/>
            <a:ext cx="5442318" cy="1696971"/>
          </a:xfrm>
          <a:prstGeom prst="roundRect">
            <a:avLst>
              <a:gd name="adj" fmla="val 4000"/>
            </a:avLst>
          </a:prstGeom>
          <a:solidFill>
            <a:srgbClr val="E4EEF8"/>
          </a:solidFill>
          <a:ln>
            <a:noFill/>
          </a:ln>
        </p:spPr>
        <p:txBody>
          <a:bodyPr rtlCol="0" anchor="ctr"/>
          <a:lstStyle/>
          <a:p/>
        </p:txBody>
      </p:sp>
      <p:sp>
        <p:nvSpPr>
          <p:cNvPr id="22" name="Rounded Rectangle 21"/>
          <p:cNvSpPr/>
          <p:nvPr/>
        </p:nvSpPr>
        <p:spPr>
          <a:xfrm>
            <a:off x="6406000" y="1730000"/>
            <a:ext cx="388526" cy="485657"/>
          </a:xfrm>
          <a:prstGeom prst="roundRect">
            <a:avLst>
              <a:gd name="adj" fmla="val 15000"/>
            </a:avLst>
          </a:prstGeom>
          <a:solidFill>
            <a:srgbClr val="1F5FA8"/>
          </a:solidFill>
          <a:ln w="12700">
            <a:solidFill>
              <a:srgbClr val="DDDDDD"/>
            </a:solidFill>
          </a:ln>
        </p:spPr>
        <p:txBody>
          <a:bodyPr rtlCol="0" anchor="ctr"/>
          <a:lstStyle/>
          <a:p/>
        </p:txBody>
      </p:sp>
      <p:sp>
        <p:nvSpPr>
          <p:cNvPr id="23" name="Rounded Rectangle 22"/>
          <p:cNvSpPr/>
          <p:nvPr/>
        </p:nvSpPr>
        <p:spPr>
          <a:xfrm>
            <a:off x="6854526" y="1730000"/>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24" name="Rounded Rectangle 23"/>
          <p:cNvSpPr/>
          <p:nvPr/>
        </p:nvSpPr>
        <p:spPr>
          <a:xfrm>
            <a:off x="7303052" y="1730000"/>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25" name="Rounded Rectangle 24"/>
          <p:cNvSpPr/>
          <p:nvPr/>
        </p:nvSpPr>
        <p:spPr>
          <a:xfrm>
            <a:off x="7751578" y="1730000"/>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26" name="Rounded Rectangle 25"/>
          <p:cNvSpPr/>
          <p:nvPr/>
        </p:nvSpPr>
        <p:spPr>
          <a:xfrm>
            <a:off x="8200104" y="1730000"/>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27" name="Rounded Rectangle 26"/>
          <p:cNvSpPr/>
          <p:nvPr/>
        </p:nvSpPr>
        <p:spPr>
          <a:xfrm>
            <a:off x="8648630" y="1730000"/>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28" name="Rounded Rectangle 27"/>
          <p:cNvSpPr/>
          <p:nvPr/>
        </p:nvSpPr>
        <p:spPr>
          <a:xfrm>
            <a:off x="9097156" y="1730000"/>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29" name="Rounded Rectangle 28"/>
          <p:cNvSpPr/>
          <p:nvPr/>
        </p:nvSpPr>
        <p:spPr>
          <a:xfrm>
            <a:off x="9545682" y="1730000"/>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30" name="Rounded Rectangle 29"/>
          <p:cNvSpPr/>
          <p:nvPr/>
        </p:nvSpPr>
        <p:spPr>
          <a:xfrm>
            <a:off x="9994208" y="1730000"/>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31" name="Rounded Rectangle 30"/>
          <p:cNvSpPr/>
          <p:nvPr/>
        </p:nvSpPr>
        <p:spPr>
          <a:xfrm>
            <a:off x="10442734" y="1730000"/>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32" name="Rounded Rectangle 31"/>
          <p:cNvSpPr/>
          <p:nvPr/>
        </p:nvSpPr>
        <p:spPr>
          <a:xfrm>
            <a:off x="10891260" y="1730000"/>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33" name="Rounded Rectangle 32"/>
          <p:cNvSpPr/>
          <p:nvPr/>
        </p:nvSpPr>
        <p:spPr>
          <a:xfrm>
            <a:off x="11339786" y="1730000"/>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34" name="Rounded Rectangle 33"/>
          <p:cNvSpPr/>
          <p:nvPr/>
        </p:nvSpPr>
        <p:spPr>
          <a:xfrm>
            <a:off x="6406000" y="2275657"/>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35" name="Rounded Rectangle 34"/>
          <p:cNvSpPr/>
          <p:nvPr/>
        </p:nvSpPr>
        <p:spPr>
          <a:xfrm>
            <a:off x="6854526" y="2275657"/>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36" name="Rounded Rectangle 35"/>
          <p:cNvSpPr/>
          <p:nvPr/>
        </p:nvSpPr>
        <p:spPr>
          <a:xfrm>
            <a:off x="7303052" y="2275657"/>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37" name="Rounded Rectangle 36"/>
          <p:cNvSpPr/>
          <p:nvPr/>
        </p:nvSpPr>
        <p:spPr>
          <a:xfrm>
            <a:off x="7751578" y="2275657"/>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38" name="Rounded Rectangle 37"/>
          <p:cNvSpPr/>
          <p:nvPr/>
        </p:nvSpPr>
        <p:spPr>
          <a:xfrm>
            <a:off x="8200104" y="2275657"/>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39" name="Rounded Rectangle 38"/>
          <p:cNvSpPr/>
          <p:nvPr/>
        </p:nvSpPr>
        <p:spPr>
          <a:xfrm>
            <a:off x="8648630" y="2275657"/>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40" name="Rounded Rectangle 39"/>
          <p:cNvSpPr/>
          <p:nvPr/>
        </p:nvSpPr>
        <p:spPr>
          <a:xfrm>
            <a:off x="9097156" y="2275657"/>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41" name="Rounded Rectangle 40"/>
          <p:cNvSpPr/>
          <p:nvPr/>
        </p:nvSpPr>
        <p:spPr>
          <a:xfrm>
            <a:off x="9545682" y="2275657"/>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42" name="Rounded Rectangle 41"/>
          <p:cNvSpPr/>
          <p:nvPr/>
        </p:nvSpPr>
        <p:spPr>
          <a:xfrm>
            <a:off x="9994208" y="2275657"/>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43" name="Rounded Rectangle 42"/>
          <p:cNvSpPr/>
          <p:nvPr/>
        </p:nvSpPr>
        <p:spPr>
          <a:xfrm>
            <a:off x="10442734" y="2275657"/>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44" name="Rounded Rectangle 43"/>
          <p:cNvSpPr/>
          <p:nvPr/>
        </p:nvSpPr>
        <p:spPr>
          <a:xfrm>
            <a:off x="10891260" y="2275657"/>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45" name="Rounded Rectangle 44"/>
          <p:cNvSpPr/>
          <p:nvPr/>
        </p:nvSpPr>
        <p:spPr>
          <a:xfrm>
            <a:off x="11339786" y="2275657"/>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46" name="Rounded Rectangle 45"/>
          <p:cNvSpPr/>
          <p:nvPr/>
        </p:nvSpPr>
        <p:spPr>
          <a:xfrm>
            <a:off x="6406000" y="2821314"/>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47" name="Rounded Rectangle 46"/>
          <p:cNvSpPr/>
          <p:nvPr/>
        </p:nvSpPr>
        <p:spPr>
          <a:xfrm>
            <a:off x="6854526" y="2821314"/>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48" name="Rounded Rectangle 47"/>
          <p:cNvSpPr/>
          <p:nvPr/>
        </p:nvSpPr>
        <p:spPr>
          <a:xfrm>
            <a:off x="7303052" y="2821314"/>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49" name="Rounded Rectangle 48"/>
          <p:cNvSpPr/>
          <p:nvPr/>
        </p:nvSpPr>
        <p:spPr>
          <a:xfrm>
            <a:off x="7751578" y="2821314"/>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50" name="Rounded Rectangle 49"/>
          <p:cNvSpPr/>
          <p:nvPr/>
        </p:nvSpPr>
        <p:spPr>
          <a:xfrm>
            <a:off x="8200104" y="2821314"/>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51" name="Rounded Rectangle 50"/>
          <p:cNvSpPr/>
          <p:nvPr/>
        </p:nvSpPr>
        <p:spPr>
          <a:xfrm>
            <a:off x="8648630" y="2821314"/>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52" name="Rounded Rectangle 51"/>
          <p:cNvSpPr/>
          <p:nvPr/>
        </p:nvSpPr>
        <p:spPr>
          <a:xfrm>
            <a:off x="9097156" y="2821314"/>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53" name="Rounded Rectangle 52"/>
          <p:cNvSpPr/>
          <p:nvPr/>
        </p:nvSpPr>
        <p:spPr>
          <a:xfrm>
            <a:off x="9545682" y="2821314"/>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54" name="Rounded Rectangle 53"/>
          <p:cNvSpPr/>
          <p:nvPr/>
        </p:nvSpPr>
        <p:spPr>
          <a:xfrm>
            <a:off x="9994208" y="2821314"/>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55" name="Rounded Rectangle 54"/>
          <p:cNvSpPr/>
          <p:nvPr/>
        </p:nvSpPr>
        <p:spPr>
          <a:xfrm>
            <a:off x="10442734" y="2821314"/>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56" name="Rounded Rectangle 55"/>
          <p:cNvSpPr/>
          <p:nvPr/>
        </p:nvSpPr>
        <p:spPr>
          <a:xfrm>
            <a:off x="10891260" y="2821314"/>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57" name="Rounded Rectangle 56"/>
          <p:cNvSpPr/>
          <p:nvPr/>
        </p:nvSpPr>
        <p:spPr>
          <a:xfrm>
            <a:off x="11339786" y="2821314"/>
            <a:ext cx="388526" cy="485657"/>
          </a:xfrm>
          <a:prstGeom prst="roundRect">
            <a:avLst>
              <a:gd name="adj" fmla="val 15000"/>
            </a:avLst>
          </a:prstGeom>
          <a:solidFill>
            <a:srgbClr val="FFFFFF"/>
          </a:solidFill>
          <a:ln w="12700">
            <a:solidFill>
              <a:srgbClr val="DDDDDD"/>
            </a:solidFill>
          </a:ln>
        </p:spPr>
        <p:txBody>
          <a:bodyPr rtlCol="0" anchor="ctr"/>
          <a:lstStyle/>
          <a:p/>
        </p:txBody>
      </p:sp>
      <p:sp>
        <p:nvSpPr>
          <p:cNvPr id="58" name="Rounded Rectangle 57"/>
          <p:cNvSpPr/>
          <p:nvPr/>
        </p:nvSpPr>
        <p:spPr>
          <a:xfrm>
            <a:off x="403682" y="3800000"/>
            <a:ext cx="3628212" cy="1450000"/>
          </a:xfrm>
          <a:prstGeom prst="roundRect">
            <a:avLst>
              <a:gd name="adj" fmla="val 8000"/>
            </a:avLst>
          </a:prstGeom>
          <a:solidFill>
            <a:srgbClr val="F3F3F3"/>
          </a:solidFill>
          <a:ln>
            <a:noFill/>
          </a:ln>
        </p:spPr>
        <p:txBody>
          <a:bodyPr rtlCol="0" anchor="ctr"/>
          <a:lstStyle/>
          <a:p/>
        </p:txBody>
      </p:sp>
      <p:sp>
        <p:nvSpPr>
          <p:cNvPr id="59" name="TextBox 58"/>
          <p:cNvSpPr txBox="1"/>
          <p:nvPr/>
        </p:nvSpPr>
        <p:spPr>
          <a:xfrm>
            <a:off x="463682" y="3860000"/>
            <a:ext cx="3508212" cy="1330000"/>
          </a:xfrm>
          <a:prstGeom prst="rect">
            <a:avLst/>
          </a:prstGeom>
          <a:noFill/>
        </p:spPr>
        <p:txBody>
          <a:bodyPr wrap="square" anchor="t" lIns="120000" rIns="120000">
            <a:spAutoFit/>
          </a:bodyPr>
          <a:lstStyle/>
          <a:p>
            <a:pPr algn="l">
              <a:spcAft>
                <a:spcPts val="800"/>
              </a:spcAft>
            </a:pPr>
            <a:r>
              <a:rPr sz="2000" b="1" i="0">
                <a:solidFill>
                  <a:srgbClr val="6B6B6B"/>
                </a:solidFill>
                <a:latin typeface="Arial"/>
              </a:rPr>
              <a:t>GPU memory (DCGM)</a:t>
            </a:r>
          </a:p>
          <a:p>
            <a:pPr algn="l">
              <a:spcAft>
                <a:spcPts val="0"/>
              </a:spcAft>
            </a:pPr>
            <a:r>
              <a:rPr sz="1700" b="0" i="0">
                <a:solidFill>
                  <a:srgbClr val="262626"/>
                </a:solidFill>
                <a:latin typeface="Arial"/>
              </a:rPr>
              <a:t>the size of the car park. Fixed when the pod starts. Flat forever.</a:t>
            </a:r>
          </a:p>
        </p:txBody>
      </p:sp>
      <p:sp>
        <p:nvSpPr>
          <p:cNvPr id="60" name="Rounded Rectangle 59"/>
          <p:cNvSpPr/>
          <p:nvPr/>
        </p:nvSpPr>
        <p:spPr>
          <a:xfrm>
            <a:off x="4281894" y="3800000"/>
            <a:ext cx="3628212" cy="1450000"/>
          </a:xfrm>
          <a:prstGeom prst="roundRect">
            <a:avLst>
              <a:gd name="adj" fmla="val 8000"/>
            </a:avLst>
          </a:prstGeom>
          <a:solidFill>
            <a:srgbClr val="F6E3EA"/>
          </a:solidFill>
          <a:ln>
            <a:noFill/>
          </a:ln>
        </p:spPr>
        <p:txBody>
          <a:bodyPr rtlCol="0" anchor="ctr"/>
          <a:lstStyle/>
          <a:p/>
        </p:txBody>
      </p:sp>
      <p:sp>
        <p:nvSpPr>
          <p:cNvPr id="61" name="TextBox 60"/>
          <p:cNvSpPr txBox="1"/>
          <p:nvPr/>
        </p:nvSpPr>
        <p:spPr>
          <a:xfrm>
            <a:off x="4341894" y="3860000"/>
            <a:ext cx="3508212" cy="1330000"/>
          </a:xfrm>
          <a:prstGeom prst="rect">
            <a:avLst/>
          </a:prstGeom>
          <a:noFill/>
        </p:spPr>
        <p:txBody>
          <a:bodyPr wrap="square" anchor="t" lIns="120000" rIns="120000">
            <a:spAutoFit/>
          </a:bodyPr>
          <a:lstStyle/>
          <a:p>
            <a:pPr algn="l">
              <a:spcAft>
                <a:spcPts val="800"/>
              </a:spcAft>
            </a:pPr>
            <a:r>
              <a:rPr sz="2000" b="1" i="0">
                <a:solidFill>
                  <a:srgbClr val="991346"/>
                </a:solidFill>
                <a:latin typeface="Arial"/>
              </a:rPr>
              <a:t>KV cache % (the log)</a:t>
            </a:r>
          </a:p>
          <a:p>
            <a:pPr algn="l">
              <a:spcAft>
                <a:spcPts val="0"/>
              </a:spcAft>
            </a:pPr>
            <a:r>
              <a:rPr sz="1700" b="0" i="0">
                <a:solidFill>
                  <a:srgbClr val="262626"/>
                </a:solidFill>
                <a:latin typeface="Arial"/>
              </a:rPr>
              <a:t>how many spaces are taken right now. Only the server knows.</a:t>
            </a:r>
          </a:p>
        </p:txBody>
      </p:sp>
      <p:sp>
        <p:nvSpPr>
          <p:cNvPr id="62" name="Rounded Rectangle 61"/>
          <p:cNvSpPr/>
          <p:nvPr/>
        </p:nvSpPr>
        <p:spPr>
          <a:xfrm>
            <a:off x="8160106" y="3800000"/>
            <a:ext cx="3628212" cy="1450000"/>
          </a:xfrm>
          <a:prstGeom prst="roundRect">
            <a:avLst>
              <a:gd name="adj" fmla="val 8000"/>
            </a:avLst>
          </a:prstGeom>
          <a:solidFill>
            <a:srgbClr val="FFF1DC"/>
          </a:solidFill>
          <a:ln>
            <a:noFill/>
          </a:ln>
        </p:spPr>
        <p:txBody>
          <a:bodyPr rtlCol="0" anchor="ctr"/>
          <a:lstStyle/>
          <a:p/>
        </p:txBody>
      </p:sp>
      <p:sp>
        <p:nvSpPr>
          <p:cNvPr id="63" name="TextBox 62"/>
          <p:cNvSpPr txBox="1"/>
          <p:nvPr/>
        </p:nvSpPr>
        <p:spPr>
          <a:xfrm>
            <a:off x="8220106" y="3860000"/>
            <a:ext cx="3508212" cy="1330000"/>
          </a:xfrm>
          <a:prstGeom prst="rect">
            <a:avLst/>
          </a:prstGeom>
          <a:noFill/>
        </p:spPr>
        <p:txBody>
          <a:bodyPr wrap="square" anchor="t" lIns="120000" rIns="120000">
            <a:spAutoFit/>
          </a:bodyPr>
          <a:lstStyle/>
          <a:p>
            <a:pPr algn="l">
              <a:spcAft>
                <a:spcPts val="800"/>
              </a:spcAft>
            </a:pPr>
            <a:r>
              <a:rPr sz="2000" b="1" i="0">
                <a:solidFill>
                  <a:srgbClr val="B26A00"/>
                </a:solidFill>
                <a:latin typeface="Arial"/>
              </a:rPr>
              <a:t>queue / request time</a:t>
            </a:r>
          </a:p>
          <a:p>
            <a:pPr algn="l">
              <a:spcAft>
                <a:spcPts val="0"/>
              </a:spcAft>
            </a:pPr>
            <a:r>
              <a:rPr sz="1700" b="0" i="0">
                <a:solidFill>
                  <a:srgbClr val="262626"/>
                </a:solidFill>
                <a:latin typeface="Arial"/>
              </a:rPr>
              <a:t>cars circling for a space. What the user feels.</a:t>
            </a:r>
          </a:p>
        </p:txBody>
      </p:sp>
      <p:sp>
        <p:nvSpPr>
          <p:cNvPr id="64" name="TextBox 63"/>
          <p:cNvSpPr txBox="1"/>
          <p:nvPr/>
        </p:nvSpPr>
        <p:spPr>
          <a:xfrm>
            <a:off x="403682" y="5650000"/>
            <a:ext cx="11384636" cy="550000"/>
          </a:xfrm>
          <a:prstGeom prst="rect">
            <a:avLst/>
          </a:prstGeom>
          <a:noFill/>
        </p:spPr>
        <p:txBody>
          <a:bodyPr wrap="square" anchor="ctr">
            <a:spAutoFit/>
          </a:bodyPr>
          <a:lstStyle/>
          <a:p>
            <a:pPr algn="l">
              <a:spcAft>
                <a:spcPts val="0"/>
              </a:spcAft>
            </a:pPr>
            <a:r>
              <a:rPr sz="2200" b="1" i="0">
                <a:solidFill>
                  <a:srgbClr val="991346"/>
                </a:solidFill>
                <a:latin typeface="Arial"/>
              </a:rPr>
              <a:t>The GPU exporter reads the size on the sign. The server's log counts the cars.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1700000"/>
            <a:ext cx="11384636" cy="3400000"/>
          </a:xfrm>
          <a:prstGeom prst="rect">
            <a:avLst/>
          </a:prstGeom>
          <a:noFill/>
        </p:spPr>
        <p:txBody>
          <a:bodyPr wrap="square" anchor="ctr">
            <a:spAutoFit/>
          </a:bodyPr>
          <a:lstStyle/>
          <a:p>
            <a:pPr algn="l">
              <a:spcAft>
                <a:spcPts val="1800"/>
              </a:spcAft>
            </a:pPr>
            <a:r>
              <a:rPr sz="5400" b="1" i="0">
                <a:solidFill>
                  <a:srgbClr val="FFFFFF"/>
                </a:solidFill>
                <a:latin typeface="Arial"/>
              </a:rPr>
              <a:t>Appendix</a:t>
            </a:r>
          </a:p>
          <a:p>
            <a:pPr algn="l">
              <a:spcAft>
                <a:spcPts val="0"/>
              </a:spcAft>
            </a:pPr>
            <a:r>
              <a:rPr sz="2200" b="0" i="0">
                <a:solidFill>
                  <a:srgbClr val="FFFFFF"/>
                </a:solidFill>
                <a:latin typeface="Arial"/>
              </a:rPr>
              <a:t>Backup slides for Q&amp;A: GPU counters, prefill vs decode, DCGM per pod, the log fields, the join row, Auto Mode gotcha, where this is going.</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2019-07-29T21:37:05Z</dcterms:created>
  <dc:creator>Alex Contini</dc:creator>
</cp:coreProperties>
</file>