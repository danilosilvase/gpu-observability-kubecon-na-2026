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8" r:id="rId7"/>
    <p:sldId id="259" r:id="rId8"/>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Lst>
  <p:sldSz cy="6858000" cx="12192000"/>
  <p:notesSz cx="6858000" cy="9144000"/>
  <p:embeddedFontLst>
    <p:embeddedFont>
      <p:font typeface="Montserrat"/>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g4BA/UZBL+y+GJRU4m7UPD850u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7" Type="http://schemas.openxmlformats.org/officeDocument/2006/relationships/slide" Target="slides/slide3.xml"/><Relationship Id="rId8" Type="http://schemas.openxmlformats.org/officeDocument/2006/relationships/slide" Target="slides/slide4.xml"/><Relationship Id="rId10" Type="http://schemas.openxmlformats.org/officeDocument/2006/relationships/font" Target="fonts/Montserrat-regular.fntdata"/><Relationship Id="rId11" Type="http://schemas.openxmlformats.org/officeDocument/2006/relationships/font" Target="fonts/Montserrat-bold.fntdata"/><Relationship Id="rId12" Type="http://schemas.openxmlformats.org/officeDocument/2006/relationships/font" Target="fonts/Montserrat-italic.fntdata"/><Relationship Id="rId13" Type="http://schemas.openxmlformats.org/officeDocument/2006/relationships/font" Target="fonts/Montserrat-boldItalic.fntdata"/><Relationship Id="rId14" Type="http://customschemas.google.com/relationships/presentationmetadata" Target="metadata"/><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4: GPU MEMORY IS A SETTING, NOT A SIGNAL</a:t>
            </a:r>
          </a:p>
          <a:p>
            <a:r>
              <a:t>2:00 to 3:30 | HENRIQUE | 4 clicks: the four tiles, the GPU memory line draws, load starts (bars climb, "92%, flat" pops by itself), the sentence</a:t>
            </a:r>
          </a:p>
          <a:p/>
          <a:p>
            <a:r>
              <a:t>[click] These are the four we all watch: CPU, memory, network, disk. They measure resources on the node and in the container, and that's useful. [PAUSE] But none of them sees the server's queue.</a:t>
            </a:r>
          </a:p>
          <a:p/>
          <a:p>
            <a:r>
              <a:t>[click] So we add GPU memory. vLLM takes 92% of it at startup, by default. [click] Now the load starts. Requests pile up. [PAUSE] [EMPHASIS] And the line doesn't move.</a:t>
            </a:r>
          </a:p>
          <a:p/>
          <a:p>
            <a:r>
              <a:t>[click] [SLOWLY] GPU memory is a setting, not a signal. Busy or idle, it stays put. So the chart we page on can't tell a struggling server from a quiet one.</a:t>
            </a:r>
          </a:p>
          <a:p/>
          <a:p>
            <a:r>
              <a:t>SOURCE: vLLM default gpu_memory_utilization = 0.92 (vllm/config/cache.py, vLLM main, checked Oct 2026). vLLM pre-allocates that share at startup for weights, activations and the KV cache, so used memory (DCGM_FI_DEV_FB_USED, demo screen 1) stays flat under load. The request bars are illustrative (shape only, not measured values); the flat line is what demo screen 1 shows. The slide does not say CPU or memory metrics are useless; only that they do not see the inference queue.</a:t>
            </a:r>
          </a:p>
          <a:p>
            <a:r>
              <a:t>[IF ASKED]</a:t>
            </a:r>
          </a:p>
          <a:p>
            <a:r>
              <a:t>- What about GPU utilisation? Hidden slide 15.</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3: WHICH ONE IS IN TROUBLE?</a:t>
            </a:r>
          </a:p>
          <a:p>
            <a:r>
              <a:t>0:30 to 2:00 | HENRIQUE | 3 clicks: Pod A (ring sweeps to 8%), Pod B (ring sweeps to 90%, then the "same" chips pop in), the vote</a:t>
            </a:r>
          </a:p>
          <a:p/>
          <a:p>
            <a:r>
              <a:t>Two vLLM pods. Same model, same GPU type, same traffic. [click] One reserved 8% of GPU memory. [click] The other, 90%. [PAUSE]</a:t>
            </a:r>
          </a:p>
          <a:p/>
          <a:p>
            <a:r>
              <a:t>[click] [SLOWLY] Which one is in trouble? Hands up for 8%. For 90%. For both. And who can't tell from here? (count roughly, out loud)</a:t>
            </a:r>
          </a:p>
          <a:p/>
          <a:p>
            <a:r>
              <a:t>[EMPHASIS] Hold that. Danilo will answer it live.</a:t>
            </a:r>
          </a:p>
          <a:p/>
          <a:p>
            <a:r>
              <a:t>One thing to say now: this is a test cluster we built for this talk, not a customer system.</a:t>
            </a:r>
          </a:p>
          <a:p/>
          <a:p>
            <a:r>
              <a:t>SOURCE: manifests/20-vllm/vllm.yaml: vllm-constrained --gpu-memory-utilization=0.08, vllm-overprov 0.90, same model and server (facebook/opt-125m, vLLM v0.30.0). manifests/20-vllm/loadgen-job.yaml: same traffic to both pods. The percentage is the vLLM setting, a share of the GPU's total memory. Do NOT reveal the answer here.</a:t>
            </a:r>
          </a:p>
          <a:p>
            <a:r>
              <a:t>[IF ASKED]</a:t>
            </a:r>
          </a:p>
          <a:p>
            <a:r>
              <a:t>- Which model? facebook/opt-125m, a small model, so the cache fills on one A10G with modest traffic. We did not measure bigger models; the mechanism (a fixed pool that fills) does not depend on model size, the numbers do.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SLIDE 1: WALK-IN</a:t>
            </a:r>
          </a:p>
          <a:p>
            <a:r>
              <a:t>Before 0:00 | nobody | no clicks</a:t>
            </a:r>
          </a:p>
          <a:p/>
          <a:p>
            <a:r>
              <a:t>Up while people sit down. No script.</a:t>
            </a:r>
          </a:p>
          <a:p/>
          <a:p>
            <a:r>
              <a:t>SOURCE: Observability Day NA 2026 branded template.</a:t>
            </a:r>
          </a:p>
        </p:txBody>
      </p:sp>
      <p:sp>
        <p:nvSpPr>
          <p:cNvPr id="73" name="Google Shape;7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SLIDE 2: TITLE</a:t>
            </a:r>
          </a:p>
          <a:p>
            <a:r>
              <a:t>0:00 to 0:30 | HENRIQUE | no clicks</a:t>
            </a:r>
          </a:p>
          <a:p/>
          <a:p>
            <a:r>
              <a:t>Hi everyone, I'm Henrique, and this is Danilo. We both work at AWS. [PAUSE]</a:t>
            </a:r>
          </a:p>
          <a:p/>
          <a:p>
            <a:r>
              <a:t>We have twenty minutes: one question for you, a live demo, and then your questions.</a:t>
            </a:r>
          </a:p>
          <a:p/>
          <a:p>
            <a:r>
              <a:t>(Danilo: terminal open with demo/load.sh typed, not run. Grafana screen 1 in the next app.)</a:t>
            </a:r>
          </a:p>
          <a:p/>
          <a:p>
            <a:r>
              <a:t>SOURCE: Title is the accepted abstract title, verbatim (ABSTRACT.md).</a:t>
            </a:r>
          </a:p>
        </p:txBody>
      </p:sp>
      <p:sp>
        <p:nvSpPr>
          <p:cNvPr id="77" name="Google Shape;7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5: WHAT RUNS OUT FIRST: ROOM FOR REQUESTS IN FLIGHT</a:t>
            </a:r>
          </a:p>
          <a:p>
            <a:r>
              <a:t>3:30 to 6:00 | HENRIQUE | 5 clicks: the GPU, the pool fills, the queue grows, the table, the punchline (the caption under the GPU appears by itself)</a:t>
            </a:r>
          </a:p>
          <a:p/>
          <a:p>
            <a:r>
              <a:t>[click] Here's one GPU, the way vLLM uses it. The model weights, a little extra, and most of that 92% goes to the KV cache: the server's working memory for requests in flight. One flag sets its size: gpu-memory-utilization.</a:t>
            </a:r>
          </a:p>
          <a:p/>
          <a:p>
            <a:r>
              <a:t>[click] The easiest way to think about it is a connection pool. You set the size. Every request holds a slot while it runs. [click] When every slot is taken, new requests wait. [PAUSE]</a:t>
            </a:r>
          </a:p>
          <a:p/>
          <a:p>
            <a:r>
              <a:t>[click] And it fails the way a pool fails. [EMPHASIS] Latency climbs, and nothing else on the dashboard looks wrong. CPU fine. GPU memory flat.</a:t>
            </a:r>
          </a:p>
          <a:p/>
          <a:p>
            <a:r>
              <a:t>[click] The good news: vLLM tells you how full it is, every ten seconds, in a log line you already ship.</a:t>
            </a:r>
          </a:p>
          <a:p/>
          <a:p>
            <a:r>
              <a:t>(Do not name a pod here. The demo answers the vote.)</a:t>
            </a:r>
          </a:p>
          <a:p/>
          <a:p>
            <a:r>
              <a:t>SOURCE: KV cache = the attention keys and values held for every request in flight (vLLM docs, PagedAttention). The pool analogy is ours. It holds for "fixed size, set by you, full means waiting". It breaks on preemption: vLLM can evict a running request to make room, a connection pool does not. vLLM V1 prints the stats line every 10 s while the engine is busy (vllm/v1/metrics/loggers.py). Intro structure credit: Jimmy Song (footer).</a:t>
            </a:r>
          </a:p>
          <a:p>
            <a:r>
              <a:t>[IF ASKED]</a:t>
            </a:r>
          </a:p>
          <a:p>
            <a:r>
              <a:t>- Does vLLM preempt? Yes. When the cache is full it can preempt running requests and recompute them later; the stats line then shows a preemption count.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6: LIVE DEMO</a:t>
            </a:r>
          </a:p>
          <a:p>
            <a:r>
              <a:t>6:00 to 15:00 | HENRIQUE hands over, DANILO drives | no clicks, the strip builds by itself</a:t>
            </a:r>
          </a:p>
          <a:p/>
          <a:p>
            <a:r>
              <a:t>HENRIQUE: [SLOWLY] Is 8% too low? Is 90% too high? [PAUSE] Danilo, which one is in trouble?</a:t>
            </a:r>
          </a:p>
          <a:p/>
          <a:p>
            <a:r>
              <a:t>DANILO: Cmd+Tab to Grafana screen 1. Run demo/load.sh on camera. Follow DEMO-SCRIPT.md. Same strip on every screen: 1 GPU, 2 Log, 3 Trace, 4 Answer.</a:t>
            </a:r>
          </a:p>
          <a:p/>
          <a:p>
            <a:r>
              <a:t>OUT: after screen 4, Cmd+Tab back here and advance (lands on slide 8, slide 7 is hidden).</a:t>
            </a:r>
          </a:p>
          <a:p>
            <a:r>
              <a:t>RIG DEAD: play deck/video/gpu-obs-demo-v8-clean.mp4 on this laptop, Space to pause, same lines.</a:t>
            </a:r>
          </a:p>
          <a:p>
            <a:r>
              <a:t>VIDEO DEAD TOO: type 7 + Enter for the hidden backup.</a:t>
            </a:r>
          </a:p>
          <a:p/>
          <a:p>
            <a:r>
              <a:t>SOURCE: live cluster gpu-obs-demo (EKS, eu-central-1), two g5.xlarge nodes, one A10G each. Dashboards gpu-walk-1 to 4 (manifests/60-grafana/build_walkthrough.py). Load: demo/load.sh, 20 minutes, equal traffic.</a:t>
            </a:r>
          </a:p>
          <a:p>
            <a:r>
              <a:t>[IF ASKED]</a:t>
            </a:r>
          </a:p>
          <a:p>
            <a:r>
              <a:t>- Is it really live? Yes. The load starts on screen 1; Pod A's cache fills about 68 s later.</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7: BACKUP, WHAT SCREEN 4 SHOWED (HIDDEN)</a:t>
            </a:r>
          </a:p>
          <a:p>
            <a:r>
              <a:t>Only if the rig is down AND the video will not play | DANILO</a:t>
            </a:r>
          </a:p>
          <a:p/>
          <a:p>
            <a:r>
              <a:t>Here's what screen 4 showed when we recorded it. [point] Red, 8%: memory-constrained. 2.0 GB of GPU memory, cache at 100%, 5.9 seconds to the first token. [PAUSE] Blue, 90%: over-provisioned. 20.6 GB held, cache at about 30%, 80 milliseconds.</a:t>
            </a:r>
          </a:p>
          <a:p/>
          <a:p>
            <a:r>
              <a:t>SOURCE: screenshot of gpu-walk-4 from the 16 Oct 2026 recording (deck/video/gpu-obs-demo-v8.mp4): facebook/opt-125m on vLLM v0.30.0, one A10G (g5.xlarge) per pod, equal traffic (192 long requests at a time per pod, unique prompts).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8: WHAT BROKE WHILE WE BUILT IT</a:t>
            </a:r>
          </a:p>
          <a:p>
            <a:r>
              <a:t>15:00 to 17:30 | HENRIQUE | 3 clicks, one story each | CUT RULE: if this slide starts after 16:30, skip "An unfair test"</a:t>
            </a:r>
          </a:p>
          <a:p/>
          <a:p>
            <a:r>
              <a:t>[SLOWLY] Our first load test didn't stress anything. [PAUSE]</a:t>
            </a:r>
          </a:p>
          <a:p/>
          <a:p>
            <a:r>
              <a:t>[click] We sent the same prompt over and over. vLLM noticed, shared the cache between them, and nothing filled up. It took a unique prefix on every prompt to make it struggle. [EMPHASIS] A load test with repeated prompts is lying to you.</a:t>
            </a:r>
          </a:p>
          <a:p/>
          <a:p>
            <a:r>
              <a:t>[click] Cardinality. We put the pod name on every GPU metric, because that's the join key. Fourteen series when we started. Fifty-six after three rollouts. Every restart mints a new set, and Prometheus keeps the old ones until retention ends.</a:t>
            </a:r>
          </a:p>
          <a:p/>
          <a:p>
            <a:r>
              <a:t>[click] And an unfair test. Our first comparison sent more traffic to one pod: 12 seconds against 0.13. Too good to be true. Same traffic to both: 5.9 seconds against 0.08. Test with your own traffic.</a:t>
            </a:r>
          </a:p>
          <a:p/>
          <a:p>
            <a:r>
              <a:t>SOURCE: prefix caching: vLLM automatic prefix caching shares KV blocks across identical prefixes; the loadgen now starts every prompt with a uuid (manifests/20-vllm/loadgen-job.yaml). Cardinality: manifests/50-prometheus/CARDINALITY-DEMO.md, measured 13 Oct 2026, 7 DCGM counters x 2 GPUs = 14 series, 56 after 3 rollouts (8 pod names seen). Unfair test: an earlier run with unequal traffic; the equal-traffic numbers are from the 16 Oct recording. 14 and 56 are for our 7 counters; with the default counter set the multiplier is the same, the totals are bigger.</a:t>
            </a:r>
          </a:p>
          <a:p>
            <a:r>
              <a:t>[IF ASKED]</a:t>
            </a:r>
          </a:p>
          <a:p>
            <a:r>
              <a:t>- How do you keep cardinality down? Hidden slide 16.</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9: WHO VOTED BOTH? YOU WERE RIGHT.</a:t>
            </a:r>
          </a:p>
          <a:p>
            <a:r>
              <a:t>17:30 to 18:00 | HENRIQUE | the cards come in by themselves; 3 clicks: Pod A verdict, Pod B verdict, the takeaway</a:t>
            </a:r>
          </a:p>
          <a:p/>
          <a:p>
            <a:r>
              <a:t>[SLOWLY] Who voted both? [PAUSE] You were right.</a:t>
            </a:r>
          </a:p>
          <a:p/>
          <a:p>
            <a:r>
              <a:t>[click] Pod A, at 8%, was too small. The cache hit 100%, and new requests waited almost six seconds for the first token. [click] Pod B, at 90%, was too big. Its cache never got past about 30%. Twenty gigabytes held, mostly empty.</a:t>
            </a:r>
          </a:p>
          <a:p/>
          <a:p>
            <a:r>
              <a:t>[click] [EMPHASIS] GPU memory can't tell you an inference server is in trouble. Read the server's own signal.</a:t>
            </a:r>
          </a:p>
          <a:p/>
          <a:p>
            <a:r>
              <a:t>SOURCE: screen 4 of the 16 Oct 2026 recording (deck/video/gpu-obs-demo-v8.mp4): facebook/opt-125m on vLLM v0.30.0, one A10G (g5.xlarge) per pod, equal traffic (192 long requests at a time per pod, unique prompts). Pod A 2.0 GB, peak cache 100%, 5.9 s to first token. Pod B 20.6 GB, peak about 30%, about 0.08 s. These numbers are for this model and this traffic; they do not predict your latency.</a:t>
            </a:r>
          </a:p>
          <a:p>
            <a:r>
              <a:t>[IF ASKED]</a:t>
            </a:r>
          </a:p>
          <a:p>
            <a:r>
              <a:t>- Is "too big" really trouble? Not for latency. It is memory reserved at startup and never used. Hidden slide 14.</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10: THREE LINES OF CONFIG, ONE JOIN KEY</a:t>
            </a:r>
          </a:p>
          <a:p>
            <a:r>
              <a:t>18:00 to 18:45 | HENRIQUE | 4 clicks: dcgm, Fluent Bit, OTel, the join (the caption appears by itself)</a:t>
            </a:r>
          </a:p>
          <a:p/>
          <a:p>
            <a:r>
              <a:t>Everything you saw comes down to three lines of config. One per tool, nothing exotic.</a:t>
            </a:r>
          </a:p>
          <a:p/>
          <a:p>
            <a:r>
              <a:t>[click] dcgm-exporter in Kubernetes mode asks the kubelet which pod owns each GPU. [click] Fluent Bit reads vLLM's log and pulls out the cache number. [click] And the OpenTelemetry Collector tags every trace with the pod it came from. [PAUSE]</a:t>
            </a:r>
          </a:p>
          <a:p/>
          <a:p>
            <a:r>
              <a:t>[click] [EMPHASIS] The trick is the join. Every signal carries the pod name. That's what let Danilo go from the GPU, to the log, to the trace, for the same pod.</a:t>
            </a:r>
          </a:p>
          <a:p/>
          <a:p>
            <a:r>
              <a:t>SOURCE: manifests/10-gpu-metrics/dcgm-exporter.yaml (--kubernetes=true reads the kubelet pod-resources API; dcgm-exporter 4.8.4). manifests/30-logs/fluent-bit.yaml (Lua string.match on "KV cache usage"; Fluent Bit 5.1.3). manifests/40-traces/otel-collector.yaml (k8sattributes, pod name from the sender's IP; collector-contrib 0.111.0). vLLM also exports the cache on /metrics (vllm:kv_cache_usage_perc); the log path is the technique for servers that only log it, and demo screen 2 cross-checks the two.</a:t>
            </a:r>
          </a:p>
          <a:p>
            <a:r>
              <a:t>[IF ASKED]</a:t>
            </a:r>
          </a:p>
          <a:p>
            <a:r>
              <a:t>- Why the log if /metrics exists? Hidden slide 13.</a:t>
            </a:r>
          </a:p>
          <a:p>
            <a:r>
              <a:t>- The pod name on GPU metrics is the cardinality cost from slide 8.</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11: SIZE IT FROM PEAK KV CACHE</a:t>
            </a:r>
          </a:p>
          <a:p>
            <a:r>
              <a:t>18:45 to 19:30 | HENRIQUE | 4 clicks: the gauge, Pod A lands, Pod B lands, the three steps (caveat and repo appear by themselves)</a:t>
            </a:r>
          </a:p>
          <a:p/>
          <a:p>
            <a:r>
              <a:t>So how do you size it? Not from GPU memory. [click] From peak KV cache, under your own traffic. Below 40%, you reserved memory you don't use. Above 90%, requests start to queue. In between, you have room for a burst.</a:t>
            </a:r>
          </a:p>
          <a:p/>
          <a:p>
            <a:r>
              <a:t>[click] Pod A landed here, at 100%. [click] Pod B, here, at about 30%. [PAUSE]</a:t>
            </a:r>
          </a:p>
          <a:p/>
          <a:p>
            <a:r>
              <a:t>[click] Three steps for Monday. Measure the peak. Change gpu-memory-utilization. Measure again.</a:t>
            </a:r>
          </a:p>
          <a:p/>
          <a:p>
            <a:r>
              <a:t>[EMPHASIS] The 40 and the 90 are our rule of thumb, not vLLM's. Use the method, not our numbers. Everything is in the repo.</a:t>
            </a:r>
          </a:p>
          <a:p/>
          <a:p>
            <a:r>
              <a:t>SOURCE: the bands are our own heuristic from this rig (one model, one GPU type, our traffic); vLLM publishes no threshold. Pod markers from the 16 Oct recording. Repo: github.com/danilosilvase/gpu-observability-kubecon-na-2026 (all manifests, Terraform, dashboards).</a:t>
            </a:r>
          </a:p>
          <a:p>
            <a:r>
              <a:t>[IF ASKED]</a:t>
            </a:r>
          </a:p>
          <a:p>
            <a:r>
              <a:t>- Why 90 and not 100? Above about 90% a burst fills the rest and requests queue. Our pick, not a vLLM number.</a:t>
            </a:r>
          </a:p>
          <a:p>
            <a:r>
              <a:t>- Why not just 0.90 everywhere? Hidden slide 14.</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12: QUESTIONS</a:t>
            </a:r>
          </a:p>
          <a:p>
            <a:r>
              <a:t>19:30 to 25:00 | BOTH | no clicks; leave up for all of Q&amp;A (feedback QR)</a:t>
            </a:r>
          </a:p>
          <a:p/>
          <a:p>
            <a:r>
              <a:t>Thank you. [PAUSE] The code on screen is the session feedback; it really helps us. [PAUSE] Questions?</a:t>
            </a:r>
          </a:p>
          <a:p/>
          <a:p>
            <a:r>
              <a:t>HIDDEN ANSWERS (in Slideshow, type the number + Enter):</a:t>
            </a:r>
          </a:p>
          <a:p>
            <a:r>
              <a:t>- 13: Why parse the log if vLLM has /metrics?</a:t>
            </a:r>
          </a:p>
          <a:p>
            <a:r>
              <a:t>- 14: Why not set 0.90 everywhere?</a:t>
            </a:r>
          </a:p>
          <a:p>
            <a:r>
              <a:t>- 15: What about GPU utilisation?</a:t>
            </a:r>
          </a:p>
          <a:p>
            <a:r>
              <a:t>- 16: How much does the pod name cost?</a:t>
            </a:r>
          </a:p>
          <a:p>
            <a:r>
              <a:t>- 7: what screen 4 showed</a:t>
            </a:r>
          </a:p>
          <a:p>
            <a:r>
              <a:t>Deep dive: Grafana dashboard gpu-inference-deep (cardinality panel) on Danilo's laptop.</a:t>
            </a:r>
          </a:p>
          <a:p/>
          <a:p>
            <a:r>
              <a:t>TODO before the talk: replace [original author].</a:t>
            </a:r>
          </a:p>
          <a:p/>
          <a:p>
            <a:r>
              <a:t>SOURCE: feedback QR from the organisers.</a:t>
            </a:r>
          </a:p>
          <a:p>
            <a:r>
              <a:t>[IF ASKED]</a:t>
            </a:r>
          </a:p>
          <a:p>
            <a:r>
              <a:t>- Does this need EKS? No. The three configs are plain Kubernetes. We only tested on EKS Auto Mode with A10G.</a:t>
            </a:r>
          </a:p>
          <a:p>
            <a:r>
              <a:t>- Other servers (TGI, SGLang, Triton)? We only tested vLLM. The method carries over if the server reports its cache usage, in a log line or on a metrics endpoint.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13 (HIDDEN, Q&amp;A): WHY PARSE THE LOG IF VLLM HAS /METRICS?</a:t>
            </a:r>
          </a:p>
          <a:p>
            <a:r>
              <a:t>Q&amp;A only | DANILO</a:t>
            </a:r>
          </a:p>
          <a:p/>
          <a:p>
            <a:r>
              <a:t>Fair question. [PAUSE] vLLM does export it on /metrics, and if you can scrape it, do. We do too: screen 2 of the demo puts the two side by side, and they match.</a:t>
            </a:r>
          </a:p>
          <a:p/>
          <a:p>
            <a:r>
              <a:t>We show the log path because Fluent Bit already reads every pod's log, so there's no new scrape target, and the same few lines of Lua work on any server that prints its cache usage, even one that doesn't export it.</a:t>
            </a:r>
          </a:p>
          <a:p/>
          <a:p>
            <a:r>
              <a:t>SOURCE: README.md ("vLLM exposes KV cache %, waiting and queue time natively on /metrics. The Fluent Bit Lua + log_to_metrics path demonstrates the technique for servers that do not"). gpu-walk-2 plots log_kv_cache_usage_pct (log) against vllm:kv_cache_usage_perc (/metrics). The log line arrives every 10 s, so it is coarser than a scrape.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14 (HIDDEN, Q&amp;A): WHY NOT SET 0.90 EVERYWHERE?</a:t>
            </a:r>
          </a:p>
          <a:p>
            <a:r>
              <a:t>Q&amp;A only | HENRIQUE</a:t>
            </a:r>
          </a:p>
          <a:p/>
          <a:p>
            <a:r>
              <a:t>The default is already 0.92, so most of us run there without choosing to. [PAUSE]</a:t>
            </a:r>
          </a:p>
          <a:p/>
          <a:p>
            <a:r>
              <a:t>If one pod owns one GPU and nothing else will ever run on it, 0.90 is fine. You've paid for headroom. [EMPHASIS] The cost shows up when GPUs are shared: the memory is reserved at startup, used or not. Pod B held 20.6 GB, and its cache used about a third.</a:t>
            </a:r>
          </a:p>
          <a:p/>
          <a:p>
            <a:r>
              <a:t>So size from the peak, and give the rest back to the next pod.</a:t>
            </a:r>
          </a:p>
          <a:p/>
          <a:p>
            <a:r>
              <a:t>SOURCE: vllm/config/cache.py default 0.92. Pod B numbers from the 16 Oct 2026 recording (deck/video/gpu-obs-demo-v8.mp4): facebook/opt-125m on vLLM v0.30.0, one A10G (g5.xlarge) per pod, equal traffic (192 long requests at a time per pod, unique prompts). Sharing a GPU between pods needs time-slicing, MPS or MIG; we did not test sharing on this rig.</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15 (HIDDEN, Q&amp;A): WHAT ABOUT GPU UTILISATION?</a:t>
            </a:r>
          </a:p>
          <a:p>
            <a:r>
              <a:t>Q&amp;A only | DANILO</a:t>
            </a:r>
          </a:p>
          <a:p/>
          <a:p>
            <a:r>
              <a:t>GPU utilisation has a precise meaning: the share of time at least one kernel was running. [PAUSE] So one busy kernel reads as 100%, and a server that's waiting on memory looks the same as one that's flat out.</a:t>
            </a:r>
          </a:p>
          <a:p/>
          <a:p>
            <a:r>
              <a:t>The profiling fields say more: how many SMs are active, how busy the memory bus is, whether the tensor cores are working. We scrape two of them. [EMPHASIS] But none of them knows about the queue. That lives in the server.</a:t>
            </a:r>
          </a:p>
          <a:p/>
          <a:p>
            <a:r>
              <a:t>SOURCE: NVML nvmlUtilization_t: "percent of time over the past sample period during which one or more kernels was executing on the GPU" (DCGM_FI_DEV_GPU_UTIL). manifests/10-gpu-metrics/dcgm-exporter.yaml scrapes DCGM_FI_DEV_GPU_UTIL, DCGM_FI_PROF_SM_ACTIVE, DCGM_FI_PROF_DRAM_ACTIVE on the A10G. Profiling fields need a GPU and driver that support DCGM profiling.</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SLIDE 16 (HIDDEN, Q&amp;A): HOW MUCH DOES THE POD NAME COST?</a:t>
            </a:r>
          </a:p>
          <a:p>
            <a:r>
              <a:t>Q&amp;A only | DANILO</a:t>
            </a:r>
          </a:p>
          <a:p/>
          <a:p>
            <a:r>
              <a:t>It costs one new set of series every time a pod restarts. [PAUSE] Fourteen series on our two GPUs, fifty-six after three rollouts. Same two GPUs, four times the series, until retention drops the old ones.</a:t>
            </a:r>
          </a:p>
          <a:p/>
          <a:p>
            <a:r>
              <a:t>So keep the pod name, because it's the join key, and drop everything else that churns: no pod labels, a short counter list, short retention for per-pod data.</a:t>
            </a:r>
          </a:p>
          <a:p/>
          <a:p>
            <a:r>
              <a:t>SOURCE: manifests/50-prometheus/CARDINALITY-DEMO.md, measured 13 Oct 2026: 7 counters x 2 GPUs = 14 live, 56 after 3 rollouts (8 pod names seen). Fix shipped: --kubernetes=true, DCGM_EXPORTER_KUBERNETES_ENABLE_POD_LABELS=false, 7 counters in counters.csv (default set is about 40), retention 6h. Reproduce: rollout restart both deployments a few times, then demo/cardinality.sh.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rgbClr val="991346"/>
        </a:solidFill>
      </p:bgPr>
    </p:bg>
    <p:spTree>
      <p:nvGrpSpPr>
        <p:cNvPr id="11" name="Shape 11"/>
        <p:cNvGrpSpPr/>
        <p:nvPr/>
      </p:nvGrpSpPr>
      <p:grpSpPr>
        <a:xfrm>
          <a:off x="0" y="0"/>
          <a:ext cx="0" cy="0"/>
          <a:chOff x="0" y="0"/>
          <a:chExt cx="0" cy="0"/>
        </a:xfrm>
      </p:grpSpPr>
      <p:pic>
        <p:nvPicPr>
          <p:cNvPr id="12" name="Google Shape;12;p8"/>
          <p:cNvPicPr preferRelativeResize="0"/>
          <p:nvPr/>
        </p:nvPicPr>
        <p:blipFill rotWithShape="1">
          <a:blip r:embed="rId2">
            <a:alphaModFix/>
          </a:blip>
          <a:srcRect b="0" l="0" r="0" t="0"/>
          <a:stretch/>
        </p:blipFill>
        <p:spPr>
          <a:xfrm>
            <a:off x="1403927" y="278179"/>
            <a:ext cx="9384146" cy="609845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991346"/>
        </a:solidFill>
      </p:bgPr>
    </p:bg>
    <p:spTree>
      <p:nvGrpSpPr>
        <p:cNvPr id="13" name="Shape 13"/>
        <p:cNvGrpSpPr/>
        <p:nvPr/>
      </p:nvGrpSpPr>
      <p:grpSpPr>
        <a:xfrm>
          <a:off x="0" y="0"/>
          <a:ext cx="0" cy="0"/>
          <a:chOff x="0" y="0"/>
          <a:chExt cx="0" cy="0"/>
        </a:xfrm>
      </p:grpSpPr>
      <p:pic>
        <p:nvPicPr>
          <p:cNvPr id="14" name="Google Shape;14;p9"/>
          <p:cNvPicPr preferRelativeResize="0"/>
          <p:nvPr/>
        </p:nvPicPr>
        <p:blipFill rotWithShape="1">
          <a:blip r:embed="rId2">
            <a:alphaModFix/>
          </a:blip>
          <a:srcRect b="0" l="0" r="0" t="0"/>
          <a:stretch/>
        </p:blipFill>
        <p:spPr>
          <a:xfrm>
            <a:off x="8982742" y="-281699"/>
            <a:ext cx="2977544" cy="193500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chemeClr val="lt1"/>
        </a:solidFill>
      </p:bgPr>
    </p:bg>
    <p:spTree>
      <p:nvGrpSpPr>
        <p:cNvPr id="15" name="Shape 15"/>
        <p:cNvGrpSpPr/>
        <p:nvPr/>
      </p:nvGrpSpPr>
      <p:grpSpPr>
        <a:xfrm>
          <a:off x="0" y="0"/>
          <a:ext cx="0" cy="0"/>
          <a:chOff x="0" y="0"/>
          <a:chExt cx="0" cy="0"/>
        </a:xfrm>
      </p:grpSpPr>
      <p:pic>
        <p:nvPicPr>
          <p:cNvPr descr="Graphical user interface&#10;&#10;Description automatically generated with medium confidence" id="16" name="Google Shape;16;p11"/>
          <p:cNvPicPr preferRelativeResize="0"/>
          <p:nvPr/>
        </p:nvPicPr>
        <p:blipFill rotWithShape="1">
          <a:blip r:embed="rId2">
            <a:alphaModFix/>
          </a:blip>
          <a:srcRect b="0" l="0" r="0" t="0"/>
          <a:stretch/>
        </p:blipFill>
        <p:spPr>
          <a:xfrm>
            <a:off x="10319515" y="1195753"/>
            <a:ext cx="1591131" cy="705401"/>
          </a:xfrm>
          <a:prstGeom prst="rect">
            <a:avLst/>
          </a:prstGeom>
          <a:noFill/>
          <a:ln>
            <a:noFill/>
          </a:ln>
        </p:spPr>
      </p:pic>
      <p:pic>
        <p:nvPicPr>
          <p:cNvPr descr="A colorful background with a few rectangles&#10;&#10;Description automatically generated with medium confidence" id="17" name="Google Shape;17;p11"/>
          <p:cNvPicPr preferRelativeResize="0"/>
          <p:nvPr/>
        </p:nvPicPr>
        <p:blipFill rotWithShape="1">
          <a:blip r:embed="rId3">
            <a:alphaModFix/>
          </a:blip>
          <a:srcRect b="84051" l="0" r="0" t="0"/>
          <a:stretch/>
        </p:blipFill>
        <p:spPr>
          <a:xfrm>
            <a:off x="0" y="0"/>
            <a:ext cx="12192000" cy="973013"/>
          </a:xfrm>
          <a:prstGeom prst="rect">
            <a:avLst/>
          </a:prstGeom>
          <a:solidFill>
            <a:srgbClr val="466BB0"/>
          </a:solidFill>
          <a:ln>
            <a:noFill/>
          </a:ln>
        </p:spPr>
      </p:pic>
      <p:sp>
        <p:nvSpPr>
          <p:cNvPr id="18" name="Google Shape;18;p11"/>
          <p:cNvSpPr/>
          <p:nvPr/>
        </p:nvSpPr>
        <p:spPr>
          <a:xfrm>
            <a:off x="0" y="0"/>
            <a:ext cx="12192000" cy="973013"/>
          </a:xfrm>
          <a:prstGeom prst="rect">
            <a:avLst/>
          </a:prstGeom>
          <a:solidFill>
            <a:srgbClr val="9913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19" name="Google Shape;19;p11"/>
          <p:cNvPicPr preferRelativeResize="0"/>
          <p:nvPr/>
        </p:nvPicPr>
        <p:blipFill rotWithShape="1">
          <a:blip r:embed="rId4">
            <a:alphaModFix/>
          </a:blip>
          <a:srcRect b="0" l="0" r="0" t="0"/>
          <a:stretch/>
        </p:blipFill>
        <p:spPr>
          <a:xfrm>
            <a:off x="9408810" y="-360174"/>
            <a:ext cx="2605700" cy="16933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rgbClr val="991346"/>
        </a:solidFill>
      </p:bgPr>
    </p:bg>
    <p:spTree>
      <p:nvGrpSpPr>
        <p:cNvPr id="20" name="Shape 20"/>
        <p:cNvGrpSpPr/>
        <p:nvPr/>
      </p:nvGrpSpPr>
      <p:grpSpPr>
        <a:xfrm>
          <a:off x="0" y="0"/>
          <a:ext cx="0" cy="0"/>
          <a:chOff x="0" y="0"/>
          <a:chExt cx="0" cy="0"/>
        </a:xfrm>
      </p:grpSpPr>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p:bg>
      <p:bgPr>
        <a:solidFill>
          <a:srgbClr val="991346"/>
        </a:solidFill>
      </p:bgPr>
    </p:bg>
    <p:spTree>
      <p:nvGrpSpPr>
        <p:cNvPr id="21" name="Shape 21"/>
        <p:cNvGrpSpPr/>
        <p:nvPr/>
      </p:nvGrpSpPr>
      <p:grpSpPr>
        <a:xfrm>
          <a:off x="0" y="0"/>
          <a:ext cx="0" cy="0"/>
          <a:chOff x="0" y="0"/>
          <a:chExt cx="0" cy="0"/>
        </a:xfrm>
      </p:grpSpPr>
      <p:sp>
        <p:nvSpPr>
          <p:cNvPr id="22" name="Google Shape;22;p12"/>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12"/>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4" name="Google Shape;24;p12"/>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2">
    <p:bg>
      <p:bgPr>
        <a:solidFill>
          <a:srgbClr val="991346"/>
        </a:solidFill>
      </p:bgPr>
    </p:bg>
    <p:spTree>
      <p:nvGrpSpPr>
        <p:cNvPr id="25" name="Shape 25"/>
        <p:cNvGrpSpPr/>
        <p:nvPr/>
      </p:nvGrpSpPr>
      <p:grpSpPr>
        <a:xfrm>
          <a:off x="0" y="0"/>
          <a:ext cx="0" cy="0"/>
          <a:chOff x="0" y="0"/>
          <a:chExt cx="0" cy="0"/>
        </a:xfrm>
      </p:grpSpPr>
      <p:sp>
        <p:nvSpPr>
          <p:cNvPr id="26" name="Google Shape;26;p15"/>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 name="Google Shape;27;p15"/>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28" name="Google Shape;28;p15"/>
          <p:cNvPicPr preferRelativeResize="0"/>
          <p:nvPr/>
        </p:nvPicPr>
        <p:blipFill rotWithShape="1">
          <a:blip r:embed="rId2">
            <a:alphaModFix/>
          </a:blip>
          <a:srcRect b="0" l="0" r="0" t="0"/>
          <a:stretch/>
        </p:blipFill>
        <p:spPr>
          <a:xfrm>
            <a:off x="2866941" y="3001197"/>
            <a:ext cx="6406456" cy="141538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3">
    <p:bg>
      <p:bgPr>
        <a:solidFill>
          <a:srgbClr val="991346"/>
        </a:solidFill>
      </p:bgPr>
    </p:bg>
    <p:spTree>
      <p:nvGrpSpPr>
        <p:cNvPr id="29" name="Shape 29"/>
        <p:cNvGrpSpPr/>
        <p:nvPr/>
      </p:nvGrpSpPr>
      <p:grpSpPr>
        <a:xfrm>
          <a:off x="0" y="0"/>
          <a:ext cx="0" cy="0"/>
          <a:chOff x="0" y="0"/>
          <a:chExt cx="0" cy="0"/>
        </a:xfrm>
      </p:grpSpPr>
      <p:sp>
        <p:nvSpPr>
          <p:cNvPr id="30" name="Google Shape;30;p13"/>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 name="Google Shape;31;p13"/>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2" name="Google Shape;32;p13"/>
          <p:cNvPicPr preferRelativeResize="0"/>
          <p:nvPr/>
        </p:nvPicPr>
        <p:blipFill rotWithShape="1">
          <a:blip r:embed="rId2">
            <a:alphaModFix/>
          </a:blip>
          <a:srcRect b="0" l="0" r="0" t="0"/>
          <a:stretch/>
        </p:blipFill>
        <p:spPr>
          <a:xfrm>
            <a:off x="3745628" y="2798064"/>
            <a:ext cx="4700744" cy="186537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4">
    <p:bg>
      <p:bgPr>
        <a:solidFill>
          <a:srgbClr val="991346"/>
        </a:solidFill>
      </p:bgPr>
    </p:bg>
    <p:spTree>
      <p:nvGrpSpPr>
        <p:cNvPr id="33" name="Shape 33"/>
        <p:cNvGrpSpPr/>
        <p:nvPr/>
      </p:nvGrpSpPr>
      <p:grpSpPr>
        <a:xfrm>
          <a:off x="0" y="0"/>
          <a:ext cx="0" cy="0"/>
          <a:chOff x="0" y="0"/>
          <a:chExt cx="0" cy="0"/>
        </a:xfrm>
      </p:grpSpPr>
      <p:sp>
        <p:nvSpPr>
          <p:cNvPr id="34" name="Google Shape;34;p14"/>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 name="Google Shape;35;p14"/>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36" name="Google Shape;36;p14"/>
          <p:cNvPicPr preferRelativeResize="0"/>
          <p:nvPr/>
        </p:nvPicPr>
        <p:blipFill rotWithShape="1">
          <a:blip r:embed="rId2">
            <a:alphaModFix/>
          </a:blip>
          <a:srcRect b="0" l="0" r="0" t="0"/>
          <a:stretch/>
        </p:blipFill>
        <p:spPr>
          <a:xfrm>
            <a:off x="3266632" y="2935051"/>
            <a:ext cx="5658736" cy="1481674"/>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5">
    <p:bg>
      <p:bgPr>
        <a:solidFill>
          <a:srgbClr val="991346"/>
        </a:solidFill>
      </p:bgPr>
    </p:bg>
    <p:spTree>
      <p:nvGrpSpPr>
        <p:cNvPr id="37" name="Shape 37"/>
        <p:cNvGrpSpPr/>
        <p:nvPr/>
      </p:nvGrpSpPr>
      <p:grpSpPr>
        <a:xfrm>
          <a:off x="0" y="0"/>
          <a:ext cx="0" cy="0"/>
          <a:chOff x="0" y="0"/>
          <a:chExt cx="0" cy="0"/>
        </a:xfrm>
      </p:grpSpPr>
      <p:sp>
        <p:nvSpPr>
          <p:cNvPr id="38" name="Google Shape;38;p17"/>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 name="Google Shape;39;p17"/>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a:t>
            </a:r>
            <a:endParaRPr b="0" i="0" sz="600" u="none" cap="none" strike="noStrike">
              <a:solidFill>
                <a:srgbClr val="000000"/>
              </a:solidFill>
              <a:latin typeface="Montserrat"/>
              <a:ea typeface="Montserrat"/>
              <a:cs typeface="Montserrat"/>
              <a:sym typeface="Montserrat"/>
            </a:endParaRPr>
          </a:p>
        </p:txBody>
      </p:sp>
      <p:pic>
        <p:nvPicPr>
          <p:cNvPr id="40" name="Google Shape;40;p17"/>
          <p:cNvPicPr preferRelativeResize="0"/>
          <p:nvPr/>
        </p:nvPicPr>
        <p:blipFill rotWithShape="1">
          <a:blip r:embed="rId2">
            <a:alphaModFix/>
          </a:blip>
          <a:srcRect b="0" l="0" r="0" t="0"/>
          <a:stretch/>
        </p:blipFill>
        <p:spPr>
          <a:xfrm>
            <a:off x="3252292" y="3053751"/>
            <a:ext cx="5652911" cy="125945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6">
    <p:bg>
      <p:bgPr>
        <a:solidFill>
          <a:srgbClr val="991346"/>
        </a:solidFill>
      </p:bgPr>
    </p:bg>
    <p:spTree>
      <p:nvGrpSpPr>
        <p:cNvPr id="41" name="Shape 41"/>
        <p:cNvGrpSpPr/>
        <p:nvPr/>
      </p:nvGrpSpPr>
      <p:grpSpPr>
        <a:xfrm>
          <a:off x="0" y="0"/>
          <a:ext cx="0" cy="0"/>
          <a:chOff x="0" y="0"/>
          <a:chExt cx="0" cy="0"/>
        </a:xfrm>
      </p:grpSpPr>
      <p:sp>
        <p:nvSpPr>
          <p:cNvPr id="42" name="Google Shape;42;p16"/>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 name="Google Shape;43;p16"/>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500"/>
              <a:buFont typeface="Arial"/>
              <a:buNone/>
            </a:pPr>
            <a:r>
              <a:rPr b="1" i="0" lang="en-CA" sz="3600" u="none" cap="none" strike="noStrike">
                <a:solidFill>
                  <a:schemeClr val="lt1"/>
                </a:solidFill>
                <a:latin typeface="Montserrat"/>
                <a:ea typeface="Montserrat"/>
                <a:cs typeface="Montserrat"/>
                <a:sym typeface="Montserrat"/>
              </a:rPr>
              <a:t>Thank you to our PLATINUM Sponsors!</a:t>
            </a:r>
            <a:endParaRPr b="0" i="0" sz="600" u="none" cap="none" strike="noStrike">
              <a:solidFill>
                <a:srgbClr val="000000"/>
              </a:solidFill>
              <a:latin typeface="Montserrat"/>
              <a:ea typeface="Montserrat"/>
              <a:cs typeface="Montserrat"/>
              <a:sym typeface="Montserrat"/>
            </a:endParaRPr>
          </a:p>
        </p:txBody>
      </p:sp>
      <p:pic>
        <p:nvPicPr>
          <p:cNvPr id="44" name="Google Shape;44;p16"/>
          <p:cNvPicPr preferRelativeResize="0"/>
          <p:nvPr/>
        </p:nvPicPr>
        <p:blipFill rotWithShape="1">
          <a:blip r:embed="rId2">
            <a:alphaModFix/>
          </a:blip>
          <a:srcRect b="0" l="0" r="0" t="0"/>
          <a:stretch/>
        </p:blipFill>
        <p:spPr>
          <a:xfrm>
            <a:off x="1133089" y="2338977"/>
            <a:ext cx="2681328" cy="917769"/>
          </a:xfrm>
          <a:prstGeom prst="rect">
            <a:avLst/>
          </a:prstGeom>
          <a:noFill/>
          <a:ln>
            <a:noFill/>
          </a:ln>
        </p:spPr>
      </p:pic>
      <p:pic>
        <p:nvPicPr>
          <p:cNvPr id="45" name="Google Shape;45;p16"/>
          <p:cNvPicPr preferRelativeResize="0"/>
          <p:nvPr/>
        </p:nvPicPr>
        <p:blipFill rotWithShape="1">
          <a:blip r:embed="rId3">
            <a:alphaModFix/>
          </a:blip>
          <a:srcRect b="0" l="0" r="0" t="0"/>
          <a:stretch/>
        </p:blipFill>
        <p:spPr>
          <a:xfrm>
            <a:off x="8377580" y="2376970"/>
            <a:ext cx="2335677" cy="926857"/>
          </a:xfrm>
          <a:prstGeom prst="rect">
            <a:avLst/>
          </a:prstGeom>
          <a:noFill/>
          <a:ln>
            <a:noFill/>
          </a:ln>
        </p:spPr>
      </p:pic>
      <p:pic>
        <p:nvPicPr>
          <p:cNvPr id="46" name="Google Shape;46;p16"/>
          <p:cNvPicPr preferRelativeResize="0"/>
          <p:nvPr/>
        </p:nvPicPr>
        <p:blipFill rotWithShape="1">
          <a:blip r:embed="rId4">
            <a:alphaModFix/>
          </a:blip>
          <a:srcRect b="0" l="0" r="0" t="0"/>
          <a:stretch/>
        </p:blipFill>
        <p:spPr>
          <a:xfrm>
            <a:off x="2408578" y="4285905"/>
            <a:ext cx="2811678" cy="736205"/>
          </a:xfrm>
          <a:prstGeom prst="rect">
            <a:avLst/>
          </a:prstGeom>
          <a:noFill/>
          <a:ln>
            <a:noFill/>
          </a:ln>
        </p:spPr>
      </p:pic>
      <p:pic>
        <p:nvPicPr>
          <p:cNvPr id="47" name="Google Shape;47;p16"/>
          <p:cNvPicPr preferRelativeResize="0"/>
          <p:nvPr/>
        </p:nvPicPr>
        <p:blipFill rotWithShape="1">
          <a:blip r:embed="rId5">
            <a:alphaModFix/>
          </a:blip>
          <a:srcRect b="0" l="0" r="0" t="0"/>
          <a:stretch/>
        </p:blipFill>
        <p:spPr>
          <a:xfrm>
            <a:off x="6296843" y="4330017"/>
            <a:ext cx="3106371" cy="692093"/>
          </a:xfrm>
          <a:prstGeom prst="rect">
            <a:avLst/>
          </a:prstGeom>
          <a:noFill/>
          <a:ln>
            <a:noFill/>
          </a:ln>
        </p:spPr>
      </p:pic>
      <p:pic>
        <p:nvPicPr>
          <p:cNvPr id="48" name="Google Shape;48;p16"/>
          <p:cNvPicPr preferRelativeResize="0"/>
          <p:nvPr/>
        </p:nvPicPr>
        <p:blipFill rotWithShape="1">
          <a:blip r:embed="rId6">
            <a:alphaModFix/>
          </a:blip>
          <a:srcRect b="0" l="0" r="0" t="0"/>
          <a:stretch/>
        </p:blipFill>
        <p:spPr>
          <a:xfrm>
            <a:off x="4485737" y="2495115"/>
            <a:ext cx="3191774" cy="705160"/>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3_Title Slide 7">
    <p:bg>
      <p:bgPr>
        <a:solidFill>
          <a:srgbClr val="991346"/>
        </a:solidFill>
      </p:bgPr>
    </p:bg>
    <p:spTree>
      <p:nvGrpSpPr>
        <p:cNvPr id="49" name="Shape 49"/>
        <p:cNvGrpSpPr/>
        <p:nvPr/>
      </p:nvGrpSpPr>
      <p:grpSpPr>
        <a:xfrm>
          <a:off x="0" y="0"/>
          <a:ext cx="0" cy="0"/>
          <a:chOff x="0" y="0"/>
          <a:chExt cx="0" cy="0"/>
        </a:xfrm>
      </p:grpSpPr>
      <p:sp>
        <p:nvSpPr>
          <p:cNvPr id="50" name="Google Shape;50;p18"/>
          <p:cNvSpPr/>
          <p:nvPr/>
        </p:nvSpPr>
        <p:spPr>
          <a:xfrm>
            <a:off x="668447" y="1303699"/>
            <a:ext cx="10855105" cy="500656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 name="Google Shape;51;p18"/>
          <p:cNvSpPr txBox="1"/>
          <p:nvPr/>
        </p:nvSpPr>
        <p:spPr>
          <a:xfrm>
            <a:off x="838200" y="378550"/>
            <a:ext cx="10515600" cy="653545"/>
          </a:xfrm>
          <a:prstGeom prst="rect">
            <a:avLst/>
          </a:prstGeom>
          <a:noFill/>
          <a:ln>
            <a:noFill/>
          </a:ln>
        </p:spPr>
        <p:txBody>
          <a:bodyPr anchorCtr="0" anchor="ctr" bIns="45700" lIns="91425" spcFirstLastPara="1" rIns="91425" wrap="square" tIns="45700">
            <a:normAutofit fontScale="85000" lnSpcReduction="10000"/>
          </a:bodyPr>
          <a:lstStyle/>
          <a:p>
            <a:pPr indent="0" lvl="0" marL="0" marR="0" rtl="0" algn="ctr">
              <a:lnSpc>
                <a:spcPct val="90000"/>
              </a:lnSpc>
              <a:spcBef>
                <a:spcPts val="0"/>
              </a:spcBef>
              <a:spcAft>
                <a:spcPts val="0"/>
              </a:spcAft>
              <a:buClr>
                <a:schemeClr val="lt1"/>
              </a:buClr>
              <a:buSzPct val="245098"/>
              <a:buFont typeface="Arial"/>
              <a:buNone/>
            </a:pPr>
            <a:r>
              <a:rPr b="1" i="0" lang="en-CA" sz="3600" u="none" cap="none" strike="noStrike">
                <a:solidFill>
                  <a:schemeClr val="lt1"/>
                </a:solidFill>
                <a:latin typeface="Montserrat"/>
                <a:ea typeface="Montserrat"/>
                <a:cs typeface="Montserrat"/>
                <a:sym typeface="Montserrat"/>
              </a:rPr>
              <a:t>Thank you to our SESSION RECORDING Sponsor!</a:t>
            </a:r>
            <a:endParaRPr b="0" i="0" sz="600" u="none" cap="none" strike="noStrike">
              <a:solidFill>
                <a:srgbClr val="000000"/>
              </a:solidFill>
              <a:latin typeface="Montserrat"/>
              <a:ea typeface="Montserrat"/>
              <a:cs typeface="Montserrat"/>
              <a:sym typeface="Montserrat"/>
            </a:endParaRPr>
          </a:p>
        </p:txBody>
      </p:sp>
      <p:pic>
        <p:nvPicPr>
          <p:cNvPr id="52" name="Google Shape;52;p18"/>
          <p:cNvPicPr preferRelativeResize="0"/>
          <p:nvPr/>
        </p:nvPicPr>
        <p:blipFill rotWithShape="1">
          <a:blip r:embed="rId2">
            <a:alphaModFix/>
          </a:blip>
          <a:srcRect b="0" l="0" r="0" t="0"/>
          <a:stretch/>
        </p:blipFill>
        <p:spPr>
          <a:xfrm>
            <a:off x="3288074" y="2724912"/>
            <a:ext cx="5396396" cy="1847088"/>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nvSpPr>
        <p:spPr>
          <a:xfrm>
            <a:off x="729046" y="3931920"/>
            <a:ext cx="10515600" cy="146304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3600"/>
              <a:buFont typeface="Arial"/>
              <a:buNone/>
            </a:pPr>
            <a:r>
              <a:rPr b="0" i="1" lang="en-CA" sz="2600" u="none" cap="none" strike="noStrike">
                <a:solidFill>
                  <a:schemeClr val="lt1"/>
                </a:solidFill>
                <a:latin typeface="Arial"/>
                <a:ea typeface="Arial"/>
                <a:cs typeface="Arial"/>
                <a:sym typeface="Arial"/>
              </a:rPr>
              <a:t>Henrique Santana, Principal Cloud Engineer, AWS</a:t>
            </a:r>
            <a:endParaRPr b="0" i="0" sz="1400" u="none" cap="none" strike="noStrike">
              <a:solidFill>
                <a:schemeClr val="lt1"/>
              </a:solidFill>
              <a:latin typeface="Arial"/>
              <a:ea typeface="Arial"/>
              <a:cs typeface="Arial"/>
              <a:sym typeface="Arial"/>
            </a:endParaRPr>
          </a:p>
          <a:p>
            <a:r>
              <a:rPr sz="2600" i="1">
                <a:solidFill>
                  <a:srgbClr val="FFFFFF"/>
                </a:solidFill>
                <a:latin typeface="Arial"/>
              </a:rPr>
              <a:t>Danilo Silva, Senior Delivery Consultant, AWS</a:t>
            </a:r>
          </a:p>
        </p:txBody>
      </p:sp>
      <p:sp>
        <p:nvSpPr>
          <p:cNvPr id="80" name="Google Shape;80;p2"/>
          <p:cNvSpPr txBox="1"/>
          <p:nvPr/>
        </p:nvSpPr>
        <p:spPr>
          <a:xfrm>
            <a:off x="627791" y="1371600"/>
            <a:ext cx="10515600" cy="219456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7500"/>
              <a:buFont typeface="Arial"/>
              <a:buNone/>
            </a:pPr>
            <a:r>
              <a:rPr b="1" i="0" lang="en-CA" sz="4800" u="none" cap="none" strike="noStrike">
                <a:solidFill>
                  <a:schemeClr val="lt1"/>
                </a:solidFill>
                <a:latin typeface="Arial"/>
                <a:ea typeface="Arial"/>
                <a:cs typeface="Arial"/>
                <a:sym typeface="Arial"/>
              </a:rPr>
              <a:t>Inference Is a Black Box:</a:t>
            </a:r>
            <a:endParaRPr b="0" i="0" sz="1400" u="none" cap="none" strike="noStrike">
              <a:solidFill>
                <a:schemeClr val="lt1"/>
              </a:solidFill>
              <a:latin typeface="Arial"/>
              <a:ea typeface="Arial"/>
              <a:cs typeface="Arial"/>
              <a:sym typeface="Arial"/>
            </a:endParaRPr>
          </a:p>
          <a:p>
            <a:r>
              <a:rPr sz="3000" b="0">
                <a:solidFill>
                  <a:srgbClr val="FFFFFF"/>
                </a:solidFill>
                <a:latin typeface="Arial"/>
              </a:rPr>
              <a:t>How We Built GPU-Aware Observability with Fluent Bit and OpenTelemetry</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Which one is in trouble?</a:t>
            </a:r>
          </a:p>
        </p:txBody>
      </p:sp>
      <p:sp>
        <p:nvSpPr>
          <p:cNvPr id="3" name="TextBox 2"/>
          <p:cNvSpPr txBox="1"/>
          <p:nvPr/>
        </p:nvSpPr>
        <p:spPr>
          <a:xfrm>
            <a:off x="548640" y="1188720"/>
            <a:ext cx="8686800" cy="411480"/>
          </a:xfrm>
          <a:prstGeom prst="rect">
            <a:avLst/>
          </a:prstGeom>
          <a:noFill/>
        </p:spPr>
        <p:txBody>
          <a:bodyPr wrap="square" anchor="t" lIns="45720" rIns="45720" tIns="18288" bIns="18288">
            <a:spAutoFit/>
          </a:bodyPr>
          <a:lstStyle/>
          <a:p>
            <a:pPr algn="l">
              <a:lnSpc>
                <a:spcPct val="110000"/>
              </a:lnSpc>
            </a:pPr>
            <a:r>
              <a:rPr sz="2000" b="0" i="0">
                <a:solidFill>
                  <a:srgbClr val="6B6B76"/>
                </a:solidFill>
                <a:latin typeface="Arial"/>
              </a:rPr>
              <a:t>Two vLLM pods on our test cluster</a:t>
            </a:r>
          </a:p>
        </p:txBody>
      </p:sp>
      <p:sp>
        <p:nvSpPr>
          <p:cNvPr id="4" name="Rounded Rectangle 3"/>
          <p:cNvSpPr/>
          <p:nvPr/>
        </p:nvSpPr>
        <p:spPr>
          <a:xfrm>
            <a:off x="548640" y="1783080"/>
            <a:ext cx="4572000" cy="2788920"/>
          </a:xfrm>
          <a:prstGeom prst="roundRect">
            <a:avLst>
              <a:gd name="adj" fmla="val 2000"/>
            </a:avLst>
          </a:prstGeom>
          <a:solidFill>
            <a:srgbClr val="FFFFFF"/>
          </a:solidFill>
          <a:ln w="15875">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4572000" cy="109728"/>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011680"/>
            <a:ext cx="2286000" cy="457200"/>
          </a:xfrm>
          <a:prstGeom prst="rect">
            <a:avLst/>
          </a:prstGeom>
          <a:noFill/>
        </p:spPr>
        <p:txBody>
          <a:bodyPr wrap="square" anchor="t" lIns="45720" rIns="45720" tIns="18288" bIns="18288">
            <a:spAutoFit/>
          </a:bodyPr>
          <a:lstStyle/>
          <a:p>
            <a:pPr algn="l">
              <a:lnSpc>
                <a:spcPct val="110000"/>
              </a:lnSpc>
            </a:pPr>
            <a:r>
              <a:rPr sz="2200" b="1" i="0">
                <a:solidFill>
                  <a:srgbClr val="D7263D"/>
                </a:solidFill>
                <a:latin typeface="Arial"/>
              </a:rPr>
              <a:t>Pod A</a:t>
            </a:r>
          </a:p>
        </p:txBody>
      </p:sp>
      <p:sp>
        <p:nvSpPr>
          <p:cNvPr id="7" name="Donut 6"/>
          <p:cNvSpPr/>
          <p:nvPr/>
        </p:nvSpPr>
        <p:spPr>
          <a:xfrm>
            <a:off x="1005839" y="2560320"/>
            <a:ext cx="1737360" cy="1737360"/>
          </a:xfrm>
          <a:prstGeom prst="donut">
            <a:avLst>
              <a:gd name="adj" fmla="val 13000"/>
            </a:avLst>
          </a:prstGeom>
          <a:solidFill>
            <a:srgbClr val="EC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lock Arc 7"/>
          <p:cNvSpPr/>
          <p:nvPr/>
        </p:nvSpPr>
        <p:spPr>
          <a:xfrm>
            <a:off x="1005839" y="2560320"/>
            <a:ext cx="1737360" cy="1737360"/>
          </a:xfrm>
          <a:prstGeom prst="blockArc">
            <a:avLst>
              <a:gd name="adj1" fmla="val 16200000"/>
              <a:gd name="adj2" fmla="val 17928000"/>
              <a:gd name="adj3" fmla="val 13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063240"/>
            <a:ext cx="1737360" cy="548640"/>
          </a:xfrm>
          <a:prstGeom prst="rect">
            <a:avLst/>
          </a:prstGeom>
          <a:noFill/>
        </p:spPr>
        <p:txBody>
          <a:bodyPr wrap="square" anchor="ctr" lIns="45720" rIns="45720" tIns="18288" bIns="18288">
            <a:spAutoFit/>
          </a:bodyPr>
          <a:lstStyle/>
          <a:p>
            <a:pPr algn="ctr">
              <a:lnSpc>
                <a:spcPct val="110000"/>
              </a:lnSpc>
            </a:pPr>
            <a:r>
              <a:rPr sz="3400" b="1" i="0">
                <a:solidFill>
                  <a:srgbClr val="D7263D"/>
                </a:solidFill>
                <a:latin typeface="Arial"/>
              </a:rPr>
              <a:t>8%</a:t>
            </a:r>
          </a:p>
        </p:txBody>
      </p:sp>
      <p:sp>
        <p:nvSpPr>
          <p:cNvPr id="10" name="TextBox 9"/>
          <p:cNvSpPr txBox="1"/>
          <p:nvPr/>
        </p:nvSpPr>
        <p:spPr>
          <a:xfrm>
            <a:off x="1005840" y="3584448"/>
            <a:ext cx="1737360" cy="320040"/>
          </a:xfrm>
          <a:prstGeom prst="rect">
            <a:avLst/>
          </a:prstGeom>
          <a:noFill/>
        </p:spPr>
        <p:txBody>
          <a:bodyPr wrap="square" anchor="t" lIns="45720" rIns="45720" tIns="18288" bIns="18288">
            <a:spAutoFit/>
          </a:bodyPr>
          <a:lstStyle/>
          <a:p>
            <a:pPr algn="ctr">
              <a:lnSpc>
                <a:spcPct val="110000"/>
              </a:lnSpc>
            </a:pPr>
            <a:r>
              <a:rPr sz="1200" b="0" i="0">
                <a:solidFill>
                  <a:srgbClr val="6B6B76"/>
                </a:solidFill>
                <a:latin typeface="Arial"/>
              </a:rPr>
              <a:t>reserved</a:t>
            </a:r>
          </a:p>
        </p:txBody>
      </p:sp>
      <p:sp>
        <p:nvSpPr>
          <p:cNvPr id="11" name="TextBox 10"/>
          <p:cNvSpPr txBox="1"/>
          <p:nvPr/>
        </p:nvSpPr>
        <p:spPr>
          <a:xfrm>
            <a:off x="3063240" y="2606040"/>
            <a:ext cx="1920240" cy="914400"/>
          </a:xfrm>
          <a:prstGeom prst="rect">
            <a:avLst/>
          </a:prstGeom>
          <a:noFill/>
        </p:spPr>
        <p:txBody>
          <a:bodyPr wrap="square" anchor="t" lIns="45720" rIns="45720" tIns="18288" bIns="18288">
            <a:spAutoFit/>
          </a:bodyPr>
          <a:lstStyle/>
          <a:p>
            <a:pPr algn="l">
              <a:lnSpc>
                <a:spcPct val="110000"/>
              </a:lnSpc>
            </a:pPr>
            <a:r>
              <a:rPr sz="1600" b="0" i="0">
                <a:solidFill>
                  <a:srgbClr val="1F1F24"/>
                </a:solidFill>
                <a:latin typeface="Arial"/>
              </a:rPr>
              <a:t>of GPU memory, taken by vLLM at startup</a:t>
            </a:r>
          </a:p>
        </p:txBody>
      </p:sp>
      <p:sp>
        <p:nvSpPr>
          <p:cNvPr id="12" name="Rounded Rectangle 11"/>
          <p:cNvSpPr/>
          <p:nvPr/>
        </p:nvSpPr>
        <p:spPr>
          <a:xfrm>
            <a:off x="3063240" y="3657600"/>
            <a:ext cx="1874519" cy="566928"/>
          </a:xfrm>
          <a:prstGeom prst="roundRect">
            <a:avLst>
              <a:gd name="adj" fmla="val 12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63240" y="3657600"/>
            <a:ext cx="1874519" cy="566928"/>
          </a:xfrm>
          <a:prstGeom prst="rect">
            <a:avLst/>
          </a:prstGeom>
          <a:noFill/>
        </p:spPr>
        <p:txBody>
          <a:bodyPr wrap="square" anchor="ctr" lIns="45720" rIns="45720" tIns="18288" bIns="18288">
            <a:spAutoFit/>
          </a:bodyPr>
          <a:lstStyle/>
          <a:p>
            <a:pPr algn="ctr">
              <a:lnSpc>
                <a:spcPct val="95000"/>
              </a:lnSpc>
            </a:pPr>
            <a:r>
              <a:rPr sz="1100" b="0" i="0">
                <a:solidFill>
                  <a:srgbClr val="1F1F24"/>
                </a:solidFill>
                <a:latin typeface="Consolas"/>
              </a:rPr>
              <a:t>--gpu-memory-</a:t>
            </a:r>
          </a:p>
          <a:p>
            <a:pPr algn="ctr">
              <a:lnSpc>
                <a:spcPct val="95000"/>
              </a:lnSpc>
            </a:pPr>
            <a:r>
              <a:rPr sz="1100" b="0" i="0">
                <a:solidFill>
                  <a:srgbClr val="1F1F24"/>
                </a:solidFill>
                <a:latin typeface="Consolas"/>
              </a:rPr>
              <a:t>utilization=0.08</a:t>
            </a:r>
          </a:p>
        </p:txBody>
      </p:sp>
      <p:sp>
        <p:nvSpPr>
          <p:cNvPr id="14" name="Rounded Rectangle 13"/>
          <p:cNvSpPr/>
          <p:nvPr/>
        </p:nvSpPr>
        <p:spPr>
          <a:xfrm>
            <a:off x="7068312" y="1783080"/>
            <a:ext cx="4572000" cy="2788920"/>
          </a:xfrm>
          <a:prstGeom prst="roundRect">
            <a:avLst>
              <a:gd name="adj" fmla="val 2000"/>
            </a:avLst>
          </a:prstGeom>
          <a:solidFill>
            <a:srgbClr val="FFFFFF"/>
          </a:solidFill>
          <a:ln w="15875">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68312" y="1783080"/>
            <a:ext cx="4572000" cy="109728"/>
          </a:xfrm>
          <a:prstGeom prst="rect">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2632" y="2011680"/>
            <a:ext cx="2286000" cy="457200"/>
          </a:xfrm>
          <a:prstGeom prst="rect">
            <a:avLst/>
          </a:prstGeom>
          <a:noFill/>
        </p:spPr>
        <p:txBody>
          <a:bodyPr wrap="square" anchor="t" lIns="45720" rIns="45720" tIns="18288" bIns="18288">
            <a:spAutoFit/>
          </a:bodyPr>
          <a:lstStyle/>
          <a:p>
            <a:pPr algn="l">
              <a:lnSpc>
                <a:spcPct val="110000"/>
              </a:lnSpc>
            </a:pPr>
            <a:r>
              <a:rPr sz="2200" b="1" i="0">
                <a:solidFill>
                  <a:srgbClr val="2F6FDB"/>
                </a:solidFill>
                <a:latin typeface="Arial"/>
              </a:rPr>
              <a:t>Pod B</a:t>
            </a:r>
          </a:p>
        </p:txBody>
      </p:sp>
      <p:sp>
        <p:nvSpPr>
          <p:cNvPr id="17" name="Donut 16"/>
          <p:cNvSpPr/>
          <p:nvPr/>
        </p:nvSpPr>
        <p:spPr>
          <a:xfrm>
            <a:off x="7525512" y="2560320"/>
            <a:ext cx="1737360" cy="1737360"/>
          </a:xfrm>
          <a:prstGeom prst="donut">
            <a:avLst>
              <a:gd name="adj" fmla="val 13000"/>
            </a:avLst>
          </a:prstGeom>
          <a:solidFill>
            <a:srgbClr val="EC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lock Arc 17"/>
          <p:cNvSpPr/>
          <p:nvPr/>
        </p:nvSpPr>
        <p:spPr>
          <a:xfrm>
            <a:off x="7525512" y="2560320"/>
            <a:ext cx="1737360" cy="1737360"/>
          </a:xfrm>
          <a:prstGeom prst="blockArc">
            <a:avLst>
              <a:gd name="adj1" fmla="val 16200000"/>
              <a:gd name="adj2" fmla="val 14040000"/>
              <a:gd name="adj3" fmla="val 13000"/>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5512" y="3063240"/>
            <a:ext cx="1737360" cy="548640"/>
          </a:xfrm>
          <a:prstGeom prst="rect">
            <a:avLst/>
          </a:prstGeom>
          <a:noFill/>
        </p:spPr>
        <p:txBody>
          <a:bodyPr wrap="square" anchor="ctr" lIns="45720" rIns="45720" tIns="18288" bIns="18288">
            <a:spAutoFit/>
          </a:bodyPr>
          <a:lstStyle/>
          <a:p>
            <a:pPr algn="ctr">
              <a:lnSpc>
                <a:spcPct val="110000"/>
              </a:lnSpc>
            </a:pPr>
            <a:r>
              <a:rPr sz="3400" b="1" i="0">
                <a:solidFill>
                  <a:srgbClr val="2F6FDB"/>
                </a:solidFill>
                <a:latin typeface="Arial"/>
              </a:rPr>
              <a:t>90%</a:t>
            </a:r>
          </a:p>
        </p:txBody>
      </p:sp>
      <p:sp>
        <p:nvSpPr>
          <p:cNvPr id="20" name="TextBox 19"/>
          <p:cNvSpPr txBox="1"/>
          <p:nvPr/>
        </p:nvSpPr>
        <p:spPr>
          <a:xfrm>
            <a:off x="7525512" y="3584448"/>
            <a:ext cx="1737360" cy="320040"/>
          </a:xfrm>
          <a:prstGeom prst="rect">
            <a:avLst/>
          </a:prstGeom>
          <a:noFill/>
        </p:spPr>
        <p:txBody>
          <a:bodyPr wrap="square" anchor="t" lIns="45720" rIns="45720" tIns="18288" bIns="18288">
            <a:spAutoFit/>
          </a:bodyPr>
          <a:lstStyle/>
          <a:p>
            <a:pPr algn="ctr">
              <a:lnSpc>
                <a:spcPct val="110000"/>
              </a:lnSpc>
            </a:pPr>
            <a:r>
              <a:rPr sz="1200" b="0" i="0">
                <a:solidFill>
                  <a:srgbClr val="6B6B76"/>
                </a:solidFill>
                <a:latin typeface="Arial"/>
              </a:rPr>
              <a:t>reserved</a:t>
            </a:r>
          </a:p>
        </p:txBody>
      </p:sp>
      <p:sp>
        <p:nvSpPr>
          <p:cNvPr id="21" name="TextBox 20"/>
          <p:cNvSpPr txBox="1"/>
          <p:nvPr/>
        </p:nvSpPr>
        <p:spPr>
          <a:xfrm>
            <a:off x="9582912" y="2606040"/>
            <a:ext cx="1920240" cy="914400"/>
          </a:xfrm>
          <a:prstGeom prst="rect">
            <a:avLst/>
          </a:prstGeom>
          <a:noFill/>
        </p:spPr>
        <p:txBody>
          <a:bodyPr wrap="square" anchor="t" lIns="45720" rIns="45720" tIns="18288" bIns="18288">
            <a:spAutoFit/>
          </a:bodyPr>
          <a:lstStyle/>
          <a:p>
            <a:pPr algn="l">
              <a:lnSpc>
                <a:spcPct val="110000"/>
              </a:lnSpc>
            </a:pPr>
            <a:r>
              <a:rPr sz="1600" b="0" i="0">
                <a:solidFill>
                  <a:srgbClr val="1F1F24"/>
                </a:solidFill>
                <a:latin typeface="Arial"/>
              </a:rPr>
              <a:t>of GPU memory, taken by vLLM at startup</a:t>
            </a:r>
          </a:p>
        </p:txBody>
      </p:sp>
      <p:sp>
        <p:nvSpPr>
          <p:cNvPr id="22" name="Rounded Rectangle 21"/>
          <p:cNvSpPr/>
          <p:nvPr/>
        </p:nvSpPr>
        <p:spPr>
          <a:xfrm>
            <a:off x="9582912" y="3657600"/>
            <a:ext cx="1874519" cy="566928"/>
          </a:xfrm>
          <a:prstGeom prst="roundRect">
            <a:avLst>
              <a:gd name="adj" fmla="val 12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82912" y="3657600"/>
            <a:ext cx="1874519" cy="566928"/>
          </a:xfrm>
          <a:prstGeom prst="rect">
            <a:avLst/>
          </a:prstGeom>
          <a:noFill/>
        </p:spPr>
        <p:txBody>
          <a:bodyPr wrap="square" anchor="ctr" lIns="45720" rIns="45720" tIns="18288" bIns="18288">
            <a:spAutoFit/>
          </a:bodyPr>
          <a:lstStyle/>
          <a:p>
            <a:pPr algn="ctr">
              <a:lnSpc>
                <a:spcPct val="95000"/>
              </a:lnSpc>
            </a:pPr>
            <a:r>
              <a:rPr sz="1100" b="0" i="0">
                <a:solidFill>
                  <a:srgbClr val="1F1F24"/>
                </a:solidFill>
                <a:latin typeface="Consolas"/>
              </a:rPr>
              <a:t>--gpu-memory-</a:t>
            </a:r>
          </a:p>
          <a:p>
            <a:pPr algn="ctr">
              <a:lnSpc>
                <a:spcPct val="95000"/>
              </a:lnSpc>
            </a:pPr>
            <a:r>
              <a:rPr sz="1100" b="0" i="0">
                <a:solidFill>
                  <a:srgbClr val="1F1F24"/>
                </a:solidFill>
                <a:latin typeface="Consolas"/>
              </a:rPr>
              <a:t>utilization=0.90</a:t>
            </a:r>
          </a:p>
        </p:txBody>
      </p:sp>
      <p:sp>
        <p:nvSpPr>
          <p:cNvPr id="24" name="Rounded Rectangle 23"/>
          <p:cNvSpPr/>
          <p:nvPr/>
        </p:nvSpPr>
        <p:spPr>
          <a:xfrm>
            <a:off x="5303520" y="2331720"/>
            <a:ext cx="1581912" cy="457200"/>
          </a:xfrm>
          <a:prstGeom prst="roundRect">
            <a:avLst>
              <a:gd name="adj" fmla="val 50000"/>
            </a:avLst>
          </a:prstGeom>
          <a:solidFill>
            <a:srgbClr val="F3F3F5"/>
          </a:solidFill>
          <a:ln w="1270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0" y="2331720"/>
            <a:ext cx="1581912" cy="457200"/>
          </a:xfrm>
          <a:prstGeom prst="rect">
            <a:avLst/>
          </a:prstGeom>
          <a:noFill/>
        </p:spPr>
        <p:txBody>
          <a:bodyPr wrap="square" anchor="ctr" lIns="45720" rIns="45720" tIns="18288" bIns="18288">
            <a:spAutoFit/>
          </a:bodyPr>
          <a:lstStyle/>
          <a:p>
            <a:pPr algn="ctr">
              <a:lnSpc>
                <a:spcPct val="110000"/>
              </a:lnSpc>
            </a:pPr>
            <a:r>
              <a:rPr sz="1300" b="1" i="0">
                <a:solidFill>
                  <a:srgbClr val="6B6B76"/>
                </a:solidFill>
                <a:latin typeface="Arial"/>
              </a:rPr>
              <a:t>same model</a:t>
            </a:r>
          </a:p>
        </p:txBody>
      </p:sp>
      <p:sp>
        <p:nvSpPr>
          <p:cNvPr id="26" name="Rounded Rectangle 25"/>
          <p:cNvSpPr/>
          <p:nvPr/>
        </p:nvSpPr>
        <p:spPr>
          <a:xfrm>
            <a:off x="5303520" y="2990087"/>
            <a:ext cx="1581912" cy="457200"/>
          </a:xfrm>
          <a:prstGeom prst="roundRect">
            <a:avLst>
              <a:gd name="adj" fmla="val 50000"/>
            </a:avLst>
          </a:prstGeom>
          <a:solidFill>
            <a:srgbClr val="F3F3F5"/>
          </a:solidFill>
          <a:ln w="1270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0" y="2990087"/>
            <a:ext cx="1581912" cy="457200"/>
          </a:xfrm>
          <a:prstGeom prst="rect">
            <a:avLst/>
          </a:prstGeom>
          <a:noFill/>
        </p:spPr>
        <p:txBody>
          <a:bodyPr wrap="square" anchor="ctr" lIns="45720" rIns="45720" tIns="18288" bIns="18288">
            <a:spAutoFit/>
          </a:bodyPr>
          <a:lstStyle/>
          <a:p>
            <a:pPr algn="ctr">
              <a:lnSpc>
                <a:spcPct val="110000"/>
              </a:lnSpc>
            </a:pPr>
            <a:r>
              <a:rPr sz="1300" b="1" i="0">
                <a:solidFill>
                  <a:srgbClr val="6B6B76"/>
                </a:solidFill>
                <a:latin typeface="Arial"/>
              </a:rPr>
              <a:t>same GPU type</a:t>
            </a:r>
          </a:p>
        </p:txBody>
      </p:sp>
      <p:sp>
        <p:nvSpPr>
          <p:cNvPr id="28" name="Rounded Rectangle 27"/>
          <p:cNvSpPr/>
          <p:nvPr/>
        </p:nvSpPr>
        <p:spPr>
          <a:xfrm>
            <a:off x="5303520" y="3648456"/>
            <a:ext cx="1581912" cy="457200"/>
          </a:xfrm>
          <a:prstGeom prst="roundRect">
            <a:avLst>
              <a:gd name="adj" fmla="val 50000"/>
            </a:avLst>
          </a:prstGeom>
          <a:solidFill>
            <a:srgbClr val="F3F3F5"/>
          </a:solidFill>
          <a:ln w="1270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0" y="3648456"/>
            <a:ext cx="1581912" cy="457200"/>
          </a:xfrm>
          <a:prstGeom prst="rect">
            <a:avLst/>
          </a:prstGeom>
          <a:noFill/>
        </p:spPr>
        <p:txBody>
          <a:bodyPr wrap="square" anchor="ctr" lIns="45720" rIns="45720" tIns="18288" bIns="18288">
            <a:spAutoFit/>
          </a:bodyPr>
          <a:lstStyle/>
          <a:p>
            <a:pPr algn="ctr">
              <a:lnSpc>
                <a:spcPct val="110000"/>
              </a:lnSpc>
            </a:pPr>
            <a:r>
              <a:rPr sz="1300" b="1" i="0">
                <a:solidFill>
                  <a:srgbClr val="6B6B76"/>
                </a:solidFill>
                <a:latin typeface="Arial"/>
              </a:rPr>
              <a:t>same traffic</a:t>
            </a:r>
          </a:p>
        </p:txBody>
      </p:sp>
      <p:sp>
        <p:nvSpPr>
          <p:cNvPr id="30" name="TextBox 29"/>
          <p:cNvSpPr txBox="1"/>
          <p:nvPr/>
        </p:nvSpPr>
        <p:spPr>
          <a:xfrm>
            <a:off x="548640" y="4754880"/>
            <a:ext cx="3657600" cy="365760"/>
          </a:xfrm>
          <a:prstGeom prst="rect">
            <a:avLst/>
          </a:prstGeom>
          <a:noFill/>
        </p:spPr>
        <p:txBody>
          <a:bodyPr wrap="square" anchor="t" lIns="45720" rIns="45720" tIns="18288" bIns="18288">
            <a:spAutoFit/>
          </a:bodyPr>
          <a:lstStyle/>
          <a:p>
            <a:pPr algn="l">
              <a:lnSpc>
                <a:spcPct val="110000"/>
              </a:lnSpc>
            </a:pPr>
            <a:r>
              <a:rPr sz="1400" b="1" i="0">
                <a:solidFill>
                  <a:srgbClr val="991346"/>
                </a:solidFill>
                <a:latin typeface="Arial"/>
              </a:rPr>
              <a:t>HANDS UP</a:t>
            </a:r>
          </a:p>
        </p:txBody>
      </p:sp>
      <p:sp>
        <p:nvSpPr>
          <p:cNvPr id="31" name="Rounded Rectangle 30"/>
          <p:cNvSpPr/>
          <p:nvPr/>
        </p:nvSpPr>
        <p:spPr>
          <a:xfrm>
            <a:off x="548640" y="5120640"/>
            <a:ext cx="2624328" cy="777240"/>
          </a:xfrm>
          <a:prstGeom prst="roundRect">
            <a:avLst>
              <a:gd name="adj" fmla="val 50000"/>
            </a:avLst>
          </a:prstGeom>
          <a:solidFill>
            <a:srgbClr val="FFFFFF"/>
          </a:solidFill>
          <a:ln w="19050">
            <a:solidFill>
              <a:srgbClr val="9913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76656" y="5230368"/>
            <a:ext cx="557784" cy="557784"/>
          </a:xfrm>
          <a:prstGeom prst="ellipse">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 y="5230368"/>
            <a:ext cx="557784" cy="557784"/>
          </a:xfrm>
          <a:prstGeom prst="rect">
            <a:avLst/>
          </a:prstGeom>
          <a:noFill/>
        </p:spPr>
        <p:txBody>
          <a:bodyPr wrap="square" anchor="ctr" lIns="45720" rIns="45720" tIns="18288" bIns="18288">
            <a:spAutoFit/>
          </a:bodyPr>
          <a:lstStyle/>
          <a:p>
            <a:pPr algn="ctr">
              <a:lnSpc>
                <a:spcPct val="110000"/>
              </a:lnSpc>
            </a:pPr>
            <a:r>
              <a:rPr sz="2000" b="1" i="0">
                <a:solidFill>
                  <a:srgbClr val="FFFFFF"/>
                </a:solidFill>
                <a:latin typeface="Arial"/>
              </a:rPr>
              <a:t>A</a:t>
            </a:r>
          </a:p>
        </p:txBody>
      </p:sp>
      <p:sp>
        <p:nvSpPr>
          <p:cNvPr id="34" name="TextBox 33"/>
          <p:cNvSpPr txBox="1"/>
          <p:nvPr/>
        </p:nvSpPr>
        <p:spPr>
          <a:xfrm>
            <a:off x="1325880" y="5120640"/>
            <a:ext cx="1755648" cy="777240"/>
          </a:xfrm>
          <a:prstGeom prst="rect">
            <a:avLst/>
          </a:prstGeom>
          <a:noFill/>
        </p:spPr>
        <p:txBody>
          <a:bodyPr wrap="square" anchor="ctr" lIns="45720" rIns="45720" tIns="18288" bIns="18288">
            <a:spAutoFit/>
          </a:bodyPr>
          <a:lstStyle/>
          <a:p>
            <a:pPr algn="l">
              <a:lnSpc>
                <a:spcPct val="110000"/>
              </a:lnSpc>
            </a:pPr>
            <a:r>
              <a:rPr sz="2400" b="1" i="0">
                <a:solidFill>
                  <a:srgbClr val="1F1F24"/>
                </a:solidFill>
                <a:latin typeface="Arial"/>
              </a:rPr>
              <a:t>8%</a:t>
            </a:r>
          </a:p>
        </p:txBody>
      </p:sp>
      <p:sp>
        <p:nvSpPr>
          <p:cNvPr id="35" name="Rounded Rectangle 34"/>
          <p:cNvSpPr/>
          <p:nvPr/>
        </p:nvSpPr>
        <p:spPr>
          <a:xfrm>
            <a:off x="3374136" y="5120640"/>
            <a:ext cx="2624328" cy="777240"/>
          </a:xfrm>
          <a:prstGeom prst="roundRect">
            <a:avLst>
              <a:gd name="adj" fmla="val 50000"/>
            </a:avLst>
          </a:prstGeom>
          <a:solidFill>
            <a:srgbClr val="FFFFFF"/>
          </a:solidFill>
          <a:ln w="19050">
            <a:solidFill>
              <a:srgbClr val="9913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502152" y="5230368"/>
            <a:ext cx="557784" cy="557784"/>
          </a:xfrm>
          <a:prstGeom prst="ellipse">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02152" y="5230368"/>
            <a:ext cx="557784" cy="557784"/>
          </a:xfrm>
          <a:prstGeom prst="rect">
            <a:avLst/>
          </a:prstGeom>
          <a:noFill/>
        </p:spPr>
        <p:txBody>
          <a:bodyPr wrap="square" anchor="ctr" lIns="45720" rIns="45720" tIns="18288" bIns="18288">
            <a:spAutoFit/>
          </a:bodyPr>
          <a:lstStyle/>
          <a:p>
            <a:pPr algn="ctr">
              <a:lnSpc>
                <a:spcPct val="110000"/>
              </a:lnSpc>
            </a:pPr>
            <a:r>
              <a:rPr sz="2000" b="1" i="0">
                <a:solidFill>
                  <a:srgbClr val="FFFFFF"/>
                </a:solidFill>
                <a:latin typeface="Arial"/>
              </a:rPr>
              <a:t>B</a:t>
            </a:r>
          </a:p>
        </p:txBody>
      </p:sp>
      <p:sp>
        <p:nvSpPr>
          <p:cNvPr id="38" name="TextBox 37"/>
          <p:cNvSpPr txBox="1"/>
          <p:nvPr/>
        </p:nvSpPr>
        <p:spPr>
          <a:xfrm>
            <a:off x="4151376" y="5120640"/>
            <a:ext cx="1755648" cy="777240"/>
          </a:xfrm>
          <a:prstGeom prst="rect">
            <a:avLst/>
          </a:prstGeom>
          <a:noFill/>
        </p:spPr>
        <p:txBody>
          <a:bodyPr wrap="square" anchor="ctr" lIns="45720" rIns="45720" tIns="18288" bIns="18288">
            <a:spAutoFit/>
          </a:bodyPr>
          <a:lstStyle/>
          <a:p>
            <a:pPr algn="l">
              <a:lnSpc>
                <a:spcPct val="110000"/>
              </a:lnSpc>
            </a:pPr>
            <a:r>
              <a:rPr sz="2400" b="1" i="0">
                <a:solidFill>
                  <a:srgbClr val="1F1F24"/>
                </a:solidFill>
                <a:latin typeface="Arial"/>
              </a:rPr>
              <a:t>90%</a:t>
            </a:r>
          </a:p>
        </p:txBody>
      </p:sp>
      <p:sp>
        <p:nvSpPr>
          <p:cNvPr id="39" name="Rounded Rectangle 38"/>
          <p:cNvSpPr/>
          <p:nvPr/>
        </p:nvSpPr>
        <p:spPr>
          <a:xfrm>
            <a:off x="6199632" y="5120640"/>
            <a:ext cx="2624328" cy="777240"/>
          </a:xfrm>
          <a:prstGeom prst="roundRect">
            <a:avLst>
              <a:gd name="adj" fmla="val 50000"/>
            </a:avLst>
          </a:prstGeom>
          <a:solidFill>
            <a:srgbClr val="FFFFFF"/>
          </a:solidFill>
          <a:ln w="19050">
            <a:solidFill>
              <a:srgbClr val="9913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327648" y="5230368"/>
            <a:ext cx="557784" cy="557784"/>
          </a:xfrm>
          <a:prstGeom prst="ellipse">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27648" y="5230368"/>
            <a:ext cx="557784" cy="557784"/>
          </a:xfrm>
          <a:prstGeom prst="rect">
            <a:avLst/>
          </a:prstGeom>
          <a:noFill/>
        </p:spPr>
        <p:txBody>
          <a:bodyPr wrap="square" anchor="ctr" lIns="45720" rIns="45720" tIns="18288" bIns="18288">
            <a:spAutoFit/>
          </a:bodyPr>
          <a:lstStyle/>
          <a:p>
            <a:pPr algn="ctr">
              <a:lnSpc>
                <a:spcPct val="110000"/>
              </a:lnSpc>
            </a:pPr>
            <a:r>
              <a:rPr sz="2000" b="1" i="0">
                <a:solidFill>
                  <a:srgbClr val="FFFFFF"/>
                </a:solidFill>
                <a:latin typeface="Arial"/>
              </a:rPr>
              <a:t>C</a:t>
            </a:r>
          </a:p>
        </p:txBody>
      </p:sp>
      <p:sp>
        <p:nvSpPr>
          <p:cNvPr id="42" name="TextBox 41"/>
          <p:cNvSpPr txBox="1"/>
          <p:nvPr/>
        </p:nvSpPr>
        <p:spPr>
          <a:xfrm>
            <a:off x="6976872" y="5120640"/>
            <a:ext cx="1755648" cy="777240"/>
          </a:xfrm>
          <a:prstGeom prst="rect">
            <a:avLst/>
          </a:prstGeom>
          <a:noFill/>
        </p:spPr>
        <p:txBody>
          <a:bodyPr wrap="square" anchor="ctr" lIns="45720" rIns="45720" tIns="18288" bIns="18288">
            <a:spAutoFit/>
          </a:bodyPr>
          <a:lstStyle/>
          <a:p>
            <a:pPr algn="l">
              <a:lnSpc>
                <a:spcPct val="110000"/>
              </a:lnSpc>
            </a:pPr>
            <a:r>
              <a:rPr sz="2400" b="1" i="0">
                <a:solidFill>
                  <a:srgbClr val="1F1F24"/>
                </a:solidFill>
                <a:latin typeface="Arial"/>
              </a:rPr>
              <a:t>both</a:t>
            </a:r>
          </a:p>
        </p:txBody>
      </p:sp>
      <p:sp>
        <p:nvSpPr>
          <p:cNvPr id="43" name="Rounded Rectangle 42"/>
          <p:cNvSpPr/>
          <p:nvPr/>
        </p:nvSpPr>
        <p:spPr>
          <a:xfrm>
            <a:off x="9025128" y="5120640"/>
            <a:ext cx="2624328" cy="777240"/>
          </a:xfrm>
          <a:prstGeom prst="roundRect">
            <a:avLst>
              <a:gd name="adj" fmla="val 50000"/>
            </a:avLst>
          </a:prstGeom>
          <a:solidFill>
            <a:srgbClr val="FFFFFF"/>
          </a:solidFill>
          <a:ln w="19050">
            <a:solidFill>
              <a:srgbClr val="9913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153144" y="5230368"/>
            <a:ext cx="557784" cy="557784"/>
          </a:xfrm>
          <a:prstGeom prst="ellipse">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53144" y="5230368"/>
            <a:ext cx="557784" cy="557784"/>
          </a:xfrm>
          <a:prstGeom prst="rect">
            <a:avLst/>
          </a:prstGeom>
          <a:noFill/>
        </p:spPr>
        <p:txBody>
          <a:bodyPr wrap="square" anchor="ctr" lIns="45720" rIns="45720" tIns="18288" bIns="18288">
            <a:spAutoFit/>
          </a:bodyPr>
          <a:lstStyle/>
          <a:p>
            <a:pPr algn="ctr">
              <a:lnSpc>
                <a:spcPct val="110000"/>
              </a:lnSpc>
            </a:pPr>
            <a:r>
              <a:rPr sz="2000" b="1" i="0">
                <a:solidFill>
                  <a:srgbClr val="FFFFFF"/>
                </a:solidFill>
                <a:latin typeface="Arial"/>
              </a:rPr>
              <a:t>D</a:t>
            </a:r>
          </a:p>
        </p:txBody>
      </p:sp>
      <p:sp>
        <p:nvSpPr>
          <p:cNvPr id="46" name="TextBox 45"/>
          <p:cNvSpPr txBox="1"/>
          <p:nvPr/>
        </p:nvSpPr>
        <p:spPr>
          <a:xfrm>
            <a:off x="9802368" y="5120640"/>
            <a:ext cx="1755648" cy="777240"/>
          </a:xfrm>
          <a:prstGeom prst="rect">
            <a:avLst/>
          </a:prstGeom>
          <a:noFill/>
        </p:spPr>
        <p:txBody>
          <a:bodyPr wrap="square" anchor="ctr" lIns="45720" rIns="45720" tIns="18288" bIns="18288">
            <a:spAutoFit/>
          </a:bodyPr>
          <a:lstStyle/>
          <a:p>
            <a:pPr algn="l">
              <a:lnSpc>
                <a:spcPct val="110000"/>
              </a:lnSpc>
            </a:pPr>
            <a:r>
              <a:rPr sz="2400" b="1" i="0">
                <a:solidFill>
                  <a:srgbClr val="1F1F24"/>
                </a:solidFill>
                <a:latin typeface="Arial"/>
              </a:rPr>
              <a:t>can't tell</a:t>
            </a:r>
          </a:p>
        </p:txBody>
      </p:sp>
      <p:sp>
        <p:nvSpPr>
          <p:cNvPr id="198" name="TextBox 197"/>
          <p:cNvSpPr txBox="1"/>
          <p:nvPr/>
        </p:nvSpPr>
        <p:spPr>
          <a:xfrm>
            <a:off x="11109960" y="6327648"/>
            <a:ext cx="685800" cy="365760"/>
          </a:xfrm>
          <a:prstGeom prst="rect">
            <a:avLst/>
          </a:prstGeom>
          <a:noFill/>
        </p:spPr>
        <p:txBody>
          <a:bodyPr wrap="none" rIns="18288">
            <a:spAutoFit/>
          </a:bodyPr>
          <a:lstStyle/>
          <a:p>
            <a:pPr algn="r"/>
            <a:fld id="{B6F15528-21DE-4FAA-801E-634DDDAF4B03}" type="slidenum">
              <a:rPr lang="en-US" sz="1200" b="1">
                <a:solidFill>
                  <a:srgbClr val="991346"/>
                </a:solidFill>
                <a:latin typeface="Aria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0" fill="hold">
                      <p:stCondLst>
                        <p:cond delay="indefinite"/>
                      </p:stCondLst>
                      <p:childTnLst>
                        <p:par>
                          <p:cTn id="41"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3" dur="450"/>
                                        <p:tgtEl>
                                          <p:spTgt spid="4"/>
                                        </p:tgtEl>
                                      </p:cBhvr>
                                    </p:animEffect>
                                    <p:anim calcmode="lin" valueType="num">
                                      <p:cBhvr>
                                        <p:cTn id="4" dur="450" fill="hold"/>
                                        <p:tgtEl>
                                          <p:spTgt spid="4"/>
                                        </p:tgtEl>
                                        <p:attrNameLst>
                                          <p:attrName>ppt_y</p:attrName>
                                        </p:attrNameLst>
                                      </p:cBhvr>
                                      <p:tavLst>
                                        <p:tav tm="0">
                                          <p:val>
                                            <p:strVal val="#ppt_y+0.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p:cTn id="8" dur="450" fill="hold"/>
                                        <p:tgtEl>
                                          <p:spTgt spid="5"/>
                                        </p:tgtEl>
                                        <p:attrNameLst>
                                          <p:attrName>ppt_y</p:attrName>
                                        </p:attrNameLst>
                                      </p:cBhvr>
                                      <p:tavLst>
                                        <p:tav tm="0">
                                          <p:val>
                                            <p:strVal val="#ppt_y+0.05"/>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anim calcmode="lin" valueType="num">
                                      <p:cBhvr>
                                        <p:cTn id="12" dur="450" fill="hold"/>
                                        <p:tgtEl>
                                          <p:spTgt spid="6"/>
                                        </p:tgtEl>
                                        <p:attrNameLst>
                                          <p:attrName>ppt_y</p:attrName>
                                        </p:attrNameLst>
                                      </p:cBhvr>
                                      <p:tavLst>
                                        <p:tav tm="0">
                                          <p:val>
                                            <p:strVal val="#ppt_y+0.05"/>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anim calcmode="lin" valueType="num">
                                      <p:cBhvr>
                                        <p:cTn id="16" dur="450" fill="hold"/>
                                        <p:tgtEl>
                                          <p:spTgt spid="7"/>
                                        </p:tgtEl>
                                        <p:attrNameLst>
                                          <p:attrName>ppt_y</p:attrName>
                                        </p:attrNameLst>
                                      </p:cBhvr>
                                      <p:tavLst>
                                        <p:tav tm="0">
                                          <p:val>
                                            <p:strVal val="#ppt_y+0.05"/>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anim calcmode="lin" valueType="num">
                                      <p:cBhvr>
                                        <p:cTn id="20" dur="450" fill="hold"/>
                                        <p:tgtEl>
                                          <p:spTgt spid="11"/>
                                        </p:tgtEl>
                                        <p:attrNameLst>
                                          <p:attrName>ppt_y</p:attrName>
                                        </p:attrNameLst>
                                      </p:cBhvr>
                                      <p:tavLst>
                                        <p:tav tm="0">
                                          <p:val>
                                            <p:strVal val="#ppt_y+0.05"/>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anim calcmode="lin" valueType="num">
                                      <p:cBhvr>
                                        <p:cTn id="24" dur="450" fill="hold"/>
                                        <p:tgtEl>
                                          <p:spTgt spid="12"/>
                                        </p:tgtEl>
                                        <p:attrNameLst>
                                          <p:attrName>ppt_y</p:attrName>
                                        </p:attrNameLst>
                                      </p:cBhvr>
                                      <p:tavLst>
                                        <p:tav tm="0">
                                          <p:val>
                                            <p:strVal val="#ppt_y+0.05"/>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anim calcmode="lin" valueType="num">
                                      <p:cBhvr>
                                        <p:cTn id="28" dur="450" fill="hold"/>
                                        <p:tgtEl>
                                          <p:spTgt spid="13"/>
                                        </p:tgtEl>
                                        <p:attrNameLst>
                                          <p:attrName>ppt_y</p:attrName>
                                        </p:attrNameLst>
                                      </p:cBhvr>
                                      <p:tavLst>
                                        <p:tav tm="0">
                                          <p:val>
                                            <p:strVal val="#ppt_y+0.05"/>
                                          </p:val>
                                        </p:tav>
                                        <p:tav tm="100000">
                                          <p:val>
                                            <p:strVal val="#ppt_y"/>
                                          </p:val>
                                        </p:tav>
                                      </p:tavLst>
                                    </p:anim>
                                  </p:childTnLst>
                                </p:cTn>
                              </p:par>
                              <p:par>
                                <p:cTn id="32" presetID="21" presetClass="entr" presetSubtype="1"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heel(1)">
                                      <p:cBhvr>
                                        <p:cTn id="31" dur="7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4" dur="300"/>
                                        <p:tgtEl>
                                          <p:spTgt spid="9"/>
                                        </p:tgtEl>
                                      </p:cBhvr>
                                    </p:animEffect>
                                  </p:childTnLst>
                                </p:cTn>
                              </p:par>
                              <p:par>
                                <p:cTn id="38" presetID="10"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37" dur="300"/>
                                        <p:tgtEl>
                                          <p:spTgt spid="10"/>
                                        </p:tgtEl>
                                      </p:cBhvr>
                                    </p:animEffect>
                                  </p:childTnLst>
                                </p:cTn>
                              </p:par>
                            </p:childTnLst>
                          </p:cTn>
                        </p:par>
                      </p:childTnLst>
                    </p:cTn>
                  </p:par>
                  <p:par>
                    <p:cTn id="79" fill="hold">
                      <p:stCondLst>
                        <p:cond delay="indefinite"/>
                      </p:stCondLst>
                      <p:childTnLst>
                        <p:par>
                          <p:cTn id="80"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2" dur="450"/>
                                        <p:tgtEl>
                                          <p:spTgt spid="14"/>
                                        </p:tgtEl>
                                      </p:cBhvr>
                                    </p:animEffect>
                                    <p:anim calcmode="lin" valueType="num">
                                      <p:cBhvr>
                                        <p:cTn id="43" dur="450" fill="hold"/>
                                        <p:tgtEl>
                                          <p:spTgt spid="14"/>
                                        </p:tgtEl>
                                        <p:attrNameLst>
                                          <p:attrName>ppt_y</p:attrName>
                                        </p:attrNameLst>
                                      </p:cBhvr>
                                      <p:tavLst>
                                        <p:tav tm="0">
                                          <p:val>
                                            <p:strVal val="#ppt_y+0.05"/>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anim calcmode="lin" valueType="num">
                                      <p:cBhvr>
                                        <p:cTn id="47" dur="450" fill="hold"/>
                                        <p:tgtEl>
                                          <p:spTgt spid="15"/>
                                        </p:tgtEl>
                                        <p:attrNameLst>
                                          <p:attrName>ppt_y</p:attrName>
                                        </p:attrNameLst>
                                      </p:cBhvr>
                                      <p:tavLst>
                                        <p:tav tm="0">
                                          <p:val>
                                            <p:strVal val="#ppt_y+0.05"/>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0" dur="450"/>
                                        <p:tgtEl>
                                          <p:spTgt spid="16"/>
                                        </p:tgtEl>
                                      </p:cBhvr>
                                    </p:animEffect>
                                    <p:anim calcmode="lin" valueType="num">
                                      <p:cBhvr>
                                        <p:cTn id="51" dur="450" fill="hold"/>
                                        <p:tgtEl>
                                          <p:spTgt spid="16"/>
                                        </p:tgtEl>
                                        <p:attrNameLst>
                                          <p:attrName>ppt_y</p:attrName>
                                        </p:attrNameLst>
                                      </p:cBhvr>
                                      <p:tavLst>
                                        <p:tav tm="0">
                                          <p:val>
                                            <p:strVal val="#ppt_y+0.05"/>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ppt_y</p:attrName>
                                        </p:attrNameLst>
                                      </p:cBhvr>
                                      <p:tavLst>
                                        <p:tav tm="0">
                                          <p:val>
                                            <p:strVal val="#ppt_y+0.05"/>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anim calcmode="lin" valueType="num">
                                      <p:cBhvr>
                                        <p:cTn id="59" dur="450" fill="hold"/>
                                        <p:tgtEl>
                                          <p:spTgt spid="21"/>
                                        </p:tgtEl>
                                        <p:attrNameLst>
                                          <p:attrName>ppt_y</p:attrName>
                                        </p:attrNameLst>
                                      </p:cBhvr>
                                      <p:tavLst>
                                        <p:tav tm="0">
                                          <p:val>
                                            <p:strVal val="#ppt_y+0.05"/>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anim calcmode="lin" valueType="num">
                                      <p:cBhvr>
                                        <p:cTn id="63" dur="450" fill="hold"/>
                                        <p:tgtEl>
                                          <p:spTgt spid="22"/>
                                        </p:tgtEl>
                                        <p:attrNameLst>
                                          <p:attrName>ppt_y</p:attrName>
                                        </p:attrNameLst>
                                      </p:cBhvr>
                                      <p:tavLst>
                                        <p:tav tm="0">
                                          <p:val>
                                            <p:strVal val="#ppt_y+0.05"/>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66" dur="450"/>
                                        <p:tgtEl>
                                          <p:spTgt spid="23"/>
                                        </p:tgtEl>
                                      </p:cBhvr>
                                    </p:animEffect>
                                    <p:anim calcmode="lin" valueType="num">
                                      <p:cBhvr>
                                        <p:cTn id="67" dur="450" fill="hold"/>
                                        <p:tgtEl>
                                          <p:spTgt spid="23"/>
                                        </p:tgtEl>
                                        <p:attrNameLst>
                                          <p:attrName>ppt_y</p:attrName>
                                        </p:attrNameLst>
                                      </p:cBhvr>
                                      <p:tavLst>
                                        <p:tav tm="0">
                                          <p:val>
                                            <p:strVal val="#ppt_y+0.05"/>
                                          </p:val>
                                        </p:tav>
                                        <p:tav tm="100000">
                                          <p:val>
                                            <p:strVal val="#ppt_y"/>
                                          </p:val>
                                        </p:tav>
                                      </p:tavLst>
                                    </p:anim>
                                  </p:childTnLst>
                                </p:cTn>
                              </p:par>
                              <p:par>
                                <p:cTn id="71" presetID="21" presetClass="entr" presetSubtype="1" fill="hold"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heel(1)">
                                      <p:cBhvr>
                                        <p:cTn id="70" dur="1600"/>
                                        <p:tgtEl>
                                          <p:spTgt spid="18"/>
                                        </p:tgtEl>
                                      </p:cBhvr>
                                    </p:animEffect>
                                  </p:childTnLst>
                                </p:cTn>
                              </p:par>
                              <p:par>
                                <p:cTn id="74" presetID="10" presetClass="entr" presetSubtype="0" fill="hold"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3" dur="300"/>
                                        <p:tgtEl>
                                          <p:spTgt spid="19"/>
                                        </p:tgtEl>
                                      </p:cBhvr>
                                    </p:animEffect>
                                  </p:childTnLst>
                                </p:cTn>
                              </p:par>
                              <p:par>
                                <p:cTn id="77" presetID="10" presetClass="entr" presetSubtype="0" fill="hold" nodeType="with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6" dur="300"/>
                                        <p:tgtEl>
                                          <p:spTgt spid="20"/>
                                        </p:tgtEl>
                                      </p:cBhvr>
                                    </p:animEffect>
                                  </p:childTnLst>
                                </p:cTn>
                              </p:par>
                            </p:childTnLst>
                          </p:cTn>
                        </p:par>
                      </p:childTnLst>
                    </p:cTn>
                  </p:par>
                  <p:par>
                    <p:cTn id="111" fill="hold">
                      <p:stCondLst>
                        <p:cond delay="indefinite"/>
                      </p:stCondLst>
                      <p:childTnLst>
                        <p:par>
                          <p:cTn id="112" fill="hold">
                            <p:stCondLst>
                              <p:cond delay="0"/>
                            </p:stCondLst>
                            <p:childTnLst>
                              <p:par>
                                <p:cTn id="84" presetID="53" presetClass="entr" presetSubtype="16" fill="hold" nodeType="after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1" dur="300"/>
                                        <p:tgtEl>
                                          <p:spTgt spid="24"/>
                                        </p:tgtEl>
                                      </p:cBhvr>
                                    </p:animEffect>
                                    <p:anim calcmode="lin" valueType="num">
                                      <p:cBhvr>
                                        <p:cTn id="82" dur="300" fill="hold"/>
                                        <p:tgtEl>
                                          <p:spTgt spid="24"/>
                                        </p:tgtEl>
                                        <p:attrNameLst>
                                          <p:attrName>ppt_w</p:attrName>
                                        </p:attrNameLst>
                                      </p:cBhvr>
                                      <p:tavLst>
                                        <p:tav tm="0">
                                          <p:val>
                                            <p:strVal val="0"/>
                                          </p:val>
                                        </p:tav>
                                        <p:tav tm="100000">
                                          <p:val>
                                            <p:strVal val="#ppt_w"/>
                                          </p:val>
                                        </p:tav>
                                      </p:tavLst>
                                    </p:anim>
                                    <p:anim calcmode="lin" valueType="num">
                                      <p:cBhvr>
                                        <p:cTn id="83" dur="300" fill="hold"/>
                                        <p:tgtEl>
                                          <p:spTgt spid="24"/>
                                        </p:tgtEl>
                                        <p:attrNameLst>
                                          <p:attrName>ppt_h</p:attrName>
                                        </p:attrNameLst>
                                      </p:cBhvr>
                                      <p:tavLst>
                                        <p:tav tm="0">
                                          <p:val>
                                            <p:strVal val="0"/>
                                          </p:val>
                                        </p:tav>
                                        <p:tav tm="100000">
                                          <p:val>
                                            <p:strVal val="#ppt_h"/>
                                          </p:val>
                                        </p:tav>
                                      </p:tavLst>
                                    </p:anim>
                                  </p:childTnLst>
                                </p:cTn>
                              </p:par>
                              <p:par>
                                <p:cTn id="89" presetID="53" presetClass="entr" presetSubtype="16" fill="hold" nodeType="withEffect">
                                  <p:stCondLst>
                                    <p:cond delay="180"/>
                                  </p:stCondLst>
                                  <p:childTnLst>
                                    <p:set>
                                      <p:cBhvr>
                                        <p:cTn id="90" dur="1" fill="hold">
                                          <p:stCondLst>
                                            <p:cond delay="0"/>
                                          </p:stCondLst>
                                        </p:cTn>
                                        <p:tgtEl>
                                          <p:spTgt spid="25"/>
                                        </p:tgtEl>
                                        <p:attrNameLst>
                                          <p:attrName>style.visibility</p:attrName>
                                        </p:attrNameLst>
                                      </p:cBhvr>
                                      <p:to>
                                        <p:strVal val="visible"/>
                                      </p:to>
                                    </p:set>
                                    <p:animEffect transition="in" filter="fade">
                                      <p:cBhvr>
                                        <p:cTn id="86" dur="300"/>
                                        <p:tgtEl>
                                          <p:spTgt spid="25"/>
                                        </p:tgtEl>
                                      </p:cBhvr>
                                    </p:animEffect>
                                    <p:anim calcmode="lin" valueType="num">
                                      <p:cBhvr>
                                        <p:cTn id="87" dur="300" fill="hold"/>
                                        <p:tgtEl>
                                          <p:spTgt spid="25"/>
                                        </p:tgtEl>
                                        <p:attrNameLst>
                                          <p:attrName>ppt_w</p:attrName>
                                        </p:attrNameLst>
                                      </p:cBhvr>
                                      <p:tavLst>
                                        <p:tav tm="0">
                                          <p:val>
                                            <p:strVal val="0"/>
                                          </p:val>
                                        </p:tav>
                                        <p:tav tm="100000">
                                          <p:val>
                                            <p:strVal val="#ppt_w"/>
                                          </p:val>
                                        </p:tav>
                                      </p:tavLst>
                                    </p:anim>
                                    <p:anim calcmode="lin" valueType="num">
                                      <p:cBhvr>
                                        <p:cTn id="88" dur="300" fill="hold"/>
                                        <p:tgtEl>
                                          <p:spTgt spid="25"/>
                                        </p:tgtEl>
                                        <p:attrNameLst>
                                          <p:attrName>ppt_h</p:attrName>
                                        </p:attrNameLst>
                                      </p:cBhvr>
                                      <p:tavLst>
                                        <p:tav tm="0">
                                          <p:val>
                                            <p:strVal val="0"/>
                                          </p:val>
                                        </p:tav>
                                        <p:tav tm="100000">
                                          <p:val>
                                            <p:strVal val="#ppt_h"/>
                                          </p:val>
                                        </p:tav>
                                      </p:tavLst>
                                    </p:anim>
                                  </p:childTnLst>
                                </p:cTn>
                              </p:par>
                              <p:par>
                                <p:cTn id="94" presetID="53" presetClass="entr" presetSubtype="16" fill="hold" nodeType="withEffect">
                                  <p:stCondLst>
                                    <p:cond delay="360"/>
                                  </p:stCondLst>
                                  <p:childTnLst>
                                    <p:set>
                                      <p:cBhvr>
                                        <p:cTn id="95" dur="1" fill="hold">
                                          <p:stCondLst>
                                            <p:cond delay="0"/>
                                          </p:stCondLst>
                                        </p:cTn>
                                        <p:tgtEl>
                                          <p:spTgt spid="26"/>
                                        </p:tgtEl>
                                        <p:attrNameLst>
                                          <p:attrName>style.visibility</p:attrName>
                                        </p:attrNameLst>
                                      </p:cBhvr>
                                      <p:to>
                                        <p:strVal val="visible"/>
                                      </p:to>
                                    </p:set>
                                    <p:animEffect transition="in" filter="fade">
                                      <p:cBhvr>
                                        <p:cTn id="91" dur="300"/>
                                        <p:tgtEl>
                                          <p:spTgt spid="26"/>
                                        </p:tgtEl>
                                      </p:cBhvr>
                                    </p:animEffect>
                                    <p:anim calcmode="lin" valueType="num">
                                      <p:cBhvr>
                                        <p:cTn id="92" dur="300" fill="hold"/>
                                        <p:tgtEl>
                                          <p:spTgt spid="26"/>
                                        </p:tgtEl>
                                        <p:attrNameLst>
                                          <p:attrName>ppt_w</p:attrName>
                                        </p:attrNameLst>
                                      </p:cBhvr>
                                      <p:tavLst>
                                        <p:tav tm="0">
                                          <p:val>
                                            <p:strVal val="0"/>
                                          </p:val>
                                        </p:tav>
                                        <p:tav tm="100000">
                                          <p:val>
                                            <p:strVal val="#ppt_w"/>
                                          </p:val>
                                        </p:tav>
                                      </p:tavLst>
                                    </p:anim>
                                    <p:anim calcmode="lin" valueType="num">
                                      <p:cBhvr>
                                        <p:cTn id="93" dur="300" fill="hold"/>
                                        <p:tgtEl>
                                          <p:spTgt spid="26"/>
                                        </p:tgtEl>
                                        <p:attrNameLst>
                                          <p:attrName>ppt_h</p:attrName>
                                        </p:attrNameLst>
                                      </p:cBhvr>
                                      <p:tavLst>
                                        <p:tav tm="0">
                                          <p:val>
                                            <p:strVal val="0"/>
                                          </p:val>
                                        </p:tav>
                                        <p:tav tm="100000">
                                          <p:val>
                                            <p:strVal val="#ppt_h"/>
                                          </p:val>
                                        </p:tav>
                                      </p:tavLst>
                                    </p:anim>
                                  </p:childTnLst>
                                </p:cTn>
                              </p:par>
                              <p:par>
                                <p:cTn id="99" presetID="53" presetClass="entr" presetSubtype="16" fill="hold" nodeType="withEffect">
                                  <p:stCondLst>
                                    <p:cond delay="540"/>
                                  </p:stCondLst>
                                  <p:childTnLst>
                                    <p:set>
                                      <p:cBhvr>
                                        <p:cTn id="100" dur="1" fill="hold">
                                          <p:stCondLst>
                                            <p:cond delay="0"/>
                                          </p:stCondLst>
                                        </p:cTn>
                                        <p:tgtEl>
                                          <p:spTgt spid="27"/>
                                        </p:tgtEl>
                                        <p:attrNameLst>
                                          <p:attrName>style.visibility</p:attrName>
                                        </p:attrNameLst>
                                      </p:cBhvr>
                                      <p:to>
                                        <p:strVal val="visible"/>
                                      </p:to>
                                    </p:set>
                                    <p:animEffect transition="in" filter="fade">
                                      <p:cBhvr>
                                        <p:cTn id="96" dur="300"/>
                                        <p:tgtEl>
                                          <p:spTgt spid="27"/>
                                        </p:tgtEl>
                                      </p:cBhvr>
                                    </p:animEffect>
                                    <p:anim calcmode="lin" valueType="num">
                                      <p:cBhvr>
                                        <p:cTn id="97" dur="300" fill="hold"/>
                                        <p:tgtEl>
                                          <p:spTgt spid="27"/>
                                        </p:tgtEl>
                                        <p:attrNameLst>
                                          <p:attrName>ppt_w</p:attrName>
                                        </p:attrNameLst>
                                      </p:cBhvr>
                                      <p:tavLst>
                                        <p:tav tm="0">
                                          <p:val>
                                            <p:strVal val="0"/>
                                          </p:val>
                                        </p:tav>
                                        <p:tav tm="100000">
                                          <p:val>
                                            <p:strVal val="#ppt_w"/>
                                          </p:val>
                                        </p:tav>
                                      </p:tavLst>
                                    </p:anim>
                                    <p:anim calcmode="lin" valueType="num">
                                      <p:cBhvr>
                                        <p:cTn id="98" dur="300" fill="hold"/>
                                        <p:tgtEl>
                                          <p:spTgt spid="27"/>
                                        </p:tgtEl>
                                        <p:attrNameLst>
                                          <p:attrName>ppt_h</p:attrName>
                                        </p:attrNameLst>
                                      </p:cBhvr>
                                      <p:tavLst>
                                        <p:tav tm="0">
                                          <p:val>
                                            <p:strVal val="0"/>
                                          </p:val>
                                        </p:tav>
                                        <p:tav tm="100000">
                                          <p:val>
                                            <p:strVal val="#ppt_h"/>
                                          </p:val>
                                        </p:tav>
                                      </p:tavLst>
                                    </p:anim>
                                  </p:childTnLst>
                                </p:cTn>
                              </p:par>
                              <p:par>
                                <p:cTn id="104" presetID="53" presetClass="entr" presetSubtype="16" fill="hold" nodeType="withEffect">
                                  <p:stCondLst>
                                    <p:cond delay="72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1" dur="300"/>
                                        <p:tgtEl>
                                          <p:spTgt spid="28"/>
                                        </p:tgtEl>
                                      </p:cBhvr>
                                    </p:animEffect>
                                    <p:anim calcmode="lin" valueType="num">
                                      <p:cBhvr>
                                        <p:cTn id="102" dur="300" fill="hold"/>
                                        <p:tgtEl>
                                          <p:spTgt spid="28"/>
                                        </p:tgtEl>
                                        <p:attrNameLst>
                                          <p:attrName>ppt_w</p:attrName>
                                        </p:attrNameLst>
                                      </p:cBhvr>
                                      <p:tavLst>
                                        <p:tav tm="0">
                                          <p:val>
                                            <p:strVal val="0"/>
                                          </p:val>
                                        </p:tav>
                                        <p:tav tm="100000">
                                          <p:val>
                                            <p:strVal val="#ppt_w"/>
                                          </p:val>
                                        </p:tav>
                                      </p:tavLst>
                                    </p:anim>
                                    <p:anim calcmode="lin" valueType="num">
                                      <p:cBhvr>
                                        <p:cTn id="103" dur="300" fill="hold"/>
                                        <p:tgtEl>
                                          <p:spTgt spid="28"/>
                                        </p:tgtEl>
                                        <p:attrNameLst>
                                          <p:attrName>ppt_h</p:attrName>
                                        </p:attrNameLst>
                                      </p:cBhvr>
                                      <p:tavLst>
                                        <p:tav tm="0">
                                          <p:val>
                                            <p:strVal val="0"/>
                                          </p:val>
                                        </p:tav>
                                        <p:tav tm="100000">
                                          <p:val>
                                            <p:strVal val="#ppt_h"/>
                                          </p:val>
                                        </p:tav>
                                      </p:tavLst>
                                    </p:anim>
                                  </p:childTnLst>
                                </p:cTn>
                              </p:par>
                              <p:par>
                                <p:cTn id="109" presetID="53" presetClass="entr" presetSubtype="16" fill="hold" nodeType="withEffect">
                                  <p:stCondLst>
                                    <p:cond delay="900"/>
                                  </p:stCondLst>
                                  <p:childTnLst>
                                    <p:set>
                                      <p:cBhvr>
                                        <p:cTn id="110" dur="1" fill="hold">
                                          <p:stCondLst>
                                            <p:cond delay="0"/>
                                          </p:stCondLst>
                                        </p:cTn>
                                        <p:tgtEl>
                                          <p:spTgt spid="29"/>
                                        </p:tgtEl>
                                        <p:attrNameLst>
                                          <p:attrName>style.visibility</p:attrName>
                                        </p:attrNameLst>
                                      </p:cBhvr>
                                      <p:to>
                                        <p:strVal val="visible"/>
                                      </p:to>
                                    </p:set>
                                    <p:animEffect transition="in" filter="fade">
                                      <p:cBhvr>
                                        <p:cTn id="106" dur="300"/>
                                        <p:tgtEl>
                                          <p:spTgt spid="29"/>
                                        </p:tgtEl>
                                      </p:cBhvr>
                                    </p:animEffect>
                                    <p:anim calcmode="lin" valueType="num">
                                      <p:cBhvr>
                                        <p:cTn id="107" dur="300" fill="hold"/>
                                        <p:tgtEl>
                                          <p:spTgt spid="29"/>
                                        </p:tgtEl>
                                        <p:attrNameLst>
                                          <p:attrName>ppt_w</p:attrName>
                                        </p:attrNameLst>
                                      </p:cBhvr>
                                      <p:tavLst>
                                        <p:tav tm="0">
                                          <p:val>
                                            <p:strVal val="0"/>
                                          </p:val>
                                        </p:tav>
                                        <p:tav tm="100000">
                                          <p:val>
                                            <p:strVal val="#ppt_w"/>
                                          </p:val>
                                        </p:tav>
                                      </p:tavLst>
                                    </p:anim>
                                    <p:anim calcmode="lin" valueType="num">
                                      <p:cBhvr>
                                        <p:cTn id="108" dur="300" fill="hold"/>
                                        <p:tgtEl>
                                          <p:spTgt spid="29"/>
                                        </p:tgtEl>
                                        <p:attrNameLst>
                                          <p:attrName>ppt_h</p:attrName>
                                        </p:attrNameLst>
                                      </p:cBhvr>
                                      <p:tavLst>
                                        <p:tav tm="0">
                                          <p:val>
                                            <p:strVal val="0"/>
                                          </p:val>
                                        </p:tav>
                                        <p:tav tm="100000">
                                          <p:val>
                                            <p:strVal val="#ppt_h"/>
                                          </p:val>
                                        </p:tav>
                                      </p:tavLst>
                                    </p:anim>
                                  </p:childTnLst>
                                </p:cTn>
                              </p:par>
                            </p:childTnLst>
                          </p:cTn>
                        </p:par>
                      </p:childTnLst>
                    </p:cTn>
                  </p:par>
                  <p:par>
                    <p:cTn id="196" fill="hold">
                      <p:stCondLst>
                        <p:cond delay="indefinite"/>
                      </p:stCondLst>
                      <p:childTnLst>
                        <p:par>
                          <p:cTn id="197"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30"/>
                                        </p:tgtEl>
                                        <p:attrNameLst>
                                          <p:attrName>style.visibility</p:attrName>
                                        </p:attrNameLst>
                                      </p:cBhvr>
                                      <p:to>
                                        <p:strVal val="visible"/>
                                      </p:to>
                                    </p:set>
                                    <p:animEffect transition="in" filter="fade">
                                      <p:cBhvr>
                                        <p:cTn id="113" dur="300"/>
                                        <p:tgtEl>
                                          <p:spTgt spid="30"/>
                                        </p:tgtEl>
                                      </p:cBhvr>
                                    </p:animEffect>
                                  </p:childTnLst>
                                </p:cTn>
                              </p:par>
                              <p:par>
                                <p:cTn id="119" presetID="53" presetClass="entr" presetSubtype="16" fill="hold" nodeType="withEffect">
                                  <p:stCondLst>
                                    <p:cond delay="0"/>
                                  </p:stCondLst>
                                  <p:childTnLst>
                                    <p:set>
                                      <p:cBhvr>
                                        <p:cTn id="120" dur="1" fill="hold">
                                          <p:stCondLst>
                                            <p:cond delay="0"/>
                                          </p:stCondLst>
                                        </p:cTn>
                                        <p:tgtEl>
                                          <p:spTgt spid="31"/>
                                        </p:tgtEl>
                                        <p:attrNameLst>
                                          <p:attrName>style.visibility</p:attrName>
                                        </p:attrNameLst>
                                      </p:cBhvr>
                                      <p:to>
                                        <p:strVal val="visible"/>
                                      </p:to>
                                    </p:set>
                                    <p:animEffect transition="in" filter="fade">
                                      <p:cBhvr>
                                        <p:cTn id="116" dur="350"/>
                                        <p:tgtEl>
                                          <p:spTgt spid="31"/>
                                        </p:tgtEl>
                                      </p:cBhvr>
                                    </p:animEffect>
                                    <p:anim calcmode="lin" valueType="num">
                                      <p:cBhvr>
                                        <p:cTn id="117" dur="350" fill="hold"/>
                                        <p:tgtEl>
                                          <p:spTgt spid="31"/>
                                        </p:tgtEl>
                                        <p:attrNameLst>
                                          <p:attrName>ppt_w</p:attrName>
                                        </p:attrNameLst>
                                      </p:cBhvr>
                                      <p:tavLst>
                                        <p:tav tm="0">
                                          <p:val>
                                            <p:strVal val="0"/>
                                          </p:val>
                                        </p:tav>
                                        <p:tav tm="100000">
                                          <p:val>
                                            <p:strVal val="#ppt_w"/>
                                          </p:val>
                                        </p:tav>
                                      </p:tavLst>
                                    </p:anim>
                                    <p:anim calcmode="lin" valueType="num">
                                      <p:cBhvr>
                                        <p:cTn id="118" dur="350" fill="hold"/>
                                        <p:tgtEl>
                                          <p:spTgt spid="31"/>
                                        </p:tgtEl>
                                        <p:attrNameLst>
                                          <p:attrName>ppt_h</p:attrName>
                                        </p:attrNameLst>
                                      </p:cBhvr>
                                      <p:tavLst>
                                        <p:tav tm="0">
                                          <p:val>
                                            <p:strVal val="0"/>
                                          </p:val>
                                        </p:tav>
                                        <p:tav tm="100000">
                                          <p:val>
                                            <p:strVal val="#ppt_h"/>
                                          </p:val>
                                        </p:tav>
                                      </p:tavLst>
                                    </p:anim>
                                  </p:childTnLst>
                                </p:cTn>
                              </p:par>
                              <p:par>
                                <p:cTn id="124" presetID="53" presetClass="entr" presetSubtype="16" fill="hold" nodeType="withEffect">
                                  <p:stCondLst>
                                    <p:cond delay="200"/>
                                  </p:stCondLst>
                                  <p:childTnLst>
                                    <p:set>
                                      <p:cBhvr>
                                        <p:cTn id="125" dur="1" fill="hold">
                                          <p:stCondLst>
                                            <p:cond delay="0"/>
                                          </p:stCondLst>
                                        </p:cTn>
                                        <p:tgtEl>
                                          <p:spTgt spid="32"/>
                                        </p:tgtEl>
                                        <p:attrNameLst>
                                          <p:attrName>style.visibility</p:attrName>
                                        </p:attrNameLst>
                                      </p:cBhvr>
                                      <p:to>
                                        <p:strVal val="visible"/>
                                      </p:to>
                                    </p:set>
                                    <p:animEffect transition="in" filter="fade">
                                      <p:cBhvr>
                                        <p:cTn id="121" dur="350"/>
                                        <p:tgtEl>
                                          <p:spTgt spid="32"/>
                                        </p:tgtEl>
                                      </p:cBhvr>
                                    </p:animEffect>
                                    <p:anim calcmode="lin" valueType="num">
                                      <p:cBhvr>
                                        <p:cTn id="122" dur="350" fill="hold"/>
                                        <p:tgtEl>
                                          <p:spTgt spid="32"/>
                                        </p:tgtEl>
                                        <p:attrNameLst>
                                          <p:attrName>ppt_w</p:attrName>
                                        </p:attrNameLst>
                                      </p:cBhvr>
                                      <p:tavLst>
                                        <p:tav tm="0">
                                          <p:val>
                                            <p:strVal val="0"/>
                                          </p:val>
                                        </p:tav>
                                        <p:tav tm="100000">
                                          <p:val>
                                            <p:strVal val="#ppt_w"/>
                                          </p:val>
                                        </p:tav>
                                      </p:tavLst>
                                    </p:anim>
                                    <p:anim calcmode="lin" valueType="num">
                                      <p:cBhvr>
                                        <p:cTn id="123" dur="350" fill="hold"/>
                                        <p:tgtEl>
                                          <p:spTgt spid="32"/>
                                        </p:tgtEl>
                                        <p:attrNameLst>
                                          <p:attrName>ppt_h</p:attrName>
                                        </p:attrNameLst>
                                      </p:cBhvr>
                                      <p:tavLst>
                                        <p:tav tm="0">
                                          <p:val>
                                            <p:strVal val="0"/>
                                          </p:val>
                                        </p:tav>
                                        <p:tav tm="100000">
                                          <p:val>
                                            <p:strVal val="#ppt_h"/>
                                          </p:val>
                                        </p:tav>
                                      </p:tavLst>
                                    </p:anim>
                                  </p:childTnLst>
                                </p:cTn>
                              </p:par>
                              <p:par>
                                <p:cTn id="129" presetID="53" presetClass="entr" presetSubtype="16" fill="hold" nodeType="withEffect">
                                  <p:stCondLst>
                                    <p:cond delay="40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26" dur="350"/>
                                        <p:tgtEl>
                                          <p:spTgt spid="33"/>
                                        </p:tgtEl>
                                      </p:cBhvr>
                                    </p:animEffect>
                                    <p:anim calcmode="lin" valueType="num">
                                      <p:cBhvr>
                                        <p:cTn id="127" dur="350" fill="hold"/>
                                        <p:tgtEl>
                                          <p:spTgt spid="33"/>
                                        </p:tgtEl>
                                        <p:attrNameLst>
                                          <p:attrName>ppt_w</p:attrName>
                                        </p:attrNameLst>
                                      </p:cBhvr>
                                      <p:tavLst>
                                        <p:tav tm="0">
                                          <p:val>
                                            <p:strVal val="0"/>
                                          </p:val>
                                        </p:tav>
                                        <p:tav tm="100000">
                                          <p:val>
                                            <p:strVal val="#ppt_w"/>
                                          </p:val>
                                        </p:tav>
                                      </p:tavLst>
                                    </p:anim>
                                    <p:anim calcmode="lin" valueType="num">
                                      <p:cBhvr>
                                        <p:cTn id="128" dur="350" fill="hold"/>
                                        <p:tgtEl>
                                          <p:spTgt spid="33"/>
                                        </p:tgtEl>
                                        <p:attrNameLst>
                                          <p:attrName>ppt_h</p:attrName>
                                        </p:attrNameLst>
                                      </p:cBhvr>
                                      <p:tavLst>
                                        <p:tav tm="0">
                                          <p:val>
                                            <p:strVal val="0"/>
                                          </p:val>
                                        </p:tav>
                                        <p:tav tm="100000">
                                          <p:val>
                                            <p:strVal val="#ppt_h"/>
                                          </p:val>
                                        </p:tav>
                                      </p:tavLst>
                                    </p:anim>
                                  </p:childTnLst>
                                </p:cTn>
                              </p:par>
                              <p:par>
                                <p:cTn id="134" presetID="53" presetClass="entr" presetSubtype="16" fill="hold" nodeType="withEffect">
                                  <p:stCondLst>
                                    <p:cond delay="600"/>
                                  </p:stCondLst>
                                  <p:childTnLst>
                                    <p:set>
                                      <p:cBhvr>
                                        <p:cTn id="135" dur="1" fill="hold">
                                          <p:stCondLst>
                                            <p:cond delay="0"/>
                                          </p:stCondLst>
                                        </p:cTn>
                                        <p:tgtEl>
                                          <p:spTgt spid="34"/>
                                        </p:tgtEl>
                                        <p:attrNameLst>
                                          <p:attrName>style.visibility</p:attrName>
                                        </p:attrNameLst>
                                      </p:cBhvr>
                                      <p:to>
                                        <p:strVal val="visible"/>
                                      </p:to>
                                    </p:set>
                                    <p:animEffect transition="in" filter="fade">
                                      <p:cBhvr>
                                        <p:cTn id="131" dur="350"/>
                                        <p:tgtEl>
                                          <p:spTgt spid="34"/>
                                        </p:tgtEl>
                                      </p:cBhvr>
                                    </p:animEffect>
                                    <p:anim calcmode="lin" valueType="num">
                                      <p:cBhvr>
                                        <p:cTn id="132" dur="350" fill="hold"/>
                                        <p:tgtEl>
                                          <p:spTgt spid="34"/>
                                        </p:tgtEl>
                                        <p:attrNameLst>
                                          <p:attrName>ppt_w</p:attrName>
                                        </p:attrNameLst>
                                      </p:cBhvr>
                                      <p:tavLst>
                                        <p:tav tm="0">
                                          <p:val>
                                            <p:strVal val="0"/>
                                          </p:val>
                                        </p:tav>
                                        <p:tav tm="100000">
                                          <p:val>
                                            <p:strVal val="#ppt_w"/>
                                          </p:val>
                                        </p:tav>
                                      </p:tavLst>
                                    </p:anim>
                                    <p:anim calcmode="lin" valueType="num">
                                      <p:cBhvr>
                                        <p:cTn id="133" dur="350" fill="hold"/>
                                        <p:tgtEl>
                                          <p:spTgt spid="34"/>
                                        </p:tgtEl>
                                        <p:attrNameLst>
                                          <p:attrName>ppt_h</p:attrName>
                                        </p:attrNameLst>
                                      </p:cBhvr>
                                      <p:tavLst>
                                        <p:tav tm="0">
                                          <p:val>
                                            <p:strVal val="0"/>
                                          </p:val>
                                        </p:tav>
                                        <p:tav tm="100000">
                                          <p:val>
                                            <p:strVal val="#ppt_h"/>
                                          </p:val>
                                        </p:tav>
                                      </p:tavLst>
                                    </p:anim>
                                  </p:childTnLst>
                                </p:cTn>
                              </p:par>
                              <p:par>
                                <p:cTn id="139" presetID="53" presetClass="entr" presetSubtype="16" fill="hold" nodeType="withEffect">
                                  <p:stCondLst>
                                    <p:cond delay="800"/>
                                  </p:stCondLst>
                                  <p:childTnLst>
                                    <p:set>
                                      <p:cBhvr>
                                        <p:cTn id="140" dur="1" fill="hold">
                                          <p:stCondLst>
                                            <p:cond delay="0"/>
                                          </p:stCondLst>
                                        </p:cTn>
                                        <p:tgtEl>
                                          <p:spTgt spid="35"/>
                                        </p:tgtEl>
                                        <p:attrNameLst>
                                          <p:attrName>style.visibility</p:attrName>
                                        </p:attrNameLst>
                                      </p:cBhvr>
                                      <p:to>
                                        <p:strVal val="visible"/>
                                      </p:to>
                                    </p:set>
                                    <p:animEffect transition="in" filter="fade">
                                      <p:cBhvr>
                                        <p:cTn id="136" dur="350"/>
                                        <p:tgtEl>
                                          <p:spTgt spid="35"/>
                                        </p:tgtEl>
                                      </p:cBhvr>
                                    </p:animEffect>
                                    <p:anim calcmode="lin" valueType="num">
                                      <p:cBhvr>
                                        <p:cTn id="137" dur="350" fill="hold"/>
                                        <p:tgtEl>
                                          <p:spTgt spid="35"/>
                                        </p:tgtEl>
                                        <p:attrNameLst>
                                          <p:attrName>ppt_w</p:attrName>
                                        </p:attrNameLst>
                                      </p:cBhvr>
                                      <p:tavLst>
                                        <p:tav tm="0">
                                          <p:val>
                                            <p:strVal val="0"/>
                                          </p:val>
                                        </p:tav>
                                        <p:tav tm="100000">
                                          <p:val>
                                            <p:strVal val="#ppt_w"/>
                                          </p:val>
                                        </p:tav>
                                      </p:tavLst>
                                    </p:anim>
                                    <p:anim calcmode="lin" valueType="num">
                                      <p:cBhvr>
                                        <p:cTn id="138" dur="350" fill="hold"/>
                                        <p:tgtEl>
                                          <p:spTgt spid="35"/>
                                        </p:tgtEl>
                                        <p:attrNameLst>
                                          <p:attrName>ppt_h</p:attrName>
                                        </p:attrNameLst>
                                      </p:cBhvr>
                                      <p:tavLst>
                                        <p:tav tm="0">
                                          <p:val>
                                            <p:strVal val="0"/>
                                          </p:val>
                                        </p:tav>
                                        <p:tav tm="100000">
                                          <p:val>
                                            <p:strVal val="#ppt_h"/>
                                          </p:val>
                                        </p:tav>
                                      </p:tavLst>
                                    </p:anim>
                                  </p:childTnLst>
                                </p:cTn>
                              </p:par>
                              <p:par>
                                <p:cTn id="144" presetID="53" presetClass="entr" presetSubtype="16" fill="hold" nodeType="withEffect">
                                  <p:stCondLst>
                                    <p:cond delay="1000"/>
                                  </p:stCondLst>
                                  <p:childTnLst>
                                    <p:set>
                                      <p:cBhvr>
                                        <p:cTn id="145" dur="1" fill="hold">
                                          <p:stCondLst>
                                            <p:cond delay="0"/>
                                          </p:stCondLst>
                                        </p:cTn>
                                        <p:tgtEl>
                                          <p:spTgt spid="36"/>
                                        </p:tgtEl>
                                        <p:attrNameLst>
                                          <p:attrName>style.visibility</p:attrName>
                                        </p:attrNameLst>
                                      </p:cBhvr>
                                      <p:to>
                                        <p:strVal val="visible"/>
                                      </p:to>
                                    </p:set>
                                    <p:animEffect transition="in" filter="fade">
                                      <p:cBhvr>
                                        <p:cTn id="141" dur="350"/>
                                        <p:tgtEl>
                                          <p:spTgt spid="36"/>
                                        </p:tgtEl>
                                      </p:cBhvr>
                                    </p:animEffect>
                                    <p:anim calcmode="lin" valueType="num">
                                      <p:cBhvr>
                                        <p:cTn id="142" dur="350" fill="hold"/>
                                        <p:tgtEl>
                                          <p:spTgt spid="36"/>
                                        </p:tgtEl>
                                        <p:attrNameLst>
                                          <p:attrName>ppt_w</p:attrName>
                                        </p:attrNameLst>
                                      </p:cBhvr>
                                      <p:tavLst>
                                        <p:tav tm="0">
                                          <p:val>
                                            <p:strVal val="0"/>
                                          </p:val>
                                        </p:tav>
                                        <p:tav tm="100000">
                                          <p:val>
                                            <p:strVal val="#ppt_w"/>
                                          </p:val>
                                        </p:tav>
                                      </p:tavLst>
                                    </p:anim>
                                    <p:anim calcmode="lin" valueType="num">
                                      <p:cBhvr>
                                        <p:cTn id="143" dur="350" fill="hold"/>
                                        <p:tgtEl>
                                          <p:spTgt spid="36"/>
                                        </p:tgtEl>
                                        <p:attrNameLst>
                                          <p:attrName>ppt_h</p:attrName>
                                        </p:attrNameLst>
                                      </p:cBhvr>
                                      <p:tavLst>
                                        <p:tav tm="0">
                                          <p:val>
                                            <p:strVal val="0"/>
                                          </p:val>
                                        </p:tav>
                                        <p:tav tm="100000">
                                          <p:val>
                                            <p:strVal val="#ppt_h"/>
                                          </p:val>
                                        </p:tav>
                                      </p:tavLst>
                                    </p:anim>
                                  </p:childTnLst>
                                </p:cTn>
                              </p:par>
                              <p:par>
                                <p:cTn id="149" presetID="53" presetClass="entr" presetSubtype="16" fill="hold" nodeType="withEffect">
                                  <p:stCondLst>
                                    <p:cond delay="1200"/>
                                  </p:stCondLst>
                                  <p:childTnLst>
                                    <p:set>
                                      <p:cBhvr>
                                        <p:cTn id="150" dur="1" fill="hold">
                                          <p:stCondLst>
                                            <p:cond delay="0"/>
                                          </p:stCondLst>
                                        </p:cTn>
                                        <p:tgtEl>
                                          <p:spTgt spid="37"/>
                                        </p:tgtEl>
                                        <p:attrNameLst>
                                          <p:attrName>style.visibility</p:attrName>
                                        </p:attrNameLst>
                                      </p:cBhvr>
                                      <p:to>
                                        <p:strVal val="visible"/>
                                      </p:to>
                                    </p:set>
                                    <p:animEffect transition="in" filter="fade">
                                      <p:cBhvr>
                                        <p:cTn id="146" dur="350"/>
                                        <p:tgtEl>
                                          <p:spTgt spid="37"/>
                                        </p:tgtEl>
                                      </p:cBhvr>
                                    </p:animEffect>
                                    <p:anim calcmode="lin" valueType="num">
                                      <p:cBhvr>
                                        <p:cTn id="147" dur="350" fill="hold"/>
                                        <p:tgtEl>
                                          <p:spTgt spid="37"/>
                                        </p:tgtEl>
                                        <p:attrNameLst>
                                          <p:attrName>ppt_w</p:attrName>
                                        </p:attrNameLst>
                                      </p:cBhvr>
                                      <p:tavLst>
                                        <p:tav tm="0">
                                          <p:val>
                                            <p:strVal val="0"/>
                                          </p:val>
                                        </p:tav>
                                        <p:tav tm="100000">
                                          <p:val>
                                            <p:strVal val="#ppt_w"/>
                                          </p:val>
                                        </p:tav>
                                      </p:tavLst>
                                    </p:anim>
                                    <p:anim calcmode="lin" valueType="num">
                                      <p:cBhvr>
                                        <p:cTn id="148" dur="350" fill="hold"/>
                                        <p:tgtEl>
                                          <p:spTgt spid="37"/>
                                        </p:tgtEl>
                                        <p:attrNameLst>
                                          <p:attrName>ppt_h</p:attrName>
                                        </p:attrNameLst>
                                      </p:cBhvr>
                                      <p:tavLst>
                                        <p:tav tm="0">
                                          <p:val>
                                            <p:strVal val="0"/>
                                          </p:val>
                                        </p:tav>
                                        <p:tav tm="100000">
                                          <p:val>
                                            <p:strVal val="#ppt_h"/>
                                          </p:val>
                                        </p:tav>
                                      </p:tavLst>
                                    </p:anim>
                                  </p:childTnLst>
                                </p:cTn>
                              </p:par>
                              <p:par>
                                <p:cTn id="154" presetID="53" presetClass="entr" presetSubtype="16" fill="hold" nodeType="withEffect">
                                  <p:stCondLst>
                                    <p:cond delay="1400"/>
                                  </p:stCondLst>
                                  <p:childTnLst>
                                    <p:set>
                                      <p:cBhvr>
                                        <p:cTn id="155" dur="1" fill="hold">
                                          <p:stCondLst>
                                            <p:cond delay="0"/>
                                          </p:stCondLst>
                                        </p:cTn>
                                        <p:tgtEl>
                                          <p:spTgt spid="38"/>
                                        </p:tgtEl>
                                        <p:attrNameLst>
                                          <p:attrName>style.visibility</p:attrName>
                                        </p:attrNameLst>
                                      </p:cBhvr>
                                      <p:to>
                                        <p:strVal val="visible"/>
                                      </p:to>
                                    </p:set>
                                    <p:animEffect transition="in" filter="fade">
                                      <p:cBhvr>
                                        <p:cTn id="151" dur="350"/>
                                        <p:tgtEl>
                                          <p:spTgt spid="38"/>
                                        </p:tgtEl>
                                      </p:cBhvr>
                                    </p:animEffect>
                                    <p:anim calcmode="lin" valueType="num">
                                      <p:cBhvr>
                                        <p:cTn id="152" dur="350" fill="hold"/>
                                        <p:tgtEl>
                                          <p:spTgt spid="38"/>
                                        </p:tgtEl>
                                        <p:attrNameLst>
                                          <p:attrName>ppt_w</p:attrName>
                                        </p:attrNameLst>
                                      </p:cBhvr>
                                      <p:tavLst>
                                        <p:tav tm="0">
                                          <p:val>
                                            <p:strVal val="0"/>
                                          </p:val>
                                        </p:tav>
                                        <p:tav tm="100000">
                                          <p:val>
                                            <p:strVal val="#ppt_w"/>
                                          </p:val>
                                        </p:tav>
                                      </p:tavLst>
                                    </p:anim>
                                    <p:anim calcmode="lin" valueType="num">
                                      <p:cBhvr>
                                        <p:cTn id="153" dur="350" fill="hold"/>
                                        <p:tgtEl>
                                          <p:spTgt spid="38"/>
                                        </p:tgtEl>
                                        <p:attrNameLst>
                                          <p:attrName>ppt_h</p:attrName>
                                        </p:attrNameLst>
                                      </p:cBhvr>
                                      <p:tavLst>
                                        <p:tav tm="0">
                                          <p:val>
                                            <p:strVal val="0"/>
                                          </p:val>
                                        </p:tav>
                                        <p:tav tm="100000">
                                          <p:val>
                                            <p:strVal val="#ppt_h"/>
                                          </p:val>
                                        </p:tav>
                                      </p:tavLst>
                                    </p:anim>
                                  </p:childTnLst>
                                </p:cTn>
                              </p:par>
                              <p:par>
                                <p:cTn id="159" presetID="53" presetClass="entr" presetSubtype="16" fill="hold" nodeType="withEffect">
                                  <p:stCondLst>
                                    <p:cond delay="1600"/>
                                  </p:stCondLst>
                                  <p:childTnLst>
                                    <p:set>
                                      <p:cBhvr>
                                        <p:cTn id="160" dur="1" fill="hold">
                                          <p:stCondLst>
                                            <p:cond delay="0"/>
                                          </p:stCondLst>
                                        </p:cTn>
                                        <p:tgtEl>
                                          <p:spTgt spid="39"/>
                                        </p:tgtEl>
                                        <p:attrNameLst>
                                          <p:attrName>style.visibility</p:attrName>
                                        </p:attrNameLst>
                                      </p:cBhvr>
                                      <p:to>
                                        <p:strVal val="visible"/>
                                      </p:to>
                                    </p:set>
                                    <p:animEffect transition="in" filter="fade">
                                      <p:cBhvr>
                                        <p:cTn id="156" dur="350"/>
                                        <p:tgtEl>
                                          <p:spTgt spid="39"/>
                                        </p:tgtEl>
                                      </p:cBhvr>
                                    </p:animEffect>
                                    <p:anim calcmode="lin" valueType="num">
                                      <p:cBhvr>
                                        <p:cTn id="157" dur="350" fill="hold"/>
                                        <p:tgtEl>
                                          <p:spTgt spid="39"/>
                                        </p:tgtEl>
                                        <p:attrNameLst>
                                          <p:attrName>ppt_w</p:attrName>
                                        </p:attrNameLst>
                                      </p:cBhvr>
                                      <p:tavLst>
                                        <p:tav tm="0">
                                          <p:val>
                                            <p:strVal val="0"/>
                                          </p:val>
                                        </p:tav>
                                        <p:tav tm="100000">
                                          <p:val>
                                            <p:strVal val="#ppt_w"/>
                                          </p:val>
                                        </p:tav>
                                      </p:tavLst>
                                    </p:anim>
                                    <p:anim calcmode="lin" valueType="num">
                                      <p:cBhvr>
                                        <p:cTn id="158" dur="350" fill="hold"/>
                                        <p:tgtEl>
                                          <p:spTgt spid="39"/>
                                        </p:tgtEl>
                                        <p:attrNameLst>
                                          <p:attrName>ppt_h</p:attrName>
                                        </p:attrNameLst>
                                      </p:cBhvr>
                                      <p:tavLst>
                                        <p:tav tm="0">
                                          <p:val>
                                            <p:strVal val="0"/>
                                          </p:val>
                                        </p:tav>
                                        <p:tav tm="100000">
                                          <p:val>
                                            <p:strVal val="#ppt_h"/>
                                          </p:val>
                                        </p:tav>
                                      </p:tavLst>
                                    </p:anim>
                                  </p:childTnLst>
                                </p:cTn>
                              </p:par>
                              <p:par>
                                <p:cTn id="164" presetID="53" presetClass="entr" presetSubtype="16" fill="hold" nodeType="withEffect">
                                  <p:stCondLst>
                                    <p:cond delay="1800"/>
                                  </p:stCondLst>
                                  <p:childTnLst>
                                    <p:set>
                                      <p:cBhvr>
                                        <p:cTn id="165" dur="1" fill="hold">
                                          <p:stCondLst>
                                            <p:cond delay="0"/>
                                          </p:stCondLst>
                                        </p:cTn>
                                        <p:tgtEl>
                                          <p:spTgt spid="40"/>
                                        </p:tgtEl>
                                        <p:attrNameLst>
                                          <p:attrName>style.visibility</p:attrName>
                                        </p:attrNameLst>
                                      </p:cBhvr>
                                      <p:to>
                                        <p:strVal val="visible"/>
                                      </p:to>
                                    </p:set>
                                    <p:animEffect transition="in" filter="fade">
                                      <p:cBhvr>
                                        <p:cTn id="161" dur="350"/>
                                        <p:tgtEl>
                                          <p:spTgt spid="40"/>
                                        </p:tgtEl>
                                      </p:cBhvr>
                                    </p:animEffect>
                                    <p:anim calcmode="lin" valueType="num">
                                      <p:cBhvr>
                                        <p:cTn id="162" dur="350" fill="hold"/>
                                        <p:tgtEl>
                                          <p:spTgt spid="40"/>
                                        </p:tgtEl>
                                        <p:attrNameLst>
                                          <p:attrName>ppt_w</p:attrName>
                                        </p:attrNameLst>
                                      </p:cBhvr>
                                      <p:tavLst>
                                        <p:tav tm="0">
                                          <p:val>
                                            <p:strVal val="0"/>
                                          </p:val>
                                        </p:tav>
                                        <p:tav tm="100000">
                                          <p:val>
                                            <p:strVal val="#ppt_w"/>
                                          </p:val>
                                        </p:tav>
                                      </p:tavLst>
                                    </p:anim>
                                    <p:anim calcmode="lin" valueType="num">
                                      <p:cBhvr>
                                        <p:cTn id="163" dur="350" fill="hold"/>
                                        <p:tgtEl>
                                          <p:spTgt spid="40"/>
                                        </p:tgtEl>
                                        <p:attrNameLst>
                                          <p:attrName>ppt_h</p:attrName>
                                        </p:attrNameLst>
                                      </p:cBhvr>
                                      <p:tavLst>
                                        <p:tav tm="0">
                                          <p:val>
                                            <p:strVal val="0"/>
                                          </p:val>
                                        </p:tav>
                                        <p:tav tm="100000">
                                          <p:val>
                                            <p:strVal val="#ppt_h"/>
                                          </p:val>
                                        </p:tav>
                                      </p:tavLst>
                                    </p:anim>
                                  </p:childTnLst>
                                </p:cTn>
                              </p:par>
                              <p:par>
                                <p:cTn id="169" presetID="53" presetClass="entr" presetSubtype="16" fill="hold" nodeType="withEffect">
                                  <p:stCondLst>
                                    <p:cond delay="2000"/>
                                  </p:stCondLst>
                                  <p:childTnLst>
                                    <p:set>
                                      <p:cBhvr>
                                        <p:cTn id="170" dur="1" fill="hold">
                                          <p:stCondLst>
                                            <p:cond delay="0"/>
                                          </p:stCondLst>
                                        </p:cTn>
                                        <p:tgtEl>
                                          <p:spTgt spid="41"/>
                                        </p:tgtEl>
                                        <p:attrNameLst>
                                          <p:attrName>style.visibility</p:attrName>
                                        </p:attrNameLst>
                                      </p:cBhvr>
                                      <p:to>
                                        <p:strVal val="visible"/>
                                      </p:to>
                                    </p:set>
                                    <p:animEffect transition="in" filter="fade">
                                      <p:cBhvr>
                                        <p:cTn id="166" dur="350"/>
                                        <p:tgtEl>
                                          <p:spTgt spid="41"/>
                                        </p:tgtEl>
                                      </p:cBhvr>
                                    </p:animEffect>
                                    <p:anim calcmode="lin" valueType="num">
                                      <p:cBhvr>
                                        <p:cTn id="167" dur="350" fill="hold"/>
                                        <p:tgtEl>
                                          <p:spTgt spid="41"/>
                                        </p:tgtEl>
                                        <p:attrNameLst>
                                          <p:attrName>ppt_w</p:attrName>
                                        </p:attrNameLst>
                                      </p:cBhvr>
                                      <p:tavLst>
                                        <p:tav tm="0">
                                          <p:val>
                                            <p:strVal val="0"/>
                                          </p:val>
                                        </p:tav>
                                        <p:tav tm="100000">
                                          <p:val>
                                            <p:strVal val="#ppt_w"/>
                                          </p:val>
                                        </p:tav>
                                      </p:tavLst>
                                    </p:anim>
                                    <p:anim calcmode="lin" valueType="num">
                                      <p:cBhvr>
                                        <p:cTn id="168" dur="350" fill="hold"/>
                                        <p:tgtEl>
                                          <p:spTgt spid="41"/>
                                        </p:tgtEl>
                                        <p:attrNameLst>
                                          <p:attrName>ppt_h</p:attrName>
                                        </p:attrNameLst>
                                      </p:cBhvr>
                                      <p:tavLst>
                                        <p:tav tm="0">
                                          <p:val>
                                            <p:strVal val="0"/>
                                          </p:val>
                                        </p:tav>
                                        <p:tav tm="100000">
                                          <p:val>
                                            <p:strVal val="#ppt_h"/>
                                          </p:val>
                                        </p:tav>
                                      </p:tavLst>
                                    </p:anim>
                                  </p:childTnLst>
                                </p:cTn>
                              </p:par>
                              <p:par>
                                <p:cTn id="174" presetID="53" presetClass="entr" presetSubtype="16" fill="hold" nodeType="withEffect">
                                  <p:stCondLst>
                                    <p:cond delay="2200"/>
                                  </p:stCondLst>
                                  <p:childTnLst>
                                    <p:set>
                                      <p:cBhvr>
                                        <p:cTn id="175" dur="1" fill="hold">
                                          <p:stCondLst>
                                            <p:cond delay="0"/>
                                          </p:stCondLst>
                                        </p:cTn>
                                        <p:tgtEl>
                                          <p:spTgt spid="42"/>
                                        </p:tgtEl>
                                        <p:attrNameLst>
                                          <p:attrName>style.visibility</p:attrName>
                                        </p:attrNameLst>
                                      </p:cBhvr>
                                      <p:to>
                                        <p:strVal val="visible"/>
                                      </p:to>
                                    </p:set>
                                    <p:animEffect transition="in" filter="fade">
                                      <p:cBhvr>
                                        <p:cTn id="171" dur="350"/>
                                        <p:tgtEl>
                                          <p:spTgt spid="42"/>
                                        </p:tgtEl>
                                      </p:cBhvr>
                                    </p:animEffect>
                                    <p:anim calcmode="lin" valueType="num">
                                      <p:cBhvr>
                                        <p:cTn id="172" dur="350" fill="hold"/>
                                        <p:tgtEl>
                                          <p:spTgt spid="42"/>
                                        </p:tgtEl>
                                        <p:attrNameLst>
                                          <p:attrName>ppt_w</p:attrName>
                                        </p:attrNameLst>
                                      </p:cBhvr>
                                      <p:tavLst>
                                        <p:tav tm="0">
                                          <p:val>
                                            <p:strVal val="0"/>
                                          </p:val>
                                        </p:tav>
                                        <p:tav tm="100000">
                                          <p:val>
                                            <p:strVal val="#ppt_w"/>
                                          </p:val>
                                        </p:tav>
                                      </p:tavLst>
                                    </p:anim>
                                    <p:anim calcmode="lin" valueType="num">
                                      <p:cBhvr>
                                        <p:cTn id="173" dur="350" fill="hold"/>
                                        <p:tgtEl>
                                          <p:spTgt spid="42"/>
                                        </p:tgtEl>
                                        <p:attrNameLst>
                                          <p:attrName>ppt_h</p:attrName>
                                        </p:attrNameLst>
                                      </p:cBhvr>
                                      <p:tavLst>
                                        <p:tav tm="0">
                                          <p:val>
                                            <p:strVal val="0"/>
                                          </p:val>
                                        </p:tav>
                                        <p:tav tm="100000">
                                          <p:val>
                                            <p:strVal val="#ppt_h"/>
                                          </p:val>
                                        </p:tav>
                                      </p:tavLst>
                                    </p:anim>
                                  </p:childTnLst>
                                </p:cTn>
                              </p:par>
                              <p:par>
                                <p:cTn id="179" presetID="53" presetClass="entr" presetSubtype="16" fill="hold" nodeType="withEffect">
                                  <p:stCondLst>
                                    <p:cond delay="2400"/>
                                  </p:stCondLst>
                                  <p:childTnLst>
                                    <p:set>
                                      <p:cBhvr>
                                        <p:cTn id="180" dur="1" fill="hold">
                                          <p:stCondLst>
                                            <p:cond delay="0"/>
                                          </p:stCondLst>
                                        </p:cTn>
                                        <p:tgtEl>
                                          <p:spTgt spid="43"/>
                                        </p:tgtEl>
                                        <p:attrNameLst>
                                          <p:attrName>style.visibility</p:attrName>
                                        </p:attrNameLst>
                                      </p:cBhvr>
                                      <p:to>
                                        <p:strVal val="visible"/>
                                      </p:to>
                                    </p:set>
                                    <p:animEffect transition="in" filter="fade">
                                      <p:cBhvr>
                                        <p:cTn id="176" dur="350"/>
                                        <p:tgtEl>
                                          <p:spTgt spid="43"/>
                                        </p:tgtEl>
                                      </p:cBhvr>
                                    </p:animEffect>
                                    <p:anim calcmode="lin" valueType="num">
                                      <p:cBhvr>
                                        <p:cTn id="177" dur="350" fill="hold"/>
                                        <p:tgtEl>
                                          <p:spTgt spid="43"/>
                                        </p:tgtEl>
                                        <p:attrNameLst>
                                          <p:attrName>ppt_w</p:attrName>
                                        </p:attrNameLst>
                                      </p:cBhvr>
                                      <p:tavLst>
                                        <p:tav tm="0">
                                          <p:val>
                                            <p:strVal val="0"/>
                                          </p:val>
                                        </p:tav>
                                        <p:tav tm="100000">
                                          <p:val>
                                            <p:strVal val="#ppt_w"/>
                                          </p:val>
                                        </p:tav>
                                      </p:tavLst>
                                    </p:anim>
                                    <p:anim calcmode="lin" valueType="num">
                                      <p:cBhvr>
                                        <p:cTn id="178" dur="350" fill="hold"/>
                                        <p:tgtEl>
                                          <p:spTgt spid="43"/>
                                        </p:tgtEl>
                                        <p:attrNameLst>
                                          <p:attrName>ppt_h</p:attrName>
                                        </p:attrNameLst>
                                      </p:cBhvr>
                                      <p:tavLst>
                                        <p:tav tm="0">
                                          <p:val>
                                            <p:strVal val="0"/>
                                          </p:val>
                                        </p:tav>
                                        <p:tav tm="100000">
                                          <p:val>
                                            <p:strVal val="#ppt_h"/>
                                          </p:val>
                                        </p:tav>
                                      </p:tavLst>
                                    </p:anim>
                                  </p:childTnLst>
                                </p:cTn>
                              </p:par>
                              <p:par>
                                <p:cTn id="184" presetID="53" presetClass="entr" presetSubtype="16" fill="hold" nodeType="withEffect">
                                  <p:stCondLst>
                                    <p:cond delay="2600"/>
                                  </p:stCondLst>
                                  <p:childTnLst>
                                    <p:set>
                                      <p:cBhvr>
                                        <p:cTn id="185" dur="1" fill="hold">
                                          <p:stCondLst>
                                            <p:cond delay="0"/>
                                          </p:stCondLst>
                                        </p:cTn>
                                        <p:tgtEl>
                                          <p:spTgt spid="44"/>
                                        </p:tgtEl>
                                        <p:attrNameLst>
                                          <p:attrName>style.visibility</p:attrName>
                                        </p:attrNameLst>
                                      </p:cBhvr>
                                      <p:to>
                                        <p:strVal val="visible"/>
                                      </p:to>
                                    </p:set>
                                    <p:animEffect transition="in" filter="fade">
                                      <p:cBhvr>
                                        <p:cTn id="181" dur="350"/>
                                        <p:tgtEl>
                                          <p:spTgt spid="44"/>
                                        </p:tgtEl>
                                      </p:cBhvr>
                                    </p:animEffect>
                                    <p:anim calcmode="lin" valueType="num">
                                      <p:cBhvr>
                                        <p:cTn id="182" dur="350" fill="hold"/>
                                        <p:tgtEl>
                                          <p:spTgt spid="44"/>
                                        </p:tgtEl>
                                        <p:attrNameLst>
                                          <p:attrName>ppt_w</p:attrName>
                                        </p:attrNameLst>
                                      </p:cBhvr>
                                      <p:tavLst>
                                        <p:tav tm="0">
                                          <p:val>
                                            <p:strVal val="0"/>
                                          </p:val>
                                        </p:tav>
                                        <p:tav tm="100000">
                                          <p:val>
                                            <p:strVal val="#ppt_w"/>
                                          </p:val>
                                        </p:tav>
                                      </p:tavLst>
                                    </p:anim>
                                    <p:anim calcmode="lin" valueType="num">
                                      <p:cBhvr>
                                        <p:cTn id="183" dur="350" fill="hold"/>
                                        <p:tgtEl>
                                          <p:spTgt spid="44"/>
                                        </p:tgtEl>
                                        <p:attrNameLst>
                                          <p:attrName>ppt_h</p:attrName>
                                        </p:attrNameLst>
                                      </p:cBhvr>
                                      <p:tavLst>
                                        <p:tav tm="0">
                                          <p:val>
                                            <p:strVal val="0"/>
                                          </p:val>
                                        </p:tav>
                                        <p:tav tm="100000">
                                          <p:val>
                                            <p:strVal val="#ppt_h"/>
                                          </p:val>
                                        </p:tav>
                                      </p:tavLst>
                                    </p:anim>
                                  </p:childTnLst>
                                </p:cTn>
                              </p:par>
                              <p:par>
                                <p:cTn id="189" presetID="53" presetClass="entr" presetSubtype="16" fill="hold" nodeType="withEffect">
                                  <p:stCondLst>
                                    <p:cond delay="2800"/>
                                  </p:stCondLst>
                                  <p:childTnLst>
                                    <p:set>
                                      <p:cBhvr>
                                        <p:cTn id="190" dur="1" fill="hold">
                                          <p:stCondLst>
                                            <p:cond delay="0"/>
                                          </p:stCondLst>
                                        </p:cTn>
                                        <p:tgtEl>
                                          <p:spTgt spid="45"/>
                                        </p:tgtEl>
                                        <p:attrNameLst>
                                          <p:attrName>style.visibility</p:attrName>
                                        </p:attrNameLst>
                                      </p:cBhvr>
                                      <p:to>
                                        <p:strVal val="visible"/>
                                      </p:to>
                                    </p:set>
                                    <p:animEffect transition="in" filter="fade">
                                      <p:cBhvr>
                                        <p:cTn id="186" dur="350"/>
                                        <p:tgtEl>
                                          <p:spTgt spid="45"/>
                                        </p:tgtEl>
                                      </p:cBhvr>
                                    </p:animEffect>
                                    <p:anim calcmode="lin" valueType="num">
                                      <p:cBhvr>
                                        <p:cTn id="187" dur="350" fill="hold"/>
                                        <p:tgtEl>
                                          <p:spTgt spid="45"/>
                                        </p:tgtEl>
                                        <p:attrNameLst>
                                          <p:attrName>ppt_w</p:attrName>
                                        </p:attrNameLst>
                                      </p:cBhvr>
                                      <p:tavLst>
                                        <p:tav tm="0">
                                          <p:val>
                                            <p:strVal val="0"/>
                                          </p:val>
                                        </p:tav>
                                        <p:tav tm="100000">
                                          <p:val>
                                            <p:strVal val="#ppt_w"/>
                                          </p:val>
                                        </p:tav>
                                      </p:tavLst>
                                    </p:anim>
                                    <p:anim calcmode="lin" valueType="num">
                                      <p:cBhvr>
                                        <p:cTn id="188" dur="350" fill="hold"/>
                                        <p:tgtEl>
                                          <p:spTgt spid="45"/>
                                        </p:tgtEl>
                                        <p:attrNameLst>
                                          <p:attrName>ppt_h</p:attrName>
                                        </p:attrNameLst>
                                      </p:cBhvr>
                                      <p:tavLst>
                                        <p:tav tm="0">
                                          <p:val>
                                            <p:strVal val="0"/>
                                          </p:val>
                                        </p:tav>
                                        <p:tav tm="100000">
                                          <p:val>
                                            <p:strVal val="#ppt_h"/>
                                          </p:val>
                                        </p:tav>
                                      </p:tavLst>
                                    </p:anim>
                                  </p:childTnLst>
                                </p:cTn>
                              </p:par>
                              <p:par>
                                <p:cTn id="194" presetID="53" presetClass="entr" presetSubtype="16" fill="hold" nodeType="withEffect">
                                  <p:stCondLst>
                                    <p:cond delay="3000"/>
                                  </p:stCondLst>
                                  <p:childTnLst>
                                    <p:set>
                                      <p:cBhvr>
                                        <p:cTn id="195" dur="1" fill="hold">
                                          <p:stCondLst>
                                            <p:cond delay="0"/>
                                          </p:stCondLst>
                                        </p:cTn>
                                        <p:tgtEl>
                                          <p:spTgt spid="46"/>
                                        </p:tgtEl>
                                        <p:attrNameLst>
                                          <p:attrName>style.visibility</p:attrName>
                                        </p:attrNameLst>
                                      </p:cBhvr>
                                      <p:to>
                                        <p:strVal val="visible"/>
                                      </p:to>
                                    </p:set>
                                    <p:animEffect transition="in" filter="fade">
                                      <p:cBhvr>
                                        <p:cTn id="191" dur="350"/>
                                        <p:tgtEl>
                                          <p:spTgt spid="46"/>
                                        </p:tgtEl>
                                      </p:cBhvr>
                                    </p:animEffect>
                                    <p:anim calcmode="lin" valueType="num">
                                      <p:cBhvr>
                                        <p:cTn id="192" dur="350" fill="hold"/>
                                        <p:tgtEl>
                                          <p:spTgt spid="46"/>
                                        </p:tgtEl>
                                        <p:attrNameLst>
                                          <p:attrName>ppt_w</p:attrName>
                                        </p:attrNameLst>
                                      </p:cBhvr>
                                      <p:tavLst>
                                        <p:tav tm="0">
                                          <p:val>
                                            <p:strVal val="0"/>
                                          </p:val>
                                        </p:tav>
                                        <p:tav tm="100000">
                                          <p:val>
                                            <p:strVal val="#ppt_w"/>
                                          </p:val>
                                        </p:tav>
                                      </p:tavLst>
                                    </p:anim>
                                    <p:anim calcmode="lin" valueType="num">
                                      <p:cBhvr>
                                        <p:cTn id="193" dur="350" fill="hold"/>
                                        <p:tgtEl>
                                          <p:spTgt spid="4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GPU memory is a setting, not a signal</a:t>
            </a:r>
          </a:p>
        </p:txBody>
      </p:sp>
      <p:sp>
        <p:nvSpPr>
          <p:cNvPr id="3" name="Rounded Rectangle 2"/>
          <p:cNvSpPr/>
          <p:nvPr/>
        </p:nvSpPr>
        <p:spPr>
          <a:xfrm>
            <a:off x="548640" y="1783080"/>
            <a:ext cx="1645920" cy="1078992"/>
          </a:xfrm>
          <a:prstGeom prst="roundRect">
            <a:avLst>
              <a:gd name="adj" fmla="val 8000"/>
            </a:avLst>
          </a:prstGeom>
          <a:solidFill>
            <a:srgbClr val="F3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911095"/>
            <a:ext cx="1371600" cy="365760"/>
          </a:xfrm>
          <a:prstGeom prst="rect">
            <a:avLst/>
          </a:prstGeom>
          <a:noFill/>
        </p:spPr>
        <p:txBody>
          <a:bodyPr wrap="square" anchor="t" lIns="45720" rIns="45720" tIns="18288" bIns="18288">
            <a:spAutoFit/>
          </a:bodyPr>
          <a:lstStyle/>
          <a:p>
            <a:pPr algn="l">
              <a:lnSpc>
                <a:spcPct val="110000"/>
              </a:lnSpc>
            </a:pPr>
            <a:r>
              <a:rPr sz="1900" b="1" i="0">
                <a:solidFill>
                  <a:srgbClr val="6B6B76"/>
                </a:solidFill>
                <a:latin typeface="Arial"/>
              </a:rPr>
              <a:t>CPU</a:t>
            </a:r>
          </a:p>
        </p:txBody>
      </p:sp>
      <p:sp>
        <p:nvSpPr>
          <p:cNvPr id="5" name="TextBox 4"/>
          <p:cNvSpPr txBox="1"/>
          <p:nvPr/>
        </p:nvSpPr>
        <p:spPr>
          <a:xfrm>
            <a:off x="713232" y="2313432"/>
            <a:ext cx="1371600" cy="548640"/>
          </a:xfrm>
          <a:prstGeom prst="rect">
            <a:avLst/>
          </a:prstGeom>
          <a:noFill/>
        </p:spPr>
        <p:txBody>
          <a:bodyPr wrap="square" anchor="t" lIns="45720" rIns="45720" tIns="18288" bIns="18288">
            <a:spAutoFit/>
          </a:bodyPr>
          <a:lstStyle/>
          <a:p>
            <a:pPr algn="l">
              <a:lnSpc>
                <a:spcPct val="100000"/>
              </a:lnSpc>
            </a:pPr>
            <a:r>
              <a:rPr sz="1300" b="0" i="0">
                <a:solidFill>
                  <a:srgbClr val="6B6B76"/>
                </a:solidFill>
                <a:latin typeface="Arial"/>
              </a:rPr>
              <a:t>how busy the cores are</a:t>
            </a:r>
          </a:p>
        </p:txBody>
      </p:sp>
      <p:sp>
        <p:nvSpPr>
          <p:cNvPr id="6" name="Rounded Rectangle 5"/>
          <p:cNvSpPr/>
          <p:nvPr/>
        </p:nvSpPr>
        <p:spPr>
          <a:xfrm>
            <a:off x="2331720" y="1783080"/>
            <a:ext cx="1645920" cy="1078992"/>
          </a:xfrm>
          <a:prstGeom prst="roundRect">
            <a:avLst>
              <a:gd name="adj" fmla="val 8000"/>
            </a:avLst>
          </a:prstGeom>
          <a:solidFill>
            <a:srgbClr val="F3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96312" y="1911095"/>
            <a:ext cx="1371600" cy="365760"/>
          </a:xfrm>
          <a:prstGeom prst="rect">
            <a:avLst/>
          </a:prstGeom>
          <a:noFill/>
        </p:spPr>
        <p:txBody>
          <a:bodyPr wrap="square" anchor="t" lIns="45720" rIns="45720" tIns="18288" bIns="18288">
            <a:spAutoFit/>
          </a:bodyPr>
          <a:lstStyle/>
          <a:p>
            <a:pPr algn="l">
              <a:lnSpc>
                <a:spcPct val="110000"/>
              </a:lnSpc>
            </a:pPr>
            <a:r>
              <a:rPr sz="1900" b="1" i="0">
                <a:solidFill>
                  <a:srgbClr val="6B6B76"/>
                </a:solidFill>
                <a:latin typeface="Arial"/>
              </a:rPr>
              <a:t>Memory</a:t>
            </a:r>
          </a:p>
        </p:txBody>
      </p:sp>
      <p:sp>
        <p:nvSpPr>
          <p:cNvPr id="8" name="TextBox 7"/>
          <p:cNvSpPr txBox="1"/>
          <p:nvPr/>
        </p:nvSpPr>
        <p:spPr>
          <a:xfrm>
            <a:off x="2496312" y="2313432"/>
            <a:ext cx="1371600" cy="548640"/>
          </a:xfrm>
          <a:prstGeom prst="rect">
            <a:avLst/>
          </a:prstGeom>
          <a:noFill/>
        </p:spPr>
        <p:txBody>
          <a:bodyPr wrap="square" anchor="t" lIns="45720" rIns="45720" tIns="18288" bIns="18288">
            <a:spAutoFit/>
          </a:bodyPr>
          <a:lstStyle/>
          <a:p>
            <a:pPr algn="l">
              <a:lnSpc>
                <a:spcPct val="100000"/>
              </a:lnSpc>
            </a:pPr>
            <a:r>
              <a:rPr sz="1300" b="0" i="0">
                <a:solidFill>
                  <a:srgbClr val="6B6B76"/>
                </a:solidFill>
                <a:latin typeface="Arial"/>
              </a:rPr>
              <a:t>RAM the container uses</a:t>
            </a:r>
          </a:p>
        </p:txBody>
      </p:sp>
      <p:sp>
        <p:nvSpPr>
          <p:cNvPr id="9" name="Rounded Rectangle 8"/>
          <p:cNvSpPr/>
          <p:nvPr/>
        </p:nvSpPr>
        <p:spPr>
          <a:xfrm>
            <a:off x="548640" y="2990088"/>
            <a:ext cx="1645920" cy="1078992"/>
          </a:xfrm>
          <a:prstGeom prst="roundRect">
            <a:avLst>
              <a:gd name="adj" fmla="val 8000"/>
            </a:avLst>
          </a:prstGeom>
          <a:solidFill>
            <a:srgbClr val="F3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118104"/>
            <a:ext cx="1371600" cy="365760"/>
          </a:xfrm>
          <a:prstGeom prst="rect">
            <a:avLst/>
          </a:prstGeom>
          <a:noFill/>
        </p:spPr>
        <p:txBody>
          <a:bodyPr wrap="square" anchor="t" lIns="45720" rIns="45720" tIns="18288" bIns="18288">
            <a:spAutoFit/>
          </a:bodyPr>
          <a:lstStyle/>
          <a:p>
            <a:pPr algn="l">
              <a:lnSpc>
                <a:spcPct val="110000"/>
              </a:lnSpc>
            </a:pPr>
            <a:r>
              <a:rPr sz="1900" b="1" i="0">
                <a:solidFill>
                  <a:srgbClr val="6B6B76"/>
                </a:solidFill>
                <a:latin typeface="Arial"/>
              </a:rPr>
              <a:t>Network</a:t>
            </a:r>
          </a:p>
        </p:txBody>
      </p:sp>
      <p:sp>
        <p:nvSpPr>
          <p:cNvPr id="11" name="TextBox 10"/>
          <p:cNvSpPr txBox="1"/>
          <p:nvPr/>
        </p:nvSpPr>
        <p:spPr>
          <a:xfrm>
            <a:off x="713232" y="3520440"/>
            <a:ext cx="1371600" cy="548640"/>
          </a:xfrm>
          <a:prstGeom prst="rect">
            <a:avLst/>
          </a:prstGeom>
          <a:noFill/>
        </p:spPr>
        <p:txBody>
          <a:bodyPr wrap="square" anchor="t" lIns="45720" rIns="45720" tIns="18288" bIns="18288">
            <a:spAutoFit/>
          </a:bodyPr>
          <a:lstStyle/>
          <a:p>
            <a:pPr algn="l">
              <a:lnSpc>
                <a:spcPct val="100000"/>
              </a:lnSpc>
            </a:pPr>
            <a:r>
              <a:rPr sz="1300" b="0" i="0">
                <a:solidFill>
                  <a:srgbClr val="6B6B76"/>
                </a:solidFill>
                <a:latin typeface="Arial"/>
              </a:rPr>
              <a:t>bytes in and out</a:t>
            </a:r>
          </a:p>
        </p:txBody>
      </p:sp>
      <p:sp>
        <p:nvSpPr>
          <p:cNvPr id="12" name="Rounded Rectangle 11"/>
          <p:cNvSpPr/>
          <p:nvPr/>
        </p:nvSpPr>
        <p:spPr>
          <a:xfrm>
            <a:off x="2331720" y="2990088"/>
            <a:ext cx="1645920" cy="1078992"/>
          </a:xfrm>
          <a:prstGeom prst="roundRect">
            <a:avLst>
              <a:gd name="adj" fmla="val 8000"/>
            </a:avLst>
          </a:prstGeom>
          <a:solidFill>
            <a:srgbClr val="F3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96312" y="3118104"/>
            <a:ext cx="1371600" cy="365760"/>
          </a:xfrm>
          <a:prstGeom prst="rect">
            <a:avLst/>
          </a:prstGeom>
          <a:noFill/>
        </p:spPr>
        <p:txBody>
          <a:bodyPr wrap="square" anchor="t" lIns="45720" rIns="45720" tIns="18288" bIns="18288">
            <a:spAutoFit/>
          </a:bodyPr>
          <a:lstStyle/>
          <a:p>
            <a:pPr algn="l">
              <a:lnSpc>
                <a:spcPct val="110000"/>
              </a:lnSpc>
            </a:pPr>
            <a:r>
              <a:rPr sz="1900" b="1" i="0">
                <a:solidFill>
                  <a:srgbClr val="6B6B76"/>
                </a:solidFill>
                <a:latin typeface="Arial"/>
              </a:rPr>
              <a:t>Disk</a:t>
            </a:r>
          </a:p>
        </p:txBody>
      </p:sp>
      <p:sp>
        <p:nvSpPr>
          <p:cNvPr id="14" name="TextBox 13"/>
          <p:cNvSpPr txBox="1"/>
          <p:nvPr/>
        </p:nvSpPr>
        <p:spPr>
          <a:xfrm>
            <a:off x="2496312" y="3520440"/>
            <a:ext cx="1371600" cy="548640"/>
          </a:xfrm>
          <a:prstGeom prst="rect">
            <a:avLst/>
          </a:prstGeom>
          <a:noFill/>
        </p:spPr>
        <p:txBody>
          <a:bodyPr wrap="square" anchor="t" lIns="45720" rIns="45720" tIns="18288" bIns="18288">
            <a:spAutoFit/>
          </a:bodyPr>
          <a:lstStyle/>
          <a:p>
            <a:pPr algn="l">
              <a:lnSpc>
                <a:spcPct val="100000"/>
              </a:lnSpc>
            </a:pPr>
            <a:r>
              <a:rPr sz="1300" b="0" i="0">
                <a:solidFill>
                  <a:srgbClr val="6B6B76"/>
                </a:solidFill>
                <a:latin typeface="Arial"/>
              </a:rPr>
              <a:t>reads and writes</a:t>
            </a:r>
          </a:p>
        </p:txBody>
      </p:sp>
      <p:sp>
        <p:nvSpPr>
          <p:cNvPr id="15" name="TextBox 14"/>
          <p:cNvSpPr txBox="1"/>
          <p:nvPr/>
        </p:nvSpPr>
        <p:spPr>
          <a:xfrm>
            <a:off x="548640" y="4206240"/>
            <a:ext cx="3429000" cy="640080"/>
          </a:xfrm>
          <a:prstGeom prst="rect">
            <a:avLst/>
          </a:prstGeom>
          <a:noFill/>
        </p:spPr>
        <p:txBody>
          <a:bodyPr wrap="square" anchor="t" lIns="45720" rIns="45720" tIns="18288" bIns="18288">
            <a:spAutoFit/>
          </a:bodyPr>
          <a:lstStyle/>
          <a:p>
            <a:pPr algn="l">
              <a:lnSpc>
                <a:spcPct val="110000"/>
              </a:lnSpc>
            </a:pPr>
            <a:r>
              <a:rPr sz="1400" b="0" i="1">
                <a:solidFill>
                  <a:srgbClr val="6B6B76"/>
                </a:solidFill>
                <a:latin typeface="Arial"/>
              </a:rPr>
              <a:t>Node and container resources. None of them sees the server's queue.</a:t>
            </a:r>
          </a:p>
        </p:txBody>
      </p:sp>
      <p:sp>
        <p:nvSpPr>
          <p:cNvPr id="16" name="Rounded Rectangle 15"/>
          <p:cNvSpPr/>
          <p:nvPr/>
        </p:nvSpPr>
        <p:spPr>
          <a:xfrm>
            <a:off x="4343400" y="1783080"/>
            <a:ext cx="7296912" cy="2971800"/>
          </a:xfrm>
          <a:prstGeom prst="roundRect">
            <a:avLst>
              <a:gd name="adj" fmla="val 4000"/>
            </a:avLst>
          </a:prstGeom>
          <a:solidFill>
            <a:srgbClr val="FFFFFF"/>
          </a:solidFill>
          <a:ln w="15875">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1892807"/>
            <a:ext cx="4572000" cy="365760"/>
          </a:xfrm>
          <a:prstGeom prst="rect">
            <a:avLst/>
          </a:prstGeom>
          <a:noFill/>
        </p:spPr>
        <p:txBody>
          <a:bodyPr wrap="square" anchor="t" lIns="45720" rIns="45720" tIns="18288" bIns="18288">
            <a:spAutoFit/>
          </a:bodyPr>
          <a:lstStyle/>
          <a:p>
            <a:pPr algn="l">
              <a:lnSpc>
                <a:spcPct val="110000"/>
              </a:lnSpc>
            </a:pPr>
            <a:r>
              <a:rPr sz="1600" b="1" i="0">
                <a:solidFill>
                  <a:srgbClr val="1F1F24"/>
                </a:solidFill>
                <a:latin typeface="Arial"/>
              </a:rPr>
              <a:t>GPU memory used, one vLLM pod</a:t>
            </a:r>
          </a:p>
        </p:txBody>
      </p:sp>
      <p:cxnSp>
        <p:nvCxnSpPr>
          <p:cNvPr id="18" name="Connector 17"/>
          <p:cNvCxnSpPr/>
          <p:nvPr/>
        </p:nvCxnSpPr>
        <p:spPr>
          <a:xfrm>
            <a:off x="5074920" y="4251960"/>
            <a:ext cx="6309360" cy="0"/>
          </a:xfrm>
          <a:prstGeom prst="line">
            <a:avLst/>
          </a:prstGeom>
          <a:ln w="15875">
            <a:solidFill>
              <a:srgbClr val="6B6B7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80559" y="4114800"/>
            <a:ext cx="502920" cy="274320"/>
          </a:xfrm>
          <a:prstGeom prst="rect">
            <a:avLst/>
          </a:prstGeom>
          <a:noFill/>
        </p:spPr>
        <p:txBody>
          <a:bodyPr wrap="square" anchor="t" lIns="45720" rIns="45720" tIns="18288" bIns="18288">
            <a:spAutoFit/>
          </a:bodyPr>
          <a:lstStyle/>
          <a:p>
            <a:pPr algn="r">
              <a:lnSpc>
                <a:spcPct val="110000"/>
              </a:lnSpc>
            </a:pPr>
            <a:r>
              <a:rPr sz="1100" b="0" i="0">
                <a:solidFill>
                  <a:srgbClr val="6B6B76"/>
                </a:solidFill>
                <a:latin typeface="Arial"/>
              </a:rPr>
              <a:t>0%</a:t>
            </a:r>
          </a:p>
        </p:txBody>
      </p:sp>
      <p:cxnSp>
        <p:nvCxnSpPr>
          <p:cNvPr id="20" name="Connector 19"/>
          <p:cNvCxnSpPr/>
          <p:nvPr/>
        </p:nvCxnSpPr>
        <p:spPr>
          <a:xfrm>
            <a:off x="5074920" y="3268980"/>
            <a:ext cx="6309360" cy="0"/>
          </a:xfrm>
          <a:prstGeom prst="line">
            <a:avLst/>
          </a:prstGeom>
          <a:ln w="9525">
            <a:solidFill>
              <a:srgbClr val="D5D5D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480559" y="3131820"/>
            <a:ext cx="502920" cy="274320"/>
          </a:xfrm>
          <a:prstGeom prst="rect">
            <a:avLst/>
          </a:prstGeom>
          <a:noFill/>
        </p:spPr>
        <p:txBody>
          <a:bodyPr wrap="square" anchor="t" lIns="45720" rIns="45720" tIns="18288" bIns="18288">
            <a:spAutoFit/>
          </a:bodyPr>
          <a:lstStyle/>
          <a:p>
            <a:pPr algn="r">
              <a:lnSpc>
                <a:spcPct val="110000"/>
              </a:lnSpc>
            </a:pPr>
            <a:r>
              <a:rPr sz="1100" b="0" i="0">
                <a:solidFill>
                  <a:srgbClr val="6B6B76"/>
                </a:solidFill>
                <a:latin typeface="Arial"/>
              </a:rPr>
              <a:t>50%</a:t>
            </a:r>
          </a:p>
        </p:txBody>
      </p:sp>
      <p:cxnSp>
        <p:nvCxnSpPr>
          <p:cNvPr id="22" name="Connector 21"/>
          <p:cNvCxnSpPr/>
          <p:nvPr/>
        </p:nvCxnSpPr>
        <p:spPr>
          <a:xfrm>
            <a:off x="5074920" y="2286000"/>
            <a:ext cx="6309360" cy="0"/>
          </a:xfrm>
          <a:prstGeom prst="line">
            <a:avLst/>
          </a:prstGeom>
          <a:ln w="9525">
            <a:solidFill>
              <a:srgbClr val="D5D5D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80559" y="2148840"/>
            <a:ext cx="502920" cy="274320"/>
          </a:xfrm>
          <a:prstGeom prst="rect">
            <a:avLst/>
          </a:prstGeom>
          <a:noFill/>
        </p:spPr>
        <p:txBody>
          <a:bodyPr wrap="square" anchor="t" lIns="45720" rIns="45720" tIns="18288" bIns="18288">
            <a:spAutoFit/>
          </a:bodyPr>
          <a:lstStyle/>
          <a:p>
            <a:pPr algn="r">
              <a:lnSpc>
                <a:spcPct val="110000"/>
              </a:lnSpc>
            </a:pPr>
            <a:r>
              <a:rPr sz="1100" b="0" i="0">
                <a:solidFill>
                  <a:srgbClr val="6B6B76"/>
                </a:solidFill>
                <a:latin typeface="Arial"/>
              </a:rPr>
              <a:t>100%</a:t>
            </a:r>
          </a:p>
        </p:txBody>
      </p:sp>
      <p:sp>
        <p:nvSpPr>
          <p:cNvPr id="24" name="TextBox 23"/>
          <p:cNvSpPr txBox="1"/>
          <p:nvPr/>
        </p:nvSpPr>
        <p:spPr>
          <a:xfrm>
            <a:off x="5074920" y="4325112"/>
            <a:ext cx="1828800" cy="27432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startup</a:t>
            </a:r>
          </a:p>
        </p:txBody>
      </p:sp>
      <p:sp>
        <p:nvSpPr>
          <p:cNvPr id="25" name="TextBox 24"/>
          <p:cNvSpPr txBox="1"/>
          <p:nvPr/>
        </p:nvSpPr>
        <p:spPr>
          <a:xfrm>
            <a:off x="9555480" y="4325112"/>
            <a:ext cx="1828800" cy="274320"/>
          </a:xfrm>
          <a:prstGeom prst="rect">
            <a:avLst/>
          </a:prstGeom>
          <a:noFill/>
        </p:spPr>
        <p:txBody>
          <a:bodyPr wrap="square" anchor="t" lIns="45720" rIns="45720" tIns="18288" bIns="18288">
            <a:spAutoFit/>
          </a:bodyPr>
          <a:lstStyle/>
          <a:p>
            <a:pPr algn="r">
              <a:lnSpc>
                <a:spcPct val="110000"/>
              </a:lnSpc>
            </a:pPr>
            <a:r>
              <a:rPr sz="1100" b="0" i="0">
                <a:solidFill>
                  <a:srgbClr val="6B6B76"/>
                </a:solidFill>
                <a:latin typeface="Arial"/>
              </a:rPr>
              <a:t>10 minutes later</a:t>
            </a:r>
          </a:p>
        </p:txBody>
      </p:sp>
      <p:sp>
        <p:nvSpPr>
          <p:cNvPr id="26" name="Rectangle 25"/>
          <p:cNvSpPr/>
          <p:nvPr/>
        </p:nvSpPr>
        <p:spPr>
          <a:xfrm>
            <a:off x="7724851" y="2286000"/>
            <a:ext cx="3659428" cy="1965960"/>
          </a:xfrm>
          <a:prstGeom prst="rect">
            <a:avLst/>
          </a:prstGeom>
          <a:solidFill>
            <a:srgbClr val="FDF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7724851" y="2240280"/>
            <a:ext cx="0" cy="2011680"/>
          </a:xfrm>
          <a:prstGeom prst="line">
            <a:avLst/>
          </a:prstGeom>
          <a:ln w="25400">
            <a:solidFill>
              <a:srgbClr val="E8871E"/>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98003" y="2679191"/>
            <a:ext cx="1463040" cy="274320"/>
          </a:xfrm>
          <a:prstGeom prst="rect">
            <a:avLst/>
          </a:prstGeom>
          <a:noFill/>
        </p:spPr>
        <p:txBody>
          <a:bodyPr wrap="square" anchor="t" lIns="45720" rIns="45720" tIns="18288" bIns="18288">
            <a:spAutoFit/>
          </a:bodyPr>
          <a:lstStyle/>
          <a:p>
            <a:pPr algn="l">
              <a:lnSpc>
                <a:spcPct val="110000"/>
              </a:lnSpc>
            </a:pPr>
            <a:r>
              <a:rPr sz="1200" b="1" i="0">
                <a:solidFill>
                  <a:srgbClr val="E8871E"/>
                </a:solidFill>
                <a:latin typeface="Arial"/>
              </a:rPr>
              <a:t>load starts</a:t>
            </a:r>
          </a:p>
        </p:txBody>
      </p:sp>
      <p:sp>
        <p:nvSpPr>
          <p:cNvPr id="29" name="Rectangle 28"/>
          <p:cNvSpPr/>
          <p:nvPr/>
        </p:nvSpPr>
        <p:spPr>
          <a:xfrm>
            <a:off x="7852867" y="4063227"/>
            <a:ext cx="274502" cy="188732"/>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00522" y="3905951"/>
            <a:ext cx="274502" cy="346008"/>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48176" y="3732946"/>
            <a:ext cx="274502" cy="519013"/>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95831" y="3607125"/>
            <a:ext cx="274502" cy="644834"/>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43486" y="3465576"/>
            <a:ext cx="274502" cy="786384"/>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91141" y="3371209"/>
            <a:ext cx="274502" cy="880750"/>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38796" y="3292571"/>
            <a:ext cx="274502" cy="959388"/>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286451" y="3245388"/>
            <a:ext cx="274502" cy="1006571"/>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634106" y="3213933"/>
            <a:ext cx="274502" cy="1038026"/>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981761" y="3198205"/>
            <a:ext cx="274502" cy="1053754"/>
          </a:xfrm>
          <a:prstGeom prst="rect">
            <a:avLst/>
          </a:prstGeom>
          <a:solidFill>
            <a:srgbClr val="F2C7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81159" y="2679191"/>
            <a:ext cx="2057400" cy="274320"/>
          </a:xfrm>
          <a:prstGeom prst="rect">
            <a:avLst/>
          </a:prstGeom>
          <a:noFill/>
        </p:spPr>
        <p:txBody>
          <a:bodyPr wrap="square" anchor="t" lIns="45720" rIns="45720" tIns="18288" bIns="18288">
            <a:spAutoFit/>
          </a:bodyPr>
          <a:lstStyle/>
          <a:p>
            <a:pPr algn="r">
              <a:lnSpc>
                <a:spcPct val="110000"/>
              </a:lnSpc>
            </a:pPr>
            <a:r>
              <a:rPr sz="1200" b="1" i="0">
                <a:solidFill>
                  <a:srgbClr val="B8661A"/>
                </a:solidFill>
                <a:latin typeface="Arial"/>
              </a:rPr>
              <a:t>requests in flight</a:t>
            </a:r>
          </a:p>
        </p:txBody>
      </p:sp>
      <p:cxnSp>
        <p:nvCxnSpPr>
          <p:cNvPr id="40" name="Connector 39"/>
          <p:cNvCxnSpPr/>
          <p:nvPr/>
        </p:nvCxnSpPr>
        <p:spPr>
          <a:xfrm>
            <a:off x="5074920" y="2443276"/>
            <a:ext cx="6309360" cy="0"/>
          </a:xfrm>
          <a:prstGeom prst="line">
            <a:avLst/>
          </a:prstGeom>
          <a:ln w="57150">
            <a:solidFill>
              <a:srgbClr val="991346"/>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257800" y="2571292"/>
            <a:ext cx="1463040" cy="384048"/>
          </a:xfrm>
          <a:prstGeom prst="roundRect">
            <a:avLst>
              <a:gd name="adj" fmla="val 50000"/>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57800" y="2571292"/>
            <a:ext cx="1463040" cy="384048"/>
          </a:xfrm>
          <a:prstGeom prst="rect">
            <a:avLst/>
          </a:prstGeom>
          <a:noFill/>
        </p:spPr>
        <p:txBody>
          <a:bodyPr wrap="square" anchor="ctr" lIns="45720" rIns="45720" tIns="18288" bIns="18288">
            <a:spAutoFit/>
          </a:bodyPr>
          <a:lstStyle/>
          <a:p>
            <a:pPr algn="ctr">
              <a:lnSpc>
                <a:spcPct val="110000"/>
              </a:lnSpc>
            </a:pPr>
            <a:r>
              <a:rPr sz="1500" b="1" i="0">
                <a:solidFill>
                  <a:srgbClr val="FFFFFF"/>
                </a:solidFill>
                <a:latin typeface="Arial"/>
              </a:rPr>
              <a:t>92%, flat</a:t>
            </a:r>
          </a:p>
        </p:txBody>
      </p:sp>
      <p:sp>
        <p:nvSpPr>
          <p:cNvPr id="43" name="TextBox 42"/>
          <p:cNvSpPr txBox="1"/>
          <p:nvPr/>
        </p:nvSpPr>
        <p:spPr>
          <a:xfrm>
            <a:off x="5257800" y="2991916"/>
            <a:ext cx="1463040" cy="320040"/>
          </a:xfrm>
          <a:prstGeom prst="rect">
            <a:avLst/>
          </a:prstGeom>
          <a:noFill/>
        </p:spPr>
        <p:txBody>
          <a:bodyPr wrap="square" anchor="t" lIns="45720" rIns="45720" tIns="18288" bIns="18288">
            <a:spAutoFit/>
          </a:bodyPr>
          <a:lstStyle/>
          <a:p>
            <a:pPr algn="l">
              <a:lnSpc>
                <a:spcPct val="110000"/>
              </a:lnSpc>
            </a:pPr>
            <a:r>
              <a:rPr sz="1300" b="1" i="0">
                <a:solidFill>
                  <a:srgbClr val="991346"/>
                </a:solidFill>
                <a:latin typeface="Arial"/>
              </a:rPr>
              <a:t>set at startup</a:t>
            </a:r>
          </a:p>
        </p:txBody>
      </p:sp>
      <p:sp>
        <p:nvSpPr>
          <p:cNvPr id="44" name="TextBox 43"/>
          <p:cNvSpPr txBox="1"/>
          <p:nvPr/>
        </p:nvSpPr>
        <p:spPr>
          <a:xfrm>
            <a:off x="548640" y="5029200"/>
            <a:ext cx="11064240" cy="1097280"/>
          </a:xfrm>
          <a:prstGeom prst="rect">
            <a:avLst/>
          </a:prstGeom>
          <a:noFill/>
        </p:spPr>
        <p:txBody>
          <a:bodyPr wrap="square" anchor="t" lIns="45720" rIns="45720" tIns="18288" bIns="18288">
            <a:spAutoFit/>
          </a:bodyPr>
          <a:lstStyle/>
          <a:p>
            <a:pPr algn="l">
              <a:lnSpc>
                <a:spcPct val="110000"/>
              </a:lnSpc>
            </a:pPr>
            <a:r>
              <a:rPr sz="2200" b="1" i="0">
                <a:solidFill>
                  <a:srgbClr val="1F1F24"/>
                </a:solidFill>
                <a:latin typeface="Arial"/>
              </a:rPr>
              <a:t>vLLM reserves 92% of GPU memory when it starts. </a:t>
            </a:r>
            <a:r>
              <a:rPr sz="2200" b="0" i="0">
                <a:solidFill>
                  <a:srgbClr val="1F1F24"/>
                </a:solidFill>
                <a:latin typeface="Arial"/>
              </a:rPr>
              <a:t>Busy or idle, that number stays put. So the chart we page on can't tell a struggling server from a quiet one.</a:t>
            </a:r>
          </a:p>
        </p:txBody>
      </p:sp>
      <p:sp>
        <p:nvSpPr>
          <p:cNvPr id="157" name="TextBox 156"/>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vLLM default: gpu_memory_utilization = 0.92 (vllm/config/cache.py, vLLM main, Oct 2026). Request bars are illustrative.</a:t>
            </a:r>
          </a:p>
        </p:txBody>
      </p:sp>
      <p:sp>
        <p:nvSpPr>
          <p:cNvPr id="158" name="TextBox 157"/>
          <p:cNvSpPr txBox="1"/>
          <p:nvPr/>
        </p:nvSpPr>
        <p:spPr>
          <a:xfrm>
            <a:off x="11109960" y="6327648"/>
            <a:ext cx="685800" cy="365760"/>
          </a:xfrm>
          <a:prstGeom prst="rect">
            <a:avLst/>
          </a:prstGeom>
          <a:noFill/>
        </p:spPr>
        <p:txBody>
          <a:bodyPr wrap="none" rIns="18288">
            <a:spAutoFit/>
          </a:bodyPr>
          <a:lstStyle/>
          <a:p>
            <a:pPr algn="r"/>
            <a:fld id="{B6F15528-21DE-4FAA-801E-634DDDAF4B04}" type="slidenum">
              <a:rPr lang="en-US" sz="1200" b="1">
                <a:solidFill>
                  <a:srgbClr val="991346"/>
                </a:solidFill>
                <a:latin typeface="Arial"/>
              </a:rPr>
              <a:t>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3" dur="400"/>
                                        <p:tgtEl>
                                          <p:spTgt spid="3"/>
                                        </p:tgtEl>
                                      </p:cBhvr>
                                    </p:animEffect>
                                    <p:anim calcmode="lin" valueType="num">
                                      <p:cBhvr>
                                        <p:cTn id="4" dur="400" fill="hold"/>
                                        <p:tgtEl>
                                          <p:spTgt spid="3"/>
                                        </p:tgtEl>
                                        <p:attrNameLst>
                                          <p:attrName>ppt_y</p:attrName>
                                        </p:attrNameLst>
                                      </p:cBhvr>
                                      <p:tavLst>
                                        <p:tav tm="0">
                                          <p:val>
                                            <p:strVal val="#ppt_y+0.05"/>
                                          </p:val>
                                        </p:tav>
                                        <p:tav tm="100000">
                                          <p:val>
                                            <p:strVal val="#ppt_y"/>
                                          </p:val>
                                        </p:tav>
                                      </p:tavLst>
                                    </p:anim>
                                  </p:childTnLst>
                                </p:cTn>
                              </p:par>
                              <p:par>
                                <p:cTn id="9" presetID="42" presetClass="entr" presetSubtype="0" fill="hold" nodeType="withEffect">
                                  <p:stCondLst>
                                    <p:cond delay="150"/>
                                  </p:stCondLst>
                                  <p:childTnLst>
                                    <p:set>
                                      <p:cBhvr>
                                        <p:cTn id="10"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anim calcmode="lin" valueType="num">
                                      <p:cBhvr>
                                        <p:cTn id="8" dur="400" fill="hold"/>
                                        <p:tgtEl>
                                          <p:spTgt spid="4"/>
                                        </p:tgtEl>
                                        <p:attrNameLst>
                                          <p:attrName>ppt_y</p:attrName>
                                        </p:attrNameLst>
                                      </p:cBhvr>
                                      <p:tavLst>
                                        <p:tav tm="0">
                                          <p:val>
                                            <p:strVal val="#ppt_y+0.05"/>
                                          </p:val>
                                        </p:tav>
                                        <p:tav tm="100000">
                                          <p:val>
                                            <p:strVal val="#ppt_y"/>
                                          </p:val>
                                        </p:tav>
                                      </p:tavLst>
                                    </p:anim>
                                  </p:childTnLst>
                                </p:cTn>
                              </p:par>
                              <p:par>
                                <p:cTn id="13" presetID="42" presetClass="entr" presetSubtype="0" fill="hold" nodeType="withEffect">
                                  <p:stCondLst>
                                    <p:cond delay="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anim calcmode="lin" valueType="num">
                                      <p:cBhvr>
                                        <p:cTn id="12" dur="400" fill="hold"/>
                                        <p:tgtEl>
                                          <p:spTgt spid="5"/>
                                        </p:tgtEl>
                                        <p:attrNameLst>
                                          <p:attrName>ppt_y</p:attrName>
                                        </p:attrNameLst>
                                      </p:cBhvr>
                                      <p:tavLst>
                                        <p:tav tm="0">
                                          <p:val>
                                            <p:strVal val="#ppt_y+0.05"/>
                                          </p:val>
                                        </p:tav>
                                        <p:tav tm="100000">
                                          <p:val>
                                            <p:strVal val="#ppt_y"/>
                                          </p:val>
                                        </p:tav>
                                      </p:tavLst>
                                    </p:anim>
                                  </p:childTnLst>
                                </p:cTn>
                              </p:par>
                              <p:par>
                                <p:cTn id="17" presetID="42" presetClass="entr" presetSubtype="0" fill="hold"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anim calcmode="lin" valueType="num">
                                      <p:cBhvr>
                                        <p:cTn id="16" dur="400" fill="hold"/>
                                        <p:tgtEl>
                                          <p:spTgt spid="6"/>
                                        </p:tgtEl>
                                        <p:attrNameLst>
                                          <p:attrName>ppt_y</p:attrName>
                                        </p:attrNameLst>
                                      </p:cBhvr>
                                      <p:tavLst>
                                        <p:tav tm="0">
                                          <p:val>
                                            <p:strVal val="#ppt_y+0.05"/>
                                          </p:val>
                                        </p:tav>
                                        <p:tav tm="100000">
                                          <p:val>
                                            <p:strVal val="#ppt_y"/>
                                          </p:val>
                                        </p:tav>
                                      </p:tavLst>
                                    </p:anim>
                                  </p:childTnLst>
                                </p:cTn>
                              </p:par>
                              <p:par>
                                <p:cTn id="21" presetID="42" presetClass="entr" presetSubtype="0" fill="hold" nodeType="withEffect">
                                  <p:stCondLst>
                                    <p:cond delay="600"/>
                                  </p:stCondLst>
                                  <p:childTnLst>
                                    <p:set>
                                      <p:cBhvr>
                                        <p:cTn id="22"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anim calcmode="lin" valueType="num">
                                      <p:cBhvr>
                                        <p:cTn id="20" dur="400" fill="hold"/>
                                        <p:tgtEl>
                                          <p:spTgt spid="7"/>
                                        </p:tgtEl>
                                        <p:attrNameLst>
                                          <p:attrName>ppt_y</p:attrName>
                                        </p:attrNameLst>
                                      </p:cBhvr>
                                      <p:tavLst>
                                        <p:tav tm="0">
                                          <p:val>
                                            <p:strVal val="#ppt_y+0.05"/>
                                          </p:val>
                                        </p:tav>
                                        <p:tav tm="100000">
                                          <p:val>
                                            <p:strVal val="#ppt_y"/>
                                          </p:val>
                                        </p:tav>
                                      </p:tavLst>
                                    </p:anim>
                                  </p:childTnLst>
                                </p:cTn>
                              </p:par>
                              <p:par>
                                <p:cTn id="25" presetID="42" presetClass="entr" presetSubtype="0" fill="hold" nodeType="withEffect">
                                  <p:stCondLst>
                                    <p:cond delay="750"/>
                                  </p:stCondLst>
                                  <p:childTnLst>
                                    <p:set>
                                      <p:cBhvr>
                                        <p:cTn id="26"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anim calcmode="lin" valueType="num">
                                      <p:cBhvr>
                                        <p:cTn id="24" dur="400" fill="hold"/>
                                        <p:tgtEl>
                                          <p:spTgt spid="8"/>
                                        </p:tgtEl>
                                        <p:attrNameLst>
                                          <p:attrName>ppt_y</p:attrName>
                                        </p:attrNameLst>
                                      </p:cBhvr>
                                      <p:tavLst>
                                        <p:tav tm="0">
                                          <p:val>
                                            <p:strVal val="#ppt_y+0.05"/>
                                          </p:val>
                                        </p:tav>
                                        <p:tav tm="100000">
                                          <p:val>
                                            <p:strVal val="#ppt_y"/>
                                          </p:val>
                                        </p:tav>
                                      </p:tavLst>
                                    </p:anim>
                                  </p:childTnLst>
                                </p:cTn>
                              </p:par>
                              <p:par>
                                <p:cTn id="29" presetID="42" presetClass="entr" presetSubtype="0" fill="hold" nodeType="withEffect">
                                  <p:stCondLst>
                                    <p:cond delay="900"/>
                                  </p:stCondLst>
                                  <p:childTnLst>
                                    <p:set>
                                      <p:cBhvr>
                                        <p:cTn id="30" dur="1" fill="hold">
                                          <p:stCondLst>
                                            <p:cond delay="0"/>
                                          </p:stCondLst>
                                        </p:cTn>
                                        <p:tgtEl>
                                          <p:spTgt spid="9"/>
                                        </p:tgtEl>
                                        <p:attrNameLst>
                                          <p:attrName>style.visibility</p:attrName>
                                        </p:attrNameLst>
                                      </p:cBhvr>
                                      <p:to>
                                        <p:strVal val="visible"/>
                                      </p:to>
                                    </p:set>
                                    <p:animEffect transition="in" filter="fade">
                                      <p:cBhvr>
                                        <p:cTn id="27" dur="400"/>
                                        <p:tgtEl>
                                          <p:spTgt spid="9"/>
                                        </p:tgtEl>
                                      </p:cBhvr>
                                    </p:animEffect>
                                    <p:anim calcmode="lin" valueType="num">
                                      <p:cBhvr>
                                        <p:cTn id="28" dur="400" fill="hold"/>
                                        <p:tgtEl>
                                          <p:spTgt spid="9"/>
                                        </p:tgtEl>
                                        <p:attrNameLst>
                                          <p:attrName>ppt_y</p:attrName>
                                        </p:attrNameLst>
                                      </p:cBhvr>
                                      <p:tavLst>
                                        <p:tav tm="0">
                                          <p:val>
                                            <p:strVal val="#ppt_y+0.05"/>
                                          </p:val>
                                        </p:tav>
                                        <p:tav tm="100000">
                                          <p:val>
                                            <p:strVal val="#ppt_y"/>
                                          </p:val>
                                        </p:tav>
                                      </p:tavLst>
                                    </p:anim>
                                  </p:childTnLst>
                                </p:cTn>
                              </p:par>
                              <p:par>
                                <p:cTn id="33" presetID="42" presetClass="entr" presetSubtype="0" fill="hold" nodeType="withEffect">
                                  <p:stCondLst>
                                    <p:cond delay="10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anim calcmode="lin" valueType="num">
                                      <p:cBhvr>
                                        <p:cTn id="32" dur="400" fill="hold"/>
                                        <p:tgtEl>
                                          <p:spTgt spid="10"/>
                                        </p:tgtEl>
                                        <p:attrNameLst>
                                          <p:attrName>ppt_y</p:attrName>
                                        </p:attrNameLst>
                                      </p:cBhvr>
                                      <p:tavLst>
                                        <p:tav tm="0">
                                          <p:val>
                                            <p:strVal val="#ppt_y+0.05"/>
                                          </p:val>
                                        </p:tav>
                                        <p:tav tm="100000">
                                          <p:val>
                                            <p:strVal val="#ppt_y"/>
                                          </p:val>
                                        </p:tav>
                                      </p:tavLst>
                                    </p:anim>
                                  </p:childTnLst>
                                </p:cTn>
                              </p:par>
                              <p:par>
                                <p:cTn id="37" presetID="42" presetClass="entr" presetSubtype="0" fill="hold" nodeType="withEffect">
                                  <p:stCondLst>
                                    <p:cond delay="1200"/>
                                  </p:stCondLst>
                                  <p:childTnLst>
                                    <p:set>
                                      <p:cBhvr>
                                        <p:cTn id="38" dur="1" fill="hold">
                                          <p:stCondLst>
                                            <p:cond delay="0"/>
                                          </p:stCondLst>
                                        </p:cTn>
                                        <p:tgtEl>
                                          <p:spTgt spid="11"/>
                                        </p:tgtEl>
                                        <p:attrNameLst>
                                          <p:attrName>style.visibility</p:attrName>
                                        </p:attrNameLst>
                                      </p:cBhvr>
                                      <p:to>
                                        <p:strVal val="visible"/>
                                      </p:to>
                                    </p:set>
                                    <p:animEffect transition="in" filter="fade">
                                      <p:cBhvr>
                                        <p:cTn id="35" dur="400"/>
                                        <p:tgtEl>
                                          <p:spTgt spid="11"/>
                                        </p:tgtEl>
                                      </p:cBhvr>
                                    </p:animEffect>
                                    <p:anim calcmode="lin" valueType="num">
                                      <p:cBhvr>
                                        <p:cTn id="36" dur="400" fill="hold"/>
                                        <p:tgtEl>
                                          <p:spTgt spid="11"/>
                                        </p:tgtEl>
                                        <p:attrNameLst>
                                          <p:attrName>ppt_y</p:attrName>
                                        </p:attrNameLst>
                                      </p:cBhvr>
                                      <p:tavLst>
                                        <p:tav tm="0">
                                          <p:val>
                                            <p:strVal val="#ppt_y+0.05"/>
                                          </p:val>
                                        </p:tav>
                                        <p:tav tm="100000">
                                          <p:val>
                                            <p:strVal val="#ppt_y"/>
                                          </p:val>
                                        </p:tav>
                                      </p:tavLst>
                                    </p:anim>
                                  </p:childTnLst>
                                </p:cTn>
                              </p:par>
                              <p:par>
                                <p:cTn id="41" presetID="42" presetClass="entr" presetSubtype="0" fill="hold" nodeType="withEffect">
                                  <p:stCondLst>
                                    <p:cond delay="1350"/>
                                  </p:stCondLst>
                                  <p:childTnLst>
                                    <p:set>
                                      <p:cBhvr>
                                        <p:cTn id="42" dur="1" fill="hold">
                                          <p:stCondLst>
                                            <p:cond delay="0"/>
                                          </p:stCondLst>
                                        </p:cTn>
                                        <p:tgtEl>
                                          <p:spTgt spid="12"/>
                                        </p:tgtEl>
                                        <p:attrNameLst>
                                          <p:attrName>style.visibility</p:attrName>
                                        </p:attrNameLst>
                                      </p:cBhvr>
                                      <p:to>
                                        <p:strVal val="visible"/>
                                      </p:to>
                                    </p:set>
                                    <p:animEffect transition="in" filter="fade">
                                      <p:cBhvr>
                                        <p:cTn id="39" dur="400"/>
                                        <p:tgtEl>
                                          <p:spTgt spid="12"/>
                                        </p:tgtEl>
                                      </p:cBhvr>
                                    </p:animEffect>
                                    <p:anim calcmode="lin" valueType="num">
                                      <p:cBhvr>
                                        <p:cTn id="40" dur="400" fill="hold"/>
                                        <p:tgtEl>
                                          <p:spTgt spid="12"/>
                                        </p:tgtEl>
                                        <p:attrNameLst>
                                          <p:attrName>ppt_y</p:attrName>
                                        </p:attrNameLst>
                                      </p:cBhvr>
                                      <p:tavLst>
                                        <p:tav tm="0">
                                          <p:val>
                                            <p:strVal val="#ppt_y+0.05"/>
                                          </p:val>
                                        </p:tav>
                                        <p:tav tm="100000">
                                          <p:val>
                                            <p:strVal val="#ppt_y"/>
                                          </p:val>
                                        </p:tav>
                                      </p:tavLst>
                                    </p:anim>
                                  </p:childTnLst>
                                </p:cTn>
                              </p:par>
                              <p:par>
                                <p:cTn id="45" presetID="42" presetClass="entr" presetSubtype="0" fill="hold" nodeType="withEffect">
                                  <p:stCondLst>
                                    <p:cond delay="1500"/>
                                  </p:stCondLst>
                                  <p:childTnLst>
                                    <p:set>
                                      <p:cBhvr>
                                        <p:cTn id="46" dur="1" fill="hold">
                                          <p:stCondLst>
                                            <p:cond delay="0"/>
                                          </p:stCondLst>
                                        </p:cTn>
                                        <p:tgtEl>
                                          <p:spTgt spid="13"/>
                                        </p:tgtEl>
                                        <p:attrNameLst>
                                          <p:attrName>style.visibility</p:attrName>
                                        </p:attrNameLst>
                                      </p:cBhvr>
                                      <p:to>
                                        <p:strVal val="visible"/>
                                      </p:to>
                                    </p:set>
                                    <p:animEffect transition="in" filter="fade">
                                      <p:cBhvr>
                                        <p:cTn id="43" dur="400"/>
                                        <p:tgtEl>
                                          <p:spTgt spid="13"/>
                                        </p:tgtEl>
                                      </p:cBhvr>
                                    </p:animEffect>
                                    <p:anim calcmode="lin" valueType="num">
                                      <p:cBhvr>
                                        <p:cTn id="44" dur="400" fill="hold"/>
                                        <p:tgtEl>
                                          <p:spTgt spid="13"/>
                                        </p:tgtEl>
                                        <p:attrNameLst>
                                          <p:attrName>ppt_y</p:attrName>
                                        </p:attrNameLst>
                                      </p:cBhvr>
                                      <p:tavLst>
                                        <p:tav tm="0">
                                          <p:val>
                                            <p:strVal val="#ppt_y+0.05"/>
                                          </p:val>
                                        </p:tav>
                                        <p:tav tm="100000">
                                          <p:val>
                                            <p:strVal val="#ppt_y"/>
                                          </p:val>
                                        </p:tav>
                                      </p:tavLst>
                                    </p:anim>
                                  </p:childTnLst>
                                </p:cTn>
                              </p:par>
                              <p:par>
                                <p:cTn id="49" presetID="42" presetClass="entr" presetSubtype="0" fill="hold" nodeType="withEffect">
                                  <p:stCondLst>
                                    <p:cond delay="1650"/>
                                  </p:stCondLst>
                                  <p:childTnLst>
                                    <p:set>
                                      <p:cBhvr>
                                        <p:cTn id="50" dur="1" fill="hold">
                                          <p:stCondLst>
                                            <p:cond delay="0"/>
                                          </p:stCondLst>
                                        </p:cTn>
                                        <p:tgtEl>
                                          <p:spTgt spid="14"/>
                                        </p:tgtEl>
                                        <p:attrNameLst>
                                          <p:attrName>style.visibility</p:attrName>
                                        </p:attrNameLst>
                                      </p:cBhvr>
                                      <p:to>
                                        <p:strVal val="visible"/>
                                      </p:to>
                                    </p:set>
                                    <p:animEffect transition="in" filter="fade">
                                      <p:cBhvr>
                                        <p:cTn id="47" dur="400"/>
                                        <p:tgtEl>
                                          <p:spTgt spid="14"/>
                                        </p:tgtEl>
                                      </p:cBhvr>
                                    </p:animEffect>
                                    <p:anim calcmode="lin" valueType="num">
                                      <p:cBhvr>
                                        <p:cTn id="48" dur="400" fill="hold"/>
                                        <p:tgtEl>
                                          <p:spTgt spid="14"/>
                                        </p:tgtEl>
                                        <p:attrNameLst>
                                          <p:attrName>ppt_y</p:attrName>
                                        </p:attrNameLst>
                                      </p:cBhvr>
                                      <p:tavLst>
                                        <p:tav tm="0">
                                          <p:val>
                                            <p:strVal val="#ppt_y+0.05"/>
                                          </p:val>
                                        </p:tav>
                                        <p:tav tm="100000">
                                          <p:val>
                                            <p:strVal val="#ppt_y"/>
                                          </p:val>
                                        </p:tav>
                                      </p:tavLst>
                                    </p:anim>
                                  </p:childTnLst>
                                </p:cTn>
                              </p:par>
                              <p:par>
                                <p:cTn id="52" presetID="10" presetClass="entr" presetSubtype="0" fill="hold" nodeType="withEffect">
                                  <p:stCondLst>
                                    <p:cond delay="1800"/>
                                  </p:stCondLst>
                                  <p:childTnLst>
                                    <p:set>
                                      <p:cBhvr>
                                        <p:cTn id="53" dur="1" fill="hold">
                                          <p:stCondLst>
                                            <p:cond delay="0"/>
                                          </p:stCondLst>
                                        </p:cTn>
                                        <p:tgtEl>
                                          <p:spTgt spid="15"/>
                                        </p:tgtEl>
                                        <p:attrNameLst>
                                          <p:attrName>style.visibility</p:attrName>
                                        </p:attrNameLst>
                                      </p:cBhvr>
                                      <p:to>
                                        <p:strVal val="visible"/>
                                      </p:to>
                                    </p:set>
                                    <p:animEffect transition="in" filter="fade">
                                      <p:cBhvr>
                                        <p:cTn id="51" dur="400"/>
                                        <p:tgtEl>
                                          <p:spTgt spid="15"/>
                                        </p:tgtEl>
                                      </p:cBhvr>
                                    </p:animEffect>
                                  </p:childTnLst>
                                </p:cTn>
                              </p:par>
                            </p:childTnLst>
                          </p:cTn>
                        </p:par>
                      </p:childTnLst>
                    </p:cTn>
                  </p:par>
                  <p:par>
                    <p:cTn id="89" fill="hold">
                      <p:stCondLst>
                        <p:cond delay="indefinite"/>
                      </p:stCondLst>
                      <p:childTnLst>
                        <p:par>
                          <p:cTn id="90"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6" dur="400"/>
                                        <p:tgtEl>
                                          <p:spTgt spid="16"/>
                                        </p:tgtEl>
                                      </p:cBhvr>
                                    </p:animEffect>
                                  </p:childTnLst>
                                </p:cTn>
                              </p:par>
                              <p:par>
                                <p:cTn id="60" presetID="10" presetClass="entr" presetSubtype="0" fill="hold"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59" dur="400"/>
                                        <p:tgtEl>
                                          <p:spTgt spid="17"/>
                                        </p:tgtEl>
                                      </p:cBhvr>
                                    </p:animEffect>
                                  </p:childTnLst>
                                </p:cTn>
                              </p:par>
                              <p:par>
                                <p:cTn id="63" presetID="10" presetClass="entr" presetSubtype="0" fill="hold"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2" dur="400"/>
                                        <p:tgtEl>
                                          <p:spTgt spid="18"/>
                                        </p:tgtEl>
                                      </p:cBhvr>
                                    </p:animEffect>
                                  </p:childTnLst>
                                </p:cTn>
                              </p:par>
                              <p:par>
                                <p:cTn id="66" presetID="10" presetClass="entr" presetSubtype="0"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5" dur="400"/>
                                        <p:tgtEl>
                                          <p:spTgt spid="19"/>
                                        </p:tgtEl>
                                      </p:cBhvr>
                                    </p:animEffect>
                                  </p:childTnLst>
                                </p:cTn>
                              </p:par>
                              <p:par>
                                <p:cTn id="69" presetID="10" presetClass="entr" presetSubtype="0"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68" dur="400"/>
                                        <p:tgtEl>
                                          <p:spTgt spid="20"/>
                                        </p:tgtEl>
                                      </p:cBhvr>
                                    </p:animEffect>
                                  </p:childTnLst>
                                </p:cTn>
                              </p:par>
                              <p:par>
                                <p:cTn id="72" presetID="10" presetClass="entr" presetSubtype="0" fill="hold"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1" dur="400"/>
                                        <p:tgtEl>
                                          <p:spTgt spid="21"/>
                                        </p:tgtEl>
                                      </p:cBhvr>
                                    </p:animEffect>
                                  </p:childTnLst>
                                </p:cTn>
                              </p:par>
                              <p:par>
                                <p:cTn id="75" presetID="10" presetClass="entr" presetSubtype="0" fill="hold" nodeType="withEffect">
                                  <p:stCondLst>
                                    <p:cond delay="0"/>
                                  </p:stCondLst>
                                  <p:childTnLst>
                                    <p:set>
                                      <p:cBhvr>
                                        <p:cTn id="76" dur="1" fill="hold">
                                          <p:stCondLst>
                                            <p:cond delay="0"/>
                                          </p:stCondLst>
                                        </p:cTn>
                                        <p:tgtEl>
                                          <p:spTgt spid="22"/>
                                        </p:tgtEl>
                                        <p:attrNameLst>
                                          <p:attrName>style.visibility</p:attrName>
                                        </p:attrNameLst>
                                      </p:cBhvr>
                                      <p:to>
                                        <p:strVal val="visible"/>
                                      </p:to>
                                    </p:set>
                                    <p:animEffect transition="in" filter="fade">
                                      <p:cBhvr>
                                        <p:cTn id="74" dur="400"/>
                                        <p:tgtEl>
                                          <p:spTgt spid="22"/>
                                        </p:tgtEl>
                                      </p:cBhvr>
                                    </p:animEffect>
                                  </p:childTnLst>
                                </p:cTn>
                              </p:par>
                              <p:par>
                                <p:cTn id="78" presetID="10" presetClass="entr" presetSubtype="0" fill="hold"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77" dur="400"/>
                                        <p:tgtEl>
                                          <p:spTgt spid="23"/>
                                        </p:tgtEl>
                                      </p:cBhvr>
                                    </p:animEffect>
                                  </p:childTnLst>
                                </p:cTn>
                              </p:par>
                              <p:par>
                                <p:cTn id="81" presetID="10" presetClass="entr" presetSubtype="0" fill="hold"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0" dur="400"/>
                                        <p:tgtEl>
                                          <p:spTgt spid="24"/>
                                        </p:tgtEl>
                                      </p:cBhvr>
                                    </p:animEffect>
                                  </p:childTnLst>
                                </p:cTn>
                              </p:par>
                              <p:par>
                                <p:cTn id="84" presetID="10" presetClass="entr" presetSubtype="0" fill="hold"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3" dur="400"/>
                                        <p:tgtEl>
                                          <p:spTgt spid="25"/>
                                        </p:tgtEl>
                                      </p:cBhvr>
                                    </p:animEffect>
                                  </p:childTnLst>
                                </p:cTn>
                              </p:par>
                              <p:par>
                                <p:cTn id="87" presetID="22" presetClass="entr" presetSubtype="8" fill="hold" nodeType="with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wipe(left)">
                                      <p:cBhvr>
                                        <p:cTn id="86" dur="1400"/>
                                        <p:tgtEl>
                                          <p:spTgt spid="40"/>
                                        </p:tgtEl>
                                      </p:cBhvr>
                                    </p:animEffect>
                                  </p:childTnLst>
                                </p:cTn>
                              </p:par>
                            </p:childTnLst>
                          </p:cTn>
                        </p:par>
                      </p:childTnLst>
                    </p:cTn>
                  </p:par>
                  <p:par>
                    <p:cTn id="133" fill="hold">
                      <p:stCondLst>
                        <p:cond delay="indefinite"/>
                      </p:stCondLst>
                      <p:childTnLst>
                        <p:par>
                          <p:cTn id="134"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fade">
                                      <p:cBhvr>
                                        <p:cTn id="91" dur="350"/>
                                        <p:tgtEl>
                                          <p:spTgt spid="26"/>
                                        </p:tgtEl>
                                      </p:cBhvr>
                                    </p:animEffect>
                                  </p:childTnLst>
                                </p:cTn>
                              </p:par>
                              <p:par>
                                <p:cTn id="95" presetID="10" presetClass="entr" presetSubtype="0" fill="hold" nodeType="with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fade">
                                      <p:cBhvr>
                                        <p:cTn id="94" dur="350"/>
                                        <p:tgtEl>
                                          <p:spTgt spid="27"/>
                                        </p:tgtEl>
                                      </p:cBhvr>
                                    </p:animEffect>
                                  </p:childTnLst>
                                </p:cTn>
                              </p:par>
                              <p:par>
                                <p:cTn id="98" presetID="10" presetClass="entr" presetSubtype="0" fill="hold" nodeType="withEffect">
                                  <p:stCondLst>
                                    <p:cond delay="0"/>
                                  </p:stCondLst>
                                  <p:childTnLst>
                                    <p:set>
                                      <p:cBhvr>
                                        <p:cTn id="99" dur="1" fill="hold">
                                          <p:stCondLst>
                                            <p:cond delay="0"/>
                                          </p:stCondLst>
                                        </p:cTn>
                                        <p:tgtEl>
                                          <p:spTgt spid="28"/>
                                        </p:tgtEl>
                                        <p:attrNameLst>
                                          <p:attrName>style.visibility</p:attrName>
                                        </p:attrNameLst>
                                      </p:cBhvr>
                                      <p:to>
                                        <p:strVal val="visible"/>
                                      </p:to>
                                    </p:set>
                                    <p:animEffect transition="in" filter="fade">
                                      <p:cBhvr>
                                        <p:cTn id="97" dur="350"/>
                                        <p:tgtEl>
                                          <p:spTgt spid="28"/>
                                        </p:tgtEl>
                                      </p:cBhvr>
                                    </p:animEffect>
                                  </p:childTnLst>
                                </p:cTn>
                              </p:par>
                              <p:par>
                                <p:cTn id="101" presetID="22" presetClass="entr" presetSubtype="4" fill="hold" nodeType="withEffect">
                                  <p:stCondLst>
                                    <p:cond delay="0"/>
                                  </p:stCondLst>
                                  <p:childTnLst>
                                    <p:set>
                                      <p:cBhvr>
                                        <p:cTn id="102" dur="1" fill="hold">
                                          <p:stCondLst>
                                            <p:cond delay="0"/>
                                          </p:stCondLst>
                                        </p:cTn>
                                        <p:tgtEl>
                                          <p:spTgt spid="29"/>
                                        </p:tgtEl>
                                        <p:attrNameLst>
                                          <p:attrName>style.visibility</p:attrName>
                                        </p:attrNameLst>
                                      </p:cBhvr>
                                      <p:to>
                                        <p:strVal val="visible"/>
                                      </p:to>
                                    </p:set>
                                    <p:animEffect transition="in" filter="wipe(up)">
                                      <p:cBhvr>
                                        <p:cTn id="100" dur="260"/>
                                        <p:tgtEl>
                                          <p:spTgt spid="29"/>
                                        </p:tgtEl>
                                      </p:cBhvr>
                                    </p:animEffect>
                                  </p:childTnLst>
                                </p:cTn>
                              </p:par>
                              <p:par>
                                <p:cTn id="104" presetID="22" presetClass="entr" presetSubtype="4" fill="hold" nodeType="withEffect">
                                  <p:stCondLst>
                                    <p:cond delay="110"/>
                                  </p:stCondLst>
                                  <p:childTnLst>
                                    <p:set>
                                      <p:cBhvr>
                                        <p:cTn id="105" dur="1" fill="hold">
                                          <p:stCondLst>
                                            <p:cond delay="0"/>
                                          </p:stCondLst>
                                        </p:cTn>
                                        <p:tgtEl>
                                          <p:spTgt spid="30"/>
                                        </p:tgtEl>
                                        <p:attrNameLst>
                                          <p:attrName>style.visibility</p:attrName>
                                        </p:attrNameLst>
                                      </p:cBhvr>
                                      <p:to>
                                        <p:strVal val="visible"/>
                                      </p:to>
                                    </p:set>
                                    <p:animEffect transition="in" filter="wipe(up)">
                                      <p:cBhvr>
                                        <p:cTn id="103" dur="260"/>
                                        <p:tgtEl>
                                          <p:spTgt spid="30"/>
                                        </p:tgtEl>
                                      </p:cBhvr>
                                    </p:animEffect>
                                  </p:childTnLst>
                                </p:cTn>
                              </p:par>
                              <p:par>
                                <p:cTn id="107" presetID="22" presetClass="entr" presetSubtype="4" fill="hold" nodeType="withEffect">
                                  <p:stCondLst>
                                    <p:cond delay="220"/>
                                  </p:stCondLst>
                                  <p:childTnLst>
                                    <p:set>
                                      <p:cBhvr>
                                        <p:cTn id="108" dur="1" fill="hold">
                                          <p:stCondLst>
                                            <p:cond delay="0"/>
                                          </p:stCondLst>
                                        </p:cTn>
                                        <p:tgtEl>
                                          <p:spTgt spid="31"/>
                                        </p:tgtEl>
                                        <p:attrNameLst>
                                          <p:attrName>style.visibility</p:attrName>
                                        </p:attrNameLst>
                                      </p:cBhvr>
                                      <p:to>
                                        <p:strVal val="visible"/>
                                      </p:to>
                                    </p:set>
                                    <p:animEffect transition="in" filter="wipe(up)">
                                      <p:cBhvr>
                                        <p:cTn id="106" dur="260"/>
                                        <p:tgtEl>
                                          <p:spTgt spid="31"/>
                                        </p:tgtEl>
                                      </p:cBhvr>
                                    </p:animEffect>
                                  </p:childTnLst>
                                </p:cTn>
                              </p:par>
                              <p:par>
                                <p:cTn id="110" presetID="22" presetClass="entr" presetSubtype="4" fill="hold" nodeType="withEffect">
                                  <p:stCondLst>
                                    <p:cond delay="330"/>
                                  </p:stCondLst>
                                  <p:childTnLst>
                                    <p:set>
                                      <p:cBhvr>
                                        <p:cTn id="111" dur="1" fill="hold">
                                          <p:stCondLst>
                                            <p:cond delay="0"/>
                                          </p:stCondLst>
                                        </p:cTn>
                                        <p:tgtEl>
                                          <p:spTgt spid="32"/>
                                        </p:tgtEl>
                                        <p:attrNameLst>
                                          <p:attrName>style.visibility</p:attrName>
                                        </p:attrNameLst>
                                      </p:cBhvr>
                                      <p:to>
                                        <p:strVal val="visible"/>
                                      </p:to>
                                    </p:set>
                                    <p:animEffect transition="in" filter="wipe(up)">
                                      <p:cBhvr>
                                        <p:cTn id="109" dur="260"/>
                                        <p:tgtEl>
                                          <p:spTgt spid="32"/>
                                        </p:tgtEl>
                                      </p:cBhvr>
                                    </p:animEffect>
                                  </p:childTnLst>
                                </p:cTn>
                              </p:par>
                              <p:par>
                                <p:cTn id="113" presetID="22" presetClass="entr" presetSubtype="4" fill="hold" nodeType="withEffect">
                                  <p:stCondLst>
                                    <p:cond delay="440"/>
                                  </p:stCondLst>
                                  <p:childTnLst>
                                    <p:set>
                                      <p:cBhvr>
                                        <p:cTn id="114" dur="1" fill="hold">
                                          <p:stCondLst>
                                            <p:cond delay="0"/>
                                          </p:stCondLst>
                                        </p:cTn>
                                        <p:tgtEl>
                                          <p:spTgt spid="33"/>
                                        </p:tgtEl>
                                        <p:attrNameLst>
                                          <p:attrName>style.visibility</p:attrName>
                                        </p:attrNameLst>
                                      </p:cBhvr>
                                      <p:to>
                                        <p:strVal val="visible"/>
                                      </p:to>
                                    </p:set>
                                    <p:animEffect transition="in" filter="wipe(up)">
                                      <p:cBhvr>
                                        <p:cTn id="112" dur="260"/>
                                        <p:tgtEl>
                                          <p:spTgt spid="33"/>
                                        </p:tgtEl>
                                      </p:cBhvr>
                                    </p:animEffect>
                                  </p:childTnLst>
                                </p:cTn>
                              </p:par>
                              <p:par>
                                <p:cTn id="116" presetID="22" presetClass="entr" presetSubtype="4" fill="hold" nodeType="withEffect">
                                  <p:stCondLst>
                                    <p:cond delay="550"/>
                                  </p:stCondLst>
                                  <p:childTnLst>
                                    <p:set>
                                      <p:cBhvr>
                                        <p:cTn id="117" dur="1" fill="hold">
                                          <p:stCondLst>
                                            <p:cond delay="0"/>
                                          </p:stCondLst>
                                        </p:cTn>
                                        <p:tgtEl>
                                          <p:spTgt spid="34"/>
                                        </p:tgtEl>
                                        <p:attrNameLst>
                                          <p:attrName>style.visibility</p:attrName>
                                        </p:attrNameLst>
                                      </p:cBhvr>
                                      <p:to>
                                        <p:strVal val="visible"/>
                                      </p:to>
                                    </p:set>
                                    <p:animEffect transition="in" filter="wipe(up)">
                                      <p:cBhvr>
                                        <p:cTn id="115" dur="260"/>
                                        <p:tgtEl>
                                          <p:spTgt spid="34"/>
                                        </p:tgtEl>
                                      </p:cBhvr>
                                    </p:animEffect>
                                  </p:childTnLst>
                                </p:cTn>
                              </p:par>
                              <p:par>
                                <p:cTn id="119" presetID="22" presetClass="entr" presetSubtype="4" fill="hold" nodeType="withEffect">
                                  <p:stCondLst>
                                    <p:cond delay="660"/>
                                  </p:stCondLst>
                                  <p:childTnLst>
                                    <p:set>
                                      <p:cBhvr>
                                        <p:cTn id="120" dur="1" fill="hold">
                                          <p:stCondLst>
                                            <p:cond delay="0"/>
                                          </p:stCondLst>
                                        </p:cTn>
                                        <p:tgtEl>
                                          <p:spTgt spid="35"/>
                                        </p:tgtEl>
                                        <p:attrNameLst>
                                          <p:attrName>style.visibility</p:attrName>
                                        </p:attrNameLst>
                                      </p:cBhvr>
                                      <p:to>
                                        <p:strVal val="visible"/>
                                      </p:to>
                                    </p:set>
                                    <p:animEffect transition="in" filter="wipe(up)">
                                      <p:cBhvr>
                                        <p:cTn id="118" dur="260"/>
                                        <p:tgtEl>
                                          <p:spTgt spid="35"/>
                                        </p:tgtEl>
                                      </p:cBhvr>
                                    </p:animEffect>
                                  </p:childTnLst>
                                </p:cTn>
                              </p:par>
                              <p:par>
                                <p:cTn id="122" presetID="22" presetClass="entr" presetSubtype="4" fill="hold" nodeType="withEffect">
                                  <p:stCondLst>
                                    <p:cond delay="770"/>
                                  </p:stCondLst>
                                  <p:childTnLst>
                                    <p:set>
                                      <p:cBhvr>
                                        <p:cTn id="123" dur="1" fill="hold">
                                          <p:stCondLst>
                                            <p:cond delay="0"/>
                                          </p:stCondLst>
                                        </p:cTn>
                                        <p:tgtEl>
                                          <p:spTgt spid="36"/>
                                        </p:tgtEl>
                                        <p:attrNameLst>
                                          <p:attrName>style.visibility</p:attrName>
                                        </p:attrNameLst>
                                      </p:cBhvr>
                                      <p:to>
                                        <p:strVal val="visible"/>
                                      </p:to>
                                    </p:set>
                                    <p:animEffect transition="in" filter="wipe(up)">
                                      <p:cBhvr>
                                        <p:cTn id="121" dur="260"/>
                                        <p:tgtEl>
                                          <p:spTgt spid="36"/>
                                        </p:tgtEl>
                                      </p:cBhvr>
                                    </p:animEffect>
                                  </p:childTnLst>
                                </p:cTn>
                              </p:par>
                              <p:par>
                                <p:cTn id="125" presetID="22" presetClass="entr" presetSubtype="4" fill="hold" nodeType="withEffect">
                                  <p:stCondLst>
                                    <p:cond delay="880"/>
                                  </p:stCondLst>
                                  <p:childTnLst>
                                    <p:set>
                                      <p:cBhvr>
                                        <p:cTn id="126" dur="1" fill="hold">
                                          <p:stCondLst>
                                            <p:cond delay="0"/>
                                          </p:stCondLst>
                                        </p:cTn>
                                        <p:tgtEl>
                                          <p:spTgt spid="37"/>
                                        </p:tgtEl>
                                        <p:attrNameLst>
                                          <p:attrName>style.visibility</p:attrName>
                                        </p:attrNameLst>
                                      </p:cBhvr>
                                      <p:to>
                                        <p:strVal val="visible"/>
                                      </p:to>
                                    </p:set>
                                    <p:animEffect transition="in" filter="wipe(up)">
                                      <p:cBhvr>
                                        <p:cTn id="124" dur="260"/>
                                        <p:tgtEl>
                                          <p:spTgt spid="37"/>
                                        </p:tgtEl>
                                      </p:cBhvr>
                                    </p:animEffect>
                                  </p:childTnLst>
                                </p:cTn>
                              </p:par>
                              <p:par>
                                <p:cTn id="128" presetID="22" presetClass="entr" presetSubtype="4" fill="hold" nodeType="withEffect">
                                  <p:stCondLst>
                                    <p:cond delay="990"/>
                                  </p:stCondLst>
                                  <p:childTnLst>
                                    <p:set>
                                      <p:cBhvr>
                                        <p:cTn id="129" dur="1" fill="hold">
                                          <p:stCondLst>
                                            <p:cond delay="0"/>
                                          </p:stCondLst>
                                        </p:cTn>
                                        <p:tgtEl>
                                          <p:spTgt spid="38"/>
                                        </p:tgtEl>
                                        <p:attrNameLst>
                                          <p:attrName>style.visibility</p:attrName>
                                        </p:attrNameLst>
                                      </p:cBhvr>
                                      <p:to>
                                        <p:strVal val="visible"/>
                                      </p:to>
                                    </p:set>
                                    <p:animEffect transition="in" filter="wipe(up)">
                                      <p:cBhvr>
                                        <p:cTn id="127" dur="260"/>
                                        <p:tgtEl>
                                          <p:spTgt spid="38"/>
                                        </p:tgtEl>
                                      </p:cBhvr>
                                    </p:animEffect>
                                  </p:childTnLst>
                                </p:cTn>
                              </p:par>
                              <p:par>
                                <p:cTn id="131" presetID="10" presetClass="entr" presetSubtype="0" fill="hold" nodeType="withEffect">
                                  <p:stCondLst>
                                    <p:cond delay="1100"/>
                                  </p:stCondLst>
                                  <p:childTnLst>
                                    <p:set>
                                      <p:cBhvr>
                                        <p:cTn id="132" dur="1" fill="hold">
                                          <p:stCondLst>
                                            <p:cond delay="0"/>
                                          </p:stCondLst>
                                        </p:cTn>
                                        <p:tgtEl>
                                          <p:spTgt spid="39"/>
                                        </p:tgtEl>
                                        <p:attrNameLst>
                                          <p:attrName>style.visibility</p:attrName>
                                        </p:attrNameLst>
                                      </p:cBhvr>
                                      <p:to>
                                        <p:strVal val="visible"/>
                                      </p:to>
                                    </p:set>
                                    <p:animEffect transition="in" filter="fade">
                                      <p:cBhvr>
                                        <p:cTn id="130" dur="300"/>
                                        <p:tgtEl>
                                          <p:spTgt spid="39"/>
                                        </p:tgtEl>
                                      </p:cBhvr>
                                    </p:animEffect>
                                  </p:childTnLst>
                                </p:cTn>
                              </p:par>
                            </p:childTnLst>
                          </p:cTn>
                        </p:par>
                      </p:childTnLst>
                    </p:cTn>
                  </p:par>
                  <p:par>
                    <p:cTn id="150" fill="hold">
                      <p:stCondLst>
                        <p:cond delay="indefinite"/>
                      </p:stCondLst>
                      <p:childTnLst>
                        <p:par>
                          <p:cTn id="151" fill="hold">
                            <p:stCondLst>
                              <p:cond delay="0"/>
                            </p:stCondLst>
                            <p:childTnLst>
                              <p:par>
                                <p:cTn id="138" presetID="53" presetClass="entr" presetSubtype="16" fill="hold" nodeType="afterEffect">
                                  <p:stCondLst>
                                    <p:cond delay="0"/>
                                  </p:stCondLst>
                                  <p:childTnLst>
                                    <p:set>
                                      <p:cBhvr>
                                        <p:cTn id="139" dur="1" fill="hold">
                                          <p:stCondLst>
                                            <p:cond delay="0"/>
                                          </p:stCondLst>
                                        </p:cTn>
                                        <p:tgtEl>
                                          <p:spTgt spid="41"/>
                                        </p:tgtEl>
                                        <p:attrNameLst>
                                          <p:attrName>style.visibility</p:attrName>
                                        </p:attrNameLst>
                                      </p:cBhvr>
                                      <p:to>
                                        <p:strVal val="visible"/>
                                      </p:to>
                                    </p:set>
                                    <p:animEffect transition="in" filter="fade">
                                      <p:cBhvr>
                                        <p:cTn id="135" dur="400"/>
                                        <p:tgtEl>
                                          <p:spTgt spid="41"/>
                                        </p:tgtEl>
                                      </p:cBhvr>
                                    </p:animEffect>
                                    <p:anim calcmode="lin" valueType="num">
                                      <p:cBhvr>
                                        <p:cTn id="136" dur="400" fill="hold"/>
                                        <p:tgtEl>
                                          <p:spTgt spid="41"/>
                                        </p:tgtEl>
                                        <p:attrNameLst>
                                          <p:attrName>ppt_w</p:attrName>
                                        </p:attrNameLst>
                                      </p:cBhvr>
                                      <p:tavLst>
                                        <p:tav tm="0">
                                          <p:val>
                                            <p:strVal val="0"/>
                                          </p:val>
                                        </p:tav>
                                        <p:tav tm="100000">
                                          <p:val>
                                            <p:strVal val="#ppt_w"/>
                                          </p:val>
                                        </p:tav>
                                      </p:tavLst>
                                    </p:anim>
                                    <p:anim calcmode="lin" valueType="num">
                                      <p:cBhvr>
                                        <p:cTn id="137" dur="400" fill="hold"/>
                                        <p:tgtEl>
                                          <p:spTgt spid="41"/>
                                        </p:tgtEl>
                                        <p:attrNameLst>
                                          <p:attrName>ppt_h</p:attrName>
                                        </p:attrNameLst>
                                      </p:cBhvr>
                                      <p:tavLst>
                                        <p:tav tm="0">
                                          <p:val>
                                            <p:strVal val="0"/>
                                          </p:val>
                                        </p:tav>
                                        <p:tav tm="100000">
                                          <p:val>
                                            <p:strVal val="#ppt_h"/>
                                          </p:val>
                                        </p:tav>
                                      </p:tavLst>
                                    </p:anim>
                                  </p:childTnLst>
                                </p:cTn>
                              </p:par>
                              <p:par>
                                <p:cTn id="143" presetID="53" presetClass="entr" presetSubtype="16" fill="hold" nodeType="withEffect">
                                  <p:stCondLst>
                                    <p:cond delay="0"/>
                                  </p:stCondLst>
                                  <p:childTnLst>
                                    <p:set>
                                      <p:cBhvr>
                                        <p:cTn id="144" dur="1" fill="hold">
                                          <p:stCondLst>
                                            <p:cond delay="0"/>
                                          </p:stCondLst>
                                        </p:cTn>
                                        <p:tgtEl>
                                          <p:spTgt spid="42"/>
                                        </p:tgtEl>
                                        <p:attrNameLst>
                                          <p:attrName>style.visibility</p:attrName>
                                        </p:attrNameLst>
                                      </p:cBhvr>
                                      <p:to>
                                        <p:strVal val="visible"/>
                                      </p:to>
                                    </p:set>
                                    <p:animEffect transition="in" filter="fade">
                                      <p:cBhvr>
                                        <p:cTn id="140" dur="400"/>
                                        <p:tgtEl>
                                          <p:spTgt spid="42"/>
                                        </p:tgtEl>
                                      </p:cBhvr>
                                    </p:animEffect>
                                    <p:anim calcmode="lin" valueType="num">
                                      <p:cBhvr>
                                        <p:cTn id="141" dur="400" fill="hold"/>
                                        <p:tgtEl>
                                          <p:spTgt spid="42"/>
                                        </p:tgtEl>
                                        <p:attrNameLst>
                                          <p:attrName>ppt_w</p:attrName>
                                        </p:attrNameLst>
                                      </p:cBhvr>
                                      <p:tavLst>
                                        <p:tav tm="0">
                                          <p:val>
                                            <p:strVal val="0"/>
                                          </p:val>
                                        </p:tav>
                                        <p:tav tm="100000">
                                          <p:val>
                                            <p:strVal val="#ppt_w"/>
                                          </p:val>
                                        </p:tav>
                                      </p:tavLst>
                                    </p:anim>
                                    <p:anim calcmode="lin" valueType="num">
                                      <p:cBhvr>
                                        <p:cTn id="142" dur="400" fill="hold"/>
                                        <p:tgtEl>
                                          <p:spTgt spid="42"/>
                                        </p:tgtEl>
                                        <p:attrNameLst>
                                          <p:attrName>ppt_h</p:attrName>
                                        </p:attrNameLst>
                                      </p:cBhvr>
                                      <p:tavLst>
                                        <p:tav tm="0">
                                          <p:val>
                                            <p:strVal val="0"/>
                                          </p:val>
                                        </p:tav>
                                        <p:tav tm="100000">
                                          <p:val>
                                            <p:strVal val="#ppt_h"/>
                                          </p:val>
                                        </p:tav>
                                      </p:tavLst>
                                    </p:anim>
                                  </p:childTnLst>
                                </p:cTn>
                              </p:par>
                              <p:par>
                                <p:cTn id="148" presetID="53" presetClass="entr" presetSubtype="16" fill="hold" nodeType="withEffect">
                                  <p:stCondLst>
                                    <p:cond delay="0"/>
                                  </p:stCondLst>
                                  <p:childTnLst>
                                    <p:set>
                                      <p:cBhvr>
                                        <p:cTn id="149" dur="1" fill="hold">
                                          <p:stCondLst>
                                            <p:cond delay="0"/>
                                          </p:stCondLst>
                                        </p:cTn>
                                        <p:tgtEl>
                                          <p:spTgt spid="43"/>
                                        </p:tgtEl>
                                        <p:attrNameLst>
                                          <p:attrName>style.visibility</p:attrName>
                                        </p:attrNameLst>
                                      </p:cBhvr>
                                      <p:to>
                                        <p:strVal val="visible"/>
                                      </p:to>
                                    </p:set>
                                    <p:animEffect transition="in" filter="fade">
                                      <p:cBhvr>
                                        <p:cTn id="145" dur="400"/>
                                        <p:tgtEl>
                                          <p:spTgt spid="43"/>
                                        </p:tgtEl>
                                      </p:cBhvr>
                                    </p:animEffect>
                                    <p:anim calcmode="lin" valueType="num">
                                      <p:cBhvr>
                                        <p:cTn id="146" dur="400" fill="hold"/>
                                        <p:tgtEl>
                                          <p:spTgt spid="43"/>
                                        </p:tgtEl>
                                        <p:attrNameLst>
                                          <p:attrName>ppt_w</p:attrName>
                                        </p:attrNameLst>
                                      </p:cBhvr>
                                      <p:tavLst>
                                        <p:tav tm="0">
                                          <p:val>
                                            <p:strVal val="0"/>
                                          </p:val>
                                        </p:tav>
                                        <p:tav tm="100000">
                                          <p:val>
                                            <p:strVal val="#ppt_w"/>
                                          </p:val>
                                        </p:tav>
                                      </p:tavLst>
                                    </p:anim>
                                    <p:anim calcmode="lin" valueType="num">
                                      <p:cBhvr>
                                        <p:cTn id="147" dur="400" fill="hold"/>
                                        <p:tgtEl>
                                          <p:spTgt spid="43"/>
                                        </p:tgtEl>
                                        <p:attrNameLst>
                                          <p:attrName>ppt_h</p:attrName>
                                        </p:attrNameLst>
                                      </p:cBhvr>
                                      <p:tavLst>
                                        <p:tav tm="0">
                                          <p:val>
                                            <p:strVal val="0"/>
                                          </p:val>
                                        </p:tav>
                                        <p:tav tm="100000">
                                          <p:val>
                                            <p:strVal val="#ppt_h"/>
                                          </p:val>
                                        </p:tav>
                                      </p:tavLst>
                                    </p:anim>
                                  </p:childTnLst>
                                </p:cTn>
                              </p:par>
                            </p:childTnLst>
                          </p:cTn>
                        </p:par>
                      </p:childTnLst>
                    </p:cTn>
                  </p:par>
                  <p:par>
                    <p:cTn id="155" fill="hold">
                      <p:stCondLst>
                        <p:cond delay="indefinite"/>
                      </p:stCondLst>
                      <p:childTnLst>
                        <p:par>
                          <p:cTn id="156"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44"/>
                                        </p:tgtEl>
                                        <p:attrNameLst>
                                          <p:attrName>style.visibility</p:attrName>
                                        </p:attrNameLst>
                                      </p:cBhvr>
                                      <p:to>
                                        <p:strVal val="visible"/>
                                      </p:to>
                                    </p:set>
                                    <p:animEffect transition="in" filter="fade">
                                      <p:cBhvr>
                                        <p:cTn id="15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2800" b="1" i="0">
                <a:solidFill>
                  <a:srgbClr val="FFFFFF"/>
                </a:solidFill>
                <a:latin typeface="Arial"/>
              </a:rPr>
              <a:t>What runs out first: room for requests in flight</a:t>
            </a:r>
          </a:p>
        </p:txBody>
      </p:sp>
      <p:sp>
        <p:nvSpPr>
          <p:cNvPr id="3" name="TextBox 2"/>
          <p:cNvSpPr txBox="1"/>
          <p:nvPr/>
        </p:nvSpPr>
        <p:spPr>
          <a:xfrm>
            <a:off x="548640" y="1234440"/>
            <a:ext cx="5120640" cy="411480"/>
          </a:xfrm>
          <a:prstGeom prst="rect">
            <a:avLst/>
          </a:prstGeom>
          <a:noFill/>
        </p:spPr>
        <p:txBody>
          <a:bodyPr wrap="square" anchor="t" lIns="45720" rIns="45720" tIns="18288" bIns="18288">
            <a:spAutoFit/>
          </a:bodyPr>
          <a:lstStyle/>
          <a:p>
            <a:pPr algn="l">
              <a:lnSpc>
                <a:spcPct val="110000"/>
              </a:lnSpc>
            </a:pPr>
            <a:r>
              <a:rPr sz="2000" b="1" i="0">
                <a:solidFill>
                  <a:srgbClr val="1F1F24"/>
                </a:solidFill>
                <a:latin typeface="Arial"/>
              </a:rPr>
              <a:t>One GPU, as vLLM uses it</a:t>
            </a:r>
          </a:p>
        </p:txBody>
      </p:sp>
      <p:sp>
        <p:nvSpPr>
          <p:cNvPr id="4" name="Rectangle 3"/>
          <p:cNvSpPr/>
          <p:nvPr/>
        </p:nvSpPr>
        <p:spPr>
          <a:xfrm>
            <a:off x="548640" y="1737360"/>
            <a:ext cx="1097280" cy="822960"/>
          </a:xfrm>
          <a:prstGeom prst="rect">
            <a:avLst/>
          </a:prstGeom>
          <a:solidFill>
            <a:srgbClr val="33333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1097280" cy="822960"/>
          </a:xfrm>
          <a:prstGeom prst="rect">
            <a:avLst/>
          </a:prstGeom>
          <a:noFill/>
        </p:spPr>
        <p:txBody>
          <a:bodyPr wrap="square" anchor="ctr" lIns="45720" rIns="45720" tIns="18288" bIns="18288">
            <a:spAutoFit/>
          </a:bodyPr>
          <a:lstStyle/>
          <a:p>
            <a:pPr algn="ctr">
              <a:lnSpc>
                <a:spcPct val="110000"/>
              </a:lnSpc>
            </a:pPr>
            <a:r>
              <a:rPr sz="1500" b="1" i="0">
                <a:solidFill>
                  <a:srgbClr val="FFFFFF"/>
                </a:solidFill>
                <a:latin typeface="Arial"/>
              </a:rPr>
              <a:t>weights</a:t>
            </a:r>
          </a:p>
        </p:txBody>
      </p:sp>
      <p:sp>
        <p:nvSpPr>
          <p:cNvPr id="6" name="Rectangle 5"/>
          <p:cNvSpPr/>
          <p:nvPr/>
        </p:nvSpPr>
        <p:spPr>
          <a:xfrm>
            <a:off x="1645919" y="1737360"/>
            <a:ext cx="3108960" cy="822960"/>
          </a:xfrm>
          <a:prstGeom prst="rect">
            <a:avLst/>
          </a:prstGeom>
          <a:solidFill>
            <a:srgbClr val="991346"/>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19" y="1737360"/>
            <a:ext cx="3108960" cy="822960"/>
          </a:xfrm>
          <a:prstGeom prst="rect">
            <a:avLst/>
          </a:prstGeom>
          <a:noFill/>
        </p:spPr>
        <p:txBody>
          <a:bodyPr wrap="square" anchor="ctr" lIns="45720" rIns="45720" tIns="18288" bIns="18288">
            <a:spAutoFit/>
          </a:bodyPr>
          <a:lstStyle/>
          <a:p>
            <a:pPr algn="ctr">
              <a:lnSpc>
                <a:spcPct val="110000"/>
              </a:lnSpc>
            </a:pPr>
            <a:r>
              <a:rPr sz="1500" b="1" i="0">
                <a:solidFill>
                  <a:srgbClr val="FFFFFF"/>
                </a:solidFill>
                <a:latin typeface="Arial"/>
              </a:rPr>
              <a:t>KV cache</a:t>
            </a:r>
          </a:p>
        </p:txBody>
      </p:sp>
      <p:sp>
        <p:nvSpPr>
          <p:cNvPr id="8" name="Rectangle 7"/>
          <p:cNvSpPr/>
          <p:nvPr/>
        </p:nvSpPr>
        <p:spPr>
          <a:xfrm>
            <a:off x="4754879" y="1737360"/>
            <a:ext cx="822960" cy="822960"/>
          </a:xfrm>
          <a:prstGeom prst="rect">
            <a:avLst/>
          </a:prstGeom>
          <a:solidFill>
            <a:srgbClr val="D5D5D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79" y="1737360"/>
            <a:ext cx="822960" cy="822960"/>
          </a:xfrm>
          <a:prstGeom prst="rect">
            <a:avLst/>
          </a:prstGeom>
          <a:noFill/>
        </p:spPr>
        <p:txBody>
          <a:bodyPr wrap="square" anchor="ctr" lIns="45720" rIns="45720" tIns="18288" bIns="18288">
            <a:spAutoFit/>
          </a:bodyPr>
          <a:lstStyle/>
          <a:p>
            <a:pPr algn="ctr">
              <a:lnSpc>
                <a:spcPct val="110000"/>
              </a:lnSpc>
            </a:pPr>
            <a:r>
              <a:rPr sz="1500" b="1" i="0">
                <a:solidFill>
                  <a:srgbClr val="1F1F24"/>
                </a:solidFill>
                <a:latin typeface="Arial"/>
              </a:rPr>
              <a:t>other</a:t>
            </a:r>
          </a:p>
        </p:txBody>
      </p:sp>
      <p:sp>
        <p:nvSpPr>
          <p:cNvPr id="10" name="TextBox 9"/>
          <p:cNvSpPr txBox="1"/>
          <p:nvPr/>
        </p:nvSpPr>
        <p:spPr>
          <a:xfrm>
            <a:off x="1371600" y="2606040"/>
            <a:ext cx="3291840" cy="640080"/>
          </a:xfrm>
          <a:prstGeom prst="rect">
            <a:avLst/>
          </a:prstGeom>
          <a:noFill/>
        </p:spPr>
        <p:txBody>
          <a:bodyPr wrap="square" anchor="t" lIns="45720" rIns="45720" tIns="18288" bIns="18288">
            <a:spAutoFit/>
          </a:bodyPr>
          <a:lstStyle/>
          <a:p>
            <a:pPr algn="ctr">
              <a:lnSpc>
                <a:spcPct val="110000"/>
              </a:lnSpc>
            </a:pPr>
            <a:r>
              <a:rPr sz="1400" b="0" i="0">
                <a:solidFill>
                  <a:srgbClr val="6B6B76"/>
                </a:solidFill>
                <a:latin typeface="Arial"/>
              </a:rPr>
              <a:t>room for requests in flight. Its size is set by --gpu-memory-utilization</a:t>
            </a:r>
          </a:p>
        </p:txBody>
      </p:sp>
      <p:sp>
        <p:nvSpPr>
          <p:cNvPr id="11" name="TextBox 10"/>
          <p:cNvSpPr txBox="1"/>
          <p:nvPr/>
        </p:nvSpPr>
        <p:spPr>
          <a:xfrm>
            <a:off x="548640" y="3429000"/>
            <a:ext cx="5120640" cy="411480"/>
          </a:xfrm>
          <a:prstGeom prst="rect">
            <a:avLst/>
          </a:prstGeom>
          <a:noFill/>
        </p:spPr>
        <p:txBody>
          <a:bodyPr wrap="square" anchor="t" lIns="45720" rIns="45720" tIns="18288" bIns="18288">
            <a:spAutoFit/>
          </a:bodyPr>
          <a:lstStyle/>
          <a:p>
            <a:pPr algn="l">
              <a:lnSpc>
                <a:spcPct val="110000"/>
              </a:lnSpc>
            </a:pPr>
            <a:r>
              <a:rPr sz="2000" b="1" i="0">
                <a:solidFill>
                  <a:srgbClr val="1F1F24"/>
                </a:solidFill>
                <a:latin typeface="Arial"/>
              </a:rPr>
              <a:t>It behaves like a connection pool</a:t>
            </a:r>
          </a:p>
        </p:txBody>
      </p:sp>
      <p:sp>
        <p:nvSpPr>
          <p:cNvPr id="12" name="Rectangle 11"/>
          <p:cNvSpPr/>
          <p:nvPr/>
        </p:nvSpPr>
        <p:spPr>
          <a:xfrm>
            <a:off x="548640" y="3977639"/>
            <a:ext cx="365760" cy="502920"/>
          </a:xfrm>
          <a:prstGeom prst="rect">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05840" y="3977639"/>
            <a:ext cx="365760" cy="502920"/>
          </a:xfrm>
          <a:prstGeom prst="rect">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63040" y="3977639"/>
            <a:ext cx="365760" cy="502920"/>
          </a:xfrm>
          <a:prstGeom prst="rect">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20240" y="3977639"/>
            <a:ext cx="365760" cy="502920"/>
          </a:xfrm>
          <a:prstGeom prst="rect">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0" y="3977639"/>
            <a:ext cx="365760" cy="502920"/>
          </a:xfrm>
          <a:prstGeom prst="rect">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34640" y="3977639"/>
            <a:ext cx="365760" cy="502920"/>
          </a:xfrm>
          <a:prstGeom prst="rect">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26280"/>
            <a:ext cx="2743200" cy="365760"/>
          </a:xfrm>
          <a:prstGeom prst="rect">
            <a:avLst/>
          </a:prstGeom>
          <a:noFill/>
        </p:spPr>
        <p:txBody>
          <a:bodyPr wrap="square" anchor="t" lIns="45720" rIns="45720" tIns="18288" bIns="18288">
            <a:spAutoFit/>
          </a:bodyPr>
          <a:lstStyle/>
          <a:p>
            <a:pPr algn="l">
              <a:lnSpc>
                <a:spcPct val="110000"/>
              </a:lnSpc>
            </a:pPr>
            <a:r>
              <a:rPr sz="1400" b="0" i="0">
                <a:solidFill>
                  <a:srgbClr val="6B6B76"/>
                </a:solidFill>
                <a:latin typeface="Arial"/>
              </a:rPr>
              <a:t>all slots in use</a:t>
            </a:r>
          </a:p>
        </p:txBody>
      </p:sp>
      <p:cxnSp>
        <p:nvCxnSpPr>
          <p:cNvPr id="19" name="Connector 18"/>
          <p:cNvCxnSpPr/>
          <p:nvPr/>
        </p:nvCxnSpPr>
        <p:spPr>
          <a:xfrm flipH="1">
            <a:off x="3337560" y="4224528"/>
            <a:ext cx="320040" cy="0"/>
          </a:xfrm>
          <a:prstGeom prst="line">
            <a:avLst/>
          </a:prstGeom>
          <a:ln w="31750">
            <a:solidFill>
              <a:srgbClr val="6B6B76"/>
            </a:solidFill>
            <a:tailEnd type="triangle"/>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794760" y="4069080"/>
            <a:ext cx="310896" cy="310896"/>
          </a:xfrm>
          <a:prstGeom prst="ellipse">
            <a:avLst/>
          </a:prstGeom>
          <a:solidFill>
            <a:srgbClr val="F3F3F5"/>
          </a:solidFill>
          <a:ln w="19050">
            <a:solidFill>
              <a:srgbClr val="6B6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178808" y="4069080"/>
            <a:ext cx="310896" cy="310896"/>
          </a:xfrm>
          <a:prstGeom prst="ellipse">
            <a:avLst/>
          </a:prstGeom>
          <a:solidFill>
            <a:srgbClr val="F3F3F5"/>
          </a:solidFill>
          <a:ln w="19050">
            <a:solidFill>
              <a:srgbClr val="6B6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62856" y="4069080"/>
            <a:ext cx="310896" cy="310896"/>
          </a:xfrm>
          <a:prstGeom prst="ellipse">
            <a:avLst/>
          </a:prstGeom>
          <a:solidFill>
            <a:srgbClr val="F3F3F5"/>
          </a:solidFill>
          <a:ln w="19050">
            <a:solidFill>
              <a:srgbClr val="6B6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46904" y="4069080"/>
            <a:ext cx="310896" cy="310896"/>
          </a:xfrm>
          <a:prstGeom prst="ellipse">
            <a:avLst/>
          </a:prstGeom>
          <a:solidFill>
            <a:srgbClr val="F3F3F5"/>
          </a:solidFill>
          <a:ln w="19050">
            <a:solidFill>
              <a:srgbClr val="6B6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330952" y="4069080"/>
            <a:ext cx="310896" cy="310896"/>
          </a:xfrm>
          <a:prstGeom prst="ellipse">
            <a:avLst/>
          </a:prstGeom>
          <a:solidFill>
            <a:srgbClr val="F3F3F5"/>
          </a:solidFill>
          <a:ln w="19050">
            <a:solidFill>
              <a:srgbClr val="6B6B7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39" y="4526280"/>
            <a:ext cx="2103120" cy="365760"/>
          </a:xfrm>
          <a:prstGeom prst="rect">
            <a:avLst/>
          </a:prstGeom>
          <a:noFill/>
        </p:spPr>
        <p:txBody>
          <a:bodyPr wrap="square" anchor="t" lIns="45720" rIns="45720" tIns="18288" bIns="18288">
            <a:spAutoFit/>
          </a:bodyPr>
          <a:lstStyle/>
          <a:p>
            <a:pPr algn="l">
              <a:lnSpc>
                <a:spcPct val="110000"/>
              </a:lnSpc>
            </a:pPr>
            <a:r>
              <a:rPr sz="1400" b="0" i="0">
                <a:solidFill>
                  <a:srgbClr val="6B6B76"/>
                </a:solidFill>
                <a:latin typeface="Arial"/>
              </a:rPr>
              <a:t>waiting</a:t>
            </a:r>
          </a:p>
        </p:txBody>
      </p:sp>
      <p:graphicFrame>
        <p:nvGraphicFramePr>
          <p:cNvPr id="26" name="Table 25"/>
          <p:cNvGraphicFramePr>
            <a:graphicFrameLocks noGrp="1"/>
          </p:cNvGraphicFramePr>
          <p:nvPr/>
        </p:nvGraphicFramePr>
        <p:xfrm>
          <a:off x="6172200" y="2057400"/>
          <a:ext cx="5486400" cy="2743200"/>
        </p:xfrm>
        <a:graphic>
          <a:graphicData uri="http://schemas.openxmlformats.org/drawingml/2006/table">
            <a:tbl>
              <a:tblPr firstRow="1" bandRow="1">
                <a:tableStyleId>{5C22544A-7EE6-4342-B048-85BDC9FD1C3A}</a:tableStyleId>
              </a:tblPr>
              <a:tblGrid>
                <a:gridCol w="2423160"/>
                <a:gridCol w="3063240"/>
              </a:tblGrid>
              <a:tr h="548640">
                <a:tc>
                  <a:txBody>
                    <a:bodyPr/>
                    <a:lstStyle/>
                    <a:p>
                      <a:r>
                        <a:rPr sz="1700" b="1">
                          <a:solidFill>
                            <a:srgbClr val="FFFFFF"/>
                          </a:solidFill>
                          <a:latin typeface="Arial"/>
                        </a:rPr>
                        <a:t>Connection pool</a:t>
                      </a:r>
                    </a:p>
                  </a:txBody>
                  <a:tcPr marL="109728" marR="109728" anchor="ctr">
                    <a:solidFill>
                      <a:srgbClr val="991346"/>
                    </a:solidFill>
                  </a:tcPr>
                </a:tc>
                <a:tc>
                  <a:txBody>
                    <a:bodyPr/>
                    <a:lstStyle/>
                    <a:p>
                      <a:r>
                        <a:rPr sz="1700" b="1">
                          <a:solidFill>
                            <a:srgbClr val="FFFFFF"/>
                          </a:solidFill>
                          <a:latin typeface="Arial"/>
                        </a:rPr>
                        <a:t>vLLM KV cache</a:t>
                      </a:r>
                    </a:p>
                  </a:txBody>
                  <a:tcPr marL="109728" marR="109728" anchor="ctr">
                    <a:solidFill>
                      <a:srgbClr val="991346"/>
                    </a:solidFill>
                  </a:tcPr>
                </a:tc>
              </a:tr>
              <a:tr h="548640">
                <a:tc>
                  <a:txBody>
                    <a:bodyPr/>
                    <a:lstStyle/>
                    <a:p>
                      <a:r>
                        <a:rPr sz="1600" b="0">
                          <a:solidFill>
                            <a:srgbClr val="1F1F24"/>
                          </a:solidFill>
                          <a:latin typeface="Arial"/>
                        </a:rPr>
                        <a:t>Pool size: you set it</a:t>
                      </a:r>
                    </a:p>
                  </a:txBody>
                  <a:tcPr marL="109728" marR="109728" anchor="ctr">
                    <a:solidFill>
                      <a:srgbClr val="F3F3F5"/>
                    </a:solidFill>
                  </a:tcPr>
                </a:tc>
                <a:tc>
                  <a:txBody>
                    <a:bodyPr/>
                    <a:lstStyle/>
                    <a:p>
                      <a:r>
                        <a:rPr sz="1400" b="0">
                          <a:solidFill>
                            <a:srgbClr val="1F1F24"/>
                          </a:solidFill>
                          <a:latin typeface="Consolas"/>
                        </a:rPr>
                        <a:t>--gpu-memory-utilization</a:t>
                      </a:r>
                    </a:p>
                  </a:txBody>
                  <a:tcPr marL="109728" marR="109728" anchor="ctr">
                    <a:solidFill>
                      <a:srgbClr val="F3F3F5"/>
                    </a:solidFill>
                  </a:tcPr>
                </a:tc>
              </a:tr>
              <a:tr h="548640">
                <a:tc>
                  <a:txBody>
                    <a:bodyPr/>
                    <a:lstStyle/>
                    <a:p>
                      <a:r>
                        <a:rPr sz="1600" b="0">
                          <a:solidFill>
                            <a:srgbClr val="1F1F24"/>
                          </a:solidFill>
                          <a:latin typeface="Arial"/>
                        </a:rPr>
                        <a:t>Connections in use</a:t>
                      </a:r>
                    </a:p>
                  </a:txBody>
                  <a:tcPr marL="109728" marR="109728" anchor="ctr">
                    <a:solidFill>
                      <a:srgbClr val="FFFFFF"/>
                    </a:solidFill>
                  </a:tcPr>
                </a:tc>
                <a:tc>
                  <a:txBody>
                    <a:bodyPr/>
                    <a:lstStyle/>
                    <a:p>
                      <a:r>
                        <a:rPr sz="1600" b="0">
                          <a:solidFill>
                            <a:srgbClr val="1F1F24"/>
                          </a:solidFill>
                          <a:latin typeface="Arial"/>
                        </a:rPr>
                        <a:t>KV cache usage %</a:t>
                      </a:r>
                    </a:p>
                  </a:txBody>
                  <a:tcPr marL="109728" marR="109728" anchor="ctr">
                    <a:solidFill>
                      <a:srgbClr val="FFFFFF"/>
                    </a:solidFill>
                  </a:tcPr>
                </a:tc>
              </a:tr>
              <a:tr h="548640">
                <a:tc>
                  <a:txBody>
                    <a:bodyPr/>
                    <a:lstStyle/>
                    <a:p>
                      <a:r>
                        <a:rPr sz="1600" b="0">
                          <a:solidFill>
                            <a:srgbClr val="1F1F24"/>
                          </a:solidFill>
                          <a:latin typeface="Arial"/>
                        </a:rPr>
                        <a:t>Waiting for a connection</a:t>
                      </a:r>
                    </a:p>
                  </a:txBody>
                  <a:tcPr marL="109728" marR="109728" anchor="ctr">
                    <a:solidFill>
                      <a:srgbClr val="F3F3F5"/>
                    </a:solidFill>
                  </a:tcPr>
                </a:tc>
                <a:tc>
                  <a:txBody>
                    <a:bodyPr/>
                    <a:lstStyle/>
                    <a:p>
                      <a:r>
                        <a:rPr sz="1600" b="0">
                          <a:solidFill>
                            <a:srgbClr val="1F1F24"/>
                          </a:solidFill>
                          <a:latin typeface="Arial"/>
                        </a:rPr>
                        <a:t>Requests waiting</a:t>
                      </a:r>
                    </a:p>
                  </a:txBody>
                  <a:tcPr marL="109728" marR="109728" anchor="ctr">
                    <a:solidFill>
                      <a:srgbClr val="F3F3F5"/>
                    </a:solidFill>
                  </a:tcPr>
                </a:tc>
              </a:tr>
              <a:tr h="548640">
                <a:tc>
                  <a:txBody>
                    <a:bodyPr/>
                    <a:lstStyle/>
                    <a:p>
                      <a:r>
                        <a:rPr sz="1600" b="0">
                          <a:solidFill>
                            <a:srgbClr val="1F1F24"/>
                          </a:solidFill>
                          <a:latin typeface="Arial"/>
                        </a:rPr>
                        <a:t>Latency climbs, CPU looks fine</a:t>
                      </a:r>
                    </a:p>
                  </a:txBody>
                  <a:tcPr marL="109728" marR="109728" anchor="ctr">
                    <a:solidFill>
                      <a:srgbClr val="FFFFFF"/>
                    </a:solidFill>
                  </a:tcPr>
                </a:tc>
                <a:tc>
                  <a:txBody>
                    <a:bodyPr/>
                    <a:lstStyle/>
                    <a:p>
                      <a:r>
                        <a:rPr sz="1600" b="0">
                          <a:solidFill>
                            <a:srgbClr val="1F1F24"/>
                          </a:solidFill>
                          <a:latin typeface="Arial"/>
                        </a:rPr>
                        <a:t>Time to first token climbs, GPU memory flat</a:t>
                      </a:r>
                    </a:p>
                  </a:txBody>
                  <a:tcPr marL="109728" marR="109728" anchor="ctr">
                    <a:solidFill>
                      <a:srgbClr val="FFFFFF"/>
                    </a:solidFill>
                  </a:tcPr>
                </a:tc>
              </a:tr>
            </a:tbl>
          </a:graphicData>
        </a:graphic>
      </p:graphicFrame>
      <p:sp>
        <p:nvSpPr>
          <p:cNvPr id="27" name="TextBox 26"/>
          <p:cNvSpPr txBox="1"/>
          <p:nvPr/>
        </p:nvSpPr>
        <p:spPr>
          <a:xfrm>
            <a:off x="548640" y="5349240"/>
            <a:ext cx="11064240" cy="731520"/>
          </a:xfrm>
          <a:prstGeom prst="rect">
            <a:avLst/>
          </a:prstGeom>
          <a:noFill/>
        </p:spPr>
        <p:txBody>
          <a:bodyPr wrap="square" anchor="t" lIns="45720" rIns="45720" tIns="18288" bIns="18288">
            <a:spAutoFit/>
          </a:bodyPr>
          <a:lstStyle/>
          <a:p>
            <a:pPr algn="l">
              <a:lnSpc>
                <a:spcPct val="110000"/>
              </a:lnSpc>
            </a:pPr>
            <a:r>
              <a:rPr sz="2800" b="1" i="0">
                <a:solidFill>
                  <a:srgbClr val="991346"/>
                </a:solidFill>
                <a:latin typeface="Arial"/>
              </a:rPr>
              <a:t>vLLM tells you how full it is, every 10 seconds, in its log.</a:t>
            </a:r>
          </a:p>
        </p:txBody>
      </p:sp>
      <p:sp>
        <p:nvSpPr>
          <p:cNvPr id="113" name="TextBox 112"/>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Intro structure inspired by Jimmy Song, jimmysong.io/blog/gpu-to-token-observability</a:t>
            </a:r>
          </a:p>
        </p:txBody>
      </p:sp>
      <p:sp>
        <p:nvSpPr>
          <p:cNvPr id="114" name="TextBox 113"/>
          <p:cNvSpPr txBox="1"/>
          <p:nvPr/>
        </p:nvSpPr>
        <p:spPr>
          <a:xfrm>
            <a:off x="11109960" y="6327648"/>
            <a:ext cx="685800" cy="365760"/>
          </a:xfrm>
          <a:prstGeom prst="rect">
            <a:avLst/>
          </a:prstGeom>
          <a:noFill/>
        </p:spPr>
        <p:txBody>
          <a:bodyPr wrap="none" rIns="18288">
            <a:spAutoFit/>
          </a:bodyPr>
          <a:lstStyle/>
          <a:p>
            <a:pPr algn="r"/>
            <a:fld id="{B6F15528-21DE-4FAA-801E-634DDDAF4B05}" type="slidenum">
              <a:rPr lang="en-US" sz="1200" b="1">
                <a:solidFill>
                  <a:srgbClr val="991346"/>
                </a:solidFill>
                <a:latin typeface="Arial"/>
              </a:rPr>
              <a:t>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4" presetID="10" presetClass="entr" presetSubtype="0"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300"/>
                                        <p:tgtEl>
                                          <p:spTgt spid="3"/>
                                        </p:tgtEl>
                                      </p:cBhvr>
                                    </p:animEffect>
                                  </p:childTnLst>
                                </p:cTn>
                              </p:par>
                              <p:par>
                                <p:cTn id="7" presetID="22" presetClass="entr" presetSubtype="8"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left)">
                                      <p:cBhvr>
                                        <p:cTn id="6" dur="600"/>
                                        <p:tgtEl>
                                          <p:spTgt spid="4"/>
                                        </p:tgtEl>
                                      </p:cBhvr>
                                    </p:animEffect>
                                  </p:childTnLst>
                                </p:cTn>
                              </p:par>
                              <p:par>
                                <p:cTn id="10" presetID="22" presetClass="entr" presetSubtype="8" fill="hold" nodeType="withEffect">
                                  <p:stCondLst>
                                    <p:cond delay="4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9" dur="600"/>
                                        <p:tgtEl>
                                          <p:spTgt spid="5"/>
                                        </p:tgtEl>
                                      </p:cBhvr>
                                    </p:animEffect>
                                  </p:childTnLst>
                                </p:cTn>
                              </p:par>
                              <p:par>
                                <p:cTn id="13" presetID="22" presetClass="entr" presetSubtype="8" fill="hold" nodeType="withEffect">
                                  <p:stCondLst>
                                    <p:cond delay="9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2" dur="600"/>
                                        <p:tgtEl>
                                          <p:spTgt spid="6"/>
                                        </p:tgtEl>
                                      </p:cBhvr>
                                    </p:animEffect>
                                  </p:childTnLst>
                                </p:cTn>
                              </p:par>
                              <p:par>
                                <p:cTn id="16" presetID="22" presetClass="entr" presetSubtype="8" fill="hold" nodeType="withEffect">
                                  <p:stCondLst>
                                    <p:cond delay="135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5" dur="600"/>
                                        <p:tgtEl>
                                          <p:spTgt spid="7"/>
                                        </p:tgtEl>
                                      </p:cBhvr>
                                    </p:animEffect>
                                  </p:childTnLst>
                                </p:cTn>
                              </p:par>
                              <p:par>
                                <p:cTn id="19" presetID="22" presetClass="entr" presetSubtype="8" fill="hold" nodeType="withEffect">
                                  <p:stCondLst>
                                    <p:cond delay="180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18" dur="600"/>
                                        <p:tgtEl>
                                          <p:spTgt spid="8"/>
                                        </p:tgtEl>
                                      </p:cBhvr>
                                    </p:animEffect>
                                  </p:childTnLst>
                                </p:cTn>
                              </p:par>
                              <p:par>
                                <p:cTn id="22" presetID="22" presetClass="entr" presetSubtype="8" fill="hold" nodeType="withEffect">
                                  <p:stCondLst>
                                    <p:cond delay="225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1" dur="600"/>
                                        <p:tgtEl>
                                          <p:spTgt spid="9"/>
                                        </p:tgtEl>
                                      </p:cBhvr>
                                    </p:animEffect>
                                  </p:childTnLst>
                                </p:cTn>
                              </p:par>
                            </p:childTnLst>
                          </p:cTn>
                        </p:par>
                      </p:childTnLst>
                    </p:cTn>
                  </p:par>
                  <p:par>
                    <p:cTn id="29" fill="hold">
                      <p:stCondLst>
                        <p:cond delay="indefinite"/>
                      </p:stCondLst>
                      <p:childTnLst>
                        <p:par>
                          <p:cTn id="30" fill="hold">
                            <p:stCondLst>
                              <p:cond delay="0"/>
                            </p:stCondLst>
                            <p:childTnLst>
                              <p:par>
                                <p:cTn id="27" presetID="10" presetClass="entr" presetSubtype="0"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childTnLst>
                          </p:cTn>
                        </p:par>
                      </p:childTnLst>
                    </p:cTn>
                  </p:par>
                  <p:par>
                    <p:cTn id="70" fill="hold">
                      <p:stCondLst>
                        <p:cond delay="indefinite"/>
                      </p:stCondLst>
                      <p:childTnLst>
                        <p:par>
                          <p:cTn id="7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1" dur="3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4" dur="260"/>
                                        <p:tgtEl>
                                          <p:spTgt spid="12"/>
                                        </p:tgtEl>
                                      </p:cBhvr>
                                    </p:animEffect>
                                    <p:anim calcmode="lin" valueType="num">
                                      <p:cBhvr>
                                        <p:cTn id="35" dur="260" fill="hold"/>
                                        <p:tgtEl>
                                          <p:spTgt spid="12"/>
                                        </p:tgtEl>
                                        <p:attrNameLst>
                                          <p:attrName>ppt_w</p:attrName>
                                        </p:attrNameLst>
                                      </p:cBhvr>
                                      <p:tavLst>
                                        <p:tav tm="0">
                                          <p:val>
                                            <p:strVal val="0"/>
                                          </p:val>
                                        </p:tav>
                                        <p:tav tm="100000">
                                          <p:val>
                                            <p:strVal val="#ppt_w"/>
                                          </p:val>
                                        </p:tav>
                                      </p:tavLst>
                                    </p:anim>
                                    <p:anim calcmode="lin" valueType="num">
                                      <p:cBhvr>
                                        <p:cTn id="36" dur="260" fill="hold"/>
                                        <p:tgtEl>
                                          <p:spTgt spid="12"/>
                                        </p:tgtEl>
                                        <p:attrNameLst>
                                          <p:attrName>ppt_h</p:attrName>
                                        </p:attrNameLst>
                                      </p:cBhvr>
                                      <p:tavLst>
                                        <p:tav tm="0">
                                          <p:val>
                                            <p:strVal val="0"/>
                                          </p:val>
                                        </p:tav>
                                        <p:tav tm="100000">
                                          <p:val>
                                            <p:strVal val="#ppt_h"/>
                                          </p:val>
                                        </p:tav>
                                      </p:tavLst>
                                    </p:anim>
                                  </p:childTnLst>
                                </p:cTn>
                              </p:par>
                              <p:par>
                                <p:cTn id="42" presetID="53" presetClass="entr" presetSubtype="16" fill="hold" nodeType="withEffect">
                                  <p:stCondLst>
                                    <p:cond delay="280"/>
                                  </p:stCondLst>
                                  <p:childTnLst>
                                    <p:set>
                                      <p:cBhvr>
                                        <p:cTn id="43" dur="1" fill="hold">
                                          <p:stCondLst>
                                            <p:cond delay="0"/>
                                          </p:stCondLst>
                                        </p:cTn>
                                        <p:tgtEl>
                                          <p:spTgt spid="13"/>
                                        </p:tgtEl>
                                        <p:attrNameLst>
                                          <p:attrName>style.visibility</p:attrName>
                                        </p:attrNameLst>
                                      </p:cBhvr>
                                      <p:to>
                                        <p:strVal val="visible"/>
                                      </p:to>
                                    </p:set>
                                    <p:animEffect transition="in" filter="fade">
                                      <p:cBhvr>
                                        <p:cTn id="39" dur="260"/>
                                        <p:tgtEl>
                                          <p:spTgt spid="13"/>
                                        </p:tgtEl>
                                      </p:cBhvr>
                                    </p:animEffect>
                                    <p:anim calcmode="lin" valueType="num">
                                      <p:cBhvr>
                                        <p:cTn id="40" dur="260" fill="hold"/>
                                        <p:tgtEl>
                                          <p:spTgt spid="13"/>
                                        </p:tgtEl>
                                        <p:attrNameLst>
                                          <p:attrName>ppt_w</p:attrName>
                                        </p:attrNameLst>
                                      </p:cBhvr>
                                      <p:tavLst>
                                        <p:tav tm="0">
                                          <p:val>
                                            <p:strVal val="0"/>
                                          </p:val>
                                        </p:tav>
                                        <p:tav tm="100000">
                                          <p:val>
                                            <p:strVal val="#ppt_w"/>
                                          </p:val>
                                        </p:tav>
                                      </p:tavLst>
                                    </p:anim>
                                    <p:anim calcmode="lin" valueType="num">
                                      <p:cBhvr>
                                        <p:cTn id="41" dur="260" fill="hold"/>
                                        <p:tgtEl>
                                          <p:spTgt spid="13"/>
                                        </p:tgtEl>
                                        <p:attrNameLst>
                                          <p:attrName>ppt_h</p:attrName>
                                        </p:attrNameLst>
                                      </p:cBhvr>
                                      <p:tavLst>
                                        <p:tav tm="0">
                                          <p:val>
                                            <p:strVal val="0"/>
                                          </p:val>
                                        </p:tav>
                                        <p:tav tm="100000">
                                          <p:val>
                                            <p:strVal val="#ppt_h"/>
                                          </p:val>
                                        </p:tav>
                                      </p:tavLst>
                                    </p:anim>
                                  </p:childTnLst>
                                </p:cTn>
                              </p:par>
                              <p:par>
                                <p:cTn id="47" presetID="53" presetClass="entr" presetSubtype="16" fill="hold" nodeType="withEffect">
                                  <p:stCondLst>
                                    <p:cond delay="560"/>
                                  </p:stCondLst>
                                  <p:childTnLst>
                                    <p:set>
                                      <p:cBhvr>
                                        <p:cTn id="48" dur="1" fill="hold">
                                          <p:stCondLst>
                                            <p:cond delay="0"/>
                                          </p:stCondLst>
                                        </p:cTn>
                                        <p:tgtEl>
                                          <p:spTgt spid="14"/>
                                        </p:tgtEl>
                                        <p:attrNameLst>
                                          <p:attrName>style.visibility</p:attrName>
                                        </p:attrNameLst>
                                      </p:cBhvr>
                                      <p:to>
                                        <p:strVal val="visible"/>
                                      </p:to>
                                    </p:set>
                                    <p:animEffect transition="in" filter="fade">
                                      <p:cBhvr>
                                        <p:cTn id="44" dur="260"/>
                                        <p:tgtEl>
                                          <p:spTgt spid="14"/>
                                        </p:tgtEl>
                                      </p:cBhvr>
                                    </p:animEffect>
                                    <p:anim calcmode="lin" valueType="num">
                                      <p:cBhvr>
                                        <p:cTn id="45" dur="260" fill="hold"/>
                                        <p:tgtEl>
                                          <p:spTgt spid="14"/>
                                        </p:tgtEl>
                                        <p:attrNameLst>
                                          <p:attrName>ppt_w</p:attrName>
                                        </p:attrNameLst>
                                      </p:cBhvr>
                                      <p:tavLst>
                                        <p:tav tm="0">
                                          <p:val>
                                            <p:strVal val="0"/>
                                          </p:val>
                                        </p:tav>
                                        <p:tav tm="100000">
                                          <p:val>
                                            <p:strVal val="#ppt_w"/>
                                          </p:val>
                                        </p:tav>
                                      </p:tavLst>
                                    </p:anim>
                                    <p:anim calcmode="lin" valueType="num">
                                      <p:cBhvr>
                                        <p:cTn id="46" dur="260" fill="hold"/>
                                        <p:tgtEl>
                                          <p:spTgt spid="14"/>
                                        </p:tgtEl>
                                        <p:attrNameLst>
                                          <p:attrName>ppt_h</p:attrName>
                                        </p:attrNameLst>
                                      </p:cBhvr>
                                      <p:tavLst>
                                        <p:tav tm="0">
                                          <p:val>
                                            <p:strVal val="0"/>
                                          </p:val>
                                        </p:tav>
                                        <p:tav tm="100000">
                                          <p:val>
                                            <p:strVal val="#ppt_h"/>
                                          </p:val>
                                        </p:tav>
                                      </p:tavLst>
                                    </p:anim>
                                  </p:childTnLst>
                                </p:cTn>
                              </p:par>
                              <p:par>
                                <p:cTn id="52" presetID="53" presetClass="entr" presetSubtype="16" fill="hold" nodeType="withEffect">
                                  <p:stCondLst>
                                    <p:cond delay="840"/>
                                  </p:stCondLst>
                                  <p:childTnLst>
                                    <p:set>
                                      <p:cBhvr>
                                        <p:cTn id="53" dur="1" fill="hold">
                                          <p:stCondLst>
                                            <p:cond delay="0"/>
                                          </p:stCondLst>
                                        </p:cTn>
                                        <p:tgtEl>
                                          <p:spTgt spid="15"/>
                                        </p:tgtEl>
                                        <p:attrNameLst>
                                          <p:attrName>style.visibility</p:attrName>
                                        </p:attrNameLst>
                                      </p:cBhvr>
                                      <p:to>
                                        <p:strVal val="visible"/>
                                      </p:to>
                                    </p:set>
                                    <p:animEffect transition="in" filter="fade">
                                      <p:cBhvr>
                                        <p:cTn id="49" dur="260"/>
                                        <p:tgtEl>
                                          <p:spTgt spid="15"/>
                                        </p:tgtEl>
                                      </p:cBhvr>
                                    </p:animEffect>
                                    <p:anim calcmode="lin" valueType="num">
                                      <p:cBhvr>
                                        <p:cTn id="50" dur="260" fill="hold"/>
                                        <p:tgtEl>
                                          <p:spTgt spid="15"/>
                                        </p:tgtEl>
                                        <p:attrNameLst>
                                          <p:attrName>ppt_w</p:attrName>
                                        </p:attrNameLst>
                                      </p:cBhvr>
                                      <p:tavLst>
                                        <p:tav tm="0">
                                          <p:val>
                                            <p:strVal val="0"/>
                                          </p:val>
                                        </p:tav>
                                        <p:tav tm="100000">
                                          <p:val>
                                            <p:strVal val="#ppt_w"/>
                                          </p:val>
                                        </p:tav>
                                      </p:tavLst>
                                    </p:anim>
                                    <p:anim calcmode="lin" valueType="num">
                                      <p:cBhvr>
                                        <p:cTn id="51" dur="260" fill="hold"/>
                                        <p:tgtEl>
                                          <p:spTgt spid="15"/>
                                        </p:tgtEl>
                                        <p:attrNameLst>
                                          <p:attrName>ppt_h</p:attrName>
                                        </p:attrNameLst>
                                      </p:cBhvr>
                                      <p:tavLst>
                                        <p:tav tm="0">
                                          <p:val>
                                            <p:strVal val="0"/>
                                          </p:val>
                                        </p:tav>
                                        <p:tav tm="100000">
                                          <p:val>
                                            <p:strVal val="#ppt_h"/>
                                          </p:val>
                                        </p:tav>
                                      </p:tavLst>
                                    </p:anim>
                                  </p:childTnLst>
                                </p:cTn>
                              </p:par>
                              <p:par>
                                <p:cTn id="57" presetID="53" presetClass="entr" presetSubtype="16" fill="hold" nodeType="withEffect">
                                  <p:stCondLst>
                                    <p:cond delay="1120"/>
                                  </p:stCondLst>
                                  <p:childTnLst>
                                    <p:set>
                                      <p:cBhvr>
                                        <p:cTn id="58" dur="1" fill="hold">
                                          <p:stCondLst>
                                            <p:cond delay="0"/>
                                          </p:stCondLst>
                                        </p:cTn>
                                        <p:tgtEl>
                                          <p:spTgt spid="16"/>
                                        </p:tgtEl>
                                        <p:attrNameLst>
                                          <p:attrName>style.visibility</p:attrName>
                                        </p:attrNameLst>
                                      </p:cBhvr>
                                      <p:to>
                                        <p:strVal val="visible"/>
                                      </p:to>
                                    </p:set>
                                    <p:animEffect transition="in" filter="fade">
                                      <p:cBhvr>
                                        <p:cTn id="54" dur="260"/>
                                        <p:tgtEl>
                                          <p:spTgt spid="16"/>
                                        </p:tgtEl>
                                      </p:cBhvr>
                                    </p:animEffect>
                                    <p:anim calcmode="lin" valueType="num">
                                      <p:cBhvr>
                                        <p:cTn id="55" dur="260" fill="hold"/>
                                        <p:tgtEl>
                                          <p:spTgt spid="16"/>
                                        </p:tgtEl>
                                        <p:attrNameLst>
                                          <p:attrName>ppt_w</p:attrName>
                                        </p:attrNameLst>
                                      </p:cBhvr>
                                      <p:tavLst>
                                        <p:tav tm="0">
                                          <p:val>
                                            <p:strVal val="0"/>
                                          </p:val>
                                        </p:tav>
                                        <p:tav tm="100000">
                                          <p:val>
                                            <p:strVal val="#ppt_w"/>
                                          </p:val>
                                        </p:tav>
                                      </p:tavLst>
                                    </p:anim>
                                    <p:anim calcmode="lin" valueType="num">
                                      <p:cBhvr>
                                        <p:cTn id="56" dur="260" fill="hold"/>
                                        <p:tgtEl>
                                          <p:spTgt spid="16"/>
                                        </p:tgtEl>
                                        <p:attrNameLst>
                                          <p:attrName>ppt_h</p:attrName>
                                        </p:attrNameLst>
                                      </p:cBhvr>
                                      <p:tavLst>
                                        <p:tav tm="0">
                                          <p:val>
                                            <p:strVal val="0"/>
                                          </p:val>
                                        </p:tav>
                                        <p:tav tm="100000">
                                          <p:val>
                                            <p:strVal val="#ppt_h"/>
                                          </p:val>
                                        </p:tav>
                                      </p:tavLst>
                                    </p:anim>
                                  </p:childTnLst>
                                </p:cTn>
                              </p:par>
                              <p:par>
                                <p:cTn id="62" presetID="53" presetClass="entr" presetSubtype="16" fill="hold" nodeType="withEffect">
                                  <p:stCondLst>
                                    <p:cond delay="1400"/>
                                  </p:stCondLst>
                                  <p:childTnLst>
                                    <p:set>
                                      <p:cBhvr>
                                        <p:cTn id="63" dur="1" fill="hold">
                                          <p:stCondLst>
                                            <p:cond delay="0"/>
                                          </p:stCondLst>
                                        </p:cTn>
                                        <p:tgtEl>
                                          <p:spTgt spid="17"/>
                                        </p:tgtEl>
                                        <p:attrNameLst>
                                          <p:attrName>style.visibility</p:attrName>
                                        </p:attrNameLst>
                                      </p:cBhvr>
                                      <p:to>
                                        <p:strVal val="visible"/>
                                      </p:to>
                                    </p:set>
                                    <p:animEffect transition="in" filter="fade">
                                      <p:cBhvr>
                                        <p:cTn id="59" dur="260"/>
                                        <p:tgtEl>
                                          <p:spTgt spid="17"/>
                                        </p:tgtEl>
                                      </p:cBhvr>
                                    </p:animEffect>
                                    <p:anim calcmode="lin" valueType="num">
                                      <p:cBhvr>
                                        <p:cTn id="60" dur="260" fill="hold"/>
                                        <p:tgtEl>
                                          <p:spTgt spid="17"/>
                                        </p:tgtEl>
                                        <p:attrNameLst>
                                          <p:attrName>ppt_w</p:attrName>
                                        </p:attrNameLst>
                                      </p:cBhvr>
                                      <p:tavLst>
                                        <p:tav tm="0">
                                          <p:val>
                                            <p:strVal val="0"/>
                                          </p:val>
                                        </p:tav>
                                        <p:tav tm="100000">
                                          <p:val>
                                            <p:strVal val="#ppt_w"/>
                                          </p:val>
                                        </p:tav>
                                      </p:tavLst>
                                    </p:anim>
                                    <p:anim calcmode="lin" valueType="num">
                                      <p:cBhvr>
                                        <p:cTn id="61" dur="260" fill="hold"/>
                                        <p:tgtEl>
                                          <p:spTgt spid="17"/>
                                        </p:tgtEl>
                                        <p:attrNameLst>
                                          <p:attrName>ppt_h</p:attrName>
                                        </p:attrNameLst>
                                      </p:cBhvr>
                                      <p:tavLst>
                                        <p:tav tm="0">
                                          <p:val>
                                            <p:strVal val="0"/>
                                          </p:val>
                                        </p:tav>
                                        <p:tav tm="100000">
                                          <p:val>
                                            <p:strVal val="#ppt_h"/>
                                          </p:val>
                                        </p:tav>
                                      </p:tavLst>
                                    </p:anim>
                                  </p:childTnLst>
                                </p:cTn>
                              </p:par>
                              <p:par>
                                <p:cTn id="65" presetID="10" presetClass="entr" presetSubtype="0" fill="hold" nodeType="withEffect">
                                  <p:stCondLst>
                                    <p:cond delay="1680"/>
                                  </p:stCondLst>
                                  <p:childTnLst>
                                    <p:set>
                                      <p:cBhvr>
                                        <p:cTn id="66"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8" presetID="10" presetClass="entr" presetSubtype="0" fill="hold" nodeType="withEffect">
                                  <p:stCondLst>
                                    <p:cond delay="1680"/>
                                  </p:stCondLst>
                                  <p:childTnLst>
                                    <p:set>
                                      <p:cBhvr>
                                        <p:cTn id="69"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par>
                    <p:cTn id="100" fill="hold">
                      <p:stCondLst>
                        <p:cond delay="indefinite"/>
                      </p:stCondLst>
                      <p:childTnLst>
                        <p:par>
                          <p:cTn id="101"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wipe(left)">
                                      <p:cBhvr>
                                        <p:cTn id="72" dur="300"/>
                                        <p:tgtEl>
                                          <p:spTgt spid="20"/>
                                        </p:tgtEl>
                                      </p:cBhvr>
                                    </p:animEffect>
                                  </p:childTnLst>
                                </p:cTn>
                              </p:par>
                              <p:par>
                                <p:cTn id="78" presetID="53" presetClass="entr" presetSubtype="16" fill="hold" nodeType="withEffect">
                                  <p:stCondLst>
                                    <p:cond delay="300"/>
                                  </p:stCondLst>
                                  <p:childTnLst>
                                    <p:set>
                                      <p:cBhvr>
                                        <p:cTn id="79" dur="1" fill="hold">
                                          <p:stCondLst>
                                            <p:cond delay="0"/>
                                          </p:stCondLst>
                                        </p:cTn>
                                        <p:tgtEl>
                                          <p:spTgt spid="21"/>
                                        </p:tgtEl>
                                        <p:attrNameLst>
                                          <p:attrName>style.visibility</p:attrName>
                                        </p:attrNameLst>
                                      </p:cBhvr>
                                      <p:to>
                                        <p:strVal val="visible"/>
                                      </p:to>
                                    </p:set>
                                    <p:animEffect transition="in" filter="fade">
                                      <p:cBhvr>
                                        <p:cTn id="75" dur="300"/>
                                        <p:tgtEl>
                                          <p:spTgt spid="21"/>
                                        </p:tgtEl>
                                      </p:cBhvr>
                                    </p:animEffect>
                                    <p:anim calcmode="lin" valueType="num">
                                      <p:cBhvr>
                                        <p:cTn id="76" dur="300" fill="hold"/>
                                        <p:tgtEl>
                                          <p:spTgt spid="21"/>
                                        </p:tgtEl>
                                        <p:attrNameLst>
                                          <p:attrName>ppt_w</p:attrName>
                                        </p:attrNameLst>
                                      </p:cBhvr>
                                      <p:tavLst>
                                        <p:tav tm="0">
                                          <p:val>
                                            <p:strVal val="0"/>
                                          </p:val>
                                        </p:tav>
                                        <p:tav tm="100000">
                                          <p:val>
                                            <p:strVal val="#ppt_w"/>
                                          </p:val>
                                        </p:tav>
                                      </p:tavLst>
                                    </p:anim>
                                    <p:anim calcmode="lin" valueType="num">
                                      <p:cBhvr>
                                        <p:cTn id="77" dur="300" fill="hold"/>
                                        <p:tgtEl>
                                          <p:spTgt spid="21"/>
                                        </p:tgtEl>
                                        <p:attrNameLst>
                                          <p:attrName>ppt_h</p:attrName>
                                        </p:attrNameLst>
                                      </p:cBhvr>
                                      <p:tavLst>
                                        <p:tav tm="0">
                                          <p:val>
                                            <p:strVal val="0"/>
                                          </p:val>
                                        </p:tav>
                                        <p:tav tm="100000">
                                          <p:val>
                                            <p:strVal val="#ppt_h"/>
                                          </p:val>
                                        </p:tav>
                                      </p:tavLst>
                                    </p:anim>
                                  </p:childTnLst>
                                </p:cTn>
                              </p:par>
                              <p:par>
                                <p:cTn id="83" presetID="53" presetClass="entr" presetSubtype="16" fill="hold" nodeType="withEffect">
                                  <p:stCondLst>
                                    <p:cond delay="720"/>
                                  </p:stCondLst>
                                  <p:childTnLst>
                                    <p:set>
                                      <p:cBhvr>
                                        <p:cTn id="84" dur="1" fill="hold">
                                          <p:stCondLst>
                                            <p:cond delay="0"/>
                                          </p:stCondLst>
                                        </p:cTn>
                                        <p:tgtEl>
                                          <p:spTgt spid="22"/>
                                        </p:tgtEl>
                                        <p:attrNameLst>
                                          <p:attrName>style.visibility</p:attrName>
                                        </p:attrNameLst>
                                      </p:cBhvr>
                                      <p:to>
                                        <p:strVal val="visible"/>
                                      </p:to>
                                    </p:set>
                                    <p:animEffect transition="in" filter="fade">
                                      <p:cBhvr>
                                        <p:cTn id="80" dur="300"/>
                                        <p:tgtEl>
                                          <p:spTgt spid="22"/>
                                        </p:tgtEl>
                                      </p:cBhvr>
                                    </p:animEffect>
                                    <p:anim calcmode="lin" valueType="num">
                                      <p:cBhvr>
                                        <p:cTn id="81" dur="300" fill="hold"/>
                                        <p:tgtEl>
                                          <p:spTgt spid="22"/>
                                        </p:tgtEl>
                                        <p:attrNameLst>
                                          <p:attrName>ppt_w</p:attrName>
                                        </p:attrNameLst>
                                      </p:cBhvr>
                                      <p:tavLst>
                                        <p:tav tm="0">
                                          <p:val>
                                            <p:strVal val="0"/>
                                          </p:val>
                                        </p:tav>
                                        <p:tav tm="100000">
                                          <p:val>
                                            <p:strVal val="#ppt_w"/>
                                          </p:val>
                                        </p:tav>
                                      </p:tavLst>
                                    </p:anim>
                                    <p:anim calcmode="lin" valueType="num">
                                      <p:cBhvr>
                                        <p:cTn id="82" dur="300" fill="hold"/>
                                        <p:tgtEl>
                                          <p:spTgt spid="22"/>
                                        </p:tgtEl>
                                        <p:attrNameLst>
                                          <p:attrName>ppt_h</p:attrName>
                                        </p:attrNameLst>
                                      </p:cBhvr>
                                      <p:tavLst>
                                        <p:tav tm="0">
                                          <p:val>
                                            <p:strVal val="0"/>
                                          </p:val>
                                        </p:tav>
                                        <p:tav tm="100000">
                                          <p:val>
                                            <p:strVal val="#ppt_h"/>
                                          </p:val>
                                        </p:tav>
                                      </p:tavLst>
                                    </p:anim>
                                  </p:childTnLst>
                                </p:cTn>
                              </p:par>
                              <p:par>
                                <p:cTn id="88" presetID="53" presetClass="entr" presetSubtype="16" fill="hold" nodeType="withEffect">
                                  <p:stCondLst>
                                    <p:cond delay="1140"/>
                                  </p:stCondLst>
                                  <p:childTnLst>
                                    <p:set>
                                      <p:cBhvr>
                                        <p:cTn id="89" dur="1" fill="hold">
                                          <p:stCondLst>
                                            <p:cond delay="0"/>
                                          </p:stCondLst>
                                        </p:cTn>
                                        <p:tgtEl>
                                          <p:spTgt spid="23"/>
                                        </p:tgtEl>
                                        <p:attrNameLst>
                                          <p:attrName>style.visibility</p:attrName>
                                        </p:attrNameLst>
                                      </p:cBhvr>
                                      <p:to>
                                        <p:strVal val="visible"/>
                                      </p:to>
                                    </p:set>
                                    <p:animEffect transition="in" filter="fade">
                                      <p:cBhvr>
                                        <p:cTn id="85" dur="300"/>
                                        <p:tgtEl>
                                          <p:spTgt spid="23"/>
                                        </p:tgtEl>
                                      </p:cBhvr>
                                    </p:animEffect>
                                    <p:anim calcmode="lin" valueType="num">
                                      <p:cBhvr>
                                        <p:cTn id="86" dur="300" fill="hold"/>
                                        <p:tgtEl>
                                          <p:spTgt spid="23"/>
                                        </p:tgtEl>
                                        <p:attrNameLst>
                                          <p:attrName>ppt_w</p:attrName>
                                        </p:attrNameLst>
                                      </p:cBhvr>
                                      <p:tavLst>
                                        <p:tav tm="0">
                                          <p:val>
                                            <p:strVal val="0"/>
                                          </p:val>
                                        </p:tav>
                                        <p:tav tm="100000">
                                          <p:val>
                                            <p:strVal val="#ppt_w"/>
                                          </p:val>
                                        </p:tav>
                                      </p:tavLst>
                                    </p:anim>
                                    <p:anim calcmode="lin" valueType="num">
                                      <p:cBhvr>
                                        <p:cTn id="87" dur="300" fill="hold"/>
                                        <p:tgtEl>
                                          <p:spTgt spid="23"/>
                                        </p:tgtEl>
                                        <p:attrNameLst>
                                          <p:attrName>ppt_h</p:attrName>
                                        </p:attrNameLst>
                                      </p:cBhvr>
                                      <p:tavLst>
                                        <p:tav tm="0">
                                          <p:val>
                                            <p:strVal val="0"/>
                                          </p:val>
                                        </p:tav>
                                        <p:tav tm="100000">
                                          <p:val>
                                            <p:strVal val="#ppt_h"/>
                                          </p:val>
                                        </p:tav>
                                      </p:tavLst>
                                    </p:anim>
                                  </p:childTnLst>
                                </p:cTn>
                              </p:par>
                              <p:par>
                                <p:cTn id="93" presetID="53" presetClass="entr" presetSubtype="16" fill="hold" nodeType="withEffect">
                                  <p:stCondLst>
                                    <p:cond delay="1560"/>
                                  </p:stCondLst>
                                  <p:childTnLst>
                                    <p:set>
                                      <p:cBhvr>
                                        <p:cTn id="94" dur="1" fill="hold">
                                          <p:stCondLst>
                                            <p:cond delay="0"/>
                                          </p:stCondLst>
                                        </p:cTn>
                                        <p:tgtEl>
                                          <p:spTgt spid="24"/>
                                        </p:tgtEl>
                                        <p:attrNameLst>
                                          <p:attrName>style.visibility</p:attrName>
                                        </p:attrNameLst>
                                      </p:cBhvr>
                                      <p:to>
                                        <p:strVal val="visible"/>
                                      </p:to>
                                    </p:set>
                                    <p:animEffect transition="in" filter="fade">
                                      <p:cBhvr>
                                        <p:cTn id="90" dur="300"/>
                                        <p:tgtEl>
                                          <p:spTgt spid="24"/>
                                        </p:tgtEl>
                                      </p:cBhvr>
                                    </p:animEffect>
                                    <p:anim calcmode="lin" valueType="num">
                                      <p:cBhvr>
                                        <p:cTn id="91" dur="300" fill="hold"/>
                                        <p:tgtEl>
                                          <p:spTgt spid="24"/>
                                        </p:tgtEl>
                                        <p:attrNameLst>
                                          <p:attrName>ppt_w</p:attrName>
                                        </p:attrNameLst>
                                      </p:cBhvr>
                                      <p:tavLst>
                                        <p:tav tm="0">
                                          <p:val>
                                            <p:strVal val="0"/>
                                          </p:val>
                                        </p:tav>
                                        <p:tav tm="100000">
                                          <p:val>
                                            <p:strVal val="#ppt_w"/>
                                          </p:val>
                                        </p:tav>
                                      </p:tavLst>
                                    </p:anim>
                                    <p:anim calcmode="lin" valueType="num">
                                      <p:cBhvr>
                                        <p:cTn id="92" dur="300" fill="hold"/>
                                        <p:tgtEl>
                                          <p:spTgt spid="24"/>
                                        </p:tgtEl>
                                        <p:attrNameLst>
                                          <p:attrName>ppt_h</p:attrName>
                                        </p:attrNameLst>
                                      </p:cBhvr>
                                      <p:tavLst>
                                        <p:tav tm="0">
                                          <p:val>
                                            <p:strVal val="0"/>
                                          </p:val>
                                        </p:tav>
                                        <p:tav tm="100000">
                                          <p:val>
                                            <p:strVal val="#ppt_h"/>
                                          </p:val>
                                        </p:tav>
                                      </p:tavLst>
                                    </p:anim>
                                  </p:childTnLst>
                                </p:cTn>
                              </p:par>
                              <p:par>
                                <p:cTn id="98" presetID="53" presetClass="entr" presetSubtype="16" fill="hold" nodeType="withEffect">
                                  <p:stCondLst>
                                    <p:cond delay="1980"/>
                                  </p:stCondLst>
                                  <p:childTnLst>
                                    <p:set>
                                      <p:cBhvr>
                                        <p:cTn id="99" dur="1" fill="hold">
                                          <p:stCondLst>
                                            <p:cond delay="0"/>
                                          </p:stCondLst>
                                        </p:cTn>
                                        <p:tgtEl>
                                          <p:spTgt spid="25"/>
                                        </p:tgtEl>
                                        <p:attrNameLst>
                                          <p:attrName>style.visibility</p:attrName>
                                        </p:attrNameLst>
                                      </p:cBhvr>
                                      <p:to>
                                        <p:strVal val="visible"/>
                                      </p:to>
                                    </p:set>
                                    <p:animEffect transition="in" filter="fade">
                                      <p:cBhvr>
                                        <p:cTn id="95" dur="300"/>
                                        <p:tgtEl>
                                          <p:spTgt spid="25"/>
                                        </p:tgtEl>
                                      </p:cBhvr>
                                    </p:animEffect>
                                    <p:anim calcmode="lin" valueType="num">
                                      <p:cBhvr>
                                        <p:cTn id="96" dur="300" fill="hold"/>
                                        <p:tgtEl>
                                          <p:spTgt spid="25"/>
                                        </p:tgtEl>
                                        <p:attrNameLst>
                                          <p:attrName>ppt_w</p:attrName>
                                        </p:attrNameLst>
                                      </p:cBhvr>
                                      <p:tavLst>
                                        <p:tav tm="0">
                                          <p:val>
                                            <p:strVal val="0"/>
                                          </p:val>
                                        </p:tav>
                                        <p:tav tm="100000">
                                          <p:val>
                                            <p:strVal val="#ppt_w"/>
                                          </p:val>
                                        </p:tav>
                                      </p:tavLst>
                                    </p:anim>
                                    <p:anim calcmode="lin" valueType="num">
                                      <p:cBhvr>
                                        <p:cTn id="97" dur="300" fill="hold"/>
                                        <p:tgtEl>
                                          <p:spTgt spid="25"/>
                                        </p:tgtEl>
                                        <p:attrNameLst>
                                          <p:attrName>ppt_h</p:attrName>
                                        </p:attrNameLst>
                                      </p:cBhvr>
                                      <p:tavLst>
                                        <p:tav tm="0">
                                          <p:val>
                                            <p:strVal val="0"/>
                                          </p:val>
                                        </p:tav>
                                        <p:tav tm="100000">
                                          <p:val>
                                            <p:strVal val="#ppt_h"/>
                                          </p:val>
                                        </p:tav>
                                      </p:tavLst>
                                    </p:anim>
                                  </p:childTnLst>
                                </p:cTn>
                              </p:par>
                            </p:childTnLst>
                          </p:cTn>
                        </p:par>
                      </p:childTnLst>
                    </p:cTn>
                  </p:par>
                  <p:par>
                    <p:cTn id="105" fill="hold">
                      <p:stCondLst>
                        <p:cond delay="indefinite"/>
                      </p:stCondLst>
                      <p:childTnLst>
                        <p:par>
                          <p:cTn id="106"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2" dur="500"/>
                                        <p:tgtEl>
                                          <p:spTgt spid="26"/>
                                        </p:tgtEl>
                                      </p:cBhvr>
                                    </p:animEffect>
                                  </p:childTnLst>
                                </p:cTn>
                              </p:par>
                            </p:childTnLst>
                          </p:cTn>
                        </p:par>
                      </p:childTnLst>
                    </p:cTn>
                  </p:par>
                  <p:par>
                    <p:cTn id="111" fill="hold">
                      <p:stCondLst>
                        <p:cond delay="indefinite"/>
                      </p:stCondLst>
                      <p:childTnLst>
                        <p:par>
                          <p:cTn id="112"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07" dur="500"/>
                                        <p:tgtEl>
                                          <p:spTgt spid="27"/>
                                        </p:tgtEl>
                                      </p:cBhvr>
                                    </p:animEffect>
                                    <p:anim calcmode="lin" valueType="num">
                                      <p:cBhvr>
                                        <p:cTn id="108" dur="500" fill="hold"/>
                                        <p:tgtEl>
                                          <p:spTgt spid="27"/>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188720"/>
            <a:ext cx="10515600" cy="548640"/>
          </a:xfrm>
          <a:prstGeom prst="rect">
            <a:avLst/>
          </a:prstGeom>
          <a:noFill/>
        </p:spPr>
        <p:txBody>
          <a:bodyPr wrap="square" anchor="t" lIns="45720" rIns="45720" tIns="18288" bIns="18288">
            <a:spAutoFit/>
          </a:bodyPr>
          <a:lstStyle/>
          <a:p>
            <a:pPr algn="l">
              <a:lnSpc>
                <a:spcPct val="110000"/>
              </a:lnSpc>
            </a:pPr>
            <a:r>
              <a:rPr sz="2400" b="1" i="0">
                <a:solidFill>
                  <a:srgbClr val="F4C2D4"/>
                </a:solidFill>
                <a:latin typeface="Arial"/>
              </a:rPr>
              <a:t>LIVE DEMO</a:t>
            </a:r>
          </a:p>
        </p:txBody>
      </p:sp>
      <p:sp>
        <p:nvSpPr>
          <p:cNvPr id="3" name="TextBox 2"/>
          <p:cNvSpPr txBox="1"/>
          <p:nvPr/>
        </p:nvSpPr>
        <p:spPr>
          <a:xfrm>
            <a:off x="731520" y="1737360"/>
            <a:ext cx="10515600" cy="1463040"/>
          </a:xfrm>
          <a:prstGeom prst="rect">
            <a:avLst/>
          </a:prstGeom>
          <a:noFill/>
        </p:spPr>
        <p:txBody>
          <a:bodyPr wrap="square" anchor="t" lIns="45720" rIns="45720" tIns="18288" bIns="18288">
            <a:spAutoFit/>
          </a:bodyPr>
          <a:lstStyle/>
          <a:p>
            <a:pPr algn="l">
              <a:lnSpc>
                <a:spcPct val="110000"/>
              </a:lnSpc>
            </a:pPr>
            <a:r>
              <a:rPr sz="5400" b="1" i="0">
                <a:solidFill>
                  <a:srgbClr val="FFFFFF"/>
                </a:solidFill>
                <a:latin typeface="Arial"/>
              </a:rPr>
              <a:t>Is 8% too low? Is 90% too high?</a:t>
            </a:r>
          </a:p>
        </p:txBody>
      </p:sp>
      <p:sp>
        <p:nvSpPr>
          <p:cNvPr id="4" name="Rounded Rectangle 3"/>
          <p:cNvSpPr/>
          <p:nvPr/>
        </p:nvSpPr>
        <p:spPr>
          <a:xfrm>
            <a:off x="731520" y="3566160"/>
            <a:ext cx="2377440" cy="822960"/>
          </a:xfrm>
          <a:prstGeom prst="roundRect">
            <a:avLst>
              <a:gd name="adj" fmla="val 8000"/>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566160"/>
            <a:ext cx="2377440" cy="822960"/>
          </a:xfrm>
          <a:prstGeom prst="rect">
            <a:avLst/>
          </a:prstGeom>
          <a:noFill/>
        </p:spPr>
        <p:txBody>
          <a:bodyPr wrap="square" anchor="ctr" lIns="45720" rIns="45720" tIns="18288" bIns="18288">
            <a:spAutoFit/>
          </a:bodyPr>
          <a:lstStyle/>
          <a:p>
            <a:pPr algn="ctr">
              <a:lnSpc>
                <a:spcPct val="110000"/>
              </a:lnSpc>
            </a:pPr>
            <a:r>
              <a:rPr sz="2600" b="1" i="0">
                <a:solidFill>
                  <a:srgbClr val="FFFFFF"/>
                </a:solidFill>
                <a:latin typeface="Arial"/>
              </a:rPr>
              <a:t>1  GPU</a:t>
            </a:r>
          </a:p>
        </p:txBody>
      </p:sp>
      <p:sp>
        <p:nvSpPr>
          <p:cNvPr id="6" name="TextBox 5"/>
          <p:cNvSpPr txBox="1"/>
          <p:nvPr/>
        </p:nvSpPr>
        <p:spPr>
          <a:xfrm>
            <a:off x="3108960" y="3566160"/>
            <a:ext cx="365760" cy="822960"/>
          </a:xfrm>
          <a:prstGeom prst="rect">
            <a:avLst/>
          </a:prstGeom>
          <a:noFill/>
        </p:spPr>
        <p:txBody>
          <a:bodyPr wrap="square" anchor="ctr" lIns="45720" rIns="45720" tIns="18288" bIns="18288">
            <a:spAutoFit/>
          </a:bodyPr>
          <a:lstStyle/>
          <a:p>
            <a:pPr algn="ctr">
              <a:lnSpc>
                <a:spcPct val="110000"/>
              </a:lnSpc>
            </a:pPr>
            <a:r>
              <a:rPr sz="3000" b="0" i="0">
                <a:solidFill>
                  <a:srgbClr val="FFFFFF"/>
                </a:solidFill>
                <a:latin typeface="Arial"/>
              </a:rPr>
              <a:t>›</a:t>
            </a:r>
          </a:p>
        </p:txBody>
      </p:sp>
      <p:sp>
        <p:nvSpPr>
          <p:cNvPr id="7" name="Rounded Rectangle 6"/>
          <p:cNvSpPr/>
          <p:nvPr/>
        </p:nvSpPr>
        <p:spPr>
          <a:xfrm>
            <a:off x="3474720" y="3566160"/>
            <a:ext cx="2377440" cy="822960"/>
          </a:xfrm>
          <a:prstGeom prst="roundRect">
            <a:avLst>
              <a:gd name="adj" fmla="val 8000"/>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3566160"/>
            <a:ext cx="2377440" cy="822960"/>
          </a:xfrm>
          <a:prstGeom prst="rect">
            <a:avLst/>
          </a:prstGeom>
          <a:noFill/>
        </p:spPr>
        <p:txBody>
          <a:bodyPr wrap="square" anchor="ctr" lIns="45720" rIns="45720" tIns="18288" bIns="18288">
            <a:spAutoFit/>
          </a:bodyPr>
          <a:lstStyle/>
          <a:p>
            <a:pPr algn="ctr">
              <a:lnSpc>
                <a:spcPct val="110000"/>
              </a:lnSpc>
            </a:pPr>
            <a:r>
              <a:rPr sz="2600" b="1" i="0">
                <a:solidFill>
                  <a:srgbClr val="FFFFFF"/>
                </a:solidFill>
                <a:latin typeface="Arial"/>
              </a:rPr>
              <a:t>2  Log</a:t>
            </a:r>
          </a:p>
        </p:txBody>
      </p:sp>
      <p:sp>
        <p:nvSpPr>
          <p:cNvPr id="9" name="TextBox 8"/>
          <p:cNvSpPr txBox="1"/>
          <p:nvPr/>
        </p:nvSpPr>
        <p:spPr>
          <a:xfrm>
            <a:off x="5852160" y="3566160"/>
            <a:ext cx="365760" cy="822960"/>
          </a:xfrm>
          <a:prstGeom prst="rect">
            <a:avLst/>
          </a:prstGeom>
          <a:noFill/>
        </p:spPr>
        <p:txBody>
          <a:bodyPr wrap="square" anchor="ctr" lIns="45720" rIns="45720" tIns="18288" bIns="18288">
            <a:spAutoFit/>
          </a:bodyPr>
          <a:lstStyle/>
          <a:p>
            <a:pPr algn="ctr">
              <a:lnSpc>
                <a:spcPct val="110000"/>
              </a:lnSpc>
            </a:pPr>
            <a:r>
              <a:rPr sz="3000" b="0" i="0">
                <a:solidFill>
                  <a:srgbClr val="FFFFFF"/>
                </a:solidFill>
                <a:latin typeface="Arial"/>
              </a:rPr>
              <a:t>›</a:t>
            </a:r>
          </a:p>
        </p:txBody>
      </p:sp>
      <p:sp>
        <p:nvSpPr>
          <p:cNvPr id="10" name="Rounded Rectangle 9"/>
          <p:cNvSpPr/>
          <p:nvPr/>
        </p:nvSpPr>
        <p:spPr>
          <a:xfrm>
            <a:off x="6217920" y="3566160"/>
            <a:ext cx="2377440" cy="822960"/>
          </a:xfrm>
          <a:prstGeom prst="roundRect">
            <a:avLst>
              <a:gd name="adj" fmla="val 8000"/>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3566160"/>
            <a:ext cx="2377440" cy="822960"/>
          </a:xfrm>
          <a:prstGeom prst="rect">
            <a:avLst/>
          </a:prstGeom>
          <a:noFill/>
        </p:spPr>
        <p:txBody>
          <a:bodyPr wrap="square" anchor="ctr" lIns="45720" rIns="45720" tIns="18288" bIns="18288">
            <a:spAutoFit/>
          </a:bodyPr>
          <a:lstStyle/>
          <a:p>
            <a:pPr algn="ctr">
              <a:lnSpc>
                <a:spcPct val="110000"/>
              </a:lnSpc>
            </a:pPr>
            <a:r>
              <a:rPr sz="2600" b="1" i="0">
                <a:solidFill>
                  <a:srgbClr val="FFFFFF"/>
                </a:solidFill>
                <a:latin typeface="Arial"/>
              </a:rPr>
              <a:t>3  Trace</a:t>
            </a:r>
          </a:p>
        </p:txBody>
      </p:sp>
      <p:sp>
        <p:nvSpPr>
          <p:cNvPr id="12" name="TextBox 11"/>
          <p:cNvSpPr txBox="1"/>
          <p:nvPr/>
        </p:nvSpPr>
        <p:spPr>
          <a:xfrm>
            <a:off x="8595360" y="3566160"/>
            <a:ext cx="365760" cy="822960"/>
          </a:xfrm>
          <a:prstGeom prst="rect">
            <a:avLst/>
          </a:prstGeom>
          <a:noFill/>
        </p:spPr>
        <p:txBody>
          <a:bodyPr wrap="square" anchor="ctr" lIns="45720" rIns="45720" tIns="18288" bIns="18288">
            <a:spAutoFit/>
          </a:bodyPr>
          <a:lstStyle/>
          <a:p>
            <a:pPr algn="ctr">
              <a:lnSpc>
                <a:spcPct val="110000"/>
              </a:lnSpc>
            </a:pPr>
            <a:r>
              <a:rPr sz="3000" b="0" i="0">
                <a:solidFill>
                  <a:srgbClr val="FFFFFF"/>
                </a:solidFill>
                <a:latin typeface="Arial"/>
              </a:rPr>
              <a:t>›</a:t>
            </a:r>
          </a:p>
        </p:txBody>
      </p:sp>
      <p:sp>
        <p:nvSpPr>
          <p:cNvPr id="13" name="Rounded Rectangle 12"/>
          <p:cNvSpPr/>
          <p:nvPr/>
        </p:nvSpPr>
        <p:spPr>
          <a:xfrm>
            <a:off x="8961120" y="3566160"/>
            <a:ext cx="2377440" cy="822960"/>
          </a:xfrm>
          <a:prstGeom prst="roundRect">
            <a:avLst>
              <a:gd name="adj" fmla="val 8000"/>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3566160"/>
            <a:ext cx="2377440" cy="822960"/>
          </a:xfrm>
          <a:prstGeom prst="rect">
            <a:avLst/>
          </a:prstGeom>
          <a:noFill/>
        </p:spPr>
        <p:txBody>
          <a:bodyPr wrap="square" anchor="ctr" lIns="45720" rIns="45720" tIns="18288" bIns="18288">
            <a:spAutoFit/>
          </a:bodyPr>
          <a:lstStyle/>
          <a:p>
            <a:pPr algn="ctr">
              <a:lnSpc>
                <a:spcPct val="110000"/>
              </a:lnSpc>
            </a:pPr>
            <a:r>
              <a:rPr sz="2600" b="1" i="0">
                <a:solidFill>
                  <a:srgbClr val="FFFFFF"/>
                </a:solidFill>
                <a:latin typeface="Arial"/>
              </a:rPr>
              <a:t>4  Answer</a:t>
            </a:r>
          </a:p>
        </p:txBody>
      </p:sp>
      <p:sp>
        <p:nvSpPr>
          <p:cNvPr id="15" name="TextBox 14"/>
          <p:cNvSpPr txBox="1"/>
          <p:nvPr/>
        </p:nvSpPr>
        <p:spPr>
          <a:xfrm>
            <a:off x="731520" y="4846320"/>
            <a:ext cx="10515600" cy="548640"/>
          </a:xfrm>
          <a:prstGeom prst="rect">
            <a:avLst/>
          </a:prstGeom>
          <a:noFill/>
        </p:spPr>
        <p:txBody>
          <a:bodyPr wrap="square" anchor="t" lIns="45720" rIns="45720" tIns="18288" bIns="18288">
            <a:spAutoFit/>
          </a:bodyPr>
          <a:lstStyle/>
          <a:p>
            <a:pPr algn="l">
              <a:lnSpc>
                <a:spcPct val="110000"/>
              </a:lnSpc>
            </a:pPr>
            <a:r>
              <a:rPr sz="2200" b="0" i="0">
                <a:solidFill>
                  <a:srgbClr val="FFFFFF"/>
                </a:solidFill>
                <a:latin typeface="Arial"/>
              </a:rPr>
              <a:t>Two vLLM pods  ·  same model  ·  same GPU type  ·  same traffic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7" fill="hold">
                      <p:stCondLst>
                        <p:cond delay="indefinite"/>
                        <p:cond evt="onBegin" delay="0">
                          <p:tn val="2"/>
                        </p:cond>
                      </p:stCondLst>
                      <p:childTnLst>
                        <p:par>
                          <p:cTn id="48"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3" dur="400"/>
                                        <p:tgtEl>
                                          <p:spTgt spid="4"/>
                                        </p:tgtEl>
                                      </p:cBhvr>
                                    </p:animEffect>
                                    <p:anim calcmode="lin" valueType="num">
                                      <p:cBhvr>
                                        <p:cTn id="4" dur="400" fill="hold"/>
                                        <p:tgtEl>
                                          <p:spTgt spid="4"/>
                                        </p:tgtEl>
                                        <p:attrNameLst>
                                          <p:attrName>ppt_y</p:attrName>
                                        </p:attrNameLst>
                                      </p:cBhvr>
                                      <p:tavLst>
                                        <p:tav tm="0">
                                          <p:val>
                                            <p:strVal val="#ppt_y+0.05"/>
                                          </p:val>
                                        </p:tav>
                                        <p:tav tm="100000">
                                          <p:val>
                                            <p:strVal val="#ppt_y"/>
                                          </p:val>
                                        </p:tav>
                                      </p:tavLst>
                                    </p:anim>
                                  </p:childTnLst>
                                </p:cTn>
                              </p:par>
                              <p:par>
                                <p:cTn id="9" presetID="42" presetClass="entr" presetSubtype="0" fill="hold" nodeType="withEffect">
                                  <p:stCondLst>
                                    <p:cond delay="350"/>
                                  </p:stCondLst>
                                  <p:childTnLst>
                                    <p:set>
                                      <p:cBhvr>
                                        <p:cTn id="10"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anim calcmode="lin" valueType="num">
                                      <p:cBhvr>
                                        <p:cTn id="8" dur="400" fill="hold"/>
                                        <p:tgtEl>
                                          <p:spTgt spid="5"/>
                                        </p:tgtEl>
                                        <p:attrNameLst>
                                          <p:attrName>ppt_y</p:attrName>
                                        </p:attrNameLst>
                                      </p:cBhvr>
                                      <p:tavLst>
                                        <p:tav tm="0">
                                          <p:val>
                                            <p:strVal val="#ppt_y+0.05"/>
                                          </p:val>
                                        </p:tav>
                                        <p:tav tm="100000">
                                          <p:val>
                                            <p:strVal val="#ppt_y"/>
                                          </p:val>
                                        </p:tav>
                                      </p:tavLst>
                                    </p:anim>
                                  </p:childTnLst>
                                </p:cTn>
                              </p:par>
                              <p:par>
                                <p:cTn id="13" presetID="42" presetClass="entr" presetSubtype="0" fill="hold" nodeType="withEffect">
                                  <p:stCondLst>
                                    <p:cond delay="700"/>
                                  </p:stCondLst>
                                  <p:childTnLst>
                                    <p:set>
                                      <p:cBhvr>
                                        <p:cTn id="14"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anim calcmode="lin" valueType="num">
                                      <p:cBhvr>
                                        <p:cTn id="12" dur="400" fill="hold"/>
                                        <p:tgtEl>
                                          <p:spTgt spid="6"/>
                                        </p:tgtEl>
                                        <p:attrNameLst>
                                          <p:attrName>ppt_y</p:attrName>
                                        </p:attrNameLst>
                                      </p:cBhvr>
                                      <p:tavLst>
                                        <p:tav tm="0">
                                          <p:val>
                                            <p:strVal val="#ppt_y+0.05"/>
                                          </p:val>
                                        </p:tav>
                                        <p:tav tm="100000">
                                          <p:val>
                                            <p:strVal val="#ppt_y"/>
                                          </p:val>
                                        </p:tav>
                                      </p:tavLst>
                                    </p:anim>
                                  </p:childTnLst>
                                </p:cTn>
                              </p:par>
                              <p:par>
                                <p:cTn id="17" presetID="42" presetClass="entr" presetSubtype="0" fill="hold" nodeType="withEffect">
                                  <p:stCondLst>
                                    <p:cond delay="1050"/>
                                  </p:stCondLst>
                                  <p:childTnLst>
                                    <p:set>
                                      <p:cBhvr>
                                        <p:cTn id="18"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anim calcmode="lin" valueType="num">
                                      <p:cBhvr>
                                        <p:cTn id="16" dur="400" fill="hold"/>
                                        <p:tgtEl>
                                          <p:spTgt spid="7"/>
                                        </p:tgtEl>
                                        <p:attrNameLst>
                                          <p:attrName>ppt_y</p:attrName>
                                        </p:attrNameLst>
                                      </p:cBhvr>
                                      <p:tavLst>
                                        <p:tav tm="0">
                                          <p:val>
                                            <p:strVal val="#ppt_y+0.05"/>
                                          </p:val>
                                        </p:tav>
                                        <p:tav tm="100000">
                                          <p:val>
                                            <p:strVal val="#ppt_y"/>
                                          </p:val>
                                        </p:tav>
                                      </p:tavLst>
                                    </p:anim>
                                  </p:childTnLst>
                                </p:cTn>
                              </p:par>
                              <p:par>
                                <p:cTn id="21" presetID="42" presetClass="entr" presetSubtype="0" fill="hold" nodeType="withEffect">
                                  <p:stCondLst>
                                    <p:cond delay="1400"/>
                                  </p:stCondLst>
                                  <p:childTnLst>
                                    <p:set>
                                      <p:cBhvr>
                                        <p:cTn id="22"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anim calcmode="lin" valueType="num">
                                      <p:cBhvr>
                                        <p:cTn id="20" dur="400" fill="hold"/>
                                        <p:tgtEl>
                                          <p:spTgt spid="8"/>
                                        </p:tgtEl>
                                        <p:attrNameLst>
                                          <p:attrName>ppt_y</p:attrName>
                                        </p:attrNameLst>
                                      </p:cBhvr>
                                      <p:tavLst>
                                        <p:tav tm="0">
                                          <p:val>
                                            <p:strVal val="#ppt_y+0.05"/>
                                          </p:val>
                                        </p:tav>
                                        <p:tav tm="100000">
                                          <p:val>
                                            <p:strVal val="#ppt_y"/>
                                          </p:val>
                                        </p:tav>
                                      </p:tavLst>
                                    </p:anim>
                                  </p:childTnLst>
                                </p:cTn>
                              </p:par>
                              <p:par>
                                <p:cTn id="25" presetID="42" presetClass="entr" presetSubtype="0" fill="hold" nodeType="withEffect">
                                  <p:stCondLst>
                                    <p:cond delay="1750"/>
                                  </p:stCondLst>
                                  <p:childTnLst>
                                    <p:set>
                                      <p:cBhvr>
                                        <p:cTn id="26"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anim calcmode="lin" valueType="num">
                                      <p:cBhvr>
                                        <p:cTn id="24" dur="400" fill="hold"/>
                                        <p:tgtEl>
                                          <p:spTgt spid="9"/>
                                        </p:tgtEl>
                                        <p:attrNameLst>
                                          <p:attrName>ppt_y</p:attrName>
                                        </p:attrNameLst>
                                      </p:cBhvr>
                                      <p:tavLst>
                                        <p:tav tm="0">
                                          <p:val>
                                            <p:strVal val="#ppt_y+0.05"/>
                                          </p:val>
                                        </p:tav>
                                        <p:tav tm="100000">
                                          <p:val>
                                            <p:strVal val="#ppt_y"/>
                                          </p:val>
                                        </p:tav>
                                      </p:tavLst>
                                    </p:anim>
                                  </p:childTnLst>
                                </p:cTn>
                              </p:par>
                              <p:par>
                                <p:cTn id="29" presetID="42" presetClass="entr" presetSubtype="0" fill="hold" nodeType="withEffect">
                                  <p:stCondLst>
                                    <p:cond delay="2100"/>
                                  </p:stCondLst>
                                  <p:childTnLst>
                                    <p:set>
                                      <p:cBhvr>
                                        <p:cTn id="30" dur="1" fill="hold">
                                          <p:stCondLst>
                                            <p:cond delay="0"/>
                                          </p:stCondLst>
                                        </p:cTn>
                                        <p:tgtEl>
                                          <p:spTgt spid="10"/>
                                        </p:tgtEl>
                                        <p:attrNameLst>
                                          <p:attrName>style.visibility</p:attrName>
                                        </p:attrNameLst>
                                      </p:cBhvr>
                                      <p:to>
                                        <p:strVal val="visible"/>
                                      </p:to>
                                    </p:set>
                                    <p:animEffect transition="in" filter="fade">
                                      <p:cBhvr>
                                        <p:cTn id="27" dur="400"/>
                                        <p:tgtEl>
                                          <p:spTgt spid="10"/>
                                        </p:tgtEl>
                                      </p:cBhvr>
                                    </p:animEffect>
                                    <p:anim calcmode="lin" valueType="num">
                                      <p:cBhvr>
                                        <p:cTn id="28" dur="400" fill="hold"/>
                                        <p:tgtEl>
                                          <p:spTgt spid="10"/>
                                        </p:tgtEl>
                                        <p:attrNameLst>
                                          <p:attrName>ppt_y</p:attrName>
                                        </p:attrNameLst>
                                      </p:cBhvr>
                                      <p:tavLst>
                                        <p:tav tm="0">
                                          <p:val>
                                            <p:strVal val="#ppt_y+0.05"/>
                                          </p:val>
                                        </p:tav>
                                        <p:tav tm="100000">
                                          <p:val>
                                            <p:strVal val="#ppt_y"/>
                                          </p:val>
                                        </p:tav>
                                      </p:tavLst>
                                    </p:anim>
                                  </p:childTnLst>
                                </p:cTn>
                              </p:par>
                              <p:par>
                                <p:cTn id="33" presetID="42" presetClass="entr" presetSubtype="0" fill="hold" nodeType="withEffect">
                                  <p:stCondLst>
                                    <p:cond delay="24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anim calcmode="lin" valueType="num">
                                      <p:cBhvr>
                                        <p:cTn id="32" dur="400" fill="hold"/>
                                        <p:tgtEl>
                                          <p:spTgt spid="11"/>
                                        </p:tgtEl>
                                        <p:attrNameLst>
                                          <p:attrName>ppt_y</p:attrName>
                                        </p:attrNameLst>
                                      </p:cBhvr>
                                      <p:tavLst>
                                        <p:tav tm="0">
                                          <p:val>
                                            <p:strVal val="#ppt_y+0.05"/>
                                          </p:val>
                                        </p:tav>
                                        <p:tav tm="100000">
                                          <p:val>
                                            <p:strVal val="#ppt_y"/>
                                          </p:val>
                                        </p:tav>
                                      </p:tavLst>
                                    </p:anim>
                                  </p:childTnLst>
                                </p:cTn>
                              </p:par>
                              <p:par>
                                <p:cTn id="37" presetID="42" presetClass="entr" presetSubtype="0" fill="hold" nodeType="withEffect">
                                  <p:stCondLst>
                                    <p:cond delay="28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5" dur="400"/>
                                        <p:tgtEl>
                                          <p:spTgt spid="12"/>
                                        </p:tgtEl>
                                      </p:cBhvr>
                                    </p:animEffect>
                                    <p:anim calcmode="lin" valueType="num">
                                      <p:cBhvr>
                                        <p:cTn id="36" dur="400" fill="hold"/>
                                        <p:tgtEl>
                                          <p:spTgt spid="12"/>
                                        </p:tgtEl>
                                        <p:attrNameLst>
                                          <p:attrName>ppt_y</p:attrName>
                                        </p:attrNameLst>
                                      </p:cBhvr>
                                      <p:tavLst>
                                        <p:tav tm="0">
                                          <p:val>
                                            <p:strVal val="#ppt_y+0.05"/>
                                          </p:val>
                                        </p:tav>
                                        <p:tav tm="100000">
                                          <p:val>
                                            <p:strVal val="#ppt_y"/>
                                          </p:val>
                                        </p:tav>
                                      </p:tavLst>
                                    </p:anim>
                                  </p:childTnLst>
                                </p:cTn>
                              </p:par>
                              <p:par>
                                <p:cTn id="41" presetID="42" presetClass="entr" presetSubtype="0" fill="hold" nodeType="withEffect">
                                  <p:stCondLst>
                                    <p:cond delay="3150"/>
                                  </p:stCondLst>
                                  <p:childTnLst>
                                    <p:set>
                                      <p:cBhvr>
                                        <p:cTn id="42"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anim calcmode="lin" valueType="num">
                                      <p:cBhvr>
                                        <p:cTn id="40" dur="400" fill="hold"/>
                                        <p:tgtEl>
                                          <p:spTgt spid="13"/>
                                        </p:tgtEl>
                                        <p:attrNameLst>
                                          <p:attrName>ppt_y</p:attrName>
                                        </p:attrNameLst>
                                      </p:cBhvr>
                                      <p:tavLst>
                                        <p:tav tm="0">
                                          <p:val>
                                            <p:strVal val="#ppt_y+0.05"/>
                                          </p:val>
                                        </p:tav>
                                        <p:tav tm="100000">
                                          <p:val>
                                            <p:strVal val="#ppt_y"/>
                                          </p:val>
                                        </p:tav>
                                      </p:tavLst>
                                    </p:anim>
                                  </p:childTnLst>
                                </p:cTn>
                              </p:par>
                              <p:par>
                                <p:cTn id="45" presetID="42" presetClass="entr" presetSubtype="0" fill="hold" nodeType="withEffect">
                                  <p:stCondLst>
                                    <p:cond delay="3500"/>
                                  </p:stCondLst>
                                  <p:childTnLst>
                                    <p:set>
                                      <p:cBhvr>
                                        <p:cTn id="46"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anim calcmode="lin" valueType="num">
                                      <p:cBhvr>
                                        <p:cTn id="44" dur="400" fill="hold"/>
                                        <p:tgtEl>
                                          <p:spTgt spid="14"/>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2800" b="1" i="0">
                <a:solidFill>
                  <a:srgbClr val="FFFFFF"/>
                </a:solidFill>
                <a:latin typeface="Arial"/>
              </a:rPr>
              <a:t>Backup: what screen 4 showed (recorded 16 Oct)</a:t>
            </a:r>
          </a:p>
        </p:txBody>
      </p:sp>
      <p:pic>
        <p:nvPicPr>
          <p:cNvPr id="3" name="Picture 2" descr="backup-screen4.png"/>
          <p:cNvPicPr>
            <a:picLocks noChangeAspect="1"/>
          </p:cNvPicPr>
          <p:nvPr/>
        </p:nvPicPr>
        <p:blipFill>
          <a:blip r:embed="rId2"/>
          <a:stretch>
            <a:fillRect/>
          </a:stretch>
        </p:blipFill>
        <p:spPr>
          <a:xfrm>
            <a:off x="1069848" y="1143000"/>
            <a:ext cx="9981349" cy="5120640"/>
          </a:xfrm>
          <a:prstGeom prst="rect">
            <a:avLst/>
          </a:prstGeom>
        </p:spPr>
      </p:pic>
      <p:sp>
        <p:nvSpPr>
          <p:cNvPr id="4" name="TextBox 3"/>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Hidden slide. Only if the rig is down AND the video will not play.</a:t>
            </a:r>
          </a:p>
        </p:txBody>
      </p:sp>
      <p:sp>
        <p:nvSpPr>
          <p:cNvPr id="5" name="TextBox 4"/>
          <p:cNvSpPr txBox="1"/>
          <p:nvPr/>
        </p:nvSpPr>
        <p:spPr>
          <a:xfrm>
            <a:off x="11109960" y="6327648"/>
            <a:ext cx="685800" cy="365760"/>
          </a:xfrm>
          <a:prstGeom prst="rect">
            <a:avLst/>
          </a:prstGeom>
          <a:noFill/>
        </p:spPr>
        <p:txBody>
          <a:bodyPr wrap="none" rIns="18288">
            <a:spAutoFit/>
          </a:bodyPr>
          <a:lstStyle/>
          <a:p>
            <a:pPr algn="r"/>
            <a:fld id="{B6F15528-21DE-4FAA-801E-634DDDAF4B07}" type="slidenum">
              <a:rPr lang="en-US" sz="1200" b="1">
                <a:solidFill>
                  <a:srgbClr val="991346"/>
                </a:solidFill>
                <a:latin typeface="Arial"/>
              </a:rPr>
              <a:t>7</a:t>
            </a:fld>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What broke while we built it</a:t>
            </a:r>
          </a:p>
        </p:txBody>
      </p:sp>
      <p:sp>
        <p:nvSpPr>
          <p:cNvPr id="3" name="TextBox 2"/>
          <p:cNvSpPr txBox="1"/>
          <p:nvPr/>
        </p:nvSpPr>
        <p:spPr>
          <a:xfrm>
            <a:off x="548640" y="1188720"/>
            <a:ext cx="10972800" cy="548640"/>
          </a:xfrm>
          <a:prstGeom prst="rect">
            <a:avLst/>
          </a:prstGeom>
          <a:noFill/>
        </p:spPr>
        <p:txBody>
          <a:bodyPr wrap="square" anchor="t" lIns="45720" rIns="45720" tIns="18288" bIns="18288">
            <a:spAutoFit/>
          </a:bodyPr>
          <a:lstStyle/>
          <a:p>
            <a:pPr algn="l">
              <a:lnSpc>
                <a:spcPct val="110000"/>
              </a:lnSpc>
            </a:pPr>
            <a:r>
              <a:rPr sz="2600" b="1" i="1">
                <a:solidFill>
                  <a:srgbClr val="991346"/>
                </a:solidFill>
                <a:latin typeface="Arial"/>
              </a:rPr>
              <a:t>Our first load test didn't stress anything.</a:t>
            </a:r>
          </a:p>
        </p:txBody>
      </p:sp>
      <p:sp>
        <p:nvSpPr>
          <p:cNvPr id="4" name="TextBox 3"/>
          <p:cNvSpPr txBox="1"/>
          <p:nvPr/>
        </p:nvSpPr>
        <p:spPr>
          <a:xfrm>
            <a:off x="2651760" y="1828800"/>
            <a:ext cx="4206240" cy="365760"/>
          </a:xfrm>
          <a:prstGeom prst="rect">
            <a:avLst/>
          </a:prstGeom>
          <a:noFill/>
        </p:spPr>
        <p:txBody>
          <a:bodyPr wrap="square" anchor="t" lIns="45720" rIns="45720" tIns="18288" bIns="18288">
            <a:spAutoFit/>
          </a:bodyPr>
          <a:lstStyle/>
          <a:p>
            <a:pPr algn="l">
              <a:lnSpc>
                <a:spcPct val="110000"/>
              </a:lnSpc>
            </a:pPr>
            <a:r>
              <a:rPr sz="1600" b="1" i="0">
                <a:solidFill>
                  <a:srgbClr val="6B6B76"/>
                </a:solidFill>
                <a:latin typeface="Arial"/>
              </a:rPr>
              <a:t>What we saw</a:t>
            </a:r>
          </a:p>
        </p:txBody>
      </p:sp>
      <p:sp>
        <p:nvSpPr>
          <p:cNvPr id="5" name="TextBox 4"/>
          <p:cNvSpPr txBox="1"/>
          <p:nvPr/>
        </p:nvSpPr>
        <p:spPr>
          <a:xfrm>
            <a:off x="7086600" y="1828800"/>
            <a:ext cx="4572000" cy="365760"/>
          </a:xfrm>
          <a:prstGeom prst="rect">
            <a:avLst/>
          </a:prstGeom>
          <a:noFill/>
        </p:spPr>
        <p:txBody>
          <a:bodyPr wrap="square" anchor="t" lIns="45720" rIns="45720" tIns="18288" bIns="18288">
            <a:spAutoFit/>
          </a:bodyPr>
          <a:lstStyle/>
          <a:p>
            <a:pPr algn="l">
              <a:lnSpc>
                <a:spcPct val="110000"/>
              </a:lnSpc>
            </a:pPr>
            <a:r>
              <a:rPr sz="1600" b="1" i="0">
                <a:solidFill>
                  <a:srgbClr val="6B6B76"/>
                </a:solidFill>
                <a:latin typeface="Arial"/>
              </a:rPr>
              <a:t>What we learned</a:t>
            </a:r>
          </a:p>
        </p:txBody>
      </p:sp>
      <p:sp>
        <p:nvSpPr>
          <p:cNvPr id="6" name="Rounded Rectangle 5"/>
          <p:cNvSpPr/>
          <p:nvPr/>
        </p:nvSpPr>
        <p:spPr>
          <a:xfrm>
            <a:off x="548640" y="2240280"/>
            <a:ext cx="11109960" cy="1188720"/>
          </a:xfrm>
          <a:prstGeom prst="roundRect">
            <a:avLst>
              <a:gd name="adj" fmla="val 8000"/>
            </a:avLst>
          </a:prstGeom>
          <a:solidFill>
            <a:srgbClr val="F3F3F5"/>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40280"/>
            <a:ext cx="1828800" cy="1188720"/>
          </a:xfrm>
          <a:prstGeom prst="rect">
            <a:avLst/>
          </a:prstGeom>
          <a:noFill/>
        </p:spPr>
        <p:txBody>
          <a:bodyPr wrap="square" anchor="ctr" lIns="45720" rIns="45720" tIns="18288" bIns="18288">
            <a:spAutoFit/>
          </a:bodyPr>
          <a:lstStyle/>
          <a:p>
            <a:pPr algn="l">
              <a:lnSpc>
                <a:spcPct val="110000"/>
              </a:lnSpc>
            </a:pPr>
            <a:r>
              <a:rPr sz="1900" b="1" i="0">
                <a:solidFill>
                  <a:srgbClr val="991346"/>
                </a:solidFill>
                <a:latin typeface="Arial"/>
              </a:rPr>
              <a:t>Prefix caching</a:t>
            </a:r>
          </a:p>
        </p:txBody>
      </p:sp>
      <p:sp>
        <p:nvSpPr>
          <p:cNvPr id="8" name="TextBox 7"/>
          <p:cNvSpPr txBox="1"/>
          <p:nvPr/>
        </p:nvSpPr>
        <p:spPr>
          <a:xfrm>
            <a:off x="2651760" y="2240280"/>
            <a:ext cx="4206240" cy="1188720"/>
          </a:xfrm>
          <a:prstGeom prst="rect">
            <a:avLst/>
          </a:prstGeom>
          <a:noFill/>
        </p:spPr>
        <p:txBody>
          <a:bodyPr wrap="square" anchor="ctr" lIns="45720" rIns="45720" tIns="18288" bIns="18288">
            <a:spAutoFit/>
          </a:bodyPr>
          <a:lstStyle/>
          <a:p>
            <a:pPr algn="l">
              <a:lnSpc>
                <a:spcPct val="110000"/>
              </a:lnSpc>
            </a:pPr>
            <a:r>
              <a:rPr sz="1700" b="0" i="0">
                <a:solidFill>
                  <a:srgbClr val="1F1F24"/>
                </a:solidFill>
                <a:latin typeface="Arial"/>
              </a:rPr>
              <a:t>Identical prompts. vLLM shared the cache between them, so nothing filled up.</a:t>
            </a:r>
          </a:p>
        </p:txBody>
      </p:sp>
      <p:sp>
        <p:nvSpPr>
          <p:cNvPr id="9" name="TextBox 8"/>
          <p:cNvSpPr txBox="1"/>
          <p:nvPr/>
        </p:nvSpPr>
        <p:spPr>
          <a:xfrm>
            <a:off x="7086600" y="2240280"/>
            <a:ext cx="4434840" cy="1188720"/>
          </a:xfrm>
          <a:prstGeom prst="rect">
            <a:avLst/>
          </a:prstGeom>
          <a:noFill/>
        </p:spPr>
        <p:txBody>
          <a:bodyPr wrap="square" anchor="ctr" lIns="45720" rIns="45720" tIns="18288" bIns="18288">
            <a:spAutoFit/>
          </a:bodyPr>
          <a:lstStyle/>
          <a:p>
            <a:pPr algn="l">
              <a:lnSpc>
                <a:spcPct val="110000"/>
              </a:lnSpc>
            </a:pPr>
            <a:r>
              <a:rPr sz="1700" b="0" i="0">
                <a:solidFill>
                  <a:srgbClr val="1F1F24"/>
                </a:solidFill>
                <a:latin typeface="Arial"/>
              </a:rPr>
              <a:t>A unique prefix on every prompt. A load test with repeated prompts is lying to you.</a:t>
            </a:r>
          </a:p>
        </p:txBody>
      </p:sp>
      <p:sp>
        <p:nvSpPr>
          <p:cNvPr id="10" name="Rounded Rectangle 9"/>
          <p:cNvSpPr/>
          <p:nvPr/>
        </p:nvSpPr>
        <p:spPr>
          <a:xfrm>
            <a:off x="548640" y="3566160"/>
            <a:ext cx="11109960" cy="118872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566160"/>
            <a:ext cx="1828800" cy="1188720"/>
          </a:xfrm>
          <a:prstGeom prst="rect">
            <a:avLst/>
          </a:prstGeom>
          <a:noFill/>
        </p:spPr>
        <p:txBody>
          <a:bodyPr wrap="square" anchor="ctr" lIns="45720" rIns="45720" tIns="18288" bIns="18288">
            <a:spAutoFit/>
          </a:bodyPr>
          <a:lstStyle/>
          <a:p>
            <a:pPr algn="l">
              <a:lnSpc>
                <a:spcPct val="110000"/>
              </a:lnSpc>
            </a:pPr>
            <a:r>
              <a:rPr sz="1900" b="1" i="0">
                <a:solidFill>
                  <a:srgbClr val="991346"/>
                </a:solidFill>
                <a:latin typeface="Arial"/>
              </a:rPr>
              <a:t>Cardinality</a:t>
            </a:r>
          </a:p>
        </p:txBody>
      </p:sp>
      <p:sp>
        <p:nvSpPr>
          <p:cNvPr id="12" name="TextBox 11"/>
          <p:cNvSpPr txBox="1"/>
          <p:nvPr/>
        </p:nvSpPr>
        <p:spPr>
          <a:xfrm>
            <a:off x="2651760" y="3566160"/>
            <a:ext cx="4206240" cy="1188720"/>
          </a:xfrm>
          <a:prstGeom prst="rect">
            <a:avLst/>
          </a:prstGeom>
          <a:noFill/>
        </p:spPr>
        <p:txBody>
          <a:bodyPr wrap="square" anchor="ctr" lIns="45720" rIns="45720" tIns="18288" bIns="18288">
            <a:spAutoFit/>
          </a:bodyPr>
          <a:lstStyle/>
          <a:p>
            <a:pPr algn="l">
              <a:lnSpc>
                <a:spcPct val="110000"/>
              </a:lnSpc>
            </a:pPr>
            <a:r>
              <a:rPr sz="1700" b="0" i="0">
                <a:solidFill>
                  <a:srgbClr val="1F1F24"/>
                </a:solidFill>
                <a:latin typeface="Arial"/>
              </a:rPr>
              <a:t>The pod name on every GPU metric: 14 series live, 56 after 3 rollouts.</a:t>
            </a:r>
          </a:p>
        </p:txBody>
      </p:sp>
      <p:sp>
        <p:nvSpPr>
          <p:cNvPr id="13" name="TextBox 12"/>
          <p:cNvSpPr txBox="1"/>
          <p:nvPr/>
        </p:nvSpPr>
        <p:spPr>
          <a:xfrm>
            <a:off x="7086600" y="3566160"/>
            <a:ext cx="4434840" cy="1188720"/>
          </a:xfrm>
          <a:prstGeom prst="rect">
            <a:avLst/>
          </a:prstGeom>
          <a:noFill/>
        </p:spPr>
        <p:txBody>
          <a:bodyPr wrap="square" anchor="ctr" lIns="45720" rIns="45720" tIns="18288" bIns="18288">
            <a:spAutoFit/>
          </a:bodyPr>
          <a:lstStyle/>
          <a:p>
            <a:pPr algn="l">
              <a:lnSpc>
                <a:spcPct val="110000"/>
              </a:lnSpc>
            </a:pPr>
            <a:r>
              <a:rPr sz="1700" b="0" i="0">
                <a:solidFill>
                  <a:srgbClr val="1F1F24"/>
                </a:solidFill>
                <a:latin typeface="Arial"/>
              </a:rPr>
              <a:t>Every restart mints a new set of series. Budget retention for pod churn.</a:t>
            </a:r>
          </a:p>
        </p:txBody>
      </p:sp>
      <p:sp>
        <p:nvSpPr>
          <p:cNvPr id="14" name="Rounded Rectangle 13"/>
          <p:cNvSpPr/>
          <p:nvPr/>
        </p:nvSpPr>
        <p:spPr>
          <a:xfrm>
            <a:off x="548640" y="4892040"/>
            <a:ext cx="11109960" cy="1188720"/>
          </a:xfrm>
          <a:prstGeom prst="roundRect">
            <a:avLst>
              <a:gd name="adj" fmla="val 8000"/>
            </a:avLst>
          </a:prstGeom>
          <a:solidFill>
            <a:srgbClr val="F3F3F5"/>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892040"/>
            <a:ext cx="1828800" cy="1188720"/>
          </a:xfrm>
          <a:prstGeom prst="rect">
            <a:avLst/>
          </a:prstGeom>
          <a:noFill/>
        </p:spPr>
        <p:txBody>
          <a:bodyPr wrap="square" anchor="ctr" lIns="45720" rIns="45720" tIns="18288" bIns="18288">
            <a:spAutoFit/>
          </a:bodyPr>
          <a:lstStyle/>
          <a:p>
            <a:pPr algn="l">
              <a:lnSpc>
                <a:spcPct val="110000"/>
              </a:lnSpc>
            </a:pPr>
            <a:r>
              <a:rPr sz="1900" b="1" i="0">
                <a:solidFill>
                  <a:srgbClr val="991346"/>
                </a:solidFill>
                <a:latin typeface="Arial"/>
              </a:rPr>
              <a:t>An unfair test</a:t>
            </a:r>
          </a:p>
        </p:txBody>
      </p:sp>
      <p:sp>
        <p:nvSpPr>
          <p:cNvPr id="16" name="TextBox 15"/>
          <p:cNvSpPr txBox="1"/>
          <p:nvPr/>
        </p:nvSpPr>
        <p:spPr>
          <a:xfrm>
            <a:off x="2651760" y="4892040"/>
            <a:ext cx="4206240" cy="1188720"/>
          </a:xfrm>
          <a:prstGeom prst="rect">
            <a:avLst/>
          </a:prstGeom>
          <a:noFill/>
        </p:spPr>
        <p:txBody>
          <a:bodyPr wrap="square" anchor="ctr" lIns="45720" rIns="45720" tIns="18288" bIns="18288">
            <a:spAutoFit/>
          </a:bodyPr>
          <a:lstStyle/>
          <a:p>
            <a:pPr algn="l">
              <a:lnSpc>
                <a:spcPct val="110000"/>
              </a:lnSpc>
            </a:pPr>
            <a:r>
              <a:rPr sz="1700" b="0" i="0">
                <a:solidFill>
                  <a:srgbClr val="1F1F24"/>
                </a:solidFill>
                <a:latin typeface="Arial"/>
              </a:rPr>
              <a:t>More traffic to one pod: 12 s vs 0.13 s. Too good to be true.</a:t>
            </a:r>
          </a:p>
        </p:txBody>
      </p:sp>
      <p:sp>
        <p:nvSpPr>
          <p:cNvPr id="17" name="TextBox 16"/>
          <p:cNvSpPr txBox="1"/>
          <p:nvPr/>
        </p:nvSpPr>
        <p:spPr>
          <a:xfrm>
            <a:off x="7086600" y="4892040"/>
            <a:ext cx="4434840" cy="1188720"/>
          </a:xfrm>
          <a:prstGeom prst="rect">
            <a:avLst/>
          </a:prstGeom>
          <a:noFill/>
        </p:spPr>
        <p:txBody>
          <a:bodyPr wrap="square" anchor="ctr" lIns="45720" rIns="45720" tIns="18288" bIns="18288">
            <a:spAutoFit/>
          </a:bodyPr>
          <a:lstStyle/>
          <a:p>
            <a:pPr algn="l">
              <a:lnSpc>
                <a:spcPct val="110000"/>
              </a:lnSpc>
            </a:pPr>
            <a:r>
              <a:rPr sz="1700" b="0" i="0">
                <a:solidFill>
                  <a:srgbClr val="1F1F24"/>
                </a:solidFill>
                <a:latin typeface="Arial"/>
              </a:rPr>
              <a:t>Same traffic to both: 5.9 s vs 0.08 s to the first token. Test with your own traffic.</a:t>
            </a:r>
          </a:p>
        </p:txBody>
      </p:sp>
      <p:sp>
        <p:nvSpPr>
          <p:cNvPr id="18" name="TextBox 17"/>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Test cluster: vLLM v0.30.0, facebook/opt-125m, one A10G per pod. Cardinality: 7 DCGM counters x 2 GPUs, measured 13 Oct 2026.</a:t>
            </a:r>
          </a:p>
        </p:txBody>
      </p:sp>
      <p:sp>
        <p:nvSpPr>
          <p:cNvPr id="63" name="TextBox 62"/>
          <p:cNvSpPr txBox="1"/>
          <p:nvPr/>
        </p:nvSpPr>
        <p:spPr>
          <a:xfrm>
            <a:off x="11109960" y="6327648"/>
            <a:ext cx="685800" cy="365760"/>
          </a:xfrm>
          <a:prstGeom prst="rect">
            <a:avLst/>
          </a:prstGeom>
          <a:noFill/>
        </p:spPr>
        <p:txBody>
          <a:bodyPr wrap="none" rIns="18288">
            <a:spAutoFit/>
          </a:bodyPr>
          <a:lstStyle/>
          <a:p>
            <a:pPr algn="r"/>
            <a:fld id="{B6F15528-21DE-4FAA-801E-634DDDAF4B08}" type="slidenum">
              <a:rPr lang="en-US" sz="1200" b="1">
                <a:solidFill>
                  <a:srgbClr val="991346"/>
                </a:solidFill>
                <a:latin typeface="Aria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stCondLst>
                      <p:childTnLst>
                        <p:par>
                          <p:cTn id="26" fill="hold">
                            <p:stCondLst>
                              <p:cond delay="0"/>
                            </p:stCondLst>
                            <p:childTnLst>
                              <p:par>
                                <p:cTn id="4" presetID="10" presetClass="entr" presetSubtype="0" fill="hold"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3" dur="300"/>
                                        <p:tgtEl>
                                          <p:spTgt spid="4"/>
                                        </p:tgtEl>
                                      </p:cBhvr>
                                    </p:animEffec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6" dur="300"/>
                                        <p:tgtEl>
                                          <p:spTgt spid="5"/>
                                        </p:tgtEl>
                                      </p:cBhvr>
                                    </p:animEffect>
                                  </p:childTnLst>
                                </p:cTn>
                              </p:par>
                              <p:par>
                                <p:cTn id="11" presetID="42"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anim calcmode="lin" valueType="num">
                                      <p:cBhvr>
                                        <p:cTn id="10" dur="450" fill="hold"/>
                                        <p:tgtEl>
                                          <p:spTgt spid="6"/>
                                        </p:tgtEl>
                                        <p:attrNameLst>
                                          <p:attrName>ppt_y</p:attrName>
                                        </p:attrNameLst>
                                      </p:cBhvr>
                                      <p:tavLst>
                                        <p:tav tm="0">
                                          <p:val>
                                            <p:strVal val="#ppt_y+0.05"/>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anim calcmode="lin" valueType="num">
                                      <p:cBhvr>
                                        <p:cTn id="14" dur="450" fill="hold"/>
                                        <p:tgtEl>
                                          <p:spTgt spid="7"/>
                                        </p:tgtEl>
                                        <p:attrNameLst>
                                          <p:attrName>ppt_y</p:attrName>
                                        </p:attrNameLst>
                                      </p:cBhvr>
                                      <p:tavLst>
                                        <p:tav tm="0">
                                          <p:val>
                                            <p:strVal val="#ppt_y+0.05"/>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anim calcmode="lin" valueType="num">
                                      <p:cBhvr>
                                        <p:cTn id="18" dur="450" fill="hold"/>
                                        <p:tgtEl>
                                          <p:spTgt spid="8"/>
                                        </p:tgtEl>
                                        <p:attrNameLst>
                                          <p:attrName>ppt_y</p:attrName>
                                        </p:attrNameLst>
                                      </p:cBhvr>
                                      <p:tavLst>
                                        <p:tav tm="0">
                                          <p:val>
                                            <p:strVal val="#ppt_y+0.05"/>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anim calcmode="lin" valueType="num">
                                      <p:cBhvr>
                                        <p:cTn id="22" dur="450" fill="hold"/>
                                        <p:tgtEl>
                                          <p:spTgt spid="9"/>
                                        </p:tgtEl>
                                        <p:attrNameLst>
                                          <p:attrName>ppt_y</p:attrName>
                                        </p:attrNameLst>
                                      </p:cBhvr>
                                      <p:tavLst>
                                        <p:tav tm="0">
                                          <p:val>
                                            <p:strVal val="#ppt_y+0.05"/>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27" dur="450"/>
                                        <p:tgtEl>
                                          <p:spTgt spid="10"/>
                                        </p:tgtEl>
                                      </p:cBhvr>
                                    </p:animEffect>
                                    <p:anim calcmode="lin" valueType="num">
                                      <p:cBhvr>
                                        <p:cTn id="28" dur="450" fill="hold"/>
                                        <p:tgtEl>
                                          <p:spTgt spid="10"/>
                                        </p:tgtEl>
                                        <p:attrNameLst>
                                          <p:attrName>ppt_y</p:attrName>
                                        </p:attrNameLst>
                                      </p:cBhvr>
                                      <p:tavLst>
                                        <p:tav tm="0">
                                          <p:val>
                                            <p:strVal val="#ppt_y+0.05"/>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anim calcmode="lin" valueType="num">
                                      <p:cBhvr>
                                        <p:cTn id="32" dur="450" fill="hold"/>
                                        <p:tgtEl>
                                          <p:spTgt spid="11"/>
                                        </p:tgtEl>
                                        <p:attrNameLst>
                                          <p:attrName>ppt_y</p:attrName>
                                        </p:attrNameLst>
                                      </p:cBhvr>
                                      <p:tavLst>
                                        <p:tav tm="0">
                                          <p:val>
                                            <p:strVal val="#ppt_y+0.05"/>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anim calcmode="lin" valueType="num">
                                      <p:cBhvr>
                                        <p:cTn id="36" dur="450" fill="hold"/>
                                        <p:tgtEl>
                                          <p:spTgt spid="12"/>
                                        </p:tgtEl>
                                        <p:attrNameLst>
                                          <p:attrName>ppt_y</p:attrName>
                                        </p:attrNameLst>
                                      </p:cBhvr>
                                      <p:tavLst>
                                        <p:tav tm="0">
                                          <p:val>
                                            <p:strVal val="#ppt_y+0.05"/>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39" dur="450"/>
                                        <p:tgtEl>
                                          <p:spTgt spid="13"/>
                                        </p:tgtEl>
                                      </p:cBhvr>
                                    </p:animEffect>
                                    <p:anim calcmode="lin" valueType="num">
                                      <p:cBhvr>
                                        <p:cTn id="40" dur="450" fill="hold"/>
                                        <p:tgtEl>
                                          <p:spTgt spid="13"/>
                                        </p:tgtEl>
                                        <p:attrNameLst>
                                          <p:attrName>ppt_y</p:attrName>
                                        </p:attrNameLst>
                                      </p:cBhvr>
                                      <p:tavLst>
                                        <p:tav tm="0">
                                          <p:val>
                                            <p:strVal val="#ppt_y+0.05"/>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anim calcmode="lin" valueType="num">
                                      <p:cBhvr>
                                        <p:cTn id="46" dur="450" fill="hold"/>
                                        <p:tgtEl>
                                          <p:spTgt spid="14"/>
                                        </p:tgtEl>
                                        <p:attrNameLst>
                                          <p:attrName>ppt_y</p:attrName>
                                        </p:attrNameLst>
                                      </p:cBhvr>
                                      <p:tavLst>
                                        <p:tav tm="0">
                                          <p:val>
                                            <p:strVal val="#ppt_y+0.05"/>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p:cTn id="50" dur="450" fill="hold"/>
                                        <p:tgtEl>
                                          <p:spTgt spid="15"/>
                                        </p:tgtEl>
                                        <p:attrNameLst>
                                          <p:attrName>ppt_y</p:attrName>
                                        </p:attrNameLst>
                                      </p:cBhvr>
                                      <p:tavLst>
                                        <p:tav tm="0">
                                          <p:val>
                                            <p:strVal val="#ppt_y+0.05"/>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anim calcmode="lin" valueType="num">
                                      <p:cBhvr>
                                        <p:cTn id="54" dur="450" fill="hold"/>
                                        <p:tgtEl>
                                          <p:spTgt spid="16"/>
                                        </p:tgtEl>
                                        <p:attrNameLst>
                                          <p:attrName>ppt_y</p:attrName>
                                        </p:attrNameLst>
                                      </p:cBhvr>
                                      <p:tavLst>
                                        <p:tav tm="0">
                                          <p:val>
                                            <p:strVal val="#ppt_y+0.05"/>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57" dur="450"/>
                                        <p:tgtEl>
                                          <p:spTgt spid="17"/>
                                        </p:tgtEl>
                                      </p:cBhvr>
                                    </p:animEffect>
                                    <p:anim calcmode="lin" valueType="num">
                                      <p:cBhvr>
                                        <p:cTn id="58" dur="450" fill="hold"/>
                                        <p:tgtEl>
                                          <p:spTgt spid="17"/>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Who voted both? You were right.</a:t>
            </a:r>
          </a:p>
        </p:txBody>
      </p:sp>
      <p:sp>
        <p:nvSpPr>
          <p:cNvPr id="3" name="Rounded Rectangle 2"/>
          <p:cNvSpPr/>
          <p:nvPr/>
        </p:nvSpPr>
        <p:spPr>
          <a:xfrm>
            <a:off x="548640" y="1783080"/>
            <a:ext cx="5440680" cy="2926080"/>
          </a:xfrm>
          <a:prstGeom prst="roundRect">
            <a:avLst>
              <a:gd name="adj" fmla="val 8000"/>
            </a:avLst>
          </a:prstGeom>
          <a:solidFill>
            <a:srgbClr val="FFFFFF"/>
          </a:solidFill>
          <a:ln w="38100">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19"/>
            <a:ext cx="4846320" cy="457200"/>
          </a:xfrm>
          <a:prstGeom prst="rect">
            <a:avLst/>
          </a:prstGeom>
          <a:noFill/>
        </p:spPr>
        <p:txBody>
          <a:bodyPr wrap="square" anchor="t" lIns="45720" rIns="45720" tIns="18288" bIns="18288">
            <a:spAutoFit/>
          </a:bodyPr>
          <a:lstStyle/>
          <a:p>
            <a:pPr algn="l">
              <a:lnSpc>
                <a:spcPct val="110000"/>
              </a:lnSpc>
            </a:pPr>
            <a:r>
              <a:rPr sz="2200" b="1" i="0">
                <a:solidFill>
                  <a:srgbClr val="D7263D"/>
                </a:solidFill>
                <a:latin typeface="Arial"/>
              </a:rPr>
              <a:t>Pod A</a:t>
            </a:r>
          </a:p>
        </p:txBody>
      </p:sp>
      <p:sp>
        <p:nvSpPr>
          <p:cNvPr id="5" name="TextBox 4"/>
          <p:cNvSpPr txBox="1"/>
          <p:nvPr/>
        </p:nvSpPr>
        <p:spPr>
          <a:xfrm>
            <a:off x="868680" y="2240280"/>
            <a:ext cx="2377440" cy="1097280"/>
          </a:xfrm>
          <a:prstGeom prst="rect">
            <a:avLst/>
          </a:prstGeom>
          <a:noFill/>
        </p:spPr>
        <p:txBody>
          <a:bodyPr wrap="square" anchor="ctr" lIns="45720" rIns="45720" tIns="18288" bIns="18288">
            <a:spAutoFit/>
          </a:bodyPr>
          <a:lstStyle/>
          <a:p>
            <a:pPr algn="l">
              <a:lnSpc>
                <a:spcPct val="90000"/>
              </a:lnSpc>
            </a:pPr>
            <a:r>
              <a:rPr sz="7200" b="1" i="0">
                <a:solidFill>
                  <a:srgbClr val="D7263D"/>
                </a:solidFill>
                <a:latin typeface="Arial"/>
              </a:rPr>
              <a:t>8%</a:t>
            </a:r>
          </a:p>
        </p:txBody>
      </p:sp>
      <p:sp>
        <p:nvSpPr>
          <p:cNvPr id="6" name="Rounded Rectangle 5"/>
          <p:cNvSpPr/>
          <p:nvPr/>
        </p:nvSpPr>
        <p:spPr>
          <a:xfrm>
            <a:off x="3291840" y="2377440"/>
            <a:ext cx="2423160" cy="777240"/>
          </a:xfrm>
          <a:prstGeom prst="roundRect">
            <a:avLst>
              <a:gd name="adj" fmla="val 15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2377440"/>
            <a:ext cx="2423160" cy="777240"/>
          </a:xfrm>
          <a:prstGeom prst="rect">
            <a:avLst/>
          </a:prstGeom>
          <a:noFill/>
        </p:spPr>
        <p:txBody>
          <a:bodyPr wrap="square" anchor="ctr" lIns="45720" rIns="45720" tIns="18288" bIns="18288">
            <a:spAutoFit/>
          </a:bodyPr>
          <a:lstStyle/>
          <a:p>
            <a:pPr algn="ctr">
              <a:lnSpc>
                <a:spcPct val="110000"/>
              </a:lnSpc>
            </a:pPr>
            <a:r>
              <a:rPr sz="2800" b="1" i="0">
                <a:solidFill>
                  <a:srgbClr val="FFFFFF"/>
                </a:solidFill>
                <a:latin typeface="Arial"/>
              </a:rPr>
              <a:t>Too small</a:t>
            </a:r>
          </a:p>
        </p:txBody>
      </p:sp>
      <p:sp>
        <p:nvSpPr>
          <p:cNvPr id="8" name="TextBox 7"/>
          <p:cNvSpPr txBox="1"/>
          <p:nvPr/>
        </p:nvSpPr>
        <p:spPr>
          <a:xfrm>
            <a:off x="868680" y="3474720"/>
            <a:ext cx="4846320" cy="1188720"/>
          </a:xfrm>
          <a:prstGeom prst="rect">
            <a:avLst/>
          </a:prstGeom>
          <a:noFill/>
        </p:spPr>
        <p:txBody>
          <a:bodyPr wrap="square" anchor="t" lIns="45720" rIns="45720" tIns="18288" bIns="18288">
            <a:spAutoFit/>
          </a:bodyPr>
          <a:lstStyle/>
          <a:p>
            <a:pPr algn="l">
              <a:lnSpc>
                <a:spcPct val="110000"/>
              </a:lnSpc>
            </a:pPr>
            <a:r>
              <a:rPr sz="2000" b="0" i="0">
                <a:solidFill>
                  <a:srgbClr val="1F1F24"/>
                </a:solidFill>
                <a:latin typeface="Arial"/>
              </a:rPr>
              <a:t>KV cache hit 100%. New requests waited 5.9 s for the first token.</a:t>
            </a:r>
          </a:p>
        </p:txBody>
      </p:sp>
      <p:sp>
        <p:nvSpPr>
          <p:cNvPr id="9" name="Rounded Rectangle 8"/>
          <p:cNvSpPr/>
          <p:nvPr/>
        </p:nvSpPr>
        <p:spPr>
          <a:xfrm>
            <a:off x="6172200" y="1783080"/>
            <a:ext cx="5440680" cy="2926080"/>
          </a:xfrm>
          <a:prstGeom prst="roundRect">
            <a:avLst>
              <a:gd name="adj" fmla="val 8000"/>
            </a:avLst>
          </a:prstGeom>
          <a:solidFill>
            <a:srgbClr val="FFFFFF"/>
          </a:solidFill>
          <a:ln w="38100">
            <a:solidFill>
              <a:srgbClr val="2F6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74519"/>
            <a:ext cx="4846320" cy="457200"/>
          </a:xfrm>
          <a:prstGeom prst="rect">
            <a:avLst/>
          </a:prstGeom>
          <a:noFill/>
        </p:spPr>
        <p:txBody>
          <a:bodyPr wrap="square" anchor="t" lIns="45720" rIns="45720" tIns="18288" bIns="18288">
            <a:spAutoFit/>
          </a:bodyPr>
          <a:lstStyle/>
          <a:p>
            <a:pPr algn="l">
              <a:lnSpc>
                <a:spcPct val="110000"/>
              </a:lnSpc>
            </a:pPr>
            <a:r>
              <a:rPr sz="2200" b="1" i="0">
                <a:solidFill>
                  <a:srgbClr val="2F6FDB"/>
                </a:solidFill>
                <a:latin typeface="Arial"/>
              </a:rPr>
              <a:t>Pod B</a:t>
            </a:r>
          </a:p>
        </p:txBody>
      </p:sp>
      <p:sp>
        <p:nvSpPr>
          <p:cNvPr id="11" name="TextBox 10"/>
          <p:cNvSpPr txBox="1"/>
          <p:nvPr/>
        </p:nvSpPr>
        <p:spPr>
          <a:xfrm>
            <a:off x="6492240" y="2240280"/>
            <a:ext cx="2377440" cy="1097280"/>
          </a:xfrm>
          <a:prstGeom prst="rect">
            <a:avLst/>
          </a:prstGeom>
          <a:noFill/>
        </p:spPr>
        <p:txBody>
          <a:bodyPr wrap="square" anchor="ctr" lIns="45720" rIns="45720" tIns="18288" bIns="18288">
            <a:spAutoFit/>
          </a:bodyPr>
          <a:lstStyle/>
          <a:p>
            <a:pPr algn="l">
              <a:lnSpc>
                <a:spcPct val="90000"/>
              </a:lnSpc>
            </a:pPr>
            <a:r>
              <a:rPr sz="7200" b="1" i="0">
                <a:solidFill>
                  <a:srgbClr val="2F6FDB"/>
                </a:solidFill>
                <a:latin typeface="Arial"/>
              </a:rPr>
              <a:t>90%</a:t>
            </a:r>
          </a:p>
        </p:txBody>
      </p:sp>
      <p:sp>
        <p:nvSpPr>
          <p:cNvPr id="12" name="Rounded Rectangle 11"/>
          <p:cNvSpPr/>
          <p:nvPr/>
        </p:nvSpPr>
        <p:spPr>
          <a:xfrm>
            <a:off x="8915400" y="2377440"/>
            <a:ext cx="2423160" cy="777240"/>
          </a:xfrm>
          <a:prstGeom prst="roundRect">
            <a:avLst>
              <a:gd name="adj" fmla="val 15000"/>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2377440"/>
            <a:ext cx="2423160" cy="777240"/>
          </a:xfrm>
          <a:prstGeom prst="rect">
            <a:avLst/>
          </a:prstGeom>
          <a:noFill/>
        </p:spPr>
        <p:txBody>
          <a:bodyPr wrap="square" anchor="ctr" lIns="45720" rIns="45720" tIns="18288" bIns="18288">
            <a:spAutoFit/>
          </a:bodyPr>
          <a:lstStyle/>
          <a:p>
            <a:pPr algn="ctr">
              <a:lnSpc>
                <a:spcPct val="110000"/>
              </a:lnSpc>
            </a:pPr>
            <a:r>
              <a:rPr sz="2800" b="1" i="0">
                <a:solidFill>
                  <a:srgbClr val="FFFFFF"/>
                </a:solidFill>
                <a:latin typeface="Arial"/>
              </a:rPr>
              <a:t>Too big</a:t>
            </a:r>
          </a:p>
        </p:txBody>
      </p:sp>
      <p:sp>
        <p:nvSpPr>
          <p:cNvPr id="14" name="TextBox 13"/>
          <p:cNvSpPr txBox="1"/>
          <p:nvPr/>
        </p:nvSpPr>
        <p:spPr>
          <a:xfrm>
            <a:off x="6492240" y="3474720"/>
            <a:ext cx="4846320" cy="1188720"/>
          </a:xfrm>
          <a:prstGeom prst="rect">
            <a:avLst/>
          </a:prstGeom>
          <a:noFill/>
        </p:spPr>
        <p:txBody>
          <a:bodyPr wrap="square" anchor="t" lIns="45720" rIns="45720" tIns="18288" bIns="18288">
            <a:spAutoFit/>
          </a:bodyPr>
          <a:lstStyle/>
          <a:p>
            <a:pPr algn="l">
              <a:lnSpc>
                <a:spcPct val="110000"/>
              </a:lnSpc>
            </a:pPr>
            <a:r>
              <a:rPr sz="2000" b="0" i="0">
                <a:solidFill>
                  <a:srgbClr val="1F1F24"/>
                </a:solidFill>
                <a:latin typeface="Arial"/>
              </a:rPr>
              <a:t>KV cache peaked near 30%. 20.6 GB held, mostly empty.</a:t>
            </a:r>
          </a:p>
        </p:txBody>
      </p:sp>
      <p:sp>
        <p:nvSpPr>
          <p:cNvPr id="15" name="TextBox 14"/>
          <p:cNvSpPr txBox="1"/>
          <p:nvPr/>
        </p:nvSpPr>
        <p:spPr>
          <a:xfrm>
            <a:off x="548640" y="4983480"/>
            <a:ext cx="11064240" cy="1188720"/>
          </a:xfrm>
          <a:prstGeom prst="rect">
            <a:avLst/>
          </a:prstGeom>
          <a:noFill/>
        </p:spPr>
        <p:txBody>
          <a:bodyPr wrap="square" anchor="t" lIns="45720" rIns="45720" tIns="18288" bIns="18288">
            <a:spAutoFit/>
          </a:bodyPr>
          <a:lstStyle/>
          <a:p>
            <a:pPr algn="l">
              <a:lnSpc>
                <a:spcPct val="110000"/>
              </a:lnSpc>
            </a:pPr>
            <a:r>
              <a:rPr sz="2800" b="1" i="0">
                <a:solidFill>
                  <a:srgbClr val="1F1F24"/>
                </a:solidFill>
                <a:latin typeface="Arial"/>
              </a:rPr>
              <a:t>GPU memory can't tell you an inference server is in trouble. </a:t>
            </a:r>
            <a:r>
              <a:rPr sz="2800" b="1" i="0">
                <a:solidFill>
                  <a:srgbClr val="991346"/>
                </a:solidFill>
                <a:latin typeface="Arial"/>
              </a:rPr>
              <a:t>Read the server's own signal.</a:t>
            </a:r>
          </a:p>
        </p:txBody>
      </p:sp>
      <p:sp>
        <p:nvSpPr>
          <p:cNvPr id="16" name="TextBox 15"/>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Measured 16 Oct 2026, our test cluster: vLLM v0.30.0, facebook/opt-125m (a small model), one A10G per pod, same traffic to both.</a:t>
            </a:r>
          </a:p>
        </p:txBody>
      </p:sp>
      <p:sp>
        <p:nvSpPr>
          <p:cNvPr id="60" name="TextBox 59"/>
          <p:cNvSpPr txBox="1"/>
          <p:nvPr/>
        </p:nvSpPr>
        <p:spPr>
          <a:xfrm>
            <a:off x="11109960" y="6327648"/>
            <a:ext cx="685800" cy="365760"/>
          </a:xfrm>
          <a:prstGeom prst="rect">
            <a:avLst/>
          </a:prstGeom>
          <a:noFill/>
        </p:spPr>
        <p:txBody>
          <a:bodyPr wrap="none" rIns="18288">
            <a:spAutoFit/>
          </a:bodyPr>
          <a:lstStyle/>
          <a:p>
            <a:pPr algn="r"/>
            <a:fld id="{B6F15528-21DE-4FAA-801E-634DDDAF4B09}" type="slidenum">
              <a:rPr lang="en-US" sz="1200" b="1">
                <a:solidFill>
                  <a:srgbClr val="991346"/>
                </a:solidFill>
                <a:latin typeface="Aria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22"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3" dur="400"/>
                                        <p:tgtEl>
                                          <p:spTgt spid="3"/>
                                        </p:tgtEl>
                                      </p:cBhvr>
                                    </p:animEffect>
                                  </p:childTnLst>
                                </p:cTn>
                              </p:par>
                              <p:par>
                                <p:cTn id="7" presetID="10"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6" dur="400"/>
                                        <p:tgtEl>
                                          <p:spTgt spid="4"/>
                                        </p:tgtEl>
                                      </p:cBhvr>
                                    </p:animEffect>
                                  </p:childTnLst>
                                </p:cTn>
                              </p:par>
                              <p:par>
                                <p:cTn id="10" presetID="10"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par>
                    <p:cTn id="37" fill="hold">
                      <p:stCondLst>
                        <p:cond delay="indefinite"/>
                      </p:stCondLst>
                      <p:childTnLst>
                        <p:par>
                          <p:cTn id="38"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3" dur="400"/>
                                        <p:tgtEl>
                                          <p:spTgt spid="6"/>
                                        </p:tgtEl>
                                      </p:cBhvr>
                                    </p:animEffect>
                                    <p:anim calcmode="lin" valueType="num">
                                      <p:cBhvr>
                                        <p:cTn id="24" dur="400" fill="hold"/>
                                        <p:tgtEl>
                                          <p:spTgt spid="6"/>
                                        </p:tgtEl>
                                        <p:attrNameLst>
                                          <p:attrName>ppt_w</p:attrName>
                                        </p:attrNameLst>
                                      </p:cBhvr>
                                      <p:tavLst>
                                        <p:tav tm="0">
                                          <p:val>
                                            <p:strVal val="0"/>
                                          </p:val>
                                        </p:tav>
                                        <p:tav tm="100000">
                                          <p:val>
                                            <p:strVal val="#ppt_w"/>
                                          </p:val>
                                        </p:tav>
                                      </p:tavLst>
                                    </p:anim>
                                    <p:anim calcmode="lin" valueType="num">
                                      <p:cBhvr>
                                        <p:cTn id="25" dur="400" fill="hold"/>
                                        <p:tgtEl>
                                          <p:spTgt spid="6"/>
                                        </p:tgtEl>
                                        <p:attrNameLst>
                                          <p:attrName>ppt_h</p:attrName>
                                        </p:attrNameLst>
                                      </p:cBhvr>
                                      <p:tavLst>
                                        <p:tav tm="0">
                                          <p:val>
                                            <p:strVal val="0"/>
                                          </p:val>
                                        </p:tav>
                                        <p:tav tm="100000">
                                          <p:val>
                                            <p:strVal val="#ppt_h"/>
                                          </p:val>
                                        </p:tav>
                                      </p:tavLst>
                                    </p:anim>
                                  </p:childTnLst>
                                </p:cTn>
                              </p:par>
                              <p:par>
                                <p:cTn id="31" presetID="53" presetClass="entr" presetSubtype="16"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28" dur="400"/>
                                        <p:tgtEl>
                                          <p:spTgt spid="7"/>
                                        </p:tgtEl>
                                      </p:cBhvr>
                                    </p:animEffect>
                                    <p:anim calcmode="lin" valueType="num">
                                      <p:cBhvr>
                                        <p:cTn id="29" dur="400" fill="hold"/>
                                        <p:tgtEl>
                                          <p:spTgt spid="7"/>
                                        </p:tgtEl>
                                        <p:attrNameLst>
                                          <p:attrName>ppt_w</p:attrName>
                                        </p:attrNameLst>
                                      </p:cBhvr>
                                      <p:tavLst>
                                        <p:tav tm="0">
                                          <p:val>
                                            <p:strVal val="0"/>
                                          </p:val>
                                        </p:tav>
                                        <p:tav tm="100000">
                                          <p:val>
                                            <p:strVal val="#ppt_w"/>
                                          </p:val>
                                        </p:tav>
                                      </p:tavLst>
                                    </p:anim>
                                    <p:anim calcmode="lin" valueType="num">
                                      <p:cBhvr>
                                        <p:cTn id="30" dur="400" fill="hold"/>
                                        <p:tgtEl>
                                          <p:spTgt spid="7"/>
                                        </p:tgtEl>
                                        <p:attrNameLst>
                                          <p:attrName>ppt_h</p:attrName>
                                        </p:attrNameLst>
                                      </p:cBhvr>
                                      <p:tavLst>
                                        <p:tav tm="0">
                                          <p:val>
                                            <p:strVal val="0"/>
                                          </p:val>
                                        </p:tav>
                                        <p:tav tm="100000">
                                          <p:val>
                                            <p:strVal val="#ppt_h"/>
                                          </p:val>
                                        </p:tav>
                                      </p:tavLst>
                                    </p:anim>
                                  </p:childTnLst>
                                </p:cTn>
                              </p:par>
                              <p:par>
                                <p:cTn id="35" presetID="42"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3" dur="450"/>
                                        <p:tgtEl>
                                          <p:spTgt spid="8"/>
                                        </p:tgtEl>
                                      </p:cBhvr>
                                    </p:animEffect>
                                    <p:anim calcmode="lin" valueType="num">
                                      <p:cBhvr>
                                        <p:cTn id="34" dur="450" fill="hold"/>
                                        <p:tgtEl>
                                          <p:spTgt spid="8"/>
                                        </p:tgtEl>
                                        <p:attrNameLst>
                                          <p:attrName>ppt_y</p:attrName>
                                        </p:attrNameLst>
                                      </p:cBhvr>
                                      <p:tavLst>
                                        <p:tav tm="0">
                                          <p:val>
                                            <p:strVal val="#ppt_y+0.05"/>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39" dur="400"/>
                                        <p:tgtEl>
                                          <p:spTgt spid="12"/>
                                        </p:tgtEl>
                                      </p:cBhvr>
                                    </p:animEffect>
                                    <p:anim calcmode="lin" valueType="num">
                                      <p:cBhvr>
                                        <p:cTn id="40" dur="400" fill="hold"/>
                                        <p:tgtEl>
                                          <p:spTgt spid="12"/>
                                        </p:tgtEl>
                                        <p:attrNameLst>
                                          <p:attrName>ppt_w</p:attrName>
                                        </p:attrNameLst>
                                      </p:cBhvr>
                                      <p:tavLst>
                                        <p:tav tm="0">
                                          <p:val>
                                            <p:strVal val="0"/>
                                          </p:val>
                                        </p:tav>
                                        <p:tav tm="100000">
                                          <p:val>
                                            <p:strVal val="#ppt_w"/>
                                          </p:val>
                                        </p:tav>
                                      </p:tavLst>
                                    </p:anim>
                                    <p:anim calcmode="lin" valueType="num">
                                      <p:cBhvr>
                                        <p:cTn id="41" dur="400" fill="hold"/>
                                        <p:tgtEl>
                                          <p:spTgt spid="12"/>
                                        </p:tgtEl>
                                        <p:attrNameLst>
                                          <p:attrName>ppt_h</p:attrName>
                                        </p:attrNameLst>
                                      </p:cBhvr>
                                      <p:tavLst>
                                        <p:tav tm="0">
                                          <p:val>
                                            <p:strVal val="0"/>
                                          </p:val>
                                        </p:tav>
                                        <p:tav tm="100000">
                                          <p:val>
                                            <p:strVal val="#ppt_h"/>
                                          </p:val>
                                        </p:tav>
                                      </p:tavLst>
                                    </p:anim>
                                  </p:childTnLst>
                                </p:cTn>
                              </p:par>
                              <p:par>
                                <p:cTn id="47" presetID="53" presetClass="entr" presetSubtype="16"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4" dur="400"/>
                                        <p:tgtEl>
                                          <p:spTgt spid="13"/>
                                        </p:tgtEl>
                                      </p:cBhvr>
                                    </p:animEffect>
                                    <p:anim calcmode="lin" valueType="num">
                                      <p:cBhvr>
                                        <p:cTn id="45" dur="400" fill="hold"/>
                                        <p:tgtEl>
                                          <p:spTgt spid="13"/>
                                        </p:tgtEl>
                                        <p:attrNameLst>
                                          <p:attrName>ppt_w</p:attrName>
                                        </p:attrNameLst>
                                      </p:cBhvr>
                                      <p:tavLst>
                                        <p:tav tm="0">
                                          <p:val>
                                            <p:strVal val="0"/>
                                          </p:val>
                                        </p:tav>
                                        <p:tav tm="100000">
                                          <p:val>
                                            <p:strVal val="#ppt_w"/>
                                          </p:val>
                                        </p:tav>
                                      </p:tavLst>
                                    </p:anim>
                                    <p:anim calcmode="lin" valueType="num">
                                      <p:cBhvr>
                                        <p:cTn id="46" dur="400" fill="hold"/>
                                        <p:tgtEl>
                                          <p:spTgt spid="13"/>
                                        </p:tgtEl>
                                        <p:attrNameLst>
                                          <p:attrName>ppt_h</p:attrName>
                                        </p:attrNameLst>
                                      </p:cBhvr>
                                      <p:tavLst>
                                        <p:tav tm="0">
                                          <p:val>
                                            <p:strVal val="0"/>
                                          </p:val>
                                        </p:tav>
                                        <p:tav tm="100000">
                                          <p:val>
                                            <p:strVal val="#ppt_h"/>
                                          </p:val>
                                        </p:tav>
                                      </p:tavLst>
                                    </p:anim>
                                  </p:childTnLst>
                                </p:cTn>
                              </p:par>
                              <p:par>
                                <p:cTn id="51" presetID="42"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anim calcmode="lin" valueType="num">
                                      <p:cBhvr>
                                        <p:cTn id="50" dur="450" fill="hold"/>
                                        <p:tgtEl>
                                          <p:spTgt spid="14"/>
                                        </p:tgtEl>
                                        <p:attrNameLst>
                                          <p:attrName>ppt_y</p:attrName>
                                        </p:attrNameLst>
                                      </p:cBhvr>
                                      <p:tavLst>
                                        <p:tav tm="0">
                                          <p:val>
                                            <p:strVal val="#ppt_y+0.05"/>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Three lines of config, one join key</a:t>
            </a:r>
          </a:p>
        </p:txBody>
      </p:sp>
      <p:sp>
        <p:nvSpPr>
          <p:cNvPr id="3" name="TextBox 2"/>
          <p:cNvSpPr txBox="1"/>
          <p:nvPr/>
        </p:nvSpPr>
        <p:spPr>
          <a:xfrm>
            <a:off x="548640" y="1143000"/>
            <a:ext cx="10972800" cy="457200"/>
          </a:xfrm>
          <a:prstGeom prst="rect">
            <a:avLst/>
          </a:prstGeom>
          <a:noFill/>
        </p:spPr>
        <p:txBody>
          <a:bodyPr wrap="square" anchor="t" lIns="45720" rIns="45720" tIns="18288" bIns="18288">
            <a:spAutoFit/>
          </a:bodyPr>
          <a:lstStyle/>
          <a:p>
            <a:pPr algn="l">
              <a:lnSpc>
                <a:spcPct val="110000"/>
              </a:lnSpc>
            </a:pPr>
            <a:r>
              <a:rPr sz="2000" b="0" i="0">
                <a:solidFill>
                  <a:srgbClr val="6B6B76"/>
                </a:solidFill>
                <a:latin typeface="Arial"/>
              </a:rPr>
              <a:t>Each signal carries the pod name, so one dashboard can line them up.</a:t>
            </a:r>
          </a:p>
        </p:txBody>
      </p:sp>
      <p:sp>
        <p:nvSpPr>
          <p:cNvPr id="4" name="Rounded Rectangle 3"/>
          <p:cNvSpPr/>
          <p:nvPr/>
        </p:nvSpPr>
        <p:spPr>
          <a:xfrm>
            <a:off x="548640" y="1783080"/>
            <a:ext cx="6400800" cy="132588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783080"/>
            <a:ext cx="128016" cy="1325880"/>
          </a:xfrm>
          <a:prstGeom prst="rect">
            <a:avLst/>
          </a:prstGeom>
          <a:solidFill>
            <a:srgbClr val="33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65960"/>
            <a:ext cx="2377440" cy="457200"/>
          </a:xfrm>
          <a:prstGeom prst="rect">
            <a:avLst/>
          </a:prstGeom>
          <a:noFill/>
        </p:spPr>
        <p:txBody>
          <a:bodyPr wrap="square" anchor="t" lIns="45720" rIns="45720" tIns="18288" bIns="18288">
            <a:spAutoFit/>
          </a:bodyPr>
          <a:lstStyle/>
          <a:p>
            <a:pPr algn="l">
              <a:lnSpc>
                <a:spcPct val="110000"/>
              </a:lnSpc>
            </a:pPr>
            <a:r>
              <a:rPr sz="2000" b="1" i="0">
                <a:solidFill>
                  <a:srgbClr val="1F1F24"/>
                </a:solidFill>
                <a:latin typeface="Arial"/>
              </a:rPr>
              <a:t>dcgm-exporter</a:t>
            </a:r>
          </a:p>
        </p:txBody>
      </p:sp>
      <p:sp>
        <p:nvSpPr>
          <p:cNvPr id="7" name="TextBox 6"/>
          <p:cNvSpPr txBox="1"/>
          <p:nvPr/>
        </p:nvSpPr>
        <p:spPr>
          <a:xfrm>
            <a:off x="822960" y="2441448"/>
            <a:ext cx="2377440" cy="548640"/>
          </a:xfrm>
          <a:prstGeom prst="rect">
            <a:avLst/>
          </a:prstGeom>
          <a:noFill/>
        </p:spPr>
        <p:txBody>
          <a:bodyPr wrap="square" anchor="t" lIns="45720" rIns="45720" tIns="18288" bIns="18288">
            <a:spAutoFit/>
          </a:bodyPr>
          <a:lstStyle/>
          <a:p>
            <a:pPr algn="l">
              <a:lnSpc>
                <a:spcPct val="110000"/>
              </a:lnSpc>
            </a:pPr>
            <a:r>
              <a:rPr sz="1400" b="0" i="0">
                <a:solidFill>
                  <a:srgbClr val="6B6B76"/>
                </a:solidFill>
                <a:latin typeface="Arial"/>
              </a:rPr>
              <a:t>GPU metrics  →  pod</a:t>
            </a:r>
          </a:p>
        </p:txBody>
      </p:sp>
      <p:sp>
        <p:nvSpPr>
          <p:cNvPr id="8" name="Rounded Rectangle 7"/>
          <p:cNvSpPr/>
          <p:nvPr/>
        </p:nvSpPr>
        <p:spPr>
          <a:xfrm>
            <a:off x="3246120" y="1892807"/>
            <a:ext cx="3566160" cy="1106424"/>
          </a:xfrm>
          <a:prstGeom prst="roundRect">
            <a:avLst>
              <a:gd name="adj" fmla="val 5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1892807"/>
            <a:ext cx="3429000" cy="1106424"/>
          </a:xfrm>
          <a:prstGeom prst="rect">
            <a:avLst/>
          </a:prstGeom>
          <a:noFill/>
        </p:spPr>
        <p:txBody>
          <a:bodyPr wrap="square" anchor="ctr" lIns="45720" rIns="45720" tIns="18288" bIns="18288">
            <a:spAutoFit/>
          </a:bodyPr>
          <a:lstStyle/>
          <a:p>
            <a:pPr algn="l">
              <a:lnSpc>
                <a:spcPct val="100000"/>
              </a:lnSpc>
            </a:pPr>
            <a:r>
              <a:rPr sz="1200" b="0" i="0">
                <a:solidFill>
                  <a:srgbClr val="1F1F24"/>
                </a:solidFill>
                <a:latin typeface="Consolas"/>
              </a:rPr>
              <a:t>--kubernetes=true</a:t>
            </a:r>
          </a:p>
        </p:txBody>
      </p:sp>
      <p:cxnSp>
        <p:nvCxnSpPr>
          <p:cNvPr id="10" name="Connector 9"/>
          <p:cNvCxnSpPr/>
          <p:nvPr/>
        </p:nvCxnSpPr>
        <p:spPr>
          <a:xfrm>
            <a:off x="7040880" y="2446020"/>
            <a:ext cx="1417320" cy="1120139"/>
          </a:xfrm>
          <a:prstGeom prst="line">
            <a:avLst/>
          </a:prstGeom>
          <a:ln w="38100">
            <a:solidFill>
              <a:srgbClr val="33333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3291839"/>
            <a:ext cx="6400800" cy="132588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91839"/>
            <a:ext cx="128016" cy="132588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474720"/>
            <a:ext cx="2377440" cy="457200"/>
          </a:xfrm>
          <a:prstGeom prst="rect">
            <a:avLst/>
          </a:prstGeom>
          <a:noFill/>
        </p:spPr>
        <p:txBody>
          <a:bodyPr wrap="square" anchor="t" lIns="45720" rIns="45720" tIns="18288" bIns="18288">
            <a:spAutoFit/>
          </a:bodyPr>
          <a:lstStyle/>
          <a:p>
            <a:pPr algn="l">
              <a:lnSpc>
                <a:spcPct val="110000"/>
              </a:lnSpc>
            </a:pPr>
            <a:r>
              <a:rPr sz="2000" b="1" i="0">
                <a:solidFill>
                  <a:srgbClr val="1F1F24"/>
                </a:solidFill>
                <a:latin typeface="Arial"/>
              </a:rPr>
              <a:t>Fluent Bit</a:t>
            </a:r>
          </a:p>
        </p:txBody>
      </p:sp>
      <p:sp>
        <p:nvSpPr>
          <p:cNvPr id="14" name="TextBox 13"/>
          <p:cNvSpPr txBox="1"/>
          <p:nvPr/>
        </p:nvSpPr>
        <p:spPr>
          <a:xfrm>
            <a:off x="822960" y="3950207"/>
            <a:ext cx="2377440" cy="548640"/>
          </a:xfrm>
          <a:prstGeom prst="rect">
            <a:avLst/>
          </a:prstGeom>
          <a:noFill/>
        </p:spPr>
        <p:txBody>
          <a:bodyPr wrap="square" anchor="t" lIns="45720" rIns="45720" tIns="18288" bIns="18288">
            <a:spAutoFit/>
          </a:bodyPr>
          <a:lstStyle/>
          <a:p>
            <a:pPr algn="l">
              <a:lnSpc>
                <a:spcPct val="110000"/>
              </a:lnSpc>
            </a:pPr>
            <a:r>
              <a:rPr sz="1400" b="0" i="0">
                <a:solidFill>
                  <a:srgbClr val="6B6B76"/>
                </a:solidFill>
                <a:latin typeface="Arial"/>
              </a:rPr>
              <a:t>vLLM log  →  KV cache %</a:t>
            </a:r>
          </a:p>
        </p:txBody>
      </p:sp>
      <p:sp>
        <p:nvSpPr>
          <p:cNvPr id="15" name="Rounded Rectangle 14"/>
          <p:cNvSpPr/>
          <p:nvPr/>
        </p:nvSpPr>
        <p:spPr>
          <a:xfrm>
            <a:off x="3246120" y="3401568"/>
            <a:ext cx="3566160" cy="1106424"/>
          </a:xfrm>
          <a:prstGeom prst="roundRect">
            <a:avLst>
              <a:gd name="adj" fmla="val 5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3401568"/>
            <a:ext cx="3429000" cy="1106424"/>
          </a:xfrm>
          <a:prstGeom prst="rect">
            <a:avLst/>
          </a:prstGeom>
          <a:noFill/>
        </p:spPr>
        <p:txBody>
          <a:bodyPr wrap="square" anchor="ctr" lIns="45720" rIns="45720" tIns="18288" bIns="18288">
            <a:spAutoFit/>
          </a:bodyPr>
          <a:lstStyle/>
          <a:p>
            <a:pPr algn="l">
              <a:lnSpc>
                <a:spcPct val="100000"/>
              </a:lnSpc>
            </a:pPr>
            <a:r>
              <a:rPr sz="1200" b="0" i="0">
                <a:solidFill>
                  <a:srgbClr val="1F1F24"/>
                </a:solidFill>
                <a:latin typeface="Consolas"/>
              </a:rPr>
              <a:t>string.match(line,</a:t>
            </a:r>
          </a:p>
          <a:p>
            <a:pPr algn="l">
              <a:lnSpc>
                <a:spcPct val="100000"/>
              </a:lnSpc>
            </a:pPr>
            <a:r>
              <a:rPr sz="1200" b="0" i="0">
                <a:solidFill>
                  <a:srgbClr val="1F1F24"/>
                </a:solidFill>
                <a:latin typeface="Consolas"/>
              </a:rPr>
              <a:t>  "KV cache usage:%s*([%d%.]+)%%")</a:t>
            </a:r>
          </a:p>
        </p:txBody>
      </p:sp>
      <p:cxnSp>
        <p:nvCxnSpPr>
          <p:cNvPr id="17" name="Connector 16"/>
          <p:cNvCxnSpPr/>
          <p:nvPr/>
        </p:nvCxnSpPr>
        <p:spPr>
          <a:xfrm>
            <a:off x="7040880" y="3954779"/>
            <a:ext cx="1417320" cy="22860"/>
          </a:xfrm>
          <a:prstGeom prst="line">
            <a:avLst/>
          </a:prstGeom>
          <a:ln w="38100">
            <a:solidFill>
              <a:srgbClr val="E887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4800600"/>
            <a:ext cx="6400800" cy="132588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800600"/>
            <a:ext cx="128016" cy="1325880"/>
          </a:xfrm>
          <a:prstGeom prst="rect">
            <a:avLst/>
          </a:prstGeom>
          <a:solidFill>
            <a:srgbClr val="7B4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983480"/>
            <a:ext cx="2377440" cy="457200"/>
          </a:xfrm>
          <a:prstGeom prst="rect">
            <a:avLst/>
          </a:prstGeom>
          <a:noFill/>
        </p:spPr>
        <p:txBody>
          <a:bodyPr wrap="square" anchor="t" lIns="45720" rIns="45720" tIns="18288" bIns="18288">
            <a:spAutoFit/>
          </a:bodyPr>
          <a:lstStyle/>
          <a:p>
            <a:pPr algn="l">
              <a:lnSpc>
                <a:spcPct val="110000"/>
              </a:lnSpc>
            </a:pPr>
            <a:r>
              <a:rPr sz="2000" b="1" i="0">
                <a:solidFill>
                  <a:srgbClr val="1F1F24"/>
                </a:solidFill>
                <a:latin typeface="Arial"/>
              </a:rPr>
              <a:t>OTel Collector</a:t>
            </a:r>
          </a:p>
        </p:txBody>
      </p:sp>
      <p:sp>
        <p:nvSpPr>
          <p:cNvPr id="21" name="TextBox 20"/>
          <p:cNvSpPr txBox="1"/>
          <p:nvPr/>
        </p:nvSpPr>
        <p:spPr>
          <a:xfrm>
            <a:off x="822960" y="5458968"/>
            <a:ext cx="2377440" cy="548640"/>
          </a:xfrm>
          <a:prstGeom prst="rect">
            <a:avLst/>
          </a:prstGeom>
          <a:noFill/>
        </p:spPr>
        <p:txBody>
          <a:bodyPr wrap="square" anchor="t" lIns="45720" rIns="45720" tIns="18288" bIns="18288">
            <a:spAutoFit/>
          </a:bodyPr>
          <a:lstStyle/>
          <a:p>
            <a:pPr algn="l">
              <a:lnSpc>
                <a:spcPct val="110000"/>
              </a:lnSpc>
            </a:pPr>
            <a:r>
              <a:rPr sz="1400" b="0" i="0">
                <a:solidFill>
                  <a:srgbClr val="6B6B76"/>
                </a:solidFill>
                <a:latin typeface="Arial"/>
              </a:rPr>
              <a:t>traces  →  pod</a:t>
            </a:r>
          </a:p>
        </p:txBody>
      </p:sp>
      <p:sp>
        <p:nvSpPr>
          <p:cNvPr id="22" name="Rounded Rectangle 21"/>
          <p:cNvSpPr/>
          <p:nvPr/>
        </p:nvSpPr>
        <p:spPr>
          <a:xfrm>
            <a:off x="3246120" y="4910328"/>
            <a:ext cx="3566160" cy="1106424"/>
          </a:xfrm>
          <a:prstGeom prst="roundRect">
            <a:avLst>
              <a:gd name="adj" fmla="val 5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60" y="4910328"/>
            <a:ext cx="3429000" cy="1106424"/>
          </a:xfrm>
          <a:prstGeom prst="rect">
            <a:avLst/>
          </a:prstGeom>
          <a:noFill/>
        </p:spPr>
        <p:txBody>
          <a:bodyPr wrap="square" anchor="ctr" lIns="45720" rIns="45720" tIns="18288" bIns="18288">
            <a:spAutoFit/>
          </a:bodyPr>
          <a:lstStyle/>
          <a:p>
            <a:pPr algn="l">
              <a:lnSpc>
                <a:spcPct val="100000"/>
              </a:lnSpc>
            </a:pPr>
            <a:r>
              <a:rPr sz="1200" b="0" i="0">
                <a:solidFill>
                  <a:srgbClr val="1F1F24"/>
                </a:solidFill>
                <a:latin typeface="Consolas"/>
              </a:rPr>
              <a:t>k8sattributes:</a:t>
            </a:r>
          </a:p>
          <a:p>
            <a:pPr algn="l">
              <a:lnSpc>
                <a:spcPct val="100000"/>
              </a:lnSpc>
            </a:pPr>
            <a:r>
              <a:rPr sz="1200" b="0" i="0">
                <a:solidFill>
                  <a:srgbClr val="1F1F24"/>
                </a:solidFill>
                <a:latin typeface="Consolas"/>
              </a:rPr>
              <a:t>  extract:</a:t>
            </a:r>
          </a:p>
          <a:p>
            <a:pPr algn="l">
              <a:lnSpc>
                <a:spcPct val="100000"/>
              </a:lnSpc>
            </a:pPr>
            <a:r>
              <a:rPr sz="1200" b="0" i="0">
                <a:solidFill>
                  <a:srgbClr val="1F1F24"/>
                </a:solidFill>
                <a:latin typeface="Consolas"/>
              </a:rPr>
              <a:t>    metadata: [k8s.pod.name]</a:t>
            </a:r>
          </a:p>
        </p:txBody>
      </p:sp>
      <p:cxnSp>
        <p:nvCxnSpPr>
          <p:cNvPr id="24" name="Connector 23"/>
          <p:cNvCxnSpPr/>
          <p:nvPr/>
        </p:nvCxnSpPr>
        <p:spPr>
          <a:xfrm flipV="1">
            <a:off x="7040880" y="4389120"/>
            <a:ext cx="1417320" cy="1074420"/>
          </a:xfrm>
          <a:prstGeom prst="line">
            <a:avLst/>
          </a:prstGeom>
          <a:ln w="38100">
            <a:solidFill>
              <a:srgbClr val="7B4F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503920" y="3063239"/>
            <a:ext cx="1828800" cy="1828800"/>
          </a:xfrm>
          <a:prstGeom prst="ellipse">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3520439"/>
            <a:ext cx="1828800" cy="502920"/>
          </a:xfrm>
          <a:prstGeom prst="rect">
            <a:avLst/>
          </a:prstGeom>
          <a:noFill/>
        </p:spPr>
        <p:txBody>
          <a:bodyPr wrap="square" anchor="ctr" lIns="45720" rIns="45720" tIns="18288" bIns="18288">
            <a:spAutoFit/>
          </a:bodyPr>
          <a:lstStyle/>
          <a:p>
            <a:pPr algn="ctr">
              <a:lnSpc>
                <a:spcPct val="110000"/>
              </a:lnSpc>
            </a:pPr>
            <a:r>
              <a:rPr sz="2200" b="1" i="0">
                <a:solidFill>
                  <a:srgbClr val="FFFFFF"/>
                </a:solidFill>
                <a:latin typeface="Arial"/>
              </a:rPr>
              <a:t>pod name</a:t>
            </a:r>
          </a:p>
        </p:txBody>
      </p:sp>
      <p:sp>
        <p:nvSpPr>
          <p:cNvPr id="27" name="TextBox 26"/>
          <p:cNvSpPr txBox="1"/>
          <p:nvPr/>
        </p:nvSpPr>
        <p:spPr>
          <a:xfrm>
            <a:off x="8503920" y="4023359"/>
            <a:ext cx="1828800" cy="365760"/>
          </a:xfrm>
          <a:prstGeom prst="rect">
            <a:avLst/>
          </a:prstGeom>
          <a:noFill/>
        </p:spPr>
        <p:txBody>
          <a:bodyPr wrap="square" anchor="t" lIns="45720" rIns="45720" tIns="18288" bIns="18288">
            <a:spAutoFit/>
          </a:bodyPr>
          <a:lstStyle/>
          <a:p>
            <a:pPr algn="ctr">
              <a:lnSpc>
                <a:spcPct val="110000"/>
              </a:lnSpc>
            </a:pPr>
            <a:r>
              <a:rPr sz="1200" b="0" i="0">
                <a:solidFill>
                  <a:srgbClr val="FFFFFF"/>
                </a:solidFill>
                <a:latin typeface="Consolas"/>
              </a:rPr>
              <a:t>k8s.pod.name</a:t>
            </a:r>
          </a:p>
        </p:txBody>
      </p:sp>
      <p:sp>
        <p:nvSpPr>
          <p:cNvPr id="28" name="TextBox 27"/>
          <p:cNvSpPr txBox="1"/>
          <p:nvPr/>
        </p:nvSpPr>
        <p:spPr>
          <a:xfrm>
            <a:off x="7955279" y="5029200"/>
            <a:ext cx="2926080" cy="914400"/>
          </a:xfrm>
          <a:prstGeom prst="rect">
            <a:avLst/>
          </a:prstGeom>
          <a:noFill/>
        </p:spPr>
        <p:txBody>
          <a:bodyPr wrap="square" anchor="t" lIns="45720" rIns="45720" tIns="18288" bIns="18288">
            <a:spAutoFit/>
          </a:bodyPr>
          <a:lstStyle/>
          <a:p>
            <a:pPr algn="ctr">
              <a:lnSpc>
                <a:spcPct val="110000"/>
              </a:lnSpc>
            </a:pPr>
            <a:r>
              <a:rPr sz="1500" b="0" i="0">
                <a:solidFill>
                  <a:srgbClr val="1F1F24"/>
                </a:solidFill>
                <a:latin typeface="Arial"/>
              </a:rPr>
              <a:t>GPU, log and trace for the same pod, on one screen</a:t>
            </a:r>
          </a:p>
        </p:txBody>
      </p:sp>
      <p:sp>
        <p:nvSpPr>
          <p:cNvPr id="29" name="TextBox 28"/>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Tested: dcgm-exporter 4.8.4, Fluent Bit 5.1.3, OTel Collector contrib 0.111.0. vLLM also exports KV cache % on /metrics; the log path works for servers that only log it.</a:t>
            </a:r>
          </a:p>
        </p:txBody>
      </p:sp>
      <p:sp>
        <p:nvSpPr>
          <p:cNvPr id="112" name="TextBox 111"/>
          <p:cNvSpPr txBox="1"/>
          <p:nvPr/>
        </p:nvSpPr>
        <p:spPr>
          <a:xfrm>
            <a:off x="11109960" y="6327648"/>
            <a:ext cx="685800" cy="365760"/>
          </a:xfrm>
          <a:prstGeom prst="rect">
            <a:avLst/>
          </a:prstGeom>
          <a:noFill/>
        </p:spPr>
        <p:txBody>
          <a:bodyPr wrap="none" rIns="18288">
            <a:spAutoFit/>
          </a:bodyPr>
          <a:lstStyle/>
          <a:p>
            <a:pPr algn="r"/>
            <a:fld id="{B6F15528-21DE-4FAA-801E-634DDDAF4B10}" type="slidenum">
              <a:rPr lang="en-US" sz="1200" b="1">
                <a:solidFill>
                  <a:srgbClr val="991346"/>
                </a:solidFill>
                <a:latin typeface="Aria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3" dur="450"/>
                                        <p:tgtEl>
                                          <p:spTgt spid="4"/>
                                        </p:tgtEl>
                                      </p:cBhvr>
                                    </p:animEffect>
                                    <p:anim calcmode="lin" valueType="num">
                                      <p:cBhvr>
                                        <p:cTn id="4" dur="450" fill="hold"/>
                                        <p:tgtEl>
                                          <p:spTgt spid="4"/>
                                        </p:tgtEl>
                                        <p:attrNameLst>
                                          <p:attrName>ppt_y</p:attrName>
                                        </p:attrNameLst>
                                      </p:cBhvr>
                                      <p:tavLst>
                                        <p:tav tm="0">
                                          <p:val>
                                            <p:strVal val="#ppt_y+0.05"/>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p:cTn id="8" dur="450" fill="hold"/>
                                        <p:tgtEl>
                                          <p:spTgt spid="5"/>
                                        </p:tgtEl>
                                        <p:attrNameLst>
                                          <p:attrName>ppt_y</p:attrName>
                                        </p:attrNameLst>
                                      </p:cBhvr>
                                      <p:tavLst>
                                        <p:tav tm="0">
                                          <p:val>
                                            <p:strVal val="#ppt_y+0.05"/>
                                          </p:val>
                                        </p:tav>
                                        <p:tav tm="100000">
                                          <p:val>
                                            <p:strVal val="#ppt_y"/>
                                          </p:val>
                                        </p:tav>
                                      </p:tavLst>
                                    </p:anim>
                                  </p:childTnLst>
                                </p:cTn>
                              </p:par>
                              <p:par>
                                <p:cTn id="13" presetID="42"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anim calcmode="lin" valueType="num">
                                      <p:cBhvr>
                                        <p:cTn id="12" dur="450" fill="hold"/>
                                        <p:tgtEl>
                                          <p:spTgt spid="6"/>
                                        </p:tgtEl>
                                        <p:attrNameLst>
                                          <p:attrName>ppt_y</p:attrName>
                                        </p:attrNameLst>
                                      </p:cBhvr>
                                      <p:tavLst>
                                        <p:tav tm="0">
                                          <p:val>
                                            <p:strVal val="#ppt_y+0.05"/>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5" dur="450"/>
                                        <p:tgtEl>
                                          <p:spTgt spid="7"/>
                                        </p:tgtEl>
                                      </p:cBhvr>
                                    </p:animEffect>
                                    <p:anim calcmode="lin" valueType="num">
                                      <p:cBhvr>
                                        <p:cTn id="16" dur="450" fill="hold"/>
                                        <p:tgtEl>
                                          <p:spTgt spid="7"/>
                                        </p:tgtEl>
                                        <p:attrNameLst>
                                          <p:attrName>ppt_y</p:attrName>
                                        </p:attrNameLst>
                                      </p:cBhvr>
                                      <p:tavLst>
                                        <p:tav tm="0">
                                          <p:val>
                                            <p:strVal val="#ppt_y+0.05"/>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anim calcmode="lin" valueType="num">
                                      <p:cBhvr>
                                        <p:cTn id="20" dur="450" fill="hold"/>
                                        <p:tgtEl>
                                          <p:spTgt spid="8"/>
                                        </p:tgtEl>
                                        <p:attrNameLst>
                                          <p:attrName>ppt_y</p:attrName>
                                        </p:attrNameLst>
                                      </p:cBhvr>
                                      <p:tavLst>
                                        <p:tav tm="0">
                                          <p:val>
                                            <p:strVal val="#ppt_y+0.05"/>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anim calcmode="lin" valueType="num">
                                      <p:cBhvr>
                                        <p:cTn id="24" dur="450" fill="hold"/>
                                        <p:tgtEl>
                                          <p:spTgt spid="9"/>
                                        </p:tgtEl>
                                        <p:attrNameLst>
                                          <p:attrName>ppt_y</p:attrName>
                                        </p:attrNameLst>
                                      </p:cBhvr>
                                      <p:tavLst>
                                        <p:tav tm="0">
                                          <p:val>
                                            <p:strVal val="#ppt_y+0.05"/>
                                          </p:val>
                                        </p:tav>
                                        <p:tav tm="100000">
                                          <p:val>
                                            <p:strVal val="#ppt_y"/>
                                          </p:val>
                                        </p:tav>
                                      </p:tavLst>
                                    </p:anim>
                                  </p:childTnLst>
                                </p:cTn>
                              </p:par>
                              <p:par>
                                <p:cTn id="28" presetID="22" presetClass="entr" presetSubtype="8"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27" dur="600"/>
                                        <p:tgtEl>
                                          <p:spTgt spid="10"/>
                                        </p:tgtEl>
                                      </p:cBhvr>
                                    </p:animEffect>
                                  </p:childTnLst>
                                </p:cTn>
                              </p:par>
                            </p:childTnLst>
                          </p:cTn>
                        </p:par>
                      </p:childTnLst>
                    </p:cTn>
                  </p:par>
                  <p:par>
                    <p:cTn id="59" fill="hold">
                      <p:stCondLst>
                        <p:cond delay="indefinite"/>
                      </p:stCondLst>
                      <p:childTnLst>
                        <p:par>
                          <p:cTn id="60"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anim calcmode="lin" valueType="num">
                                      <p:cBhvr>
                                        <p:cTn id="33" dur="450" fill="hold"/>
                                        <p:tgtEl>
                                          <p:spTgt spid="11"/>
                                        </p:tgtEl>
                                        <p:attrNameLst>
                                          <p:attrName>ppt_y</p:attrName>
                                        </p:attrNameLst>
                                      </p:cBhvr>
                                      <p:tavLst>
                                        <p:tav tm="0">
                                          <p:val>
                                            <p:strVal val="#ppt_y+0.05"/>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anim calcmode="lin" valueType="num">
                                      <p:cBhvr>
                                        <p:cTn id="37" dur="450" fill="hold"/>
                                        <p:tgtEl>
                                          <p:spTgt spid="12"/>
                                        </p:tgtEl>
                                        <p:attrNameLst>
                                          <p:attrName>ppt_y</p:attrName>
                                        </p:attrNameLst>
                                      </p:cBhvr>
                                      <p:tavLst>
                                        <p:tav tm="0">
                                          <p:val>
                                            <p:strVal val="#ppt_y+0.05"/>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anim calcmode="lin" valueType="num">
                                      <p:cBhvr>
                                        <p:cTn id="41" dur="450" fill="hold"/>
                                        <p:tgtEl>
                                          <p:spTgt spid="13"/>
                                        </p:tgtEl>
                                        <p:attrNameLst>
                                          <p:attrName>ppt_y</p:attrName>
                                        </p:attrNameLst>
                                      </p:cBhvr>
                                      <p:tavLst>
                                        <p:tav tm="0">
                                          <p:val>
                                            <p:strVal val="#ppt_y+0.05"/>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4" dur="450"/>
                                        <p:tgtEl>
                                          <p:spTgt spid="14"/>
                                        </p:tgtEl>
                                      </p:cBhvr>
                                    </p:animEffect>
                                    <p:anim calcmode="lin" valueType="num">
                                      <p:cBhvr>
                                        <p:cTn id="45" dur="450" fill="hold"/>
                                        <p:tgtEl>
                                          <p:spTgt spid="14"/>
                                        </p:tgtEl>
                                        <p:attrNameLst>
                                          <p:attrName>ppt_y</p:attrName>
                                        </p:attrNameLst>
                                      </p:cBhvr>
                                      <p:tavLst>
                                        <p:tav tm="0">
                                          <p:val>
                                            <p:strVal val="#ppt_y+0.05"/>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48" dur="450"/>
                                        <p:tgtEl>
                                          <p:spTgt spid="15"/>
                                        </p:tgtEl>
                                      </p:cBhvr>
                                    </p:animEffect>
                                    <p:anim calcmode="lin" valueType="num">
                                      <p:cBhvr>
                                        <p:cTn id="49" dur="450" fill="hold"/>
                                        <p:tgtEl>
                                          <p:spTgt spid="15"/>
                                        </p:tgtEl>
                                        <p:attrNameLst>
                                          <p:attrName>ppt_y</p:attrName>
                                        </p:attrNameLst>
                                      </p:cBhvr>
                                      <p:tavLst>
                                        <p:tav tm="0">
                                          <p:val>
                                            <p:strVal val="#ppt_y+0.05"/>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2" dur="450"/>
                                        <p:tgtEl>
                                          <p:spTgt spid="16"/>
                                        </p:tgtEl>
                                      </p:cBhvr>
                                    </p:animEffect>
                                    <p:anim calcmode="lin" valueType="num">
                                      <p:cBhvr>
                                        <p:cTn id="53" dur="450" fill="hold"/>
                                        <p:tgtEl>
                                          <p:spTgt spid="16"/>
                                        </p:tgtEl>
                                        <p:attrNameLst>
                                          <p:attrName>ppt_y</p:attrName>
                                        </p:attrNameLst>
                                      </p:cBhvr>
                                      <p:tavLst>
                                        <p:tav tm="0">
                                          <p:val>
                                            <p:strVal val="#ppt_y+0.05"/>
                                          </p:val>
                                        </p:tav>
                                        <p:tav tm="100000">
                                          <p:val>
                                            <p:strVal val="#ppt_y"/>
                                          </p:val>
                                        </p:tav>
                                      </p:tavLst>
                                    </p:anim>
                                  </p:childTnLst>
                                </p:cTn>
                              </p:par>
                              <p:par>
                                <p:cTn id="57" presetID="22" presetClass="entr" presetSubtype="8"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left)">
                                      <p:cBhvr>
                                        <p:cTn id="56" dur="600"/>
                                        <p:tgtEl>
                                          <p:spTgt spid="17"/>
                                        </p:tgtEl>
                                      </p:cBhvr>
                                    </p:animEffect>
                                  </p:childTnLst>
                                </p:cTn>
                              </p:par>
                            </p:childTnLst>
                          </p:cTn>
                        </p:par>
                      </p:childTnLst>
                    </p:cTn>
                  </p:par>
                  <p:par>
                    <p:cTn id="88" fill="hold">
                      <p:stCondLst>
                        <p:cond delay="indefinite"/>
                      </p:stCondLst>
                      <p:childTnLst>
                        <p:par>
                          <p:cTn id="89"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anim calcmode="lin" valueType="num">
                                      <p:cBhvr>
                                        <p:cTn id="62" dur="450" fill="hold"/>
                                        <p:tgtEl>
                                          <p:spTgt spid="18"/>
                                        </p:tgtEl>
                                        <p:attrNameLst>
                                          <p:attrName>ppt_y</p:attrName>
                                        </p:attrNameLst>
                                      </p:cBhvr>
                                      <p:tavLst>
                                        <p:tav tm="0">
                                          <p:val>
                                            <p:strVal val="#ppt_y+0.05"/>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5" dur="450"/>
                                        <p:tgtEl>
                                          <p:spTgt spid="19"/>
                                        </p:tgtEl>
                                      </p:cBhvr>
                                    </p:animEffect>
                                    <p:anim calcmode="lin" valueType="num">
                                      <p:cBhvr>
                                        <p:cTn id="66" dur="450" fill="hold"/>
                                        <p:tgtEl>
                                          <p:spTgt spid="19"/>
                                        </p:tgtEl>
                                        <p:attrNameLst>
                                          <p:attrName>ppt_y</p:attrName>
                                        </p:attrNameLst>
                                      </p:cBhvr>
                                      <p:tavLst>
                                        <p:tav tm="0">
                                          <p:val>
                                            <p:strVal val="#ppt_y+0.05"/>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69" dur="450"/>
                                        <p:tgtEl>
                                          <p:spTgt spid="20"/>
                                        </p:tgtEl>
                                      </p:cBhvr>
                                    </p:animEffect>
                                    <p:anim calcmode="lin" valueType="num">
                                      <p:cBhvr>
                                        <p:cTn id="70" dur="450" fill="hold"/>
                                        <p:tgtEl>
                                          <p:spTgt spid="20"/>
                                        </p:tgtEl>
                                        <p:attrNameLst>
                                          <p:attrName>ppt_y</p:attrName>
                                        </p:attrNameLst>
                                      </p:cBhvr>
                                      <p:tavLst>
                                        <p:tav tm="0">
                                          <p:val>
                                            <p:strVal val="#ppt_y+0.05"/>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3" dur="450"/>
                                        <p:tgtEl>
                                          <p:spTgt spid="21"/>
                                        </p:tgtEl>
                                      </p:cBhvr>
                                    </p:animEffect>
                                    <p:anim calcmode="lin" valueType="num">
                                      <p:cBhvr>
                                        <p:cTn id="74" dur="450" fill="hold"/>
                                        <p:tgtEl>
                                          <p:spTgt spid="21"/>
                                        </p:tgtEl>
                                        <p:attrNameLst>
                                          <p:attrName>ppt_y</p:attrName>
                                        </p:attrNameLst>
                                      </p:cBhvr>
                                      <p:tavLst>
                                        <p:tav tm="0">
                                          <p:val>
                                            <p:strVal val="#ppt_y+0.05"/>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fade">
                                      <p:cBhvr>
                                        <p:cTn id="77" dur="450"/>
                                        <p:tgtEl>
                                          <p:spTgt spid="22"/>
                                        </p:tgtEl>
                                      </p:cBhvr>
                                    </p:animEffect>
                                    <p:anim calcmode="lin" valueType="num">
                                      <p:cBhvr>
                                        <p:cTn id="78" dur="450" fill="hold"/>
                                        <p:tgtEl>
                                          <p:spTgt spid="22"/>
                                        </p:tgtEl>
                                        <p:attrNameLst>
                                          <p:attrName>ppt_y</p:attrName>
                                        </p:attrNameLst>
                                      </p:cBhvr>
                                      <p:tavLst>
                                        <p:tav tm="0">
                                          <p:val>
                                            <p:strVal val="#ppt_y+0.05"/>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1" dur="450"/>
                                        <p:tgtEl>
                                          <p:spTgt spid="23"/>
                                        </p:tgtEl>
                                      </p:cBhvr>
                                    </p:animEffect>
                                    <p:anim calcmode="lin" valueType="num">
                                      <p:cBhvr>
                                        <p:cTn id="82" dur="450" fill="hold"/>
                                        <p:tgtEl>
                                          <p:spTgt spid="23"/>
                                        </p:tgtEl>
                                        <p:attrNameLst>
                                          <p:attrName>ppt_y</p:attrName>
                                        </p:attrNameLst>
                                      </p:cBhvr>
                                      <p:tavLst>
                                        <p:tav tm="0">
                                          <p:val>
                                            <p:strVal val="#ppt_y+0.05"/>
                                          </p:val>
                                        </p:tav>
                                        <p:tav tm="100000">
                                          <p:val>
                                            <p:strVal val="#ppt_y"/>
                                          </p:val>
                                        </p:tav>
                                      </p:tavLst>
                                    </p:anim>
                                  </p:childTnLst>
                                </p:cTn>
                              </p:par>
                              <p:par>
                                <p:cTn id="86" presetID="22" presetClass="entr" presetSubtype="8" fill="hold" nodeType="with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ipe(left)">
                                      <p:cBhvr>
                                        <p:cTn id="85" dur="600"/>
                                        <p:tgtEl>
                                          <p:spTgt spid="24"/>
                                        </p:tgtEl>
                                      </p:cBhvr>
                                    </p:animEffect>
                                  </p:childTnLst>
                                </p:cTn>
                              </p:par>
                            </p:childTnLst>
                          </p:cTn>
                        </p:par>
                      </p:childTnLst>
                    </p:cTn>
                  </p:par>
                  <p:par>
                    <p:cTn id="105" fill="hold">
                      <p:stCondLst>
                        <p:cond delay="indefinite"/>
                      </p:stCondLst>
                      <p:childTnLst>
                        <p:par>
                          <p:cTn id="106" fill="hold">
                            <p:stCondLst>
                              <p:cond delay="0"/>
                            </p:stCondLst>
                            <p:childTnLst>
                              <p:par>
                                <p:cTn id="93" presetID="53" presetClass="entr" presetSubtype="16" fill="hold"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fade">
                                      <p:cBhvr>
                                        <p:cTn id="90" dur="450"/>
                                        <p:tgtEl>
                                          <p:spTgt spid="25"/>
                                        </p:tgtEl>
                                      </p:cBhvr>
                                    </p:animEffect>
                                    <p:anim calcmode="lin" valueType="num">
                                      <p:cBhvr>
                                        <p:cTn id="91" dur="450" fill="hold"/>
                                        <p:tgtEl>
                                          <p:spTgt spid="25"/>
                                        </p:tgtEl>
                                        <p:attrNameLst>
                                          <p:attrName>ppt_w</p:attrName>
                                        </p:attrNameLst>
                                      </p:cBhvr>
                                      <p:tavLst>
                                        <p:tav tm="0">
                                          <p:val>
                                            <p:strVal val="0"/>
                                          </p:val>
                                        </p:tav>
                                        <p:tav tm="100000">
                                          <p:val>
                                            <p:strVal val="#ppt_w"/>
                                          </p:val>
                                        </p:tav>
                                      </p:tavLst>
                                    </p:anim>
                                    <p:anim calcmode="lin" valueType="num">
                                      <p:cBhvr>
                                        <p:cTn id="92" dur="450" fill="hold"/>
                                        <p:tgtEl>
                                          <p:spTgt spid="25"/>
                                        </p:tgtEl>
                                        <p:attrNameLst>
                                          <p:attrName>ppt_h</p:attrName>
                                        </p:attrNameLst>
                                      </p:cBhvr>
                                      <p:tavLst>
                                        <p:tav tm="0">
                                          <p:val>
                                            <p:strVal val="0"/>
                                          </p:val>
                                        </p:tav>
                                        <p:tav tm="100000">
                                          <p:val>
                                            <p:strVal val="#ppt_h"/>
                                          </p:val>
                                        </p:tav>
                                      </p:tavLst>
                                    </p:anim>
                                  </p:childTnLst>
                                </p:cTn>
                              </p:par>
                              <p:par>
                                <p:cTn id="98" presetID="53" presetClass="entr" presetSubtype="16" fill="hold" nodeType="with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fade">
                                      <p:cBhvr>
                                        <p:cTn id="95" dur="450"/>
                                        <p:tgtEl>
                                          <p:spTgt spid="26"/>
                                        </p:tgtEl>
                                      </p:cBhvr>
                                    </p:animEffect>
                                    <p:anim calcmode="lin" valueType="num">
                                      <p:cBhvr>
                                        <p:cTn id="96" dur="450" fill="hold"/>
                                        <p:tgtEl>
                                          <p:spTgt spid="26"/>
                                        </p:tgtEl>
                                        <p:attrNameLst>
                                          <p:attrName>ppt_w</p:attrName>
                                        </p:attrNameLst>
                                      </p:cBhvr>
                                      <p:tavLst>
                                        <p:tav tm="0">
                                          <p:val>
                                            <p:strVal val="0"/>
                                          </p:val>
                                        </p:tav>
                                        <p:tav tm="100000">
                                          <p:val>
                                            <p:strVal val="#ppt_w"/>
                                          </p:val>
                                        </p:tav>
                                      </p:tavLst>
                                    </p:anim>
                                    <p:anim calcmode="lin" valueType="num">
                                      <p:cBhvr>
                                        <p:cTn id="97" dur="450" fill="hold"/>
                                        <p:tgtEl>
                                          <p:spTgt spid="26"/>
                                        </p:tgtEl>
                                        <p:attrNameLst>
                                          <p:attrName>ppt_h</p:attrName>
                                        </p:attrNameLst>
                                      </p:cBhvr>
                                      <p:tavLst>
                                        <p:tav tm="0">
                                          <p:val>
                                            <p:strVal val="0"/>
                                          </p:val>
                                        </p:tav>
                                        <p:tav tm="100000">
                                          <p:val>
                                            <p:strVal val="#ppt_h"/>
                                          </p:val>
                                        </p:tav>
                                      </p:tavLst>
                                    </p:anim>
                                  </p:childTnLst>
                                </p:cTn>
                              </p:par>
                              <p:par>
                                <p:cTn id="103" presetID="53" presetClass="entr" presetSubtype="16" fill="hold" nodeType="with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0" dur="450"/>
                                        <p:tgtEl>
                                          <p:spTgt spid="27"/>
                                        </p:tgtEl>
                                      </p:cBhvr>
                                    </p:animEffect>
                                    <p:anim calcmode="lin" valueType="num">
                                      <p:cBhvr>
                                        <p:cTn id="101" dur="450" fill="hold"/>
                                        <p:tgtEl>
                                          <p:spTgt spid="27"/>
                                        </p:tgtEl>
                                        <p:attrNameLst>
                                          <p:attrName>ppt_w</p:attrName>
                                        </p:attrNameLst>
                                      </p:cBhvr>
                                      <p:tavLst>
                                        <p:tav tm="0">
                                          <p:val>
                                            <p:strVal val="0"/>
                                          </p:val>
                                        </p:tav>
                                        <p:tav tm="100000">
                                          <p:val>
                                            <p:strVal val="#ppt_w"/>
                                          </p:val>
                                        </p:tav>
                                      </p:tavLst>
                                    </p:anim>
                                    <p:anim calcmode="lin" valueType="num">
                                      <p:cBhvr>
                                        <p:cTn id="102" dur="450" fill="hold"/>
                                        <p:tgtEl>
                                          <p:spTgt spid="27"/>
                                        </p:tgtEl>
                                        <p:attrNameLst>
                                          <p:attrName>ppt_h</p:attrName>
                                        </p:attrNameLst>
                                      </p:cBhvr>
                                      <p:tavLst>
                                        <p:tav tm="0">
                                          <p:val>
                                            <p:strVal val="0"/>
                                          </p:val>
                                        </p:tav>
                                        <p:tav tm="100000">
                                          <p:val>
                                            <p:strVal val="#ppt_h"/>
                                          </p:val>
                                        </p:tav>
                                      </p:tavLst>
                                    </p:anim>
                                  </p:childTnLst>
                                </p:cTn>
                              </p:par>
                            </p:childTnLst>
                          </p:cTn>
                        </p:par>
                      </p:childTnLst>
                    </p:cTn>
                  </p:par>
                  <p:par>
                    <p:cTn id="110" fill="hold">
                      <p:stCondLst>
                        <p:cond delay="indefinite"/>
                      </p:stCondLst>
                      <p:childTnLst>
                        <p:par>
                          <p:cTn id="111" fill="hold">
                            <p:stCondLst>
                              <p:cond delay="0"/>
                            </p:stCondLst>
                            <p:childTnLst>
                              <p:par>
                                <p:cTn id="108" presetID="10" presetClass="entr" presetSubtype="0" fill="hold" nodeType="after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07"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Size it from peak KV cache</a:t>
            </a:r>
          </a:p>
        </p:txBody>
      </p:sp>
      <p:sp>
        <p:nvSpPr>
          <p:cNvPr id="3" name="TextBox 2"/>
          <p:cNvSpPr txBox="1"/>
          <p:nvPr/>
        </p:nvSpPr>
        <p:spPr>
          <a:xfrm>
            <a:off x="548640" y="1143000"/>
            <a:ext cx="10972800" cy="457200"/>
          </a:xfrm>
          <a:prstGeom prst="rect">
            <a:avLst/>
          </a:prstGeom>
          <a:noFill/>
        </p:spPr>
        <p:txBody>
          <a:bodyPr wrap="square" anchor="t" lIns="45720" rIns="45720" tIns="18288" bIns="18288">
            <a:spAutoFit/>
          </a:bodyPr>
          <a:lstStyle/>
          <a:p>
            <a:pPr algn="l">
              <a:lnSpc>
                <a:spcPct val="110000"/>
              </a:lnSpc>
            </a:pPr>
            <a:r>
              <a:rPr sz="2000" b="0" i="0">
                <a:solidFill>
                  <a:srgbClr val="6B6B76"/>
                </a:solidFill>
                <a:latin typeface="Arial"/>
              </a:rPr>
              <a:t>Peak KV cache usage, under your own traffic</a:t>
            </a:r>
          </a:p>
        </p:txBody>
      </p:sp>
      <p:sp>
        <p:nvSpPr>
          <p:cNvPr id="4" name="Rectangle 3"/>
          <p:cNvSpPr/>
          <p:nvPr/>
        </p:nvSpPr>
        <p:spPr>
          <a:xfrm>
            <a:off x="548640" y="2514600"/>
            <a:ext cx="4425696" cy="777240"/>
          </a:xfrm>
          <a:prstGeom prst="rect">
            <a:avLst/>
          </a:prstGeom>
          <a:solidFill>
            <a:srgbClr val="AFC6EE"/>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19" y="3337560"/>
            <a:ext cx="640080" cy="320040"/>
          </a:xfrm>
          <a:prstGeom prst="rect">
            <a:avLst/>
          </a:prstGeom>
          <a:noFill/>
        </p:spPr>
        <p:txBody>
          <a:bodyPr wrap="square" anchor="t" lIns="45720" rIns="45720" tIns="18288" bIns="18288">
            <a:spAutoFit/>
          </a:bodyPr>
          <a:lstStyle/>
          <a:p>
            <a:pPr algn="l">
              <a:lnSpc>
                <a:spcPct val="110000"/>
              </a:lnSpc>
            </a:pPr>
            <a:r>
              <a:rPr sz="1300" b="0" i="0">
                <a:solidFill>
                  <a:srgbClr val="6B6B76"/>
                </a:solidFill>
                <a:latin typeface="Arial"/>
              </a:rPr>
              <a:t>0%</a:t>
            </a:r>
          </a:p>
        </p:txBody>
      </p:sp>
      <p:sp>
        <p:nvSpPr>
          <p:cNvPr id="6" name="TextBox 5"/>
          <p:cNvSpPr txBox="1"/>
          <p:nvPr/>
        </p:nvSpPr>
        <p:spPr>
          <a:xfrm>
            <a:off x="594360" y="3749039"/>
            <a:ext cx="4206240" cy="914400"/>
          </a:xfrm>
          <a:prstGeom prst="rect">
            <a:avLst/>
          </a:prstGeom>
          <a:noFill/>
        </p:spPr>
        <p:txBody>
          <a:bodyPr wrap="square" anchor="t" lIns="45720" rIns="45720" tIns="18288" bIns="18288">
            <a:spAutoFit/>
          </a:bodyPr>
          <a:lstStyle/>
          <a:p>
            <a:pPr algn="l">
              <a:lnSpc>
                <a:spcPct val="110000"/>
              </a:lnSpc>
            </a:pPr>
            <a:r>
              <a:rPr sz="1700" b="1" i="0">
                <a:solidFill>
                  <a:srgbClr val="1F1F24"/>
                </a:solidFill>
                <a:latin typeface="Arial"/>
              </a:rPr>
              <a:t>Below 40%: too big</a:t>
            </a:r>
          </a:p>
          <a:p>
            <a:pPr algn="l">
              <a:lnSpc>
                <a:spcPct val="110000"/>
              </a:lnSpc>
            </a:pPr>
            <a:r>
              <a:rPr sz="1700" b="0" i="0">
                <a:solidFill>
                  <a:srgbClr val="1F1F24"/>
                </a:solidFill>
                <a:latin typeface="Arial"/>
              </a:rPr>
              <a:t>Memory you reserved and never use.</a:t>
            </a:r>
          </a:p>
        </p:txBody>
      </p:sp>
      <p:sp>
        <p:nvSpPr>
          <p:cNvPr id="7" name="Rectangle 6"/>
          <p:cNvSpPr/>
          <p:nvPr/>
        </p:nvSpPr>
        <p:spPr>
          <a:xfrm>
            <a:off x="4974336" y="2514600"/>
            <a:ext cx="5532120" cy="777240"/>
          </a:xfrm>
          <a:prstGeom prst="rect">
            <a:avLst/>
          </a:prstGeom>
          <a:solidFill>
            <a:srgbClr val="A8DDB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0016" y="3337560"/>
            <a:ext cx="640080" cy="320040"/>
          </a:xfrm>
          <a:prstGeom prst="rect">
            <a:avLst/>
          </a:prstGeom>
          <a:noFill/>
        </p:spPr>
        <p:txBody>
          <a:bodyPr wrap="square" anchor="t" lIns="45720" rIns="45720" tIns="18288" bIns="18288">
            <a:spAutoFit/>
          </a:bodyPr>
          <a:lstStyle/>
          <a:p>
            <a:pPr algn="ctr">
              <a:lnSpc>
                <a:spcPct val="110000"/>
              </a:lnSpc>
            </a:pPr>
            <a:r>
              <a:rPr sz="1300" b="0" i="0">
                <a:solidFill>
                  <a:srgbClr val="6B6B76"/>
                </a:solidFill>
                <a:latin typeface="Arial"/>
              </a:rPr>
              <a:t>40%</a:t>
            </a:r>
          </a:p>
        </p:txBody>
      </p:sp>
      <p:sp>
        <p:nvSpPr>
          <p:cNvPr id="9" name="TextBox 8"/>
          <p:cNvSpPr txBox="1"/>
          <p:nvPr/>
        </p:nvSpPr>
        <p:spPr>
          <a:xfrm>
            <a:off x="5111496" y="3749039"/>
            <a:ext cx="3840480" cy="914400"/>
          </a:xfrm>
          <a:prstGeom prst="rect">
            <a:avLst/>
          </a:prstGeom>
          <a:noFill/>
        </p:spPr>
        <p:txBody>
          <a:bodyPr wrap="square" anchor="t" lIns="45720" rIns="45720" tIns="18288" bIns="18288">
            <a:spAutoFit/>
          </a:bodyPr>
          <a:lstStyle/>
          <a:p>
            <a:pPr algn="l">
              <a:lnSpc>
                <a:spcPct val="110000"/>
              </a:lnSpc>
            </a:pPr>
            <a:r>
              <a:rPr sz="1700" b="1" i="0">
                <a:solidFill>
                  <a:srgbClr val="1F1F24"/>
                </a:solidFill>
                <a:latin typeface="Arial"/>
              </a:rPr>
              <a:t>40 to 90%: about right</a:t>
            </a:r>
          </a:p>
          <a:p>
            <a:pPr algn="l">
              <a:lnSpc>
                <a:spcPct val="110000"/>
              </a:lnSpc>
            </a:pPr>
            <a:r>
              <a:rPr sz="1700" b="0" i="0">
                <a:solidFill>
                  <a:srgbClr val="1F1F24"/>
                </a:solidFill>
                <a:latin typeface="Arial"/>
              </a:rPr>
              <a:t>Headroom for a burst.</a:t>
            </a:r>
          </a:p>
        </p:txBody>
      </p:sp>
      <p:sp>
        <p:nvSpPr>
          <p:cNvPr id="10" name="Rectangle 9"/>
          <p:cNvSpPr/>
          <p:nvPr/>
        </p:nvSpPr>
        <p:spPr>
          <a:xfrm>
            <a:off x="10506456" y="2514600"/>
            <a:ext cx="1106423" cy="777240"/>
          </a:xfrm>
          <a:prstGeom prst="rect">
            <a:avLst/>
          </a:prstGeom>
          <a:solidFill>
            <a:srgbClr val="F2A7B0"/>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32136" y="3337560"/>
            <a:ext cx="640080" cy="320040"/>
          </a:xfrm>
          <a:prstGeom prst="rect">
            <a:avLst/>
          </a:prstGeom>
          <a:noFill/>
        </p:spPr>
        <p:txBody>
          <a:bodyPr wrap="square" anchor="t" lIns="45720" rIns="45720" tIns="18288" bIns="18288">
            <a:spAutoFit/>
          </a:bodyPr>
          <a:lstStyle/>
          <a:p>
            <a:pPr algn="ctr">
              <a:lnSpc>
                <a:spcPct val="110000"/>
              </a:lnSpc>
            </a:pPr>
            <a:r>
              <a:rPr sz="1300" b="0" i="0">
                <a:solidFill>
                  <a:srgbClr val="6B6B76"/>
                </a:solidFill>
                <a:latin typeface="Arial"/>
              </a:rPr>
              <a:t>90%</a:t>
            </a:r>
          </a:p>
        </p:txBody>
      </p:sp>
      <p:sp>
        <p:nvSpPr>
          <p:cNvPr id="12" name="TextBox 11"/>
          <p:cNvSpPr txBox="1"/>
          <p:nvPr/>
        </p:nvSpPr>
        <p:spPr>
          <a:xfrm>
            <a:off x="8321040" y="3749039"/>
            <a:ext cx="3291840" cy="914400"/>
          </a:xfrm>
          <a:prstGeom prst="rect">
            <a:avLst/>
          </a:prstGeom>
          <a:noFill/>
        </p:spPr>
        <p:txBody>
          <a:bodyPr wrap="square" anchor="t" lIns="45720" rIns="45720" tIns="18288" bIns="18288">
            <a:spAutoFit/>
          </a:bodyPr>
          <a:lstStyle/>
          <a:p>
            <a:pPr algn="r">
              <a:lnSpc>
                <a:spcPct val="110000"/>
              </a:lnSpc>
            </a:pPr>
            <a:r>
              <a:rPr sz="1700" b="1" i="0">
                <a:solidFill>
                  <a:srgbClr val="1F1F24"/>
                </a:solidFill>
                <a:latin typeface="Arial"/>
              </a:rPr>
              <a:t>Above 90%: too small</a:t>
            </a:r>
          </a:p>
          <a:p>
            <a:pPr algn="r">
              <a:lnSpc>
                <a:spcPct val="110000"/>
              </a:lnSpc>
            </a:pPr>
            <a:r>
              <a:rPr sz="1700" b="0" i="0">
                <a:solidFill>
                  <a:srgbClr val="1F1F24"/>
                </a:solidFill>
                <a:latin typeface="Arial"/>
              </a:rPr>
              <a:t>Requests start to queue.</a:t>
            </a:r>
          </a:p>
        </p:txBody>
      </p:sp>
      <p:sp>
        <p:nvSpPr>
          <p:cNvPr id="13" name="TextBox 12"/>
          <p:cNvSpPr txBox="1"/>
          <p:nvPr/>
        </p:nvSpPr>
        <p:spPr>
          <a:xfrm>
            <a:off x="11018519" y="3337560"/>
            <a:ext cx="640080" cy="320040"/>
          </a:xfrm>
          <a:prstGeom prst="rect">
            <a:avLst/>
          </a:prstGeom>
          <a:noFill/>
        </p:spPr>
        <p:txBody>
          <a:bodyPr wrap="square" anchor="t" lIns="45720" rIns="45720" tIns="18288" bIns="18288">
            <a:spAutoFit/>
          </a:bodyPr>
          <a:lstStyle/>
          <a:p>
            <a:pPr algn="r">
              <a:lnSpc>
                <a:spcPct val="110000"/>
              </a:lnSpc>
            </a:pPr>
            <a:r>
              <a:rPr sz="1300" b="0" i="0">
                <a:solidFill>
                  <a:srgbClr val="6B6B76"/>
                </a:solidFill>
                <a:latin typeface="Arial"/>
              </a:rPr>
              <a:t>100%</a:t>
            </a:r>
          </a:p>
        </p:txBody>
      </p:sp>
      <p:sp>
        <p:nvSpPr>
          <p:cNvPr id="14" name="TextBox 13"/>
          <p:cNvSpPr txBox="1"/>
          <p:nvPr/>
        </p:nvSpPr>
        <p:spPr>
          <a:xfrm>
            <a:off x="7772400" y="1691640"/>
            <a:ext cx="3840480" cy="411480"/>
          </a:xfrm>
          <a:prstGeom prst="rect">
            <a:avLst/>
          </a:prstGeom>
          <a:noFill/>
        </p:spPr>
        <p:txBody>
          <a:bodyPr wrap="square" anchor="t" lIns="45720" rIns="45720" tIns="18288" bIns="18288">
            <a:spAutoFit/>
          </a:bodyPr>
          <a:lstStyle/>
          <a:p>
            <a:pPr algn="r">
              <a:lnSpc>
                <a:spcPct val="110000"/>
              </a:lnSpc>
            </a:pPr>
            <a:r>
              <a:rPr sz="1700" b="1" i="0">
                <a:solidFill>
                  <a:srgbClr val="D7263D"/>
                </a:solidFill>
                <a:latin typeface="Arial"/>
              </a:rPr>
              <a:t>Pod A (8%): peak 100%</a:t>
            </a:r>
          </a:p>
        </p:txBody>
      </p:sp>
      <p:sp>
        <p:nvSpPr>
          <p:cNvPr id="15" name="Isosceles Triangle 14"/>
          <p:cNvSpPr/>
          <p:nvPr/>
        </p:nvSpPr>
        <p:spPr>
          <a:xfrm rot="10800000">
            <a:off x="11384280" y="2121408"/>
            <a:ext cx="310896" cy="329184"/>
          </a:xfrm>
          <a:prstGeom prst="triangl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47671" y="1691640"/>
            <a:ext cx="3840480" cy="411480"/>
          </a:xfrm>
          <a:prstGeom prst="rect">
            <a:avLst/>
          </a:prstGeom>
          <a:noFill/>
        </p:spPr>
        <p:txBody>
          <a:bodyPr wrap="square" anchor="t" lIns="45720" rIns="45720" tIns="18288" bIns="18288">
            <a:spAutoFit/>
          </a:bodyPr>
          <a:lstStyle/>
          <a:p>
            <a:pPr algn="ctr">
              <a:lnSpc>
                <a:spcPct val="110000"/>
              </a:lnSpc>
            </a:pPr>
            <a:r>
              <a:rPr sz="1700" b="1" i="0">
                <a:solidFill>
                  <a:srgbClr val="2F6FDB"/>
                </a:solidFill>
                <a:latin typeface="Arial"/>
              </a:rPr>
              <a:t>Pod B (90%): peak about 30%</a:t>
            </a:r>
          </a:p>
        </p:txBody>
      </p:sp>
      <p:sp>
        <p:nvSpPr>
          <p:cNvPr id="17" name="Isosceles Triangle 16"/>
          <p:cNvSpPr/>
          <p:nvPr/>
        </p:nvSpPr>
        <p:spPr>
          <a:xfrm rot="10800000">
            <a:off x="3712463" y="2121408"/>
            <a:ext cx="310896" cy="329184"/>
          </a:xfrm>
          <a:prstGeom prst="triangle">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72000"/>
            <a:ext cx="502920" cy="822960"/>
          </a:xfrm>
          <a:prstGeom prst="rect">
            <a:avLst/>
          </a:prstGeom>
          <a:noFill/>
        </p:spPr>
        <p:txBody>
          <a:bodyPr wrap="square" anchor="t" lIns="45720" rIns="45720" tIns="18288" bIns="18288">
            <a:spAutoFit/>
          </a:bodyPr>
          <a:lstStyle/>
          <a:p>
            <a:pPr algn="l">
              <a:lnSpc>
                <a:spcPct val="90000"/>
              </a:lnSpc>
            </a:pPr>
            <a:r>
              <a:rPr sz="4000" b="1" i="0">
                <a:solidFill>
                  <a:srgbClr val="991346"/>
                </a:solidFill>
                <a:latin typeface="Arial"/>
              </a:rPr>
              <a:t>1</a:t>
            </a:r>
          </a:p>
        </p:txBody>
      </p:sp>
      <p:sp>
        <p:nvSpPr>
          <p:cNvPr id="19" name="TextBox 18"/>
          <p:cNvSpPr txBox="1"/>
          <p:nvPr/>
        </p:nvSpPr>
        <p:spPr>
          <a:xfrm>
            <a:off x="1051560" y="4617720"/>
            <a:ext cx="2514600" cy="868680"/>
          </a:xfrm>
          <a:prstGeom prst="rect">
            <a:avLst/>
          </a:prstGeom>
          <a:noFill/>
        </p:spPr>
        <p:txBody>
          <a:bodyPr wrap="square" anchor="t" lIns="45720" rIns="45720" tIns="18288" bIns="18288">
            <a:spAutoFit/>
          </a:bodyPr>
          <a:lstStyle/>
          <a:p>
            <a:pPr algn="l">
              <a:lnSpc>
                <a:spcPct val="110000"/>
              </a:lnSpc>
            </a:pPr>
            <a:r>
              <a:rPr sz="1600" b="1" i="0">
                <a:solidFill>
                  <a:srgbClr val="1F1F24"/>
                </a:solidFill>
                <a:latin typeface="Arial"/>
              </a:rPr>
              <a:t>Measure</a:t>
            </a:r>
          </a:p>
          <a:p>
            <a:pPr algn="l">
              <a:lnSpc>
                <a:spcPct val="110000"/>
              </a:lnSpc>
            </a:pPr>
            <a:r>
              <a:rPr sz="1600" b="0" i="0">
                <a:solidFill>
                  <a:srgbClr val="1F1F24"/>
                </a:solidFill>
                <a:latin typeface="Arial"/>
              </a:rPr>
              <a:t>peak KV cache under your own traffic</a:t>
            </a:r>
          </a:p>
        </p:txBody>
      </p:sp>
      <p:sp>
        <p:nvSpPr>
          <p:cNvPr id="20" name="TextBox 19"/>
          <p:cNvSpPr txBox="1"/>
          <p:nvPr/>
        </p:nvSpPr>
        <p:spPr>
          <a:xfrm>
            <a:off x="3657600" y="4572000"/>
            <a:ext cx="502920" cy="822960"/>
          </a:xfrm>
          <a:prstGeom prst="rect">
            <a:avLst/>
          </a:prstGeom>
          <a:noFill/>
        </p:spPr>
        <p:txBody>
          <a:bodyPr wrap="square" anchor="t" lIns="45720" rIns="45720" tIns="18288" bIns="18288">
            <a:spAutoFit/>
          </a:bodyPr>
          <a:lstStyle/>
          <a:p>
            <a:pPr algn="l">
              <a:lnSpc>
                <a:spcPct val="90000"/>
              </a:lnSpc>
            </a:pPr>
            <a:r>
              <a:rPr sz="4000" b="1" i="0">
                <a:solidFill>
                  <a:srgbClr val="991346"/>
                </a:solidFill>
                <a:latin typeface="Arial"/>
              </a:rPr>
              <a:t>2</a:t>
            </a:r>
          </a:p>
        </p:txBody>
      </p:sp>
      <p:sp>
        <p:nvSpPr>
          <p:cNvPr id="21" name="TextBox 20"/>
          <p:cNvSpPr txBox="1"/>
          <p:nvPr/>
        </p:nvSpPr>
        <p:spPr>
          <a:xfrm>
            <a:off x="4160520" y="4617720"/>
            <a:ext cx="2514600" cy="868680"/>
          </a:xfrm>
          <a:prstGeom prst="rect">
            <a:avLst/>
          </a:prstGeom>
          <a:noFill/>
        </p:spPr>
        <p:txBody>
          <a:bodyPr wrap="square" anchor="t" lIns="45720" rIns="45720" tIns="18288" bIns="18288">
            <a:spAutoFit/>
          </a:bodyPr>
          <a:lstStyle/>
          <a:p>
            <a:pPr algn="l">
              <a:lnSpc>
                <a:spcPct val="110000"/>
              </a:lnSpc>
            </a:pPr>
            <a:r>
              <a:rPr sz="1600" b="1" i="0">
                <a:solidFill>
                  <a:srgbClr val="1F1F24"/>
                </a:solidFill>
                <a:latin typeface="Arial"/>
              </a:rPr>
              <a:t>Change</a:t>
            </a:r>
          </a:p>
          <a:p>
            <a:pPr algn="l">
              <a:lnSpc>
                <a:spcPct val="110000"/>
              </a:lnSpc>
            </a:pPr>
            <a:r>
              <a:rPr sz="1200" b="0" i="0">
                <a:solidFill>
                  <a:srgbClr val="1F1F24"/>
                </a:solidFill>
                <a:latin typeface="Consolas"/>
              </a:rPr>
              <a:t>--gpu-memory-utilization</a:t>
            </a:r>
          </a:p>
        </p:txBody>
      </p:sp>
      <p:sp>
        <p:nvSpPr>
          <p:cNvPr id="22" name="TextBox 21"/>
          <p:cNvSpPr txBox="1"/>
          <p:nvPr/>
        </p:nvSpPr>
        <p:spPr>
          <a:xfrm>
            <a:off x="6766559" y="4572000"/>
            <a:ext cx="502920" cy="822960"/>
          </a:xfrm>
          <a:prstGeom prst="rect">
            <a:avLst/>
          </a:prstGeom>
          <a:noFill/>
        </p:spPr>
        <p:txBody>
          <a:bodyPr wrap="square" anchor="t" lIns="45720" rIns="45720" tIns="18288" bIns="18288">
            <a:spAutoFit/>
          </a:bodyPr>
          <a:lstStyle/>
          <a:p>
            <a:pPr algn="l">
              <a:lnSpc>
                <a:spcPct val="90000"/>
              </a:lnSpc>
            </a:pPr>
            <a:r>
              <a:rPr sz="4000" b="1" i="0">
                <a:solidFill>
                  <a:srgbClr val="991346"/>
                </a:solidFill>
                <a:latin typeface="Arial"/>
              </a:rPr>
              <a:t>3</a:t>
            </a:r>
          </a:p>
        </p:txBody>
      </p:sp>
      <p:sp>
        <p:nvSpPr>
          <p:cNvPr id="23" name="TextBox 22"/>
          <p:cNvSpPr txBox="1"/>
          <p:nvPr/>
        </p:nvSpPr>
        <p:spPr>
          <a:xfrm>
            <a:off x="7269479" y="4617720"/>
            <a:ext cx="2514600" cy="868680"/>
          </a:xfrm>
          <a:prstGeom prst="rect">
            <a:avLst/>
          </a:prstGeom>
          <a:noFill/>
        </p:spPr>
        <p:txBody>
          <a:bodyPr wrap="square" anchor="t" lIns="45720" rIns="45720" tIns="18288" bIns="18288">
            <a:spAutoFit/>
          </a:bodyPr>
          <a:lstStyle/>
          <a:p>
            <a:pPr algn="l">
              <a:lnSpc>
                <a:spcPct val="110000"/>
              </a:lnSpc>
            </a:pPr>
            <a:r>
              <a:rPr sz="1600" b="1" i="0">
                <a:solidFill>
                  <a:srgbClr val="1F1F24"/>
                </a:solidFill>
                <a:latin typeface="Arial"/>
              </a:rPr>
              <a:t>Measure again</a:t>
            </a:r>
          </a:p>
          <a:p>
            <a:pPr algn="l">
              <a:lnSpc>
                <a:spcPct val="110000"/>
              </a:lnSpc>
            </a:pPr>
            <a:r>
              <a:rPr sz="1600" b="0" i="0">
                <a:solidFill>
                  <a:srgbClr val="1F1F24"/>
                </a:solidFill>
                <a:latin typeface="Arial"/>
              </a:rPr>
              <a:t>until the peak sits between 40 and 90%</a:t>
            </a:r>
          </a:p>
        </p:txBody>
      </p:sp>
      <p:sp>
        <p:nvSpPr>
          <p:cNvPr id="24" name="TextBox 23"/>
          <p:cNvSpPr txBox="1"/>
          <p:nvPr/>
        </p:nvSpPr>
        <p:spPr>
          <a:xfrm>
            <a:off x="548640" y="5532120"/>
            <a:ext cx="9144000" cy="365760"/>
          </a:xfrm>
          <a:prstGeom prst="rect">
            <a:avLst/>
          </a:prstGeom>
          <a:noFill/>
        </p:spPr>
        <p:txBody>
          <a:bodyPr wrap="square" anchor="t" lIns="45720" rIns="45720" tIns="18288" bIns="18288">
            <a:spAutoFit/>
          </a:bodyPr>
          <a:lstStyle/>
          <a:p>
            <a:pPr algn="l">
              <a:lnSpc>
                <a:spcPct val="110000"/>
              </a:lnSpc>
            </a:pPr>
            <a:r>
              <a:rPr sz="1300" b="0" i="1">
                <a:solidFill>
                  <a:srgbClr val="6B6B76"/>
                </a:solidFill>
                <a:latin typeface="Arial"/>
              </a:rPr>
              <a:t>Caveat: 40% and 90% are our rule of thumb, from one model on one GPU type. Use the method, not our numbers.</a:t>
            </a:r>
          </a:p>
        </p:txBody>
      </p:sp>
      <p:sp>
        <p:nvSpPr>
          <p:cNvPr id="25" name="TextBox 24"/>
          <p:cNvSpPr txBox="1"/>
          <p:nvPr/>
        </p:nvSpPr>
        <p:spPr>
          <a:xfrm>
            <a:off x="548640" y="5943600"/>
            <a:ext cx="9144000" cy="411480"/>
          </a:xfrm>
          <a:prstGeom prst="rect">
            <a:avLst/>
          </a:prstGeom>
          <a:noFill/>
        </p:spPr>
        <p:txBody>
          <a:bodyPr wrap="square" anchor="t" lIns="45720" rIns="45720" tIns="18288" bIns="18288">
            <a:spAutoFit/>
          </a:bodyPr>
          <a:lstStyle/>
          <a:p>
            <a:pPr algn="l">
              <a:lnSpc>
                <a:spcPct val="110000"/>
              </a:lnSpc>
            </a:pPr>
            <a:r>
              <a:rPr sz="1700" b="1" i="0">
                <a:solidFill>
                  <a:srgbClr val="991346"/>
                </a:solidFill>
                <a:latin typeface="Consolas"/>
              </a:rPr>
              <a:t>github.com/danilosilvase/gpu-observability-kubecon-na-2026</a:t>
            </a:r>
          </a:p>
        </p:txBody>
      </p:sp>
      <p:pic>
        <p:nvPicPr>
          <p:cNvPr id="26" name="Picture 25" descr="qr-repo.png"/>
          <p:cNvPicPr>
            <a:picLocks noChangeAspect="1"/>
          </p:cNvPicPr>
          <p:nvPr/>
        </p:nvPicPr>
        <p:blipFill>
          <a:blip r:embed="rId2"/>
          <a:stretch>
            <a:fillRect/>
          </a:stretch>
        </p:blipFill>
        <p:spPr>
          <a:xfrm>
            <a:off x="10104120" y="4526280"/>
            <a:ext cx="1508760" cy="1508760"/>
          </a:xfrm>
          <a:prstGeom prst="rect">
            <a:avLst/>
          </a:prstGeom>
        </p:spPr>
      </p:pic>
      <p:sp>
        <p:nvSpPr>
          <p:cNvPr id="27" name="TextBox 26"/>
          <p:cNvSpPr txBox="1"/>
          <p:nvPr/>
        </p:nvSpPr>
        <p:spPr>
          <a:xfrm>
            <a:off x="9692640" y="6053328"/>
            <a:ext cx="2331720" cy="365760"/>
          </a:xfrm>
          <a:prstGeom prst="rect">
            <a:avLst/>
          </a:prstGeom>
          <a:noFill/>
        </p:spPr>
        <p:txBody>
          <a:bodyPr wrap="square" anchor="t" lIns="45720" rIns="45720" tIns="18288" bIns="18288">
            <a:spAutoFit/>
          </a:bodyPr>
          <a:lstStyle/>
          <a:p>
            <a:pPr algn="ctr">
              <a:lnSpc>
                <a:spcPct val="110000"/>
              </a:lnSpc>
            </a:pPr>
            <a:r>
              <a:rPr sz="1200" b="1" i="0">
                <a:solidFill>
                  <a:srgbClr val="1F1F24"/>
                </a:solidFill>
                <a:latin typeface="Arial"/>
              </a:rPr>
              <a:t>All configs, deployable</a:t>
            </a:r>
          </a:p>
        </p:txBody>
      </p:sp>
      <p:sp>
        <p:nvSpPr>
          <p:cNvPr id="95" name="TextBox 94"/>
          <p:cNvSpPr txBox="1"/>
          <p:nvPr/>
        </p:nvSpPr>
        <p:spPr>
          <a:xfrm>
            <a:off x="11109960" y="6327648"/>
            <a:ext cx="685800" cy="365760"/>
          </a:xfrm>
          <a:prstGeom prst="rect">
            <a:avLst/>
          </a:prstGeom>
          <a:noFill/>
        </p:spPr>
        <p:txBody>
          <a:bodyPr wrap="none" rIns="18288">
            <a:spAutoFit/>
          </a:bodyPr>
          <a:lstStyle/>
          <a:p>
            <a:pPr algn="r"/>
            <a:fld id="{B6F15528-21DE-4FAA-801E-634DDDAF4B11}" type="slidenum">
              <a:rPr lang="en-US" sz="1200" b="1">
                <a:solidFill>
                  <a:srgbClr val="991346"/>
                </a:solidFill>
                <a:latin typeface="Aria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4" presetID="22" presetClass="entr" presetSubtype="8" fill="hold"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3" dur="500"/>
                                        <p:tgtEl>
                                          <p:spTgt spid="4"/>
                                        </p:tgtEl>
                                      </p:cBhvr>
                                    </p:animEffect>
                                  </p:childTnLst>
                                </p:cTn>
                              </p:par>
                              <p:par>
                                <p:cTn id="7" presetID="22" presetClass="entr" presetSubtype="8"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left)">
                                      <p:cBhvr>
                                        <p:cTn id="6" dur="500"/>
                                        <p:tgtEl>
                                          <p:spTgt spid="5"/>
                                        </p:tgtEl>
                                      </p:cBhvr>
                                    </p:animEffect>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9" dur="350"/>
                                        <p:tgtEl>
                                          <p:spTgt spid="6"/>
                                        </p:tgtEl>
                                      </p:cBhvr>
                                    </p:animEffect>
                                  </p:childTnLst>
                                </p:cTn>
                              </p:par>
                              <p:par>
                                <p:cTn id="13" presetID="22" presetClass="entr" presetSubtype="8" fill="hold" nodeType="withEffect">
                                  <p:stCondLst>
                                    <p:cond delay="35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6" presetID="22" presetClass="entr" presetSubtype="8" fill="hold" nodeType="withEffect">
                                  <p:stCondLst>
                                    <p:cond delay="35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9" presetID="10" presetClass="entr" presetSubtype="0" fill="hold" nodeType="withEffect">
                                  <p:stCondLst>
                                    <p:cond delay="350"/>
                                  </p:stCondLst>
                                  <p:childTnLst>
                                    <p:set>
                                      <p:cBhvr>
                                        <p:cTn id="20"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par>
                                <p:cTn id="22" presetID="22" presetClass="entr" presetSubtype="8" fill="hold" nodeType="withEffect">
                                  <p:stCondLst>
                                    <p:cond delay="70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par>
                                <p:cTn id="25" presetID="22" presetClass="entr" presetSubtype="8" fill="hold" nodeType="withEffect">
                                  <p:stCondLst>
                                    <p:cond delay="70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8" presetID="10" presetClass="entr" presetSubtype="0" fill="hold" nodeType="withEffect">
                                  <p:stCondLst>
                                    <p:cond delay="700"/>
                                  </p:stCondLst>
                                  <p:childTnLst>
                                    <p:set>
                                      <p:cBhvr>
                                        <p:cTn id="29"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par>
                                <p:cTn id="31" presetID="10" presetClass="entr" presetSubtype="0" fill="hold" nodeType="withEffect">
                                  <p:stCondLst>
                                    <p:cond delay="1050"/>
                                  </p:stCondLst>
                                  <p:childTnLst>
                                    <p:set>
                                      <p:cBhvr>
                                        <p:cTn id="32" dur="1" fill="hold">
                                          <p:stCondLst>
                                            <p:cond delay="0"/>
                                          </p:stCondLst>
                                        </p:cTn>
                                        <p:tgtEl>
                                          <p:spTgt spid="13"/>
                                        </p:tgtEl>
                                        <p:attrNameLst>
                                          <p:attrName>style.visibility</p:attrName>
                                        </p:attrNameLst>
                                      </p:cBhvr>
                                      <p:to>
                                        <p:strVal val="visible"/>
                                      </p:to>
                                    </p:set>
                                    <p:animEffect transition="in" filter="fade">
                                      <p:cBhvr>
                                        <p:cTn id="30" dur="300"/>
                                        <p:tgtEl>
                                          <p:spTgt spid="13"/>
                                        </p:tgtEl>
                                      </p:cBhvr>
                                    </p:animEffect>
                                  </p:childTnLst>
                                </p:cTn>
                              </p:par>
                            </p:childTnLst>
                          </p:cTn>
                        </p:par>
                      </p:childTnLst>
                    </p:cTn>
                  </p:par>
                  <p:par>
                    <p:cTn id="43" fill="hold">
                      <p:stCondLst>
                        <p:cond delay="indefinite"/>
                      </p:stCondLst>
                      <p:childTnLst>
                        <p:par>
                          <p:cTn id="44"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anim calcmode="lin" valueType="num">
                                      <p:cBhvr>
                                        <p:cTn id="36" dur="450" fill="hold"/>
                                        <p:tgtEl>
                                          <p:spTgt spid="14"/>
                                        </p:tgtEl>
                                        <p:attrNameLst>
                                          <p:attrName>ppt_y</p:attrName>
                                        </p:attrNameLst>
                                      </p:cBhvr>
                                      <p:tavLst>
                                        <p:tav tm="0">
                                          <p:val>
                                            <p:strVal val="#ppt_y+0.05"/>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anim calcmode="lin" valueType="num">
                                      <p:cBhvr>
                                        <p:cTn id="40" dur="450" fill="hold"/>
                                        <p:tgtEl>
                                          <p:spTgt spid="15"/>
                                        </p:tgtEl>
                                        <p:attrNameLst>
                                          <p:attrName>ppt_y</p:attrName>
                                        </p:attrNameLst>
                                      </p:cBhvr>
                                      <p:tavLst>
                                        <p:tav tm="0">
                                          <p:val>
                                            <p:strVal val="#ppt_y+0.05"/>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anim calcmode="lin" valueType="num">
                                      <p:cBhvr>
                                        <p:cTn id="46" dur="450" fill="hold"/>
                                        <p:tgtEl>
                                          <p:spTgt spid="16"/>
                                        </p:tgtEl>
                                        <p:attrNameLst>
                                          <p:attrName>ppt_y</p:attrName>
                                        </p:attrNameLst>
                                      </p:cBhvr>
                                      <p:tavLst>
                                        <p:tav tm="0">
                                          <p:val>
                                            <p:strVal val="#ppt_y+0.05"/>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anim calcmode="lin" valueType="num">
                                      <p:cBhvr>
                                        <p:cTn id="50" dur="450" fill="hold"/>
                                        <p:tgtEl>
                                          <p:spTgt spid="17"/>
                                        </p:tgtEl>
                                        <p:attrNameLst>
                                          <p:attrName>ppt_y</p:attrName>
                                        </p:attrNameLst>
                                      </p:cBhvr>
                                      <p:tavLst>
                                        <p:tav tm="0">
                                          <p:val>
                                            <p:strVal val="#ppt_y+0.05"/>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5" dur="400"/>
                                        <p:tgtEl>
                                          <p:spTgt spid="18"/>
                                        </p:tgtEl>
                                      </p:cBhvr>
                                    </p:animEffect>
                                    <p:anim calcmode="lin" valueType="num">
                                      <p:cBhvr>
                                        <p:cTn id="56" dur="400" fill="hold"/>
                                        <p:tgtEl>
                                          <p:spTgt spid="18"/>
                                        </p:tgtEl>
                                        <p:attrNameLst>
                                          <p:attrName>ppt_y</p:attrName>
                                        </p:attrNameLst>
                                      </p:cBhvr>
                                      <p:tavLst>
                                        <p:tav tm="0">
                                          <p:val>
                                            <p:strVal val="#ppt_y+0.05"/>
                                          </p:val>
                                        </p:tav>
                                        <p:tav tm="100000">
                                          <p:val>
                                            <p:strVal val="#ppt_y"/>
                                          </p:val>
                                        </p:tav>
                                      </p:tavLst>
                                    </p:anim>
                                  </p:childTnLst>
                                </p:cTn>
                              </p:par>
                              <p:par>
                                <p:cTn id="61" presetID="42" presetClass="entr" presetSubtype="0" fill="hold" nodeType="withEffect">
                                  <p:stCondLst>
                                    <p:cond delay="300"/>
                                  </p:stCondLst>
                                  <p:childTnLst>
                                    <p:set>
                                      <p:cBhvr>
                                        <p:cTn id="62" dur="1" fill="hold">
                                          <p:stCondLst>
                                            <p:cond delay="0"/>
                                          </p:stCondLst>
                                        </p:cTn>
                                        <p:tgtEl>
                                          <p:spTgt spid="19"/>
                                        </p:tgtEl>
                                        <p:attrNameLst>
                                          <p:attrName>style.visibility</p:attrName>
                                        </p:attrNameLst>
                                      </p:cBhvr>
                                      <p:to>
                                        <p:strVal val="visible"/>
                                      </p:to>
                                    </p:set>
                                    <p:animEffect transition="in" filter="fade">
                                      <p:cBhvr>
                                        <p:cTn id="59" dur="400"/>
                                        <p:tgtEl>
                                          <p:spTgt spid="19"/>
                                        </p:tgtEl>
                                      </p:cBhvr>
                                    </p:animEffect>
                                    <p:anim calcmode="lin" valueType="num">
                                      <p:cBhvr>
                                        <p:cTn id="60" dur="400" fill="hold"/>
                                        <p:tgtEl>
                                          <p:spTgt spid="19"/>
                                        </p:tgtEl>
                                        <p:attrNameLst>
                                          <p:attrName>ppt_y</p:attrName>
                                        </p:attrNameLst>
                                      </p:cBhvr>
                                      <p:tavLst>
                                        <p:tav tm="0">
                                          <p:val>
                                            <p:strVal val="#ppt_y+0.05"/>
                                          </p:val>
                                        </p:tav>
                                        <p:tav tm="100000">
                                          <p:val>
                                            <p:strVal val="#ppt_y"/>
                                          </p:val>
                                        </p:tav>
                                      </p:tavLst>
                                    </p:anim>
                                  </p:childTnLst>
                                </p:cTn>
                              </p:par>
                              <p:par>
                                <p:cTn id="65" presetID="42" presetClass="entr" presetSubtype="0" fill="hold" nodeType="withEffect">
                                  <p:stCondLst>
                                    <p:cond delay="600"/>
                                  </p:stCondLst>
                                  <p:childTnLst>
                                    <p:set>
                                      <p:cBhvr>
                                        <p:cTn id="66" dur="1" fill="hold">
                                          <p:stCondLst>
                                            <p:cond delay="0"/>
                                          </p:stCondLst>
                                        </p:cTn>
                                        <p:tgtEl>
                                          <p:spTgt spid="20"/>
                                        </p:tgtEl>
                                        <p:attrNameLst>
                                          <p:attrName>style.visibility</p:attrName>
                                        </p:attrNameLst>
                                      </p:cBhvr>
                                      <p:to>
                                        <p:strVal val="visible"/>
                                      </p:to>
                                    </p:set>
                                    <p:animEffect transition="in" filter="fade">
                                      <p:cBhvr>
                                        <p:cTn id="63" dur="400"/>
                                        <p:tgtEl>
                                          <p:spTgt spid="20"/>
                                        </p:tgtEl>
                                      </p:cBhvr>
                                    </p:animEffect>
                                    <p:anim calcmode="lin" valueType="num">
                                      <p:cBhvr>
                                        <p:cTn id="64" dur="400" fill="hold"/>
                                        <p:tgtEl>
                                          <p:spTgt spid="20"/>
                                        </p:tgtEl>
                                        <p:attrNameLst>
                                          <p:attrName>ppt_y</p:attrName>
                                        </p:attrNameLst>
                                      </p:cBhvr>
                                      <p:tavLst>
                                        <p:tav tm="0">
                                          <p:val>
                                            <p:strVal val="#ppt_y+0.05"/>
                                          </p:val>
                                        </p:tav>
                                        <p:tav tm="100000">
                                          <p:val>
                                            <p:strVal val="#ppt_y"/>
                                          </p:val>
                                        </p:tav>
                                      </p:tavLst>
                                    </p:anim>
                                  </p:childTnLst>
                                </p:cTn>
                              </p:par>
                              <p:par>
                                <p:cTn id="69" presetID="42" presetClass="entr" presetSubtype="0" fill="hold" nodeType="withEffect">
                                  <p:stCondLst>
                                    <p:cond delay="900"/>
                                  </p:stCondLst>
                                  <p:childTnLst>
                                    <p:set>
                                      <p:cBhvr>
                                        <p:cTn id="70" dur="1" fill="hold">
                                          <p:stCondLst>
                                            <p:cond delay="0"/>
                                          </p:stCondLst>
                                        </p:cTn>
                                        <p:tgtEl>
                                          <p:spTgt spid="21"/>
                                        </p:tgtEl>
                                        <p:attrNameLst>
                                          <p:attrName>style.visibility</p:attrName>
                                        </p:attrNameLst>
                                      </p:cBhvr>
                                      <p:to>
                                        <p:strVal val="visible"/>
                                      </p:to>
                                    </p:set>
                                    <p:animEffect transition="in" filter="fade">
                                      <p:cBhvr>
                                        <p:cTn id="67" dur="400"/>
                                        <p:tgtEl>
                                          <p:spTgt spid="21"/>
                                        </p:tgtEl>
                                      </p:cBhvr>
                                    </p:animEffect>
                                    <p:anim calcmode="lin" valueType="num">
                                      <p:cBhvr>
                                        <p:cTn id="68" dur="400" fill="hold"/>
                                        <p:tgtEl>
                                          <p:spTgt spid="21"/>
                                        </p:tgtEl>
                                        <p:attrNameLst>
                                          <p:attrName>ppt_y</p:attrName>
                                        </p:attrNameLst>
                                      </p:cBhvr>
                                      <p:tavLst>
                                        <p:tav tm="0">
                                          <p:val>
                                            <p:strVal val="#ppt_y+0.05"/>
                                          </p:val>
                                        </p:tav>
                                        <p:tav tm="100000">
                                          <p:val>
                                            <p:strVal val="#ppt_y"/>
                                          </p:val>
                                        </p:tav>
                                      </p:tavLst>
                                    </p:anim>
                                  </p:childTnLst>
                                </p:cTn>
                              </p:par>
                              <p:par>
                                <p:cTn id="73" presetID="42" presetClass="entr" presetSubtype="0" fill="hold" nodeType="withEffect">
                                  <p:stCondLst>
                                    <p:cond delay="1200"/>
                                  </p:stCondLst>
                                  <p:childTnLst>
                                    <p:set>
                                      <p:cBhvr>
                                        <p:cTn id="74" dur="1" fill="hold">
                                          <p:stCondLst>
                                            <p:cond delay="0"/>
                                          </p:stCondLst>
                                        </p:cTn>
                                        <p:tgtEl>
                                          <p:spTgt spid="22"/>
                                        </p:tgtEl>
                                        <p:attrNameLst>
                                          <p:attrName>style.visibility</p:attrName>
                                        </p:attrNameLst>
                                      </p:cBhvr>
                                      <p:to>
                                        <p:strVal val="visible"/>
                                      </p:to>
                                    </p:set>
                                    <p:animEffect transition="in" filter="fade">
                                      <p:cBhvr>
                                        <p:cTn id="71" dur="400"/>
                                        <p:tgtEl>
                                          <p:spTgt spid="22"/>
                                        </p:tgtEl>
                                      </p:cBhvr>
                                    </p:animEffect>
                                    <p:anim calcmode="lin" valueType="num">
                                      <p:cBhvr>
                                        <p:cTn id="72" dur="400" fill="hold"/>
                                        <p:tgtEl>
                                          <p:spTgt spid="22"/>
                                        </p:tgtEl>
                                        <p:attrNameLst>
                                          <p:attrName>ppt_y</p:attrName>
                                        </p:attrNameLst>
                                      </p:cBhvr>
                                      <p:tavLst>
                                        <p:tav tm="0">
                                          <p:val>
                                            <p:strVal val="#ppt_y+0.05"/>
                                          </p:val>
                                        </p:tav>
                                        <p:tav tm="100000">
                                          <p:val>
                                            <p:strVal val="#ppt_y"/>
                                          </p:val>
                                        </p:tav>
                                      </p:tavLst>
                                    </p:anim>
                                  </p:childTnLst>
                                </p:cTn>
                              </p:par>
                              <p:par>
                                <p:cTn id="77" presetID="42" presetClass="entr" presetSubtype="0" fill="hold" nodeType="withEffect">
                                  <p:stCondLst>
                                    <p:cond delay="1500"/>
                                  </p:stCondLst>
                                  <p:childTnLst>
                                    <p:set>
                                      <p:cBhvr>
                                        <p:cTn id="78" dur="1" fill="hold">
                                          <p:stCondLst>
                                            <p:cond delay="0"/>
                                          </p:stCondLst>
                                        </p:cTn>
                                        <p:tgtEl>
                                          <p:spTgt spid="23"/>
                                        </p:tgtEl>
                                        <p:attrNameLst>
                                          <p:attrName>style.visibility</p:attrName>
                                        </p:attrNameLst>
                                      </p:cBhvr>
                                      <p:to>
                                        <p:strVal val="visible"/>
                                      </p:to>
                                    </p:set>
                                    <p:animEffect transition="in" filter="fade">
                                      <p:cBhvr>
                                        <p:cTn id="75" dur="400"/>
                                        <p:tgtEl>
                                          <p:spTgt spid="23"/>
                                        </p:tgtEl>
                                      </p:cBhvr>
                                    </p:animEffect>
                                    <p:anim calcmode="lin" valueType="num">
                                      <p:cBhvr>
                                        <p:cTn id="76" dur="400" fill="hold"/>
                                        <p:tgtEl>
                                          <p:spTgt spid="23"/>
                                        </p:tgtEl>
                                        <p:attrNameLst>
                                          <p:attrName>ppt_y</p:attrName>
                                        </p:attrNameLst>
                                      </p:cBhvr>
                                      <p:tavLst>
                                        <p:tav tm="0">
                                          <p:val>
                                            <p:strVal val="#ppt_y+0.05"/>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82" presetID="10" presetClass="entr" presetSubtype="0" fill="hold" nodeType="after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5" presetID="10" presetClass="entr" presetSubtype="0" fill="hold"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par>
                                <p:cTn id="88" presetID="10" presetClass="entr" presetSubtype="0" fill="hold"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87" dur="500"/>
                                        <p:tgtEl>
                                          <p:spTgt spid="26"/>
                                        </p:tgtEl>
                                      </p:cBhvr>
                                    </p:animEffect>
                                  </p:childTnLst>
                                </p:cTn>
                              </p:par>
                              <p:par>
                                <p:cTn id="91" presetID="10" presetClass="entr" presetSubtype="0" fill="hold"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188720"/>
            <a:ext cx="6949440" cy="1371600"/>
          </a:xfrm>
          <a:prstGeom prst="rect">
            <a:avLst/>
          </a:prstGeom>
          <a:noFill/>
        </p:spPr>
        <p:txBody>
          <a:bodyPr wrap="square" anchor="t" lIns="45720" rIns="45720" tIns="18288" bIns="18288">
            <a:spAutoFit/>
          </a:bodyPr>
          <a:lstStyle/>
          <a:p>
            <a:pPr algn="l">
              <a:lnSpc>
                <a:spcPct val="110000"/>
              </a:lnSpc>
            </a:pPr>
            <a:r>
              <a:rPr sz="6600" b="1" i="0">
                <a:solidFill>
                  <a:srgbClr val="FFFFFF"/>
                </a:solidFill>
                <a:latin typeface="Arial"/>
              </a:rPr>
              <a:t>Questions?</a:t>
            </a:r>
          </a:p>
        </p:txBody>
      </p:sp>
      <p:sp>
        <p:nvSpPr>
          <p:cNvPr id="3" name="TextBox 2"/>
          <p:cNvSpPr txBox="1"/>
          <p:nvPr/>
        </p:nvSpPr>
        <p:spPr>
          <a:xfrm>
            <a:off x="731520" y="2651760"/>
            <a:ext cx="6949440" cy="1097280"/>
          </a:xfrm>
          <a:prstGeom prst="rect">
            <a:avLst/>
          </a:prstGeom>
          <a:noFill/>
        </p:spPr>
        <p:txBody>
          <a:bodyPr wrap="square" anchor="t" lIns="45720" rIns="45720" tIns="18288" bIns="18288">
            <a:spAutoFit/>
          </a:bodyPr>
          <a:lstStyle/>
          <a:p>
            <a:pPr algn="l">
              <a:lnSpc>
                <a:spcPct val="110000"/>
              </a:lnSpc>
            </a:pPr>
            <a:r>
              <a:rPr sz="2000" b="0" i="0">
                <a:solidFill>
                  <a:srgbClr val="FFFFFF"/>
                </a:solidFill>
                <a:latin typeface="Arial"/>
              </a:rPr>
              <a:t>Henrique Santana, Principal Cloud Engineer, AWS</a:t>
            </a:r>
          </a:p>
          <a:p>
            <a:pPr algn="l">
              <a:lnSpc>
                <a:spcPct val="110000"/>
              </a:lnSpc>
            </a:pPr>
            <a:r>
              <a:rPr sz="2000" b="0" i="0">
                <a:solidFill>
                  <a:srgbClr val="FFFFFF"/>
                </a:solidFill>
                <a:latin typeface="Arial"/>
              </a:rPr>
              <a:t>Danilo Silva, Senior Delivery Consultant, AWS</a:t>
            </a:r>
          </a:p>
        </p:txBody>
      </p:sp>
      <p:sp>
        <p:nvSpPr>
          <p:cNvPr id="4" name="TextBox 3"/>
          <p:cNvSpPr txBox="1"/>
          <p:nvPr/>
        </p:nvSpPr>
        <p:spPr>
          <a:xfrm>
            <a:off x="731520" y="4023360"/>
            <a:ext cx="6949440" cy="1645920"/>
          </a:xfrm>
          <a:prstGeom prst="rect">
            <a:avLst/>
          </a:prstGeom>
          <a:noFill/>
        </p:spPr>
        <p:txBody>
          <a:bodyPr wrap="square" anchor="t" lIns="45720" rIns="45720" tIns="18288" bIns="18288">
            <a:spAutoFit/>
          </a:bodyPr>
          <a:lstStyle/>
          <a:p>
            <a:pPr algn="l">
              <a:lnSpc>
                <a:spcPct val="110000"/>
              </a:lnSpc>
            </a:pPr>
            <a:r>
              <a:rPr sz="1500" b="1" i="0">
                <a:solidFill>
                  <a:srgbClr val="FFFFFF"/>
                </a:solidFill>
                <a:latin typeface="Arial"/>
              </a:rPr>
              <a:t>Original idea: </a:t>
            </a:r>
            <a:r>
              <a:rPr sz="1500" b="0" i="0">
                <a:solidFill>
                  <a:srgbClr val="FFFFFF"/>
                </a:solidFill>
                <a:latin typeface="Arial"/>
              </a:rPr>
              <a:t>[original author]</a:t>
            </a:r>
          </a:p>
          <a:p>
            <a:pPr algn="l">
              <a:lnSpc>
                <a:spcPct val="110000"/>
              </a:lnSpc>
            </a:pPr>
            <a:r>
              <a:rPr sz="1500" b="1" i="0">
                <a:solidFill>
                  <a:srgbClr val="FFFFFF"/>
                </a:solidFill>
                <a:latin typeface="Arial"/>
              </a:rPr>
              <a:t>Further reading: </a:t>
            </a:r>
            <a:r>
              <a:rPr sz="1500" b="0" i="0">
                <a:solidFill>
                  <a:srgbClr val="FFFFFF"/>
                </a:solidFill>
                <a:latin typeface="Arial"/>
              </a:rPr>
              <a:t>jimmysong.io/blog/gpu-to-token-observability</a:t>
            </a:r>
          </a:p>
          <a:p>
            <a:pPr algn="l">
              <a:lnSpc>
                <a:spcPct val="110000"/>
              </a:lnSpc>
            </a:pPr>
            <a:r>
              <a:rPr sz="1500" b="1" i="0">
                <a:solidFill>
                  <a:srgbClr val="FFFFFF"/>
                </a:solidFill>
                <a:latin typeface="Arial"/>
              </a:rPr>
              <a:t>Repo: </a:t>
            </a:r>
            <a:r>
              <a:rPr sz="1500" b="0" i="0">
                <a:solidFill>
                  <a:srgbClr val="FFFFFF"/>
                </a:solidFill>
                <a:latin typeface="Arial"/>
              </a:rPr>
              <a:t>github.com/danilosilvase/gpu-observability-kubecon-na-2026</a:t>
            </a:r>
          </a:p>
        </p:txBody>
      </p:sp>
      <p:sp>
        <p:nvSpPr>
          <p:cNvPr id="5" name="Rounded Rectangle 4"/>
          <p:cNvSpPr/>
          <p:nvPr/>
        </p:nvSpPr>
        <p:spPr>
          <a:xfrm>
            <a:off x="8321040" y="2103120"/>
            <a:ext cx="3108960" cy="31089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r-feedback-cncf.png"/>
          <p:cNvPicPr>
            <a:picLocks noChangeAspect="1"/>
          </p:cNvPicPr>
          <p:nvPr/>
        </p:nvPicPr>
        <p:blipFill>
          <a:blip r:embed="rId2"/>
          <a:stretch>
            <a:fillRect/>
          </a:stretch>
        </p:blipFill>
        <p:spPr>
          <a:xfrm>
            <a:off x="8394192" y="2157984"/>
            <a:ext cx="2912640" cy="2999232"/>
          </a:xfrm>
          <a:prstGeom prst="rect">
            <a:avLst/>
          </a:prstGeom>
        </p:spPr>
      </p:pic>
      <p:sp>
        <p:nvSpPr>
          <p:cNvPr id="7" name="TextBox 6"/>
          <p:cNvSpPr txBox="1"/>
          <p:nvPr/>
        </p:nvSpPr>
        <p:spPr>
          <a:xfrm>
            <a:off x="8321040" y="5303520"/>
            <a:ext cx="3108960" cy="457200"/>
          </a:xfrm>
          <a:prstGeom prst="rect">
            <a:avLst/>
          </a:prstGeom>
          <a:noFill/>
        </p:spPr>
        <p:txBody>
          <a:bodyPr wrap="square" anchor="t" lIns="45720" rIns="45720" tIns="18288" bIns="18288">
            <a:spAutoFit/>
          </a:bodyPr>
          <a:lstStyle/>
          <a:p>
            <a:pPr algn="ctr">
              <a:lnSpc>
                <a:spcPct val="110000"/>
              </a:lnSpc>
            </a:pPr>
            <a:r>
              <a:rPr sz="1800" b="1" i="0">
                <a:solidFill>
                  <a:srgbClr val="FFFFFF"/>
                </a:solidFill>
                <a:latin typeface="Arial"/>
              </a:rPr>
              <a:t>Rate this session</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2800" b="1" i="0">
                <a:solidFill>
                  <a:srgbClr val="FFFFFF"/>
                </a:solidFill>
                <a:latin typeface="Arial"/>
              </a:rPr>
              <a:t>Why parse the log if vLLM has /metrics?</a:t>
            </a:r>
          </a:p>
        </p:txBody>
      </p:sp>
      <p:sp>
        <p:nvSpPr>
          <p:cNvPr id="3" name="TextBox 2"/>
          <p:cNvSpPr txBox="1"/>
          <p:nvPr/>
        </p:nvSpPr>
        <p:spPr>
          <a:xfrm>
            <a:off x="548640" y="1143000"/>
            <a:ext cx="3931920" cy="365760"/>
          </a:xfrm>
          <a:prstGeom prst="rect">
            <a:avLst/>
          </a:prstGeom>
          <a:noFill/>
        </p:spPr>
        <p:txBody>
          <a:bodyPr wrap="square" anchor="t" lIns="45720" rIns="45720" tIns="18288" bIns="18288">
            <a:spAutoFit/>
          </a:bodyPr>
          <a:lstStyle/>
          <a:p>
            <a:pPr algn="l">
              <a:lnSpc>
                <a:spcPct val="110000"/>
              </a:lnSpc>
            </a:pPr>
            <a:r>
              <a:rPr sz="1300" b="1" i="0">
                <a:solidFill>
                  <a:srgbClr val="991346"/>
                </a:solidFill>
                <a:latin typeface="Arial"/>
              </a:rPr>
              <a:t>Q&amp;A BACKUP</a:t>
            </a:r>
          </a:p>
        </p:txBody>
      </p:sp>
      <p:sp>
        <p:nvSpPr>
          <p:cNvPr id="4" name="TextBox 3"/>
          <p:cNvSpPr txBox="1"/>
          <p:nvPr/>
        </p:nvSpPr>
        <p:spPr>
          <a:xfrm>
            <a:off x="548640" y="1554480"/>
            <a:ext cx="5120640" cy="4480560"/>
          </a:xfrm>
          <a:prstGeom prst="rect">
            <a:avLst/>
          </a:prstGeom>
          <a:noFill/>
        </p:spPr>
        <p:txBody>
          <a:bodyPr wrap="square" anchor="t" lIns="45720" rIns="45720" tIns="18288" bIns="18288">
            <a:spAutoFit/>
          </a:bodyPr>
          <a:lstStyle/>
          <a:p>
            <a:pPr algn="l">
              <a:lnSpc>
                <a:spcPct val="115000"/>
              </a:lnSpc>
            </a:pPr>
            <a:r>
              <a:rPr sz="1900" b="1" i="0">
                <a:solidFill>
                  <a:srgbClr val="1F1F24"/>
                </a:solidFill>
                <a:latin typeface="Arial"/>
              </a:rPr>
              <a:t>Scrape /metrics if you can. </a:t>
            </a:r>
            <a:r>
              <a:rPr sz="1900" b="0" i="0">
                <a:solidFill>
                  <a:srgbClr val="1F1F24"/>
                </a:solidFill>
                <a:latin typeface="Arial"/>
              </a:rPr>
              <a:t>We do too: demo screen 2 puts both side by side, and they match.</a:t>
            </a:r>
          </a:p>
          <a:p>
            <a:pPr algn="l">
              <a:lnSpc>
                <a:spcPct val="115000"/>
              </a:lnSpc>
            </a:pPr>
            <a:r>
              <a:rPr sz="1900" b="0" i="0">
                <a:solidFill>
                  <a:srgbClr val="1F1F24"/>
                </a:solidFill>
                <a:latin typeface="Arial"/>
              </a:rPr>
              <a:t/>
            </a:r>
          </a:p>
          <a:p>
            <a:pPr algn="l">
              <a:lnSpc>
                <a:spcPct val="115000"/>
              </a:lnSpc>
            </a:pPr>
            <a:r>
              <a:rPr sz="1900" b="1" i="0">
                <a:solidFill>
                  <a:srgbClr val="1F1F24"/>
                </a:solidFill>
                <a:latin typeface="Arial"/>
              </a:rPr>
              <a:t>The log path needs no new scrape target. </a:t>
            </a:r>
            <a:r>
              <a:rPr sz="1900" b="0" i="0">
                <a:solidFill>
                  <a:srgbClr val="1F1F24"/>
                </a:solidFill>
                <a:latin typeface="Arial"/>
              </a:rPr>
              <a:t>Fluent Bit already reads every pod's log.</a:t>
            </a:r>
          </a:p>
          <a:p>
            <a:pPr algn="l">
              <a:lnSpc>
                <a:spcPct val="115000"/>
              </a:lnSpc>
            </a:pPr>
            <a:r>
              <a:rPr sz="1900" b="0" i="0">
                <a:solidFill>
                  <a:srgbClr val="1F1F24"/>
                </a:solidFill>
                <a:latin typeface="Arial"/>
              </a:rPr>
              <a:t/>
            </a:r>
          </a:p>
          <a:p>
            <a:pPr algn="l">
              <a:lnSpc>
                <a:spcPct val="115000"/>
              </a:lnSpc>
            </a:pPr>
            <a:r>
              <a:rPr sz="1900" b="0" i="0">
                <a:solidFill>
                  <a:srgbClr val="1F1F24"/>
                </a:solidFill>
                <a:latin typeface="Arial"/>
              </a:rPr>
              <a:t>It works on any server that prints its cache usage, </a:t>
            </a:r>
            <a:r>
              <a:rPr sz="1900" b="1" i="0">
                <a:solidFill>
                  <a:srgbClr val="1F1F24"/>
                </a:solidFill>
                <a:latin typeface="Arial"/>
              </a:rPr>
              <a:t>even one that does not export it.</a:t>
            </a:r>
          </a:p>
        </p:txBody>
      </p:sp>
      <p:sp>
        <p:nvSpPr>
          <p:cNvPr id="5" name="TextBox 4"/>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README.md; dashboard gpu-walk-2 (log_kv_cache_usage_pct vs vllm:kv_cache_usage_perc). The log line comes every 10 s, coarser than a scrape.</a:t>
            </a:r>
          </a:p>
        </p:txBody>
      </p:sp>
      <p:sp>
        <p:nvSpPr>
          <p:cNvPr id="6" name="Rounded Rectangle 5"/>
          <p:cNvSpPr/>
          <p:nvPr/>
        </p:nvSpPr>
        <p:spPr>
          <a:xfrm>
            <a:off x="6172200" y="1783080"/>
            <a:ext cx="5486400" cy="160020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72200" y="1783080"/>
            <a:ext cx="109728" cy="1600200"/>
          </a:xfrm>
          <a:prstGeom prst="rect">
            <a:avLst/>
          </a:prstGeom>
          <a:solidFill>
            <a:srgbClr val="333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92807"/>
            <a:ext cx="5120640" cy="365760"/>
          </a:xfrm>
          <a:prstGeom prst="rect">
            <a:avLst/>
          </a:prstGeom>
          <a:noFill/>
        </p:spPr>
        <p:txBody>
          <a:bodyPr wrap="square" anchor="t" lIns="45720" rIns="45720" tIns="18288" bIns="18288">
            <a:spAutoFit/>
          </a:bodyPr>
          <a:lstStyle/>
          <a:p>
            <a:pPr algn="l">
              <a:lnSpc>
                <a:spcPct val="110000"/>
              </a:lnSpc>
            </a:pPr>
            <a:r>
              <a:rPr sz="1500" b="1" i="0">
                <a:solidFill>
                  <a:srgbClr val="1F1F24"/>
                </a:solidFill>
                <a:latin typeface="Arial"/>
              </a:rPr>
              <a:t>vLLM /metrics</a:t>
            </a:r>
          </a:p>
        </p:txBody>
      </p:sp>
      <p:sp>
        <p:nvSpPr>
          <p:cNvPr id="9" name="Rounded Rectangle 8"/>
          <p:cNvSpPr/>
          <p:nvPr/>
        </p:nvSpPr>
        <p:spPr>
          <a:xfrm>
            <a:off x="6446520" y="2331720"/>
            <a:ext cx="5029200" cy="914400"/>
          </a:xfrm>
          <a:prstGeom prst="roundRect">
            <a:avLst>
              <a:gd name="adj" fmla="val 5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331720"/>
            <a:ext cx="4846320" cy="914400"/>
          </a:xfrm>
          <a:prstGeom prst="rect">
            <a:avLst/>
          </a:prstGeom>
          <a:noFill/>
        </p:spPr>
        <p:txBody>
          <a:bodyPr wrap="square" anchor="ctr" lIns="45720" rIns="45720" tIns="18288" bIns="18288">
            <a:spAutoFit/>
          </a:bodyPr>
          <a:lstStyle/>
          <a:p>
            <a:pPr algn="l">
              <a:lnSpc>
                <a:spcPct val="100000"/>
              </a:lnSpc>
            </a:pPr>
            <a:r>
              <a:rPr sz="1300" b="0" i="0">
                <a:solidFill>
                  <a:srgbClr val="1F1F24"/>
                </a:solidFill>
                <a:latin typeface="Consolas"/>
              </a:rPr>
              <a:t>vllm:kv_cache_usage_perc</a:t>
            </a:r>
          </a:p>
        </p:txBody>
      </p:sp>
      <p:sp>
        <p:nvSpPr>
          <p:cNvPr id="11" name="Rounded Rectangle 10"/>
          <p:cNvSpPr/>
          <p:nvPr/>
        </p:nvSpPr>
        <p:spPr>
          <a:xfrm>
            <a:off x="6172200" y="3520440"/>
            <a:ext cx="5486400" cy="150876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3520440"/>
            <a:ext cx="109728" cy="150876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630168"/>
            <a:ext cx="5120640" cy="365760"/>
          </a:xfrm>
          <a:prstGeom prst="rect">
            <a:avLst/>
          </a:prstGeom>
          <a:noFill/>
        </p:spPr>
        <p:txBody>
          <a:bodyPr wrap="square" anchor="t" lIns="45720" rIns="45720" tIns="18288" bIns="18288">
            <a:spAutoFit/>
          </a:bodyPr>
          <a:lstStyle/>
          <a:p>
            <a:pPr algn="l">
              <a:lnSpc>
                <a:spcPct val="110000"/>
              </a:lnSpc>
            </a:pPr>
            <a:r>
              <a:rPr sz="1500" b="1" i="0">
                <a:solidFill>
                  <a:srgbClr val="1F1F24"/>
                </a:solidFill>
                <a:latin typeface="Arial"/>
              </a:rPr>
              <a:t>vLLM log line, every 10 s</a:t>
            </a:r>
          </a:p>
        </p:txBody>
      </p:sp>
      <p:sp>
        <p:nvSpPr>
          <p:cNvPr id="14" name="Rounded Rectangle 13"/>
          <p:cNvSpPr/>
          <p:nvPr/>
        </p:nvSpPr>
        <p:spPr>
          <a:xfrm>
            <a:off x="6446520" y="4069080"/>
            <a:ext cx="5029200" cy="822959"/>
          </a:xfrm>
          <a:prstGeom prst="roundRect">
            <a:avLst>
              <a:gd name="adj" fmla="val 5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069080"/>
            <a:ext cx="4846320" cy="822959"/>
          </a:xfrm>
          <a:prstGeom prst="rect">
            <a:avLst/>
          </a:prstGeom>
          <a:noFill/>
        </p:spPr>
        <p:txBody>
          <a:bodyPr wrap="square" anchor="ctr" lIns="45720" rIns="45720" tIns="18288" bIns="18288">
            <a:spAutoFit/>
          </a:bodyPr>
          <a:lstStyle/>
          <a:p>
            <a:pPr algn="l">
              <a:lnSpc>
                <a:spcPct val="100000"/>
              </a:lnSpc>
            </a:pPr>
            <a:r>
              <a:rPr sz="1300" b="0" i="0">
                <a:solidFill>
                  <a:srgbClr val="1F1F24"/>
                </a:solidFill>
                <a:latin typeface="Consolas"/>
              </a:rPr>
              <a:t>... GPU KV cache usage: 99.6%, ...</a:t>
            </a:r>
          </a:p>
        </p:txBody>
      </p:sp>
      <p:sp>
        <p:nvSpPr>
          <p:cNvPr id="16" name="TextBox 15"/>
          <p:cNvSpPr txBox="1"/>
          <p:nvPr/>
        </p:nvSpPr>
        <p:spPr>
          <a:xfrm>
            <a:off x="6172200" y="5166360"/>
            <a:ext cx="5486400" cy="548640"/>
          </a:xfrm>
          <a:prstGeom prst="rect">
            <a:avLst/>
          </a:prstGeom>
          <a:noFill/>
        </p:spPr>
        <p:txBody>
          <a:bodyPr wrap="square" anchor="t" lIns="45720" rIns="45720" tIns="18288" bIns="18288">
            <a:spAutoFit/>
          </a:bodyPr>
          <a:lstStyle/>
          <a:p>
            <a:pPr algn="ctr">
              <a:lnSpc>
                <a:spcPct val="110000"/>
              </a:lnSpc>
            </a:pPr>
            <a:r>
              <a:rPr sz="2200" b="1" i="0">
                <a:solidFill>
                  <a:srgbClr val="991346"/>
                </a:solidFill>
                <a:latin typeface="Arial"/>
              </a:rPr>
              <a:t>Same number, two paths.</a:t>
            </a:r>
          </a:p>
        </p:txBody>
      </p:sp>
      <p:sp>
        <p:nvSpPr>
          <p:cNvPr id="17" name="TextBox 16"/>
          <p:cNvSpPr txBox="1"/>
          <p:nvPr/>
        </p:nvSpPr>
        <p:spPr>
          <a:xfrm>
            <a:off x="11109960" y="6327648"/>
            <a:ext cx="685800" cy="365760"/>
          </a:xfrm>
          <a:prstGeom prst="rect">
            <a:avLst/>
          </a:prstGeom>
          <a:noFill/>
        </p:spPr>
        <p:txBody>
          <a:bodyPr wrap="none" rIns="18288">
            <a:spAutoFit/>
          </a:bodyPr>
          <a:lstStyle/>
          <a:p>
            <a:pPr algn="r"/>
            <a:fld id="{B6F15528-21DE-4FAA-801E-634DDDAF4B13}" type="slidenum">
              <a:rPr lang="en-US" sz="1200" b="1">
                <a:solidFill>
                  <a:srgbClr val="991346"/>
                </a:solidFill>
                <a:latin typeface="Arial"/>
              </a:rPr>
              <a:t>13</a:t>
            </a:fld>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Why not set 0.90 everywhere?</a:t>
            </a:r>
          </a:p>
        </p:txBody>
      </p:sp>
      <p:sp>
        <p:nvSpPr>
          <p:cNvPr id="3" name="TextBox 2"/>
          <p:cNvSpPr txBox="1"/>
          <p:nvPr/>
        </p:nvSpPr>
        <p:spPr>
          <a:xfrm>
            <a:off x="548640" y="1143000"/>
            <a:ext cx="3931920" cy="365760"/>
          </a:xfrm>
          <a:prstGeom prst="rect">
            <a:avLst/>
          </a:prstGeom>
          <a:noFill/>
        </p:spPr>
        <p:txBody>
          <a:bodyPr wrap="square" anchor="t" lIns="45720" rIns="45720" tIns="18288" bIns="18288">
            <a:spAutoFit/>
          </a:bodyPr>
          <a:lstStyle/>
          <a:p>
            <a:pPr algn="l">
              <a:lnSpc>
                <a:spcPct val="110000"/>
              </a:lnSpc>
            </a:pPr>
            <a:r>
              <a:rPr sz="1300" b="1" i="0">
                <a:solidFill>
                  <a:srgbClr val="991346"/>
                </a:solidFill>
                <a:latin typeface="Arial"/>
              </a:rPr>
              <a:t>Q&amp;A BACKUP</a:t>
            </a:r>
          </a:p>
        </p:txBody>
      </p:sp>
      <p:sp>
        <p:nvSpPr>
          <p:cNvPr id="4" name="TextBox 3"/>
          <p:cNvSpPr txBox="1"/>
          <p:nvPr/>
        </p:nvSpPr>
        <p:spPr>
          <a:xfrm>
            <a:off x="548640" y="1554480"/>
            <a:ext cx="5120640" cy="4480560"/>
          </a:xfrm>
          <a:prstGeom prst="rect">
            <a:avLst/>
          </a:prstGeom>
          <a:noFill/>
        </p:spPr>
        <p:txBody>
          <a:bodyPr wrap="square" anchor="t" lIns="45720" rIns="45720" tIns="18288" bIns="18288">
            <a:spAutoFit/>
          </a:bodyPr>
          <a:lstStyle/>
          <a:p>
            <a:pPr algn="l">
              <a:lnSpc>
                <a:spcPct val="115000"/>
              </a:lnSpc>
            </a:pPr>
            <a:r>
              <a:rPr sz="1900" b="1" i="0">
                <a:solidFill>
                  <a:srgbClr val="1F1F24"/>
                </a:solidFill>
                <a:latin typeface="Arial"/>
              </a:rPr>
              <a:t>The default is already 0.92.</a:t>
            </a:r>
          </a:p>
          <a:p>
            <a:pPr algn="l">
              <a:lnSpc>
                <a:spcPct val="115000"/>
              </a:lnSpc>
            </a:pPr>
            <a:r>
              <a:rPr sz="1900" b="0" i="0">
                <a:solidFill>
                  <a:srgbClr val="1F1F24"/>
                </a:solidFill>
                <a:latin typeface="Arial"/>
              </a:rPr>
              <a:t/>
            </a:r>
          </a:p>
          <a:p>
            <a:pPr algn="l">
              <a:lnSpc>
                <a:spcPct val="115000"/>
              </a:lnSpc>
            </a:pPr>
            <a:r>
              <a:rPr sz="1900" b="0" i="0">
                <a:solidFill>
                  <a:srgbClr val="1F1F24"/>
                </a:solidFill>
                <a:latin typeface="Arial"/>
              </a:rPr>
              <a:t>One pod, one GPU, nothing else on it: </a:t>
            </a:r>
            <a:r>
              <a:rPr sz="1900" b="1" i="0">
                <a:solidFill>
                  <a:srgbClr val="1F1F24"/>
                </a:solidFill>
                <a:latin typeface="Arial"/>
              </a:rPr>
              <a:t>0.90 is fine.</a:t>
            </a:r>
            <a:r>
              <a:rPr sz="1900" b="0" i="0">
                <a:solidFill>
                  <a:srgbClr val="1F1F24"/>
                </a:solidFill>
                <a:latin typeface="Arial"/>
              </a:rPr>
              <a:t> You paid for headroom.</a:t>
            </a:r>
          </a:p>
          <a:p>
            <a:pPr algn="l">
              <a:lnSpc>
                <a:spcPct val="115000"/>
              </a:lnSpc>
            </a:pPr>
            <a:r>
              <a:rPr sz="1900" b="0" i="0">
                <a:solidFill>
                  <a:srgbClr val="1F1F24"/>
                </a:solidFill>
                <a:latin typeface="Arial"/>
              </a:rPr>
              <a:t/>
            </a:r>
          </a:p>
          <a:p>
            <a:pPr algn="l">
              <a:lnSpc>
                <a:spcPct val="115000"/>
              </a:lnSpc>
            </a:pPr>
            <a:r>
              <a:rPr sz="1900" b="1" i="0">
                <a:solidFill>
                  <a:srgbClr val="1F1F24"/>
                </a:solidFill>
                <a:latin typeface="Arial"/>
              </a:rPr>
              <a:t>Shared GPUs: </a:t>
            </a:r>
            <a:r>
              <a:rPr sz="1900" b="0" i="0">
                <a:solidFill>
                  <a:srgbClr val="1F1F24"/>
                </a:solidFill>
                <a:latin typeface="Arial"/>
              </a:rPr>
              <a:t>the memory is reserved at startup, used or not. It is what the next pod needs.</a:t>
            </a:r>
          </a:p>
        </p:txBody>
      </p:sp>
      <p:sp>
        <p:nvSpPr>
          <p:cNvPr id="5" name="TextBox 4"/>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vllm/config/cache.py (default 0.92); 16 Oct 2026 recording. Sharing needs time-slicing, MPS or MIG; not tested on this rig.</a:t>
            </a:r>
          </a:p>
        </p:txBody>
      </p:sp>
      <p:sp>
        <p:nvSpPr>
          <p:cNvPr id="6" name="TextBox 5"/>
          <p:cNvSpPr txBox="1"/>
          <p:nvPr/>
        </p:nvSpPr>
        <p:spPr>
          <a:xfrm>
            <a:off x="6172200" y="1783080"/>
            <a:ext cx="5486400" cy="365760"/>
          </a:xfrm>
          <a:prstGeom prst="rect">
            <a:avLst/>
          </a:prstGeom>
          <a:noFill/>
        </p:spPr>
        <p:txBody>
          <a:bodyPr wrap="square" anchor="t" lIns="45720" rIns="45720" tIns="18288" bIns="18288">
            <a:spAutoFit/>
          </a:bodyPr>
          <a:lstStyle/>
          <a:p>
            <a:pPr algn="l">
              <a:lnSpc>
                <a:spcPct val="110000"/>
              </a:lnSpc>
            </a:pPr>
            <a:r>
              <a:rPr sz="1700" b="1" i="0">
                <a:solidFill>
                  <a:srgbClr val="2F6FDB"/>
                </a:solidFill>
                <a:latin typeface="Arial"/>
              </a:rPr>
              <a:t>Pod B, 90%: 20.6 GB reserved</a:t>
            </a:r>
          </a:p>
        </p:txBody>
      </p:sp>
      <p:sp>
        <p:nvSpPr>
          <p:cNvPr id="7" name="Rectangle 6"/>
          <p:cNvSpPr/>
          <p:nvPr/>
        </p:nvSpPr>
        <p:spPr>
          <a:xfrm>
            <a:off x="6172200" y="2240280"/>
            <a:ext cx="5486400" cy="914400"/>
          </a:xfrm>
          <a:prstGeom prst="rect">
            <a:avLst/>
          </a:prstGeom>
          <a:solidFill>
            <a:srgbClr val="F3F3F5"/>
          </a:solidFill>
          <a:ln w="25400">
            <a:solidFill>
              <a:srgbClr val="2F6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2200" y="2240280"/>
            <a:ext cx="1645920" cy="914400"/>
          </a:xfrm>
          <a:prstGeom prst="rect">
            <a:avLst/>
          </a:prstGeom>
          <a:solidFill>
            <a:srgbClr val="2F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2240280"/>
            <a:ext cx="1645920" cy="914400"/>
          </a:xfrm>
          <a:prstGeom prst="rect">
            <a:avLst/>
          </a:prstGeom>
          <a:noFill/>
        </p:spPr>
        <p:txBody>
          <a:bodyPr wrap="square" anchor="ctr" lIns="45720" rIns="45720" tIns="18288" bIns="18288">
            <a:spAutoFit/>
          </a:bodyPr>
          <a:lstStyle/>
          <a:p>
            <a:pPr algn="ctr">
              <a:lnSpc>
                <a:spcPct val="110000"/>
              </a:lnSpc>
            </a:pPr>
            <a:r>
              <a:rPr sz="1500" b="1" i="0">
                <a:solidFill>
                  <a:srgbClr val="FFFFFF"/>
                </a:solidFill>
                <a:latin typeface="Arial"/>
              </a:rPr>
              <a:t>used ~30%</a:t>
            </a:r>
          </a:p>
        </p:txBody>
      </p:sp>
      <p:sp>
        <p:nvSpPr>
          <p:cNvPr id="10" name="TextBox 9"/>
          <p:cNvSpPr txBox="1"/>
          <p:nvPr/>
        </p:nvSpPr>
        <p:spPr>
          <a:xfrm>
            <a:off x="7818120" y="2240280"/>
            <a:ext cx="3840480" cy="914400"/>
          </a:xfrm>
          <a:prstGeom prst="rect">
            <a:avLst/>
          </a:prstGeom>
          <a:noFill/>
        </p:spPr>
        <p:txBody>
          <a:bodyPr wrap="square" anchor="ctr" lIns="45720" rIns="45720" tIns="18288" bIns="18288">
            <a:spAutoFit/>
          </a:bodyPr>
          <a:lstStyle/>
          <a:p>
            <a:pPr algn="ctr">
              <a:lnSpc>
                <a:spcPct val="110000"/>
              </a:lnSpc>
            </a:pPr>
            <a:r>
              <a:rPr sz="1600" b="0" i="0">
                <a:solidFill>
                  <a:srgbClr val="6B6B76"/>
                </a:solidFill>
                <a:latin typeface="Arial"/>
              </a:rPr>
              <a:t>reserved, never used</a:t>
            </a:r>
          </a:p>
        </p:txBody>
      </p:sp>
      <p:sp>
        <p:nvSpPr>
          <p:cNvPr id="11" name="TextBox 10"/>
          <p:cNvSpPr txBox="1"/>
          <p:nvPr/>
        </p:nvSpPr>
        <p:spPr>
          <a:xfrm>
            <a:off x="6172200" y="3383280"/>
            <a:ext cx="5486400" cy="1097280"/>
          </a:xfrm>
          <a:prstGeom prst="rect">
            <a:avLst/>
          </a:prstGeom>
          <a:noFill/>
        </p:spPr>
        <p:txBody>
          <a:bodyPr wrap="square" anchor="t" lIns="45720" rIns="45720" tIns="18288" bIns="18288">
            <a:spAutoFit/>
          </a:bodyPr>
          <a:lstStyle/>
          <a:p>
            <a:pPr algn="l">
              <a:lnSpc>
                <a:spcPct val="110000"/>
              </a:lnSpc>
            </a:pPr>
            <a:r>
              <a:rPr sz="2200" b="1" i="0">
                <a:solidFill>
                  <a:srgbClr val="991346"/>
                </a:solidFill>
                <a:latin typeface="Arial"/>
              </a:rPr>
              <a:t>Size from the peak. Give the rest back.</a:t>
            </a:r>
          </a:p>
        </p:txBody>
      </p:sp>
      <p:sp>
        <p:nvSpPr>
          <p:cNvPr id="12" name="TextBox 11"/>
          <p:cNvSpPr txBox="1"/>
          <p:nvPr/>
        </p:nvSpPr>
        <p:spPr>
          <a:xfrm>
            <a:off x="11109960" y="6327648"/>
            <a:ext cx="685800" cy="365760"/>
          </a:xfrm>
          <a:prstGeom prst="rect">
            <a:avLst/>
          </a:prstGeom>
          <a:noFill/>
        </p:spPr>
        <p:txBody>
          <a:bodyPr wrap="none" rIns="18288">
            <a:spAutoFit/>
          </a:bodyPr>
          <a:lstStyle/>
          <a:p>
            <a:pPr algn="r"/>
            <a:fld id="{B6F15528-21DE-4FAA-801E-634DDDAF4B14}" type="slidenum">
              <a:rPr lang="en-US" sz="1200" b="1">
                <a:solidFill>
                  <a:srgbClr val="991346"/>
                </a:solidFill>
                <a:latin typeface="Arial"/>
              </a:rPr>
              <a:t>14</a:t>
            </a:fld>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What about GPU utilisation?</a:t>
            </a:r>
          </a:p>
        </p:txBody>
      </p:sp>
      <p:sp>
        <p:nvSpPr>
          <p:cNvPr id="3" name="TextBox 2"/>
          <p:cNvSpPr txBox="1"/>
          <p:nvPr/>
        </p:nvSpPr>
        <p:spPr>
          <a:xfrm>
            <a:off x="548640" y="1143000"/>
            <a:ext cx="3931920" cy="365760"/>
          </a:xfrm>
          <a:prstGeom prst="rect">
            <a:avLst/>
          </a:prstGeom>
          <a:noFill/>
        </p:spPr>
        <p:txBody>
          <a:bodyPr wrap="square" anchor="t" lIns="45720" rIns="45720" tIns="18288" bIns="18288">
            <a:spAutoFit/>
          </a:bodyPr>
          <a:lstStyle/>
          <a:p>
            <a:pPr algn="l">
              <a:lnSpc>
                <a:spcPct val="110000"/>
              </a:lnSpc>
            </a:pPr>
            <a:r>
              <a:rPr sz="1300" b="1" i="0">
                <a:solidFill>
                  <a:srgbClr val="991346"/>
                </a:solidFill>
                <a:latin typeface="Arial"/>
              </a:rPr>
              <a:t>Q&amp;A BACKUP</a:t>
            </a:r>
          </a:p>
        </p:txBody>
      </p:sp>
      <p:sp>
        <p:nvSpPr>
          <p:cNvPr id="4" name="TextBox 3"/>
          <p:cNvSpPr txBox="1"/>
          <p:nvPr/>
        </p:nvSpPr>
        <p:spPr>
          <a:xfrm>
            <a:off x="548640" y="1554480"/>
            <a:ext cx="5120640" cy="4480560"/>
          </a:xfrm>
          <a:prstGeom prst="rect">
            <a:avLst/>
          </a:prstGeom>
          <a:noFill/>
        </p:spPr>
        <p:txBody>
          <a:bodyPr wrap="square" anchor="t" lIns="45720" rIns="45720" tIns="18288" bIns="18288">
            <a:spAutoFit/>
          </a:bodyPr>
          <a:lstStyle/>
          <a:p>
            <a:pPr algn="l">
              <a:lnSpc>
                <a:spcPct val="115000"/>
              </a:lnSpc>
            </a:pPr>
            <a:r>
              <a:rPr sz="1900" b="1" i="0">
                <a:solidFill>
                  <a:srgbClr val="1F1F24"/>
                </a:solidFill>
                <a:latin typeface="Arial"/>
              </a:rPr>
              <a:t>GPU_UTIL = share of time at least one kernel ran.</a:t>
            </a:r>
          </a:p>
          <a:p>
            <a:pPr algn="l">
              <a:lnSpc>
                <a:spcPct val="115000"/>
              </a:lnSpc>
            </a:pPr>
            <a:r>
              <a:rPr sz="1900" b="0" i="0">
                <a:solidFill>
                  <a:srgbClr val="1F1F24"/>
                </a:solidFill>
                <a:latin typeface="Arial"/>
              </a:rPr>
              <a:t/>
            </a:r>
          </a:p>
          <a:p>
            <a:pPr algn="l">
              <a:lnSpc>
                <a:spcPct val="115000"/>
              </a:lnSpc>
            </a:pPr>
            <a:r>
              <a:rPr sz="1900" b="0" i="0">
                <a:solidFill>
                  <a:srgbClr val="1F1F24"/>
                </a:solidFill>
                <a:latin typeface="Arial"/>
              </a:rPr>
              <a:t>One busy kernel reads as 100%. Waiting on memory looks the same as flat out.</a:t>
            </a:r>
          </a:p>
          <a:p>
            <a:pPr algn="l">
              <a:lnSpc>
                <a:spcPct val="115000"/>
              </a:lnSpc>
            </a:pPr>
            <a:r>
              <a:rPr sz="1900" b="0" i="0">
                <a:solidFill>
                  <a:srgbClr val="1F1F24"/>
                </a:solidFill>
                <a:latin typeface="Arial"/>
              </a:rPr>
              <a:t/>
            </a:r>
          </a:p>
          <a:p>
            <a:pPr algn="l">
              <a:lnSpc>
                <a:spcPct val="115000"/>
              </a:lnSpc>
            </a:pPr>
            <a:r>
              <a:rPr sz="1900" b="1" i="0">
                <a:solidFill>
                  <a:srgbClr val="1F1F24"/>
                </a:solidFill>
                <a:latin typeface="Arial"/>
              </a:rPr>
              <a:t>Profiling fields say more. </a:t>
            </a:r>
            <a:r>
              <a:rPr sz="1900" b="0" i="0">
                <a:solidFill>
                  <a:srgbClr val="1F1F24"/>
                </a:solidFill>
                <a:latin typeface="Arial"/>
              </a:rPr>
              <a:t>None of them knows about the queue.</a:t>
            </a:r>
          </a:p>
        </p:txBody>
      </p:sp>
      <p:sp>
        <p:nvSpPr>
          <p:cNvPr id="5" name="TextBox 4"/>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NVML nvmlUtilization_t; manifests/10-gpu-metrics/dcgm-exporter.yaml (scraped on the A10G). Profiling fields need GPU and driver support.</a:t>
            </a:r>
          </a:p>
        </p:txBody>
      </p:sp>
      <p:sp>
        <p:nvSpPr>
          <p:cNvPr id="6" name="Rounded Rectangle 5"/>
          <p:cNvSpPr/>
          <p:nvPr/>
        </p:nvSpPr>
        <p:spPr>
          <a:xfrm>
            <a:off x="6172200" y="1783080"/>
            <a:ext cx="5486400" cy="731520"/>
          </a:xfrm>
          <a:prstGeom prst="roundRect">
            <a:avLst>
              <a:gd name="adj" fmla="val 8000"/>
            </a:avLst>
          </a:prstGeom>
          <a:solidFill>
            <a:srgbClr val="F3F3F5"/>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783080"/>
            <a:ext cx="3108960" cy="731520"/>
          </a:xfrm>
          <a:prstGeom prst="rect">
            <a:avLst/>
          </a:prstGeom>
          <a:noFill/>
        </p:spPr>
        <p:txBody>
          <a:bodyPr wrap="square" anchor="ctr" lIns="45720" rIns="45720" tIns="18288" bIns="18288">
            <a:spAutoFit/>
          </a:bodyPr>
          <a:lstStyle/>
          <a:p>
            <a:pPr algn="l">
              <a:lnSpc>
                <a:spcPct val="110000"/>
              </a:lnSpc>
            </a:pPr>
            <a:r>
              <a:rPr sz="1400" b="0" i="0">
                <a:solidFill>
                  <a:srgbClr val="1F1F24"/>
                </a:solidFill>
                <a:latin typeface="Consolas"/>
              </a:rPr>
              <a:t>DCGM_FI_DEV_GPU_UTIL</a:t>
            </a:r>
          </a:p>
        </p:txBody>
      </p:sp>
      <p:sp>
        <p:nvSpPr>
          <p:cNvPr id="8" name="TextBox 7"/>
          <p:cNvSpPr txBox="1"/>
          <p:nvPr/>
        </p:nvSpPr>
        <p:spPr>
          <a:xfrm>
            <a:off x="9418320" y="1783080"/>
            <a:ext cx="2194560" cy="731520"/>
          </a:xfrm>
          <a:prstGeom prst="rect">
            <a:avLst/>
          </a:prstGeom>
          <a:noFill/>
        </p:spPr>
        <p:txBody>
          <a:bodyPr wrap="square" anchor="ctr" lIns="45720" rIns="45720" tIns="18288" bIns="18288">
            <a:spAutoFit/>
          </a:bodyPr>
          <a:lstStyle/>
          <a:p>
            <a:pPr algn="l">
              <a:lnSpc>
                <a:spcPct val="110000"/>
              </a:lnSpc>
            </a:pPr>
            <a:r>
              <a:rPr sz="1500" b="0" i="0">
                <a:solidFill>
                  <a:srgbClr val="6B6B76"/>
                </a:solidFill>
                <a:latin typeface="Arial"/>
              </a:rPr>
              <a:t>a kernel ran</a:t>
            </a:r>
          </a:p>
        </p:txBody>
      </p:sp>
      <p:sp>
        <p:nvSpPr>
          <p:cNvPr id="9" name="Rounded Rectangle 8"/>
          <p:cNvSpPr/>
          <p:nvPr/>
        </p:nvSpPr>
        <p:spPr>
          <a:xfrm>
            <a:off x="6172200" y="2651760"/>
            <a:ext cx="5486400" cy="73152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2651760"/>
            <a:ext cx="3108960" cy="731520"/>
          </a:xfrm>
          <a:prstGeom prst="rect">
            <a:avLst/>
          </a:prstGeom>
          <a:noFill/>
        </p:spPr>
        <p:txBody>
          <a:bodyPr wrap="square" anchor="ctr" lIns="45720" rIns="45720" tIns="18288" bIns="18288">
            <a:spAutoFit/>
          </a:bodyPr>
          <a:lstStyle/>
          <a:p>
            <a:pPr algn="l">
              <a:lnSpc>
                <a:spcPct val="110000"/>
              </a:lnSpc>
            </a:pPr>
            <a:r>
              <a:rPr sz="1400" b="0" i="0">
                <a:solidFill>
                  <a:srgbClr val="1F1F24"/>
                </a:solidFill>
                <a:latin typeface="Consolas"/>
              </a:rPr>
              <a:t>DCGM_FI_PROF_SM_ACTIVE</a:t>
            </a:r>
          </a:p>
        </p:txBody>
      </p:sp>
      <p:sp>
        <p:nvSpPr>
          <p:cNvPr id="11" name="TextBox 10"/>
          <p:cNvSpPr txBox="1"/>
          <p:nvPr/>
        </p:nvSpPr>
        <p:spPr>
          <a:xfrm>
            <a:off x="9418320" y="2651760"/>
            <a:ext cx="2194560" cy="731520"/>
          </a:xfrm>
          <a:prstGeom prst="rect">
            <a:avLst/>
          </a:prstGeom>
          <a:noFill/>
        </p:spPr>
        <p:txBody>
          <a:bodyPr wrap="square" anchor="ctr" lIns="45720" rIns="45720" tIns="18288" bIns="18288">
            <a:spAutoFit/>
          </a:bodyPr>
          <a:lstStyle/>
          <a:p>
            <a:pPr algn="l">
              <a:lnSpc>
                <a:spcPct val="110000"/>
              </a:lnSpc>
            </a:pPr>
            <a:r>
              <a:rPr sz="1500" b="0" i="0">
                <a:solidFill>
                  <a:srgbClr val="6B6B76"/>
                </a:solidFill>
                <a:latin typeface="Arial"/>
              </a:rPr>
              <a:t>share of SMs working</a:t>
            </a:r>
          </a:p>
        </p:txBody>
      </p:sp>
      <p:sp>
        <p:nvSpPr>
          <p:cNvPr id="12" name="Rounded Rectangle 11"/>
          <p:cNvSpPr/>
          <p:nvPr/>
        </p:nvSpPr>
        <p:spPr>
          <a:xfrm>
            <a:off x="6172200" y="3520439"/>
            <a:ext cx="5486400" cy="731520"/>
          </a:xfrm>
          <a:prstGeom prst="roundRect">
            <a:avLst>
              <a:gd name="adj" fmla="val 8000"/>
            </a:avLst>
          </a:prstGeom>
          <a:solidFill>
            <a:srgbClr val="F3F3F5"/>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520439"/>
            <a:ext cx="3108960" cy="731520"/>
          </a:xfrm>
          <a:prstGeom prst="rect">
            <a:avLst/>
          </a:prstGeom>
          <a:noFill/>
        </p:spPr>
        <p:txBody>
          <a:bodyPr wrap="square" anchor="ctr" lIns="45720" rIns="45720" tIns="18288" bIns="18288">
            <a:spAutoFit/>
          </a:bodyPr>
          <a:lstStyle/>
          <a:p>
            <a:pPr algn="l">
              <a:lnSpc>
                <a:spcPct val="110000"/>
              </a:lnSpc>
            </a:pPr>
            <a:r>
              <a:rPr sz="1400" b="0" i="0">
                <a:solidFill>
                  <a:srgbClr val="1F1F24"/>
                </a:solidFill>
                <a:latin typeface="Consolas"/>
              </a:rPr>
              <a:t>DCGM_FI_PROF_DRAM_ACTIVE</a:t>
            </a:r>
          </a:p>
        </p:txBody>
      </p:sp>
      <p:sp>
        <p:nvSpPr>
          <p:cNvPr id="14" name="TextBox 13"/>
          <p:cNvSpPr txBox="1"/>
          <p:nvPr/>
        </p:nvSpPr>
        <p:spPr>
          <a:xfrm>
            <a:off x="9418320" y="3520439"/>
            <a:ext cx="2194560" cy="731520"/>
          </a:xfrm>
          <a:prstGeom prst="rect">
            <a:avLst/>
          </a:prstGeom>
          <a:noFill/>
        </p:spPr>
        <p:txBody>
          <a:bodyPr wrap="square" anchor="ctr" lIns="45720" rIns="45720" tIns="18288" bIns="18288">
            <a:spAutoFit/>
          </a:bodyPr>
          <a:lstStyle/>
          <a:p>
            <a:pPr algn="l">
              <a:lnSpc>
                <a:spcPct val="110000"/>
              </a:lnSpc>
            </a:pPr>
            <a:r>
              <a:rPr sz="1500" b="0" i="0">
                <a:solidFill>
                  <a:srgbClr val="6B6B76"/>
                </a:solidFill>
                <a:latin typeface="Arial"/>
              </a:rPr>
              <a:t>memory bus busy</a:t>
            </a:r>
          </a:p>
        </p:txBody>
      </p:sp>
      <p:sp>
        <p:nvSpPr>
          <p:cNvPr id="15" name="Rounded Rectangle 14"/>
          <p:cNvSpPr/>
          <p:nvPr/>
        </p:nvSpPr>
        <p:spPr>
          <a:xfrm>
            <a:off x="6172200" y="4389120"/>
            <a:ext cx="5486400" cy="731520"/>
          </a:xfrm>
          <a:prstGeom prst="roundRect">
            <a:avLst>
              <a:gd name="adj" fmla="val 8000"/>
            </a:avLst>
          </a:prstGeom>
          <a:solidFill>
            <a:srgbClr val="991346"/>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4389120"/>
            <a:ext cx="3108960" cy="731520"/>
          </a:xfrm>
          <a:prstGeom prst="rect">
            <a:avLst/>
          </a:prstGeom>
          <a:noFill/>
        </p:spPr>
        <p:txBody>
          <a:bodyPr wrap="square" anchor="ctr" lIns="45720" rIns="45720" tIns="18288" bIns="18288">
            <a:spAutoFit/>
          </a:bodyPr>
          <a:lstStyle/>
          <a:p>
            <a:pPr algn="l">
              <a:lnSpc>
                <a:spcPct val="110000"/>
              </a:lnSpc>
            </a:pPr>
            <a:r>
              <a:rPr sz="1600" b="1" i="0">
                <a:solidFill>
                  <a:srgbClr val="FFFFFF"/>
                </a:solidFill>
                <a:latin typeface="Arial"/>
              </a:rPr>
              <a:t>the server's queue</a:t>
            </a:r>
          </a:p>
        </p:txBody>
      </p:sp>
      <p:sp>
        <p:nvSpPr>
          <p:cNvPr id="17" name="TextBox 16"/>
          <p:cNvSpPr txBox="1"/>
          <p:nvPr/>
        </p:nvSpPr>
        <p:spPr>
          <a:xfrm>
            <a:off x="9418320" y="4389120"/>
            <a:ext cx="2194560" cy="731520"/>
          </a:xfrm>
          <a:prstGeom prst="rect">
            <a:avLst/>
          </a:prstGeom>
          <a:noFill/>
        </p:spPr>
        <p:txBody>
          <a:bodyPr wrap="square" anchor="ctr" lIns="45720" rIns="45720" tIns="18288" bIns="18288">
            <a:spAutoFit/>
          </a:bodyPr>
          <a:lstStyle/>
          <a:p>
            <a:pPr algn="l">
              <a:lnSpc>
                <a:spcPct val="110000"/>
              </a:lnSpc>
            </a:pPr>
            <a:r>
              <a:rPr sz="1500" b="1" i="0">
                <a:solidFill>
                  <a:srgbClr val="FFFFFF"/>
                </a:solidFill>
                <a:latin typeface="Arial"/>
              </a:rPr>
              <a:t>none of the above</a:t>
            </a:r>
          </a:p>
        </p:txBody>
      </p:sp>
      <p:sp>
        <p:nvSpPr>
          <p:cNvPr id="18" name="TextBox 17"/>
          <p:cNvSpPr txBox="1"/>
          <p:nvPr/>
        </p:nvSpPr>
        <p:spPr>
          <a:xfrm>
            <a:off x="11109960" y="6327648"/>
            <a:ext cx="685800" cy="365760"/>
          </a:xfrm>
          <a:prstGeom prst="rect">
            <a:avLst/>
          </a:prstGeom>
          <a:noFill/>
        </p:spPr>
        <p:txBody>
          <a:bodyPr wrap="none" rIns="18288">
            <a:spAutoFit/>
          </a:bodyPr>
          <a:lstStyle/>
          <a:p>
            <a:pPr algn="r"/>
            <a:fld id="{B6F15528-21DE-4FAA-801E-634DDDAF4B15}" type="slidenum">
              <a:rPr lang="en-US" sz="1200" b="1">
                <a:solidFill>
                  <a:srgbClr val="991346"/>
                </a:solidFill>
                <a:latin typeface="Arial"/>
              </a:rPr>
              <a:t>15</a:t>
            </a:fld>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402336" y="0"/>
            <a:ext cx="9144000" cy="969264"/>
          </a:xfrm>
          <a:prstGeom prst="rect">
            <a:avLst/>
          </a:prstGeom>
          <a:noFill/>
        </p:spPr>
        <p:txBody>
          <a:bodyPr wrap="square" anchor="ctr" lIns="45720" rIns="45720" tIns="18288" bIns="18288">
            <a:spAutoFit/>
          </a:bodyPr>
          <a:lstStyle/>
          <a:p>
            <a:pPr algn="l">
              <a:lnSpc>
                <a:spcPct val="110000"/>
              </a:lnSpc>
            </a:pPr>
            <a:r>
              <a:rPr sz="3400" b="1" i="0">
                <a:solidFill>
                  <a:srgbClr val="FFFFFF"/>
                </a:solidFill>
                <a:latin typeface="Arial"/>
              </a:rPr>
              <a:t>How much does the pod name cost?</a:t>
            </a:r>
          </a:p>
        </p:txBody>
      </p:sp>
      <p:sp>
        <p:nvSpPr>
          <p:cNvPr id="3" name="TextBox 2"/>
          <p:cNvSpPr txBox="1"/>
          <p:nvPr/>
        </p:nvSpPr>
        <p:spPr>
          <a:xfrm>
            <a:off x="548640" y="1143000"/>
            <a:ext cx="3931920" cy="365760"/>
          </a:xfrm>
          <a:prstGeom prst="rect">
            <a:avLst/>
          </a:prstGeom>
          <a:noFill/>
        </p:spPr>
        <p:txBody>
          <a:bodyPr wrap="square" anchor="t" lIns="45720" rIns="45720" tIns="18288" bIns="18288">
            <a:spAutoFit/>
          </a:bodyPr>
          <a:lstStyle/>
          <a:p>
            <a:pPr algn="l">
              <a:lnSpc>
                <a:spcPct val="110000"/>
              </a:lnSpc>
            </a:pPr>
            <a:r>
              <a:rPr sz="1300" b="1" i="0">
                <a:solidFill>
                  <a:srgbClr val="991346"/>
                </a:solidFill>
                <a:latin typeface="Arial"/>
              </a:rPr>
              <a:t>Q&amp;A BACKUP</a:t>
            </a:r>
          </a:p>
        </p:txBody>
      </p:sp>
      <p:sp>
        <p:nvSpPr>
          <p:cNvPr id="4" name="TextBox 3"/>
          <p:cNvSpPr txBox="1"/>
          <p:nvPr/>
        </p:nvSpPr>
        <p:spPr>
          <a:xfrm>
            <a:off x="548640" y="1554480"/>
            <a:ext cx="5120640" cy="4480560"/>
          </a:xfrm>
          <a:prstGeom prst="rect">
            <a:avLst/>
          </a:prstGeom>
          <a:noFill/>
        </p:spPr>
        <p:txBody>
          <a:bodyPr wrap="square" anchor="t" lIns="45720" rIns="45720" tIns="18288" bIns="18288">
            <a:spAutoFit/>
          </a:bodyPr>
          <a:lstStyle/>
          <a:p>
            <a:pPr algn="l">
              <a:lnSpc>
                <a:spcPct val="115000"/>
              </a:lnSpc>
            </a:pPr>
            <a:r>
              <a:rPr sz="1900" b="1" i="0">
                <a:solidFill>
                  <a:srgbClr val="1F1F24"/>
                </a:solidFill>
                <a:latin typeface="Arial"/>
              </a:rPr>
              <a:t>One new set of series per pod restart.</a:t>
            </a:r>
          </a:p>
          <a:p>
            <a:pPr algn="l">
              <a:lnSpc>
                <a:spcPct val="115000"/>
              </a:lnSpc>
            </a:pPr>
            <a:r>
              <a:rPr sz="1900" b="0" i="0">
                <a:solidFill>
                  <a:srgbClr val="1F1F24"/>
                </a:solidFill>
                <a:latin typeface="Arial"/>
              </a:rPr>
              <a:t/>
            </a:r>
          </a:p>
          <a:p>
            <a:pPr algn="l">
              <a:lnSpc>
                <a:spcPct val="115000"/>
              </a:lnSpc>
            </a:pPr>
            <a:r>
              <a:rPr sz="1900" b="0" i="0">
                <a:solidFill>
                  <a:srgbClr val="1F1F24"/>
                </a:solidFill>
                <a:latin typeface="Arial"/>
              </a:rPr>
              <a:t>Keep the pod name: it is the join key.</a:t>
            </a:r>
          </a:p>
          <a:p>
            <a:pPr algn="l">
              <a:lnSpc>
                <a:spcPct val="115000"/>
              </a:lnSpc>
            </a:pPr>
            <a:r>
              <a:rPr sz="1900" b="0" i="0">
                <a:solidFill>
                  <a:srgbClr val="1F1F24"/>
                </a:solidFill>
                <a:latin typeface="Arial"/>
              </a:rPr>
              <a:t/>
            </a:r>
          </a:p>
          <a:p>
            <a:pPr algn="l">
              <a:lnSpc>
                <a:spcPct val="115000"/>
              </a:lnSpc>
            </a:pPr>
            <a:r>
              <a:rPr sz="1900" b="1" i="0">
                <a:solidFill>
                  <a:srgbClr val="1F1F24"/>
                </a:solidFill>
                <a:latin typeface="Arial"/>
              </a:rPr>
              <a:t>Drop what churns: </a:t>
            </a:r>
            <a:r>
              <a:rPr sz="1900" b="0" i="0">
                <a:solidFill>
                  <a:srgbClr val="1F1F24"/>
                </a:solidFill>
                <a:latin typeface="Arial"/>
              </a:rPr>
              <a:t>no pod labels, a short counter list, short retention for per-pod data.</a:t>
            </a:r>
          </a:p>
        </p:txBody>
      </p:sp>
      <p:sp>
        <p:nvSpPr>
          <p:cNvPr id="5" name="TextBox 4"/>
          <p:cNvSpPr txBox="1"/>
          <p:nvPr/>
        </p:nvSpPr>
        <p:spPr>
          <a:xfrm>
            <a:off x="548640" y="6355080"/>
            <a:ext cx="10515600" cy="365760"/>
          </a:xfrm>
          <a:prstGeom prst="rect">
            <a:avLst/>
          </a:prstGeom>
          <a:noFill/>
        </p:spPr>
        <p:txBody>
          <a:bodyPr wrap="square" anchor="t" lIns="45720" rIns="45720" tIns="18288" bIns="18288">
            <a:spAutoFit/>
          </a:bodyPr>
          <a:lstStyle/>
          <a:p>
            <a:pPr algn="l">
              <a:lnSpc>
                <a:spcPct val="110000"/>
              </a:lnSpc>
            </a:pPr>
            <a:r>
              <a:rPr sz="1100" b="0" i="0">
                <a:solidFill>
                  <a:srgbClr val="6B6B76"/>
                </a:solidFill>
                <a:latin typeface="Arial"/>
              </a:rPr>
              <a:t>manifests/50-prometheus/CARDINALITY-DEMO.md, measured 13 Oct 2026: 7 counters x 2 GPUs. Default counter set is about 40.</a:t>
            </a:r>
          </a:p>
        </p:txBody>
      </p:sp>
      <p:sp>
        <p:nvSpPr>
          <p:cNvPr id="6" name="Rounded Rectangle 5"/>
          <p:cNvSpPr/>
          <p:nvPr/>
        </p:nvSpPr>
        <p:spPr>
          <a:xfrm>
            <a:off x="6172200" y="1783080"/>
            <a:ext cx="2651760" cy="164592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1828800"/>
            <a:ext cx="2651760" cy="1005840"/>
          </a:xfrm>
          <a:prstGeom prst="rect">
            <a:avLst/>
          </a:prstGeom>
          <a:noFill/>
        </p:spPr>
        <p:txBody>
          <a:bodyPr wrap="square" anchor="ctr" lIns="45720" rIns="45720" tIns="18288" bIns="18288">
            <a:spAutoFit/>
          </a:bodyPr>
          <a:lstStyle/>
          <a:p>
            <a:pPr algn="ctr">
              <a:lnSpc>
                <a:spcPct val="110000"/>
              </a:lnSpc>
            </a:pPr>
            <a:r>
              <a:rPr sz="6000" b="1" i="0">
                <a:solidFill>
                  <a:srgbClr val="1F1F24"/>
                </a:solidFill>
                <a:latin typeface="Arial"/>
              </a:rPr>
              <a:t>14</a:t>
            </a:r>
          </a:p>
        </p:txBody>
      </p:sp>
      <p:sp>
        <p:nvSpPr>
          <p:cNvPr id="8" name="TextBox 7"/>
          <p:cNvSpPr txBox="1"/>
          <p:nvPr/>
        </p:nvSpPr>
        <p:spPr>
          <a:xfrm>
            <a:off x="6172200" y="2834640"/>
            <a:ext cx="2651760" cy="457200"/>
          </a:xfrm>
          <a:prstGeom prst="rect">
            <a:avLst/>
          </a:prstGeom>
          <a:noFill/>
        </p:spPr>
        <p:txBody>
          <a:bodyPr wrap="square" anchor="t" lIns="45720" rIns="45720" tIns="18288" bIns="18288">
            <a:spAutoFit/>
          </a:bodyPr>
          <a:lstStyle/>
          <a:p>
            <a:pPr algn="ctr">
              <a:lnSpc>
                <a:spcPct val="110000"/>
              </a:lnSpc>
            </a:pPr>
            <a:r>
              <a:rPr sz="1600" b="0" i="0">
                <a:solidFill>
                  <a:srgbClr val="6B6B76"/>
                </a:solidFill>
                <a:latin typeface="Arial"/>
              </a:rPr>
              <a:t>series now</a:t>
            </a:r>
          </a:p>
        </p:txBody>
      </p:sp>
      <p:sp>
        <p:nvSpPr>
          <p:cNvPr id="9" name="Rounded Rectangle 8"/>
          <p:cNvSpPr/>
          <p:nvPr/>
        </p:nvSpPr>
        <p:spPr>
          <a:xfrm>
            <a:off x="9006840" y="1783080"/>
            <a:ext cx="2651760" cy="1645920"/>
          </a:xfrm>
          <a:prstGeom prst="roundRect">
            <a:avLst>
              <a:gd name="adj" fmla="val 8000"/>
            </a:avLst>
          </a:prstGeom>
          <a:solidFill>
            <a:srgbClr val="FFFFFF"/>
          </a:solidFill>
          <a:ln w="38100">
            <a:solidFill>
              <a:srgbClr val="9913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06840" y="1828800"/>
            <a:ext cx="2651760" cy="1005840"/>
          </a:xfrm>
          <a:prstGeom prst="rect">
            <a:avLst/>
          </a:prstGeom>
          <a:noFill/>
        </p:spPr>
        <p:txBody>
          <a:bodyPr wrap="square" anchor="ctr" lIns="45720" rIns="45720" tIns="18288" bIns="18288">
            <a:spAutoFit/>
          </a:bodyPr>
          <a:lstStyle/>
          <a:p>
            <a:pPr algn="ctr">
              <a:lnSpc>
                <a:spcPct val="110000"/>
              </a:lnSpc>
            </a:pPr>
            <a:r>
              <a:rPr sz="6000" b="1" i="0">
                <a:solidFill>
                  <a:srgbClr val="991346"/>
                </a:solidFill>
                <a:latin typeface="Arial"/>
              </a:rPr>
              <a:t>56</a:t>
            </a:r>
          </a:p>
        </p:txBody>
      </p:sp>
      <p:sp>
        <p:nvSpPr>
          <p:cNvPr id="11" name="TextBox 10"/>
          <p:cNvSpPr txBox="1"/>
          <p:nvPr/>
        </p:nvSpPr>
        <p:spPr>
          <a:xfrm>
            <a:off x="9006840" y="2834640"/>
            <a:ext cx="2651760" cy="457200"/>
          </a:xfrm>
          <a:prstGeom prst="rect">
            <a:avLst/>
          </a:prstGeom>
          <a:noFill/>
        </p:spPr>
        <p:txBody>
          <a:bodyPr wrap="square" anchor="t" lIns="45720" rIns="45720" tIns="18288" bIns="18288">
            <a:spAutoFit/>
          </a:bodyPr>
          <a:lstStyle/>
          <a:p>
            <a:pPr algn="ctr">
              <a:lnSpc>
                <a:spcPct val="110000"/>
              </a:lnSpc>
            </a:pPr>
            <a:r>
              <a:rPr sz="1600" b="0" i="0">
                <a:solidFill>
                  <a:srgbClr val="6B6B76"/>
                </a:solidFill>
                <a:latin typeface="Arial"/>
              </a:rPr>
              <a:t>after 3 rollouts</a:t>
            </a:r>
          </a:p>
        </p:txBody>
      </p:sp>
      <p:sp>
        <p:nvSpPr>
          <p:cNvPr id="12" name="Rounded Rectangle 11"/>
          <p:cNvSpPr/>
          <p:nvPr/>
        </p:nvSpPr>
        <p:spPr>
          <a:xfrm>
            <a:off x="6172200" y="3657600"/>
            <a:ext cx="5486400" cy="2286000"/>
          </a:xfrm>
          <a:prstGeom prst="roundRect">
            <a:avLst>
              <a:gd name="adj" fmla="val 8000"/>
            </a:avLst>
          </a:prstGeom>
          <a:solidFill>
            <a:srgbClr val="FFFFFF"/>
          </a:solidFill>
          <a:ln w="19050">
            <a:solidFill>
              <a:srgbClr val="D5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3657600"/>
            <a:ext cx="109728" cy="2286000"/>
          </a:xfrm>
          <a:prstGeom prst="rect">
            <a:avLst/>
          </a:prstGeom>
          <a:solidFill>
            <a:srgbClr val="991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767328"/>
            <a:ext cx="5120640" cy="365760"/>
          </a:xfrm>
          <a:prstGeom prst="rect">
            <a:avLst/>
          </a:prstGeom>
          <a:noFill/>
        </p:spPr>
        <p:txBody>
          <a:bodyPr wrap="square" anchor="t" lIns="45720" rIns="45720" tIns="18288" bIns="18288">
            <a:spAutoFit/>
          </a:bodyPr>
          <a:lstStyle/>
          <a:p>
            <a:pPr algn="l">
              <a:lnSpc>
                <a:spcPct val="110000"/>
              </a:lnSpc>
            </a:pPr>
            <a:r>
              <a:rPr sz="1500" b="1" i="0">
                <a:solidFill>
                  <a:srgbClr val="1F1F24"/>
                </a:solidFill>
                <a:latin typeface="Arial"/>
              </a:rPr>
              <a:t>The fix we ship</a:t>
            </a:r>
          </a:p>
        </p:txBody>
      </p:sp>
      <p:sp>
        <p:nvSpPr>
          <p:cNvPr id="15" name="Rounded Rectangle 14"/>
          <p:cNvSpPr/>
          <p:nvPr/>
        </p:nvSpPr>
        <p:spPr>
          <a:xfrm>
            <a:off x="6446520" y="4206240"/>
            <a:ext cx="5029200" cy="1600200"/>
          </a:xfrm>
          <a:prstGeom prst="roundRect">
            <a:avLst>
              <a:gd name="adj" fmla="val 5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206240"/>
            <a:ext cx="4846320" cy="1600200"/>
          </a:xfrm>
          <a:prstGeom prst="rect">
            <a:avLst/>
          </a:prstGeom>
          <a:noFill/>
        </p:spPr>
        <p:txBody>
          <a:bodyPr wrap="square" anchor="ctr" lIns="45720" rIns="45720" tIns="18288" bIns="18288">
            <a:spAutoFit/>
          </a:bodyPr>
          <a:lstStyle/>
          <a:p>
            <a:pPr algn="l">
              <a:lnSpc>
                <a:spcPct val="100000"/>
              </a:lnSpc>
            </a:pPr>
            <a:r>
              <a:rPr sz="1300" b="0" i="0">
                <a:solidFill>
                  <a:srgbClr val="1F1F24"/>
                </a:solidFill>
                <a:latin typeface="Consolas"/>
              </a:rPr>
              <a:t>--kubernetes=true</a:t>
            </a:r>
          </a:p>
          <a:p>
            <a:pPr algn="l">
              <a:lnSpc>
                <a:spcPct val="100000"/>
              </a:lnSpc>
            </a:pPr>
            <a:r>
              <a:rPr sz="1300" b="0" i="0">
                <a:solidFill>
                  <a:srgbClr val="1F1F24"/>
                </a:solidFill>
                <a:latin typeface="Consolas"/>
              </a:rPr>
              <a:t>..._ENABLE_POD_LABELS=false</a:t>
            </a:r>
          </a:p>
          <a:p>
            <a:pPr algn="l">
              <a:lnSpc>
                <a:spcPct val="100000"/>
              </a:lnSpc>
            </a:pPr>
            <a:r>
              <a:rPr sz="1300" b="0" i="0">
                <a:solidFill>
                  <a:srgbClr val="1F1F24"/>
                </a:solidFill>
                <a:latin typeface="Consolas"/>
              </a:rPr>
              <a:t>counters.csv: 7 counters</a:t>
            </a:r>
          </a:p>
          <a:p>
            <a:pPr algn="l">
              <a:lnSpc>
                <a:spcPct val="100000"/>
              </a:lnSpc>
            </a:pPr>
            <a:r>
              <a:rPr sz="1300" b="0" i="0">
                <a:solidFill>
                  <a:srgbClr val="1F1F24"/>
                </a:solidFill>
                <a:latin typeface="Consolas"/>
              </a:rPr>
              <a:t>retention: 6h</a:t>
            </a:r>
          </a:p>
        </p:txBody>
      </p:sp>
      <p:sp>
        <p:nvSpPr>
          <p:cNvPr id="17" name="TextBox 16"/>
          <p:cNvSpPr txBox="1"/>
          <p:nvPr/>
        </p:nvSpPr>
        <p:spPr>
          <a:xfrm>
            <a:off x="11109960" y="6327648"/>
            <a:ext cx="685800" cy="365760"/>
          </a:xfrm>
          <a:prstGeom prst="rect">
            <a:avLst/>
          </a:prstGeom>
          <a:noFill/>
        </p:spPr>
        <p:txBody>
          <a:bodyPr wrap="none" rIns="18288">
            <a:spAutoFit/>
          </a:bodyPr>
          <a:lstStyle/>
          <a:p>
            <a:pPr algn="r"/>
            <a:fld id="{B6F15528-21DE-4FAA-801E-634DDDAF4B16}" type="slidenum">
              <a:rPr lang="en-US" sz="1200" b="1">
                <a:solidFill>
                  <a:srgbClr val="991346"/>
                </a:solidFill>
                <a:latin typeface="Arial"/>
              </a:rPr>
              <a:t>16</a:t>
            </a:fld>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2019-07-29T21:37:05Z</dcterms:created>
  <dc:creator>Alex Contini</dc:creator>
</cp:coreProperties>
</file>