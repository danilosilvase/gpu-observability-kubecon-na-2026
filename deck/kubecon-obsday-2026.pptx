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8" r:id="rId7"/>
    <p:sldId id="259" r:id="rId8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</p:sldIdLst>
  <p:sldSz cy="6858000" cx="12192000"/>
  <p:notesSz cx="6858000" cy="9144000"/>
  <p:embeddedFontLst>
    <p:embeddedFont>
      <p:font typeface="Montserrat"/>
      <p:regular r:id="rId10"/>
      <p:bold r:id="rId11"/>
      <p:italic r:id="rId12"/>
      <p:boldItalic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4" roundtripDataSignature="AMtx7mg4BA/UZBL+y+GJRU4m7UPD850uI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0" Type="http://schemas.openxmlformats.org/officeDocument/2006/relationships/font" Target="fonts/Montserrat-regular.fntdata"/><Relationship Id="rId11" Type="http://schemas.openxmlformats.org/officeDocument/2006/relationships/font" Target="fonts/Montserrat-bold.fntdata"/><Relationship Id="rId12" Type="http://schemas.openxmlformats.org/officeDocument/2006/relationships/font" Target="fonts/Montserrat-italic.fntdata"/><Relationship Id="rId13" Type="http://schemas.openxmlformats.org/officeDocument/2006/relationships/font" Target="fonts/Montserrat-boldItalic.fntdata"/><Relationship Id="rId14" Type="http://customschemas.google.com/relationships/presentationmetadata" Target="metadata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Walk-in slide. Up while people sit down.</a:t>
            </a:r>
          </a:p>
        </p:txBody>
      </p:sp>
      <p:sp>
        <p:nvSpPr>
          <p:cNvPr id="73" name="Google Shape;73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0:00 (0:30) HENRIQUE</a:t>
            </a:r>
          </a:p>
          <a:p>
            <a:r>
              <a:t>- Hi, I'm Henrique; this is Danilo.</a:t>
            </a:r>
          </a:p>
          <a:p>
            <a:r>
              <a:t>- 20 minutes, one question, a live demo, then questions.</a:t>
            </a:r>
          </a:p>
          <a:p>
            <a:r>
              <a:t>- (Danilo: terminal open with demo/load.sh typed, not run. Grafana screen 1 in the next app.)</a:t>
            </a:r>
          </a:p>
        </p:txBody>
      </p:sp>
      <p:sp>
        <p:nvSpPr>
          <p:cNvPr id="77" name="Google Shape;77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0:30 (1:30) HENRIQUE  [3 clicks: Pod A, Pod B, the vote]</a:t>
            </a:r>
          </a:p>
          <a:p>
            <a:r>
              <a:t>- Say exactly: "Two vLLM pods. Same model, same GPU type, same traffic. One reserved 8% of GPU memory, the other 90%. Which one is in trouble?"</a:t>
            </a:r>
          </a:p>
          <a:p>
            <a:r>
              <a:t>- Hands up for each option. Count roughly out loud.</a:t>
            </a:r>
          </a:p>
          <a:p>
            <a:r>
              <a:t>- Do NOT reveal. "Hold that. Danilo will answer it live."</a:t>
            </a:r>
          </a:p>
          <a:p>
            <a:r>
              <a:t>- This is a test cluster we built for this talk: say it now.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2:00 (1:30) HENRIQUE  [4 clicks: the four tiles, GPU memory draws, load starts (line does not move), the sentence]</a:t>
            </a:r>
          </a:p>
          <a:p>
            <a:r>
              <a:t>- The four we all watch measure resources. Fine, but none of them sees the server's queue.</a:t>
            </a:r>
          </a:p>
          <a:p>
            <a:r>
              <a:t>- GPU memory: vLLM takes 92% at startup by default. After that it does not move.</a:t>
            </a:r>
          </a:p>
          <a:p>
            <a:r>
              <a:t>- Say: "GPU memory is a setting, not a signal."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3:30 (2:30) HENRIQUE  [5 clicks: the GPU, the pool fills, the queue grows, the table, the punchline]</a:t>
            </a:r>
          </a:p>
          <a:p>
            <a:r>
              <a:t>- Most of that 92% is the KV cache: the server's working memory for requests in flight.</a:t>
            </a:r>
          </a:p>
          <a:p>
            <a:r>
              <a:t>- Think connection pool: you set its size, requests hold a slot, when it is full new ones wait. Latency climbs, nothing else looks wrong.</a:t>
            </a:r>
          </a:p>
          <a:p>
            <a:r>
              <a:t>- vLLM prints how full it is every 10 s in a log line you already ship.</a:t>
            </a:r>
          </a:p>
          <a:p>
            <a:r>
              <a:t>- No pod named here: the demo answers the vote.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6:00 (9:00) [strip builds by itself] HENRIQUE hands over: "Danilo, which one is in trouble?"</a:t>
            </a:r>
          </a:p>
          <a:p>
            <a:r>
              <a:t>DANILO</a:t>
            </a:r>
          </a:p>
          <a:p>
            <a:r>
              <a:t>- Cmd+Tab to Grafana screen 1. Terminal has demo/load.sh typed.</a:t>
            </a:r>
          </a:p>
          <a:p>
            <a:r>
              <a:t>- Script: DEMO-SCRIPT.md. Same strip on every screen: 1 GPU &gt; 2 Log &gt; 3 Trace &gt; 4 Answer.</a:t>
            </a:r>
          </a:p>
          <a:p>
            <a:r>
              <a:t>- Rig dead? Clean video (gpu-obs-demo-v8-clean.mp4) on this laptop, Space to pause, keep the same lines.</a:t>
            </a:r>
          </a:p>
          <a:p>
            <a:r>
              <a:t>- Out: after screen 4, Cmd+Tab back here and advance to slide 4.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HIDDEN. Red (8%): memory-constrained, 2.0 GB, 100% KV, 5.9 s to first token. Blue (90%): over-provisioned, 20.6 GB, 30%, 80 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15:00 (2:30) HENRIQUE  [3 clicks, one story each]</a:t>
            </a:r>
          </a:p>
          <a:p>
            <a:r>
              <a:t>- Open: "Our first load test didn't stress anything." It took unique prompts to make it struggle, and the GPU dashboard never noticed either way.</a:t>
            </a:r>
          </a:p>
          <a:p>
            <a:r>
              <a:t>- Cardinality: promised in the abstract. 14 live, 56 after 3 rollouts.</a:t>
            </a:r>
          </a:p>
          <a:p>
            <a:r>
              <a:t>- CUT RULE: if this slide starts after 16:30, skip "An unfair test".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17:30 (0:30) HENRIQUE  [cards come in by themselves; 3 clicks: Pod A verdict, Pod B verdict, the takeaway]</a:t>
            </a:r>
          </a:p>
          <a:p>
            <a:r>
              <a:t>- Say: "Who voted both? You were right."</a:t>
            </a:r>
          </a:p>
          <a:p>
            <a:r>
              <a:t>- Too small: the queue. Too big: memory you paid for and never used.</a:t>
            </a:r>
          </a:p>
          <a:p>
            <a:r>
              <a:t>- Takeaway line, word for word.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18:00 (0:45) HENRIQUE  [4 clicks: dcgm, Fluent Bit, OTel, the join]</a:t>
            </a:r>
          </a:p>
          <a:p>
            <a:r>
              <a:t>- One line per tool, nothing exotic.</a:t>
            </a:r>
          </a:p>
          <a:p>
            <a:r>
              <a:t>- The trick is the join: every signal has the pod name on it. That is what let Danilo go from the GPU to the log to the trace.</a:t>
            </a:r>
          </a:p>
          <a:p>
            <a:r>
              <a:t>- Pod name on GPU metrics is also the cardinality cost from the last slide.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18:45 (0:45) HENRIQUE  [4 clicks: the gauge, Pod A lands, Pod B lands, rule + repo]</a:t>
            </a:r>
          </a:p>
          <a:p>
            <a:r>
              <a:t>- Watch peak KV cache under your traffic, not GPU memory.</a:t>
            </a:r>
          </a:p>
          <a:p>
            <a:r>
              <a:t>- Pod A ran out of room. Pod B paid for room it never used.</a:t>
            </a:r>
          </a:p>
          <a:p>
            <a:r>
              <a:t>- Say it is our rule of thumb, not vLLM's. Everything is in the repo (QR).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19:30 (5:30) BOTH</a:t>
            </a:r>
          </a:p>
          <a:p>
            <a:r>
              <a:t>- Leave this up for all of Q&amp;A (feedback QR).</a:t>
            </a:r>
          </a:p>
          <a:p>
            <a:r>
              <a:t>- Q&amp;A backups: deep-dive dashboard gpu-inference-deep (cardinality panel), hidden backup slide.</a:t>
            </a:r>
          </a:p>
          <a:p>
            <a:r>
              <a:t>- TODO before the talk: replace [original author].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Slide">
  <p:cSld name="2_Title Slide">
    <p:bg>
      <p:bgPr>
        <a:solidFill>
          <a:srgbClr val="991346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403927" y="278179"/>
            <a:ext cx="9384146" cy="6098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solidFill>
          <a:srgbClr val="991346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982742" y="-281699"/>
            <a:ext cx="2977544" cy="19350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phical user interface&#10;&#10;Description automatically generated with medium confidence" id="16" name="Google Shape;16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319515" y="1195753"/>
            <a:ext cx="1591131" cy="7054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colorful background with a few rectangles&#10;&#10;Description automatically generated with medium confidence" id="17" name="Google Shape;17;p11"/>
          <p:cNvPicPr preferRelativeResize="0"/>
          <p:nvPr/>
        </p:nvPicPr>
        <p:blipFill rotWithShape="1">
          <a:blip r:embed="rId3">
            <a:alphaModFix/>
          </a:blip>
          <a:srcRect b="84051" l="0" r="0" t="0"/>
          <a:stretch/>
        </p:blipFill>
        <p:spPr>
          <a:xfrm>
            <a:off x="0" y="0"/>
            <a:ext cx="12192000" cy="973013"/>
          </a:xfrm>
          <a:prstGeom prst="rect">
            <a:avLst/>
          </a:prstGeom>
          <a:solidFill>
            <a:srgbClr val="466BB0"/>
          </a:solidFill>
          <a:ln>
            <a:noFill/>
          </a:ln>
        </p:spPr>
      </p:pic>
      <p:sp>
        <p:nvSpPr>
          <p:cNvPr id="18" name="Google Shape;18;p11"/>
          <p:cNvSpPr/>
          <p:nvPr/>
        </p:nvSpPr>
        <p:spPr>
          <a:xfrm>
            <a:off x="0" y="0"/>
            <a:ext cx="12192000" cy="973013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" name="Google Shape;19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408810" y="-360174"/>
            <a:ext cx="2605700" cy="1693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bg>
      <p:bgPr>
        <a:solidFill>
          <a:srgbClr val="991346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3_Title Slide">
    <p:bg>
      <p:bgPr>
        <a:solidFill>
          <a:srgbClr val="991346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/>
          <p:nvPr/>
        </p:nvSpPr>
        <p:spPr>
          <a:xfrm>
            <a:off x="668447" y="1303699"/>
            <a:ext cx="10855105" cy="500656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2"/>
          <p:cNvSpPr txBox="1"/>
          <p:nvPr/>
        </p:nvSpPr>
        <p:spPr>
          <a:xfrm>
            <a:off x="838200" y="378550"/>
            <a:ext cx="10515600" cy="65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Font typeface="Arial"/>
              <a:buNone/>
            </a:pPr>
            <a:r>
              <a:rPr b="1" i="0" lang="en-CA" sz="3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Thank you to our PLATINUM Sponsor!</a:t>
            </a:r>
            <a:endParaRPr b="0" i="0" sz="6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4" name="Google Shape;24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288074" y="2724912"/>
            <a:ext cx="5396396" cy="1847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3_Title Slide 2">
    <p:bg>
      <p:bgPr>
        <a:solidFill>
          <a:srgbClr val="991346"/>
        </a:solid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/>
          <p:nvPr/>
        </p:nvSpPr>
        <p:spPr>
          <a:xfrm>
            <a:off x="668447" y="1303699"/>
            <a:ext cx="10855105" cy="500656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5"/>
          <p:cNvSpPr txBox="1"/>
          <p:nvPr/>
        </p:nvSpPr>
        <p:spPr>
          <a:xfrm>
            <a:off x="838200" y="378550"/>
            <a:ext cx="10515600" cy="65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Font typeface="Arial"/>
              <a:buNone/>
            </a:pPr>
            <a:r>
              <a:rPr b="1" i="0" lang="en-CA" sz="3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Thank you to our PLATINUM Sponsor!</a:t>
            </a:r>
            <a:endParaRPr b="0" i="0" sz="6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8" name="Google Shape;28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66941" y="3001197"/>
            <a:ext cx="6406456" cy="14153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3_Title Slide 3">
    <p:bg>
      <p:bgPr>
        <a:solidFill>
          <a:srgbClr val="991346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/>
          <p:nvPr/>
        </p:nvSpPr>
        <p:spPr>
          <a:xfrm>
            <a:off x="668447" y="1303699"/>
            <a:ext cx="10855105" cy="500656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3"/>
          <p:cNvSpPr txBox="1"/>
          <p:nvPr/>
        </p:nvSpPr>
        <p:spPr>
          <a:xfrm>
            <a:off x="838200" y="378550"/>
            <a:ext cx="10515600" cy="65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Font typeface="Arial"/>
              <a:buNone/>
            </a:pPr>
            <a:r>
              <a:rPr b="1" i="0" lang="en-CA" sz="3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Thank you to our PLATINUM Sponsor!</a:t>
            </a:r>
            <a:endParaRPr b="0" i="0" sz="6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2" name="Google Shape;32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745628" y="2798064"/>
            <a:ext cx="4700744" cy="1865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3_Title Slide 4">
    <p:bg>
      <p:bgPr>
        <a:solidFill>
          <a:srgbClr val="991346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/>
          <p:nvPr/>
        </p:nvSpPr>
        <p:spPr>
          <a:xfrm>
            <a:off x="668447" y="1303699"/>
            <a:ext cx="10855105" cy="500656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4"/>
          <p:cNvSpPr txBox="1"/>
          <p:nvPr/>
        </p:nvSpPr>
        <p:spPr>
          <a:xfrm>
            <a:off x="838200" y="378550"/>
            <a:ext cx="10515600" cy="65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Font typeface="Arial"/>
              <a:buNone/>
            </a:pPr>
            <a:r>
              <a:rPr b="1" i="0" lang="en-CA" sz="3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Thank you to our PLATINUM Sponsor!</a:t>
            </a:r>
            <a:endParaRPr b="0" i="0" sz="6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6" name="Google Shape;36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266632" y="2935051"/>
            <a:ext cx="5658736" cy="1481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3_Title Slide 5">
    <p:bg>
      <p:bgPr>
        <a:solidFill>
          <a:srgbClr val="991346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7"/>
          <p:cNvSpPr/>
          <p:nvPr/>
        </p:nvSpPr>
        <p:spPr>
          <a:xfrm>
            <a:off x="668447" y="1303699"/>
            <a:ext cx="10855105" cy="500656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7"/>
          <p:cNvSpPr txBox="1"/>
          <p:nvPr/>
        </p:nvSpPr>
        <p:spPr>
          <a:xfrm>
            <a:off x="838200" y="378550"/>
            <a:ext cx="10515600" cy="65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Font typeface="Arial"/>
              <a:buNone/>
            </a:pPr>
            <a:r>
              <a:rPr b="1" i="0" lang="en-CA" sz="3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Thank you to our PLATINUM Sponsor!</a:t>
            </a:r>
            <a:endParaRPr b="0" i="0" sz="6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0" name="Google Shape;40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252292" y="3053751"/>
            <a:ext cx="5652911" cy="12594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3_Title Slide 6">
    <p:bg>
      <p:bgPr>
        <a:solidFill>
          <a:srgbClr val="991346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6"/>
          <p:cNvSpPr/>
          <p:nvPr/>
        </p:nvSpPr>
        <p:spPr>
          <a:xfrm>
            <a:off x="668447" y="1303699"/>
            <a:ext cx="10855105" cy="500656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6"/>
          <p:cNvSpPr txBox="1"/>
          <p:nvPr/>
        </p:nvSpPr>
        <p:spPr>
          <a:xfrm>
            <a:off x="838200" y="378550"/>
            <a:ext cx="10515600" cy="65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Font typeface="Arial"/>
              <a:buNone/>
            </a:pPr>
            <a:r>
              <a:rPr b="1" i="0" lang="en-CA" sz="3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Thank you to our PLATINUM Sponsors!</a:t>
            </a:r>
            <a:endParaRPr b="0" i="0" sz="6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4" name="Google Shape;44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33089" y="2338977"/>
            <a:ext cx="2681328" cy="91776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77580" y="2376970"/>
            <a:ext cx="2335677" cy="926857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408578" y="4285905"/>
            <a:ext cx="2811678" cy="73620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96843" y="4330017"/>
            <a:ext cx="3106371" cy="692093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485737" y="2495115"/>
            <a:ext cx="3191774" cy="705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3_Title Slide 7">
    <p:bg>
      <p:bgPr>
        <a:solidFill>
          <a:srgbClr val="991346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/>
          <p:nvPr/>
        </p:nvSpPr>
        <p:spPr>
          <a:xfrm>
            <a:off x="668447" y="1303699"/>
            <a:ext cx="10855105" cy="500656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18"/>
          <p:cNvSpPr txBox="1"/>
          <p:nvPr/>
        </p:nvSpPr>
        <p:spPr>
          <a:xfrm>
            <a:off x="838200" y="378550"/>
            <a:ext cx="10515600" cy="6535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85000" lnSpcReduction="10000"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45098"/>
              <a:buFont typeface="Arial"/>
              <a:buNone/>
            </a:pPr>
            <a:r>
              <a:rPr b="1" i="0" lang="en-CA" sz="3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Thank you to our SESSION RECORDING Sponsor!</a:t>
            </a:r>
            <a:endParaRPr b="0" i="0" sz="6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2" name="Google Shape;52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288074" y="2724912"/>
            <a:ext cx="5396396" cy="1847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"/>
          <p:cNvSpPr txBox="1"/>
          <p:nvPr/>
        </p:nvSpPr>
        <p:spPr>
          <a:xfrm>
            <a:off x="729046" y="393192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</a:pPr>
            <a:r>
              <a:rPr b="0" i="1" lang="en-CA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Henrique Santana, Principal Cloud Engineer, AWS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600" i="1">
                <a:solidFill>
                  <a:srgbClr val="FFFFFF"/>
                </a:solidFill>
                <a:latin typeface="Arial"/>
              </a:rPr>
              <a:t>Danilo Silva, Senior Delivery Consultant, AWS</a:t>
            </a:r>
          </a:p>
        </p:txBody>
      </p:sp>
      <p:sp>
        <p:nvSpPr>
          <p:cNvPr id="80" name="Google Shape;80;p2"/>
          <p:cNvSpPr txBox="1"/>
          <p:nvPr/>
        </p:nvSpPr>
        <p:spPr>
          <a:xfrm>
            <a:off x="627791" y="1371600"/>
            <a:ext cx="105156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Font typeface="Arial"/>
              <a:buNone/>
            </a:pPr>
            <a:r>
              <a:rPr b="1" i="0" lang="en-CA" sz="4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Inference Is a Black Box: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3000" b="0">
                <a:solidFill>
                  <a:srgbClr val="FFFFFF"/>
                </a:solidFill>
                <a:latin typeface="Arial"/>
              </a:rPr>
              <a:t>How We Built GPU-Aware Observability with Fluent Bit and OpenTelemetry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0"/>
            <a:ext cx="9144000" cy="96926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Which one is in trouble?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 i="0">
                <a:solidFill>
                  <a:srgbClr val="6B6B76"/>
                </a:solidFill>
                <a:latin typeface="Arial"/>
              </a:rPr>
              <a:t>Two vLLM pods. Same model, same GPU type, same traffic.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44068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8100">
            <a:solidFill>
              <a:srgbClr val="D72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38528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D7263D"/>
                </a:solidFill>
                <a:latin typeface="Arial"/>
              </a:rPr>
              <a:t>Pod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4846320" cy="1234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 i="0">
                <a:solidFill>
                  <a:srgbClr val="D7263D"/>
                </a:solidFill>
                <a:latin typeface="Arial"/>
              </a:rPr>
              <a:t>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0332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1F1F24"/>
                </a:solidFill>
                <a:latin typeface="Arial"/>
              </a:rPr>
              <a:t>of GPU memory reserved for vLLM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828800"/>
            <a:ext cx="544068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8100">
            <a:solidFill>
              <a:srgbClr val="2F6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38528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F6FDB"/>
                </a:solidFill>
                <a:latin typeface="Arial"/>
              </a:rPr>
              <a:t>Pod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31720"/>
            <a:ext cx="4846320" cy="1234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 i="0">
                <a:solidFill>
                  <a:srgbClr val="2F6FDB"/>
                </a:solidFill>
                <a:latin typeface="Arial"/>
              </a:rPr>
              <a:t>90%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70332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1F1F24"/>
                </a:solidFill>
                <a:latin typeface="Arial"/>
              </a:rPr>
              <a:t>of GPU memory reserved for vLLM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2628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F1F24"/>
                </a:solidFill>
                <a:latin typeface="Arial"/>
              </a:rPr>
              <a:t>Hands up: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29200"/>
            <a:ext cx="2148840" cy="77724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029200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 i="0">
                <a:solidFill>
                  <a:srgbClr val="1F1F24"/>
                </a:solidFill>
                <a:latin typeface="Arial"/>
              </a:rPr>
              <a:t>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800" y="5029200"/>
            <a:ext cx="2148840" cy="77724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800" y="5029200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 i="0">
                <a:solidFill>
                  <a:srgbClr val="1F1F24"/>
                </a:solidFill>
                <a:latin typeface="Arial"/>
              </a:rPr>
              <a:t>90%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94959" y="5029200"/>
            <a:ext cx="2148840" cy="77724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59" y="5029200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 i="0">
                <a:solidFill>
                  <a:srgbClr val="1F1F24"/>
                </a:solidFill>
                <a:latin typeface="Arial"/>
              </a:rPr>
              <a:t>both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18119" y="5029200"/>
            <a:ext cx="3108960" cy="77724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5029200"/>
            <a:ext cx="310896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 i="0">
                <a:solidFill>
                  <a:srgbClr val="1F1F24"/>
                </a:solidFill>
                <a:latin typeface="Arial"/>
              </a:rPr>
              <a:t>can't tell from here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3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3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3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3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53" presetClass="entr" presetSubtype="16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3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3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3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3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3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3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53" presetClass="entr" presetSubtype="16" fill="hold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3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3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0"/>
            <a:ext cx="9144000" cy="96926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GPU memory is a setting, not a signal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2057400" cy="173736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6B6B76"/>
                </a:solidFill>
                <a:latin typeface="Arial"/>
              </a:rPr>
              <a:t>CPU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7373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6B6B76"/>
                </a:solidFill>
                <a:latin typeface="Arial"/>
              </a:rPr>
              <a:t>how busy the cores are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8920" y="1783080"/>
            <a:ext cx="2057400" cy="173736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19202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6B6B76"/>
                </a:solidFill>
                <a:latin typeface="Arial"/>
              </a:rPr>
              <a:t>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468880"/>
            <a:ext cx="17373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6B6B76"/>
                </a:solidFill>
                <a:latin typeface="Arial"/>
              </a:rPr>
              <a:t>RAM the container uses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783080"/>
            <a:ext cx="2057400" cy="173736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6B6B76"/>
                </a:solidFill>
                <a:latin typeface="Arial"/>
              </a:rPr>
              <a:t>Network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468880"/>
            <a:ext cx="17373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6B6B76"/>
                </a:solidFill>
                <a:latin typeface="Arial"/>
              </a:rPr>
              <a:t>bytes in and 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1783080"/>
            <a:ext cx="2057400" cy="173736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19202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6B6B76"/>
                </a:solidFill>
                <a:latin typeface="Arial"/>
              </a:rPr>
              <a:t>Disk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2468880"/>
            <a:ext cx="17373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6B6B76"/>
                </a:solidFill>
                <a:latin typeface="Arial"/>
              </a:rPr>
              <a:t>reads and writes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87782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1">
                <a:solidFill>
                  <a:srgbClr val="6B6B76"/>
                </a:solidFill>
                <a:latin typeface="Arial"/>
              </a:rPr>
              <a:t>Node and container resources. None of them sees the server's queue.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1783080"/>
            <a:ext cx="205740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8100">
            <a:solidFill>
              <a:srgbClr val="9913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8360" y="192024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991346"/>
                </a:solidFill>
                <a:latin typeface="Arial"/>
              </a:rPr>
              <a:t>GPU memory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29800" y="2423160"/>
            <a:ext cx="1600200" cy="685800"/>
          </a:xfrm>
          <a:prstGeom prst="rect">
            <a:avLst/>
          </a:prstGeom>
          <a:solidFill>
            <a:srgbClr val="F3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9829800" y="2514600"/>
            <a:ext cx="1600200" cy="0"/>
          </a:xfrm>
          <a:prstGeom prst="line">
            <a:avLst/>
          </a:prstGeom>
          <a:ln w="50800">
            <a:solidFill>
              <a:srgbClr val="991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082528" y="2395728"/>
            <a:ext cx="0" cy="731520"/>
          </a:xfrm>
          <a:prstGeom prst="line">
            <a:avLst/>
          </a:prstGeom>
          <a:ln w="25400">
            <a:solidFill>
              <a:srgbClr val="E8871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875520" y="2834640"/>
            <a:ext cx="1170432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 i="0">
                <a:solidFill>
                  <a:srgbClr val="E8871E"/>
                </a:solidFill>
                <a:latin typeface="Arial"/>
              </a:rPr>
              <a:t>load starts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2560320"/>
            <a:ext cx="1170432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991346"/>
                </a:solidFill>
                <a:latin typeface="Arial"/>
              </a:rPr>
              <a:t>92%, flat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3127248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F1F24"/>
                </a:solidFill>
                <a:latin typeface="Arial"/>
              </a:rPr>
              <a:t>set at startup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34340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F1F24"/>
                </a:solidFill>
                <a:latin typeface="Arial"/>
              </a:rPr>
              <a:t>vLLM reserves 92% of GPU memory when it starts. </a:t>
            </a:r>
            <a:r>
              <a:rPr sz="2400" b="0" i="0">
                <a:solidFill>
                  <a:srgbClr val="1F1F24"/>
                </a:solidFill>
                <a:latin typeface="Arial"/>
              </a:rPr>
              <a:t>Busy or idle, that number stays put. So the chart we page on can't tell a struggling server from a quiet one.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76"/>
                </a:solidFill>
                <a:latin typeface="Arial"/>
              </a:rPr>
              <a:t>vLLM default: gpu_memory_utilization = 0.92 (vllm/config/cache.py, vLLM main, Oct 2026)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1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0"/>
            <a:ext cx="9144000" cy="96926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What runs out first: room for requests in flight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F1F24"/>
                </a:solidFill>
                <a:latin typeface="Arial"/>
              </a:rPr>
              <a:t>One GPU, as vLLM uses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1097280" cy="822960"/>
          </a:xfrm>
          <a:prstGeom prst="rect">
            <a:avLst/>
          </a:prstGeom>
          <a:solidFill>
            <a:srgbClr val="333338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weights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19" y="1737360"/>
            <a:ext cx="3108960" cy="822960"/>
          </a:xfrm>
          <a:prstGeom prst="rect">
            <a:avLst/>
          </a:prstGeom>
          <a:solidFill>
            <a:srgbClr val="991346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19" y="1737360"/>
            <a:ext cx="31089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KV cache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737360"/>
            <a:ext cx="822960" cy="822960"/>
          </a:xfrm>
          <a:prstGeom prst="rect">
            <a:avLst/>
          </a:prstGeom>
          <a:solidFill>
            <a:srgbClr val="D5D5D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79" y="1737360"/>
            <a:ext cx="8229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1F1F24"/>
                </a:solidFill>
                <a:latin typeface="Arial"/>
              </a:rPr>
              <a:t>other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06040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6B6B76"/>
                </a:solidFill>
                <a:latin typeface="Arial"/>
              </a:rPr>
              <a:t>room for requests in flight. Its size is set by --gpu-memory-utilization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F1F24"/>
                </a:solidFill>
                <a:latin typeface="Arial"/>
              </a:rPr>
              <a:t>It behaves like a connection pool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77639"/>
            <a:ext cx="365760" cy="502920"/>
          </a:xfrm>
          <a:prstGeom prst="rect">
            <a:avLst/>
          </a:prstGeom>
          <a:solidFill>
            <a:srgbClr val="991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" y="3977639"/>
            <a:ext cx="365760" cy="502920"/>
          </a:xfrm>
          <a:prstGeom prst="rect">
            <a:avLst/>
          </a:prstGeom>
          <a:solidFill>
            <a:srgbClr val="991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463040" y="3977639"/>
            <a:ext cx="365760" cy="502920"/>
          </a:xfrm>
          <a:prstGeom prst="rect">
            <a:avLst/>
          </a:prstGeom>
          <a:solidFill>
            <a:srgbClr val="991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3977639"/>
            <a:ext cx="365760" cy="502920"/>
          </a:xfrm>
          <a:prstGeom prst="rect">
            <a:avLst/>
          </a:prstGeom>
          <a:solidFill>
            <a:srgbClr val="991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77440" y="3977639"/>
            <a:ext cx="365760" cy="502920"/>
          </a:xfrm>
          <a:prstGeom prst="rect">
            <a:avLst/>
          </a:prstGeom>
          <a:solidFill>
            <a:srgbClr val="991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34640" y="3977639"/>
            <a:ext cx="365760" cy="502920"/>
          </a:xfrm>
          <a:prstGeom prst="rect">
            <a:avLst/>
          </a:prstGeom>
          <a:solidFill>
            <a:srgbClr val="991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B6B76"/>
                </a:solidFill>
                <a:latin typeface="Arial"/>
              </a:rPr>
              <a:t>all slots in use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3337560" y="4224528"/>
            <a:ext cx="320040" cy="0"/>
          </a:xfrm>
          <a:prstGeom prst="line">
            <a:avLst/>
          </a:prstGeom>
          <a:ln w="31750">
            <a:solidFill>
              <a:srgbClr val="6B6B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3794760" y="4069080"/>
            <a:ext cx="310896" cy="310896"/>
          </a:xfrm>
          <a:prstGeom prst="ellipse">
            <a:avLst/>
          </a:prstGeom>
          <a:solidFill>
            <a:srgbClr val="F3F3F5"/>
          </a:solidFill>
          <a:ln w="19050">
            <a:solidFill>
              <a:srgbClr val="6B6B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178808" y="4069080"/>
            <a:ext cx="310896" cy="310896"/>
          </a:xfrm>
          <a:prstGeom prst="ellipse">
            <a:avLst/>
          </a:prstGeom>
          <a:solidFill>
            <a:srgbClr val="F3F3F5"/>
          </a:solidFill>
          <a:ln w="19050">
            <a:solidFill>
              <a:srgbClr val="6B6B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62856" y="4069080"/>
            <a:ext cx="310896" cy="310896"/>
          </a:xfrm>
          <a:prstGeom prst="ellipse">
            <a:avLst/>
          </a:prstGeom>
          <a:solidFill>
            <a:srgbClr val="F3F3F5"/>
          </a:solidFill>
          <a:ln w="19050">
            <a:solidFill>
              <a:srgbClr val="6B6B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46904" y="4069080"/>
            <a:ext cx="310896" cy="310896"/>
          </a:xfrm>
          <a:prstGeom prst="ellipse">
            <a:avLst/>
          </a:prstGeom>
          <a:solidFill>
            <a:srgbClr val="F3F3F5"/>
          </a:solidFill>
          <a:ln w="19050">
            <a:solidFill>
              <a:srgbClr val="6B6B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30952" y="4069080"/>
            <a:ext cx="310896" cy="310896"/>
          </a:xfrm>
          <a:prstGeom prst="ellipse">
            <a:avLst/>
          </a:prstGeom>
          <a:solidFill>
            <a:srgbClr val="F3F3F5"/>
          </a:solidFill>
          <a:ln w="19050">
            <a:solidFill>
              <a:srgbClr val="6B6B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452628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B6B76"/>
                </a:solidFill>
                <a:latin typeface="Arial"/>
              </a:rPr>
              <a:t>waiting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172200" y="205740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3063240"/>
              </a:tblGrid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Connection pool</a:t>
                      </a:r>
                    </a:p>
                  </a:txBody>
                  <a:tcPr marL="109728" marR="109728" anchor="ctr">
                    <a:solidFill>
                      <a:srgbClr val="9913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vLLM KV cache</a:t>
                      </a:r>
                    </a:p>
                  </a:txBody>
                  <a:tcPr marL="109728" marR="109728" anchor="ctr">
                    <a:solidFill>
                      <a:srgbClr val="99134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1F24"/>
                          </a:solidFill>
                          <a:latin typeface="Arial"/>
                        </a:rPr>
                        <a:t>Pool size: you set it</a:t>
                      </a:r>
                    </a:p>
                  </a:txBody>
                  <a:tcPr marL="109728" marR="109728" anchor="ctr">
                    <a:solidFill>
                      <a:srgbClr val="F3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24"/>
                          </a:solidFill>
                          <a:latin typeface="Consolas"/>
                        </a:rPr>
                        <a:t>--gpu-memory-utilization</a:t>
                      </a:r>
                    </a:p>
                  </a:txBody>
                  <a:tcPr marL="109728" marR="109728" anchor="ctr">
                    <a:solidFill>
                      <a:srgbClr val="F3F3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1F24"/>
                          </a:solidFill>
                          <a:latin typeface="Arial"/>
                        </a:rPr>
                        <a:t>Connections in use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1F24"/>
                          </a:solidFill>
                          <a:latin typeface="Arial"/>
                        </a:rPr>
                        <a:t>KV cache usage %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1F24"/>
                          </a:solidFill>
                          <a:latin typeface="Arial"/>
                        </a:rPr>
                        <a:t>Waiting for a connection</a:t>
                      </a:r>
                    </a:p>
                  </a:txBody>
                  <a:tcPr marL="109728" marR="109728" anchor="ctr">
                    <a:solidFill>
                      <a:srgbClr val="F3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1F24"/>
                          </a:solidFill>
                          <a:latin typeface="Arial"/>
                        </a:rPr>
                        <a:t>Requests waiting</a:t>
                      </a:r>
                    </a:p>
                  </a:txBody>
                  <a:tcPr marL="109728" marR="109728" anchor="ctr">
                    <a:solidFill>
                      <a:srgbClr val="F3F3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1F24"/>
                          </a:solidFill>
                          <a:latin typeface="Arial"/>
                        </a:rPr>
                        <a:t>Latency climbs, CPU looks fine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1F24"/>
                          </a:solidFill>
                          <a:latin typeface="Arial"/>
                        </a:rPr>
                        <a:t>Time to first token climbs, GPU memory flat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991346"/>
                </a:solidFill>
                <a:latin typeface="Arial"/>
              </a:rPr>
              <a:t>vLLM tells you how full it is, every 10 seconds, in its log.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76"/>
                </a:solidFill>
                <a:latin typeface="Arial"/>
              </a:rPr>
              <a:t>Intro structure inspired by Jimmy Song, jimmysong.io/blog/gpu-to-token-observability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6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26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6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26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26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26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26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6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26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6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26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26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26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6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5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3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3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53" presetClass="entr" presetSubtype="16" fill="hold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53" presetClass="entr" presetSubtype="16" fill="hold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53" presetClass="entr" presetSubtype="16" fill="hold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3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3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1887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4C2D4"/>
                </a:solidFill>
                <a:latin typeface="Arial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 i="0">
                <a:solidFill>
                  <a:srgbClr val="FFFFFF"/>
                </a:solidFill>
                <a:latin typeface="Arial"/>
              </a:rPr>
              <a:t>Is 8% too low? Is 90% too high?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566160"/>
            <a:ext cx="2377440" cy="82296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237744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1  GPU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3566160"/>
            <a:ext cx="3657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0" i="0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3566160"/>
            <a:ext cx="2377440" cy="82296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237744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2  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3566160"/>
            <a:ext cx="3657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0" i="0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566160"/>
            <a:ext cx="2377440" cy="82296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3566160"/>
            <a:ext cx="237744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3  Trace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566160"/>
            <a:ext cx="3657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0" i="0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3566160"/>
            <a:ext cx="2377440" cy="82296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3566160"/>
            <a:ext cx="237744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4 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463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FFFFFF"/>
                </a:solidFill>
                <a:latin typeface="Arial"/>
              </a:rPr>
              <a:t>Two vLLM pods  ·  same model  ·  same GPU type  ·  same traffic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0"/>
            <a:ext cx="9144000" cy="96926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Backup: what screen 4 showed (recorded 16 Oct)</a:t>
            </a:r>
          </a:p>
        </p:txBody>
      </p:sp>
      <p:pic>
        <p:nvPicPr>
          <p:cNvPr id="3" name="Picture 2" descr="backup-screen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1143000"/>
            <a:ext cx="9981349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76"/>
                </a:solidFill>
                <a:latin typeface="Arial"/>
              </a:rPr>
              <a:t>Hidden slide. Only if the rig is down AND the video will not play.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0"/>
            <a:ext cx="9144000" cy="96926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What broke while we built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1">
                <a:solidFill>
                  <a:srgbClr val="991346"/>
                </a:solidFill>
                <a:latin typeface="Arial"/>
              </a:rPr>
              <a:t>Our first load test didn't stress anything.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51760" y="182880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6B6B76"/>
                </a:solidFill>
                <a:latin typeface="Arial"/>
              </a:rPr>
              <a:t>What we saw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86600" y="182880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6B6B76"/>
                </a:solidFill>
                <a:latin typeface="Arial"/>
              </a:rPr>
              <a:t>What we learned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11109960" cy="118872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182880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991346"/>
                </a:solidFill>
                <a:latin typeface="Arial"/>
              </a:rPr>
              <a:t>Prefix caching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2240280"/>
            <a:ext cx="420624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F1F24"/>
                </a:solidFill>
                <a:latin typeface="Arial"/>
              </a:rPr>
              <a:t>Identical prompts. vLLM shared the cache between them, so nothing filled 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240280"/>
            <a:ext cx="443484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F1F24"/>
                </a:solidFill>
                <a:latin typeface="Arial"/>
              </a:rPr>
              <a:t>A unique prefix on every prompt. A load test with repeated prompts is lying to you.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66160"/>
            <a:ext cx="111099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566160"/>
            <a:ext cx="182880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991346"/>
                </a:solidFill>
                <a:latin typeface="Arial"/>
              </a:rPr>
              <a:t>Cardinality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3566160"/>
            <a:ext cx="420624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F1F24"/>
                </a:solidFill>
                <a:latin typeface="Arial"/>
              </a:rPr>
              <a:t>The pod name on every GPU metric: 14 series live, 56 after 3 rollouts.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3566160"/>
            <a:ext cx="443484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F1F24"/>
                </a:solidFill>
                <a:latin typeface="Arial"/>
              </a:rPr>
              <a:t>Every restart mints a new set of series. Budget retention for pod churn.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92040"/>
            <a:ext cx="11109960" cy="1188720"/>
          </a:xfrm>
          <a:prstGeom prst="roundRect">
            <a:avLst>
              <a:gd name="adj" fmla="val 8000"/>
            </a:avLst>
          </a:prstGeom>
          <a:solidFill>
            <a:srgbClr val="F3F3F5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892040"/>
            <a:ext cx="182880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991346"/>
                </a:solidFill>
                <a:latin typeface="Arial"/>
              </a:rPr>
              <a:t>An unfair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4892040"/>
            <a:ext cx="420624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F1F24"/>
                </a:solidFill>
                <a:latin typeface="Arial"/>
              </a:rPr>
              <a:t>More traffic to one pod: 12 s vs 0.13 s. Too good to be true.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4892040"/>
            <a:ext cx="443484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F1F24"/>
                </a:solidFill>
                <a:latin typeface="Arial"/>
              </a:rPr>
              <a:t>Same traffic to both: 5.9 s vs 0.08 s to the first token. Test with your own traffic.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0"/>
            <a:ext cx="9144000" cy="96926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Who voted both? You were right.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544068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8100">
            <a:solidFill>
              <a:srgbClr val="D72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D7263D"/>
                </a:solidFill>
                <a:latin typeface="Arial"/>
              </a:rPr>
              <a:t>Pod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2377440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>
                <a:solidFill>
                  <a:srgbClr val="D7263D"/>
                </a:solidFill>
                <a:latin typeface="Arial"/>
              </a:rPr>
              <a:t>8%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2377440"/>
            <a:ext cx="2423160" cy="777240"/>
          </a:xfrm>
          <a:prstGeom prst="roundRect">
            <a:avLst>
              <a:gd name="adj" fmla="val 15000"/>
            </a:avLst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0" y="2377440"/>
            <a:ext cx="242316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Too small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484632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1F1F24"/>
                </a:solidFill>
                <a:latin typeface="Arial"/>
              </a:rPr>
              <a:t>KV cache hit 100%. New requests waited 5.9 s for the first token.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44068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8100">
            <a:solidFill>
              <a:srgbClr val="2F6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F6FDB"/>
                </a:solidFill>
                <a:latin typeface="Arial"/>
              </a:rPr>
              <a:t>Pod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2377440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>
                <a:solidFill>
                  <a:srgbClr val="2F6FDB"/>
                </a:solidFill>
                <a:latin typeface="Arial"/>
              </a:rPr>
              <a:t>90%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2377440"/>
            <a:ext cx="2423160" cy="777240"/>
          </a:xfrm>
          <a:prstGeom prst="roundRect">
            <a:avLst>
              <a:gd name="adj" fmla="val 15000"/>
            </a:avLst>
          </a:prstGeom>
          <a:solidFill>
            <a:srgbClr val="2F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15400" y="2377440"/>
            <a:ext cx="242316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Too big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474720"/>
            <a:ext cx="484632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1F1F24"/>
                </a:solidFill>
                <a:latin typeface="Arial"/>
              </a:rPr>
              <a:t>KV cache peaked near 30%. 20.6 GB held, mostly empty.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83480"/>
            <a:ext cx="1106424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F1F24"/>
                </a:solidFill>
                <a:latin typeface="Arial"/>
              </a:rPr>
              <a:t>GPU memory can't tell you an inference server is in trouble. </a:t>
            </a:r>
            <a:r>
              <a:rPr sz="2800" b="1" i="0">
                <a:solidFill>
                  <a:srgbClr val="991346"/>
                </a:solidFill>
                <a:latin typeface="Arial"/>
              </a:rPr>
              <a:t>Read the server's own signal.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0"/>
            <a:ext cx="9144000" cy="96926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Three lines of config, one join key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6B6B76"/>
                </a:solidFill>
                <a:latin typeface="Arial"/>
              </a:rPr>
              <a:t>Each signal carries the pod name, so one dashboard can line them up.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64008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28016" cy="1325880"/>
          </a:xfrm>
          <a:prstGeom prst="rect">
            <a:avLst/>
          </a:prstGeom>
          <a:solidFill>
            <a:srgbClr val="33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F1F24"/>
                </a:solidFill>
                <a:latin typeface="Arial"/>
              </a:rPr>
              <a:t>dcgm-exporter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41448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B6B76"/>
                </a:solidFill>
                <a:latin typeface="Arial"/>
              </a:rPr>
              <a:t>GPU metrics  →  pod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892807"/>
            <a:ext cx="3566160" cy="1106424"/>
          </a:xfrm>
          <a:prstGeom prst="roundRect">
            <a:avLst>
              <a:gd name="adj" fmla="val 5000"/>
            </a:avLst>
          </a:prstGeom>
          <a:solidFill>
            <a:srgbClr val="F1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892807"/>
            <a:ext cx="3429000" cy="110642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24"/>
                </a:solidFill>
                <a:latin typeface="Consolas"/>
              </a:rPr>
              <a:t>--kubernetes=true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040880" y="2446020"/>
            <a:ext cx="1417320" cy="1120139"/>
          </a:xfrm>
          <a:prstGeom prst="line">
            <a:avLst/>
          </a:prstGeom>
          <a:ln w="38100">
            <a:solidFill>
              <a:srgbClr val="33333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3291839"/>
            <a:ext cx="64008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91839"/>
            <a:ext cx="128016" cy="1325880"/>
          </a:xfrm>
          <a:prstGeom prst="rect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F1F24"/>
                </a:solidFill>
                <a:latin typeface="Arial"/>
              </a:rPr>
              <a:t>Fluent 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50207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B6B76"/>
                </a:solidFill>
                <a:latin typeface="Arial"/>
              </a:rPr>
              <a:t>vLLM log  →  KV cache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3401568"/>
            <a:ext cx="3566160" cy="1106424"/>
          </a:xfrm>
          <a:prstGeom prst="roundRect">
            <a:avLst>
              <a:gd name="adj" fmla="val 5000"/>
            </a:avLst>
          </a:prstGeom>
          <a:solidFill>
            <a:srgbClr val="F1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3401568"/>
            <a:ext cx="3429000" cy="110642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24"/>
                </a:solidFill>
                <a:latin typeface="Consolas"/>
              </a:rPr>
              <a:t>string.match(line,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24"/>
                </a:solidFill>
                <a:latin typeface="Consolas"/>
              </a:rPr>
              <a:t>  "KV cache usage:%s*([%d%.]+)%%")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040880" y="3954779"/>
            <a:ext cx="1417320" cy="22860"/>
          </a:xfrm>
          <a:prstGeom prst="line">
            <a:avLst/>
          </a:prstGeom>
          <a:ln w="38100">
            <a:solidFill>
              <a:srgbClr val="E887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48640" y="4800600"/>
            <a:ext cx="64008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800600"/>
            <a:ext cx="128016" cy="1325880"/>
          </a:xfrm>
          <a:prstGeom prst="rect">
            <a:avLst/>
          </a:prstGeom>
          <a:solidFill>
            <a:srgbClr val="7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98348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F1F24"/>
                </a:solidFill>
                <a:latin typeface="Arial"/>
              </a:rPr>
              <a:t>OTel Collector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58968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B6B76"/>
                </a:solidFill>
                <a:latin typeface="Arial"/>
              </a:rPr>
              <a:t>traces  →  pod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6120" y="4910328"/>
            <a:ext cx="3566160" cy="1106424"/>
          </a:xfrm>
          <a:prstGeom prst="roundRect">
            <a:avLst>
              <a:gd name="adj" fmla="val 5000"/>
            </a:avLst>
          </a:prstGeom>
          <a:solidFill>
            <a:srgbClr val="F1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910328"/>
            <a:ext cx="3429000" cy="110642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24"/>
                </a:solidFill>
                <a:latin typeface="Consolas"/>
              </a:rPr>
              <a:t>k8sattributes: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24"/>
                </a:solidFill>
                <a:latin typeface="Consolas"/>
              </a:rPr>
              <a:t>  extract: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24"/>
                </a:solidFill>
                <a:latin typeface="Consolas"/>
              </a:rPr>
              <a:t>    metadata: [k8s.pod.name]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7040880" y="4389120"/>
            <a:ext cx="1417320" cy="1074420"/>
          </a:xfrm>
          <a:prstGeom prst="line">
            <a:avLst/>
          </a:prstGeom>
          <a:ln w="38100">
            <a:solidFill>
              <a:srgbClr val="7B4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503920" y="3063239"/>
            <a:ext cx="1828800" cy="1828800"/>
          </a:xfrm>
          <a:prstGeom prst="ellipse">
            <a:avLst/>
          </a:prstGeom>
          <a:solidFill>
            <a:srgbClr val="991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0" y="3520439"/>
            <a:ext cx="18288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pod 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4023359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Consolas"/>
              </a:rPr>
              <a:t>k8s.pod.name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5029200"/>
            <a:ext cx="29260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 i="0">
                <a:solidFill>
                  <a:srgbClr val="1F1F24"/>
                </a:solidFill>
                <a:latin typeface="Arial"/>
              </a:rPr>
              <a:t>GPU, log and trace for the same pod, on one screen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0"/>
            <a:ext cx="9144000" cy="96926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Size it from peak KV cache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6B6B76"/>
                </a:solidFill>
                <a:latin typeface="Arial"/>
              </a:rPr>
              <a:t>Peak KV cache usage, under your own traffic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514600"/>
            <a:ext cx="4425696" cy="777240"/>
          </a:xfrm>
          <a:prstGeom prst="rect">
            <a:avLst/>
          </a:prstGeom>
          <a:solidFill>
            <a:srgbClr val="AFC6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333756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B6B76"/>
                </a:solidFill>
                <a:latin typeface="Arial"/>
              </a:rPr>
              <a:t>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49039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F1F24"/>
                </a:solidFill>
                <a:latin typeface="Arial"/>
              </a:rPr>
              <a:t>Below 40%: too big</a:t>
            </a:r>
          </a:p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F1F24"/>
                </a:solidFill>
                <a:latin typeface="Arial"/>
              </a:rPr>
              <a:t>Memory you reserved and never 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974336" y="2514600"/>
            <a:ext cx="5532120" cy="777240"/>
          </a:xfrm>
          <a:prstGeom prst="rect">
            <a:avLst/>
          </a:prstGeom>
          <a:solidFill>
            <a:srgbClr val="A8DDB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0016" y="333756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6B6B76"/>
                </a:solidFill>
                <a:latin typeface="Arial"/>
              </a:rPr>
              <a:t>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11496" y="3749039"/>
            <a:ext cx="38404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F1F24"/>
                </a:solidFill>
                <a:latin typeface="Arial"/>
              </a:rPr>
              <a:t>40 to 90%: about right</a:t>
            </a:r>
          </a:p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F1F24"/>
                </a:solidFill>
                <a:latin typeface="Arial"/>
              </a:rPr>
              <a:t>Headroom for a burst.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06456" y="2514600"/>
            <a:ext cx="1106423" cy="777240"/>
          </a:xfrm>
          <a:prstGeom prst="rect">
            <a:avLst/>
          </a:prstGeom>
          <a:solidFill>
            <a:srgbClr val="F2A7B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32136" y="333756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6B6B76"/>
                </a:solidFill>
                <a:latin typeface="Arial"/>
              </a:rPr>
              <a:t>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749039"/>
            <a:ext cx="32918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1700" b="1" i="0">
                <a:solidFill>
                  <a:srgbClr val="1F1F24"/>
                </a:solidFill>
                <a:latin typeface="Arial"/>
              </a:rPr>
              <a:t>Above 90%: too small</a:t>
            </a:r>
          </a:p>
          <a:p>
            <a:pPr algn="r">
              <a:lnSpc>
                <a:spcPct val="110000"/>
              </a:lnSpc>
            </a:pPr>
            <a:r>
              <a:rPr sz="1700" b="0" i="0">
                <a:solidFill>
                  <a:srgbClr val="1F1F24"/>
                </a:solidFill>
                <a:latin typeface="Arial"/>
              </a:rPr>
              <a:t>Requests start to queue.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18519" y="333756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1300" b="0" i="0">
                <a:solidFill>
                  <a:srgbClr val="6B6B76"/>
                </a:solidFill>
                <a:latin typeface="Arial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1691640"/>
            <a:ext cx="38404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1700" b="1" i="0">
                <a:solidFill>
                  <a:srgbClr val="D7263D"/>
                </a:solidFill>
                <a:latin typeface="Arial"/>
              </a:rPr>
              <a:t>Pod A (8%): peak 100%</a:t>
            </a:r>
          </a:p>
        </p:txBody>
      </p:sp>
      <p:sp>
        <p:nvSpPr>
          <p:cNvPr id="15" name="Isosceles Triangle 14"/>
          <p:cNvSpPr/>
          <p:nvPr/>
        </p:nvSpPr>
        <p:spPr>
          <a:xfrm rot="10800000">
            <a:off x="11384280" y="2121408"/>
            <a:ext cx="310896" cy="329184"/>
          </a:xfrm>
          <a:prstGeom prst="triangl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1" y="1691640"/>
            <a:ext cx="38404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1" i="0">
                <a:solidFill>
                  <a:srgbClr val="2F6FDB"/>
                </a:solidFill>
                <a:latin typeface="Arial"/>
              </a:rPr>
              <a:t>Pod B (90%): peak about 30%</a:t>
            </a:r>
          </a:p>
        </p:txBody>
      </p:sp>
      <p:sp>
        <p:nvSpPr>
          <p:cNvPr id="17" name="Isosceles Triangle 16"/>
          <p:cNvSpPr/>
          <p:nvPr/>
        </p:nvSpPr>
        <p:spPr>
          <a:xfrm rot="10800000">
            <a:off x="3712463" y="2121408"/>
            <a:ext cx="310896" cy="329184"/>
          </a:xfrm>
          <a:prstGeom prst="triangle">
            <a:avLst/>
          </a:prstGeom>
          <a:solidFill>
            <a:srgbClr val="2F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754880"/>
            <a:ext cx="93268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1F24"/>
                </a:solidFill>
                <a:latin typeface="Arial"/>
              </a:rPr>
              <a:t>Rule of thumb, ours, not vLLM's.</a:t>
            </a:r>
          </a:p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1F1F24"/>
                </a:solidFill>
                <a:latin typeface="Arial"/>
              </a:rPr>
              <a:t>Measure peak KV cache. Change </a:t>
            </a:r>
            <a:r>
              <a:rPr sz="1600" b="0" i="0">
                <a:solidFill>
                  <a:srgbClr val="1F1F24"/>
                </a:solidFill>
                <a:latin typeface="Consolas"/>
              </a:rPr>
              <a:t>--gpu-memory-utilization</a:t>
            </a:r>
            <a:r>
              <a:rPr sz="1800" b="0" i="0">
                <a:solidFill>
                  <a:srgbClr val="1F1F24"/>
                </a:solidFill>
                <a:latin typeface="Arial"/>
              </a:rPr>
              <a:t>. Measure again.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760720"/>
            <a:ext cx="89611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991346"/>
                </a:solidFill>
                <a:latin typeface="Consolas"/>
              </a:rPr>
              <a:t>github.com/danilosilvase/gpu-observability-kubecon-na-2026</a:t>
            </a:r>
          </a:p>
        </p:txBody>
      </p:sp>
      <p:pic>
        <p:nvPicPr>
          <p:cNvPr id="20" name="Picture 19" descr="qr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526280"/>
            <a:ext cx="1508760" cy="1508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92640" y="6053328"/>
            <a:ext cx="2331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1F1F24"/>
                </a:solidFill>
                <a:latin typeface="Arial"/>
              </a:rPr>
              <a:t>All configs, deployable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188720"/>
            <a:ext cx="694944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 i="0">
                <a:solidFill>
                  <a:srgbClr val="FFFFFF"/>
                </a:solidFill>
                <a:latin typeface="Arial"/>
              </a:rP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694944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Arial"/>
              </a:rPr>
              <a:t>Henrique Santana, Principal Cloud Engineer, AWS</a:t>
            </a:r>
          </a:p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Arial"/>
              </a:rPr>
              <a:t>Danilo Silva, Senior Delivery Consultant, 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0"/>
            <a:ext cx="6949440" cy="1645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Original idea: </a:t>
            </a:r>
            <a:r>
              <a:rPr sz="1500" b="0" i="0">
                <a:solidFill>
                  <a:srgbClr val="FFFFFF"/>
                </a:solidFill>
                <a:latin typeface="Arial"/>
              </a:rPr>
              <a:t>[original author]</a:t>
            </a:r>
          </a:p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Further reading: </a:t>
            </a:r>
            <a:r>
              <a:rPr sz="1500" b="0" i="0">
                <a:solidFill>
                  <a:srgbClr val="FFFFFF"/>
                </a:solidFill>
                <a:latin typeface="Arial"/>
              </a:rPr>
              <a:t>jimmysong.io/blog/gpu-to-token-observability</a:t>
            </a:r>
          </a:p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Repo: </a:t>
            </a:r>
            <a:r>
              <a:rPr sz="1500" b="0" i="0">
                <a:solidFill>
                  <a:srgbClr val="FFFFFF"/>
                </a:solidFill>
                <a:latin typeface="Arial"/>
              </a:rPr>
              <a:t>github.com/danilosilvase/gpu-observability-kubecon-na-2026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0" y="2103120"/>
            <a:ext cx="310896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qr-feedback-cn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4192" y="2157984"/>
            <a:ext cx="2912640" cy="2999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53035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Rate this session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2019-07-29T21:37:05Z</dcterms:created>
  <dc:creator>Alex Contini</dc:creator>
</cp:coreProperties>
</file>