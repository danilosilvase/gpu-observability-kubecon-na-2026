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8" r:id="rId7"/>
    <p:sldId id="259" r:id="rId8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</p:sldIdLst>
  <p:sldSz cy="6858000" cx="12192000"/>
  <p:notesSz cx="6858000" cy="9144000"/>
  <p:embeddedFontLst>
    <p:embeddedFont>
      <p:font typeface="Montserrat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g4BA/UZBL+y+GJRU4m7UPD850u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font" Target="fonts/Montserrat-regular.fntdata"/><Relationship Id="rId11" Type="http://schemas.openxmlformats.org/officeDocument/2006/relationships/font" Target="fonts/Montserrat-bold.fntdata"/><Relationship Id="rId12" Type="http://schemas.openxmlformats.org/officeDocument/2006/relationships/font" Target="fonts/Montserrat-italic.fntdata"/><Relationship Id="rId13" Type="http://schemas.openxmlformats.org/officeDocument/2006/relationships/font" Target="fonts/Montserrat-boldItalic.fntdata"/><Relationship Id="rId14" Type="http://customschemas.google.com/relationships/presentationmetadata" Target="metadata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Walk-in slide. Up while people sit down.</a:t>
            </a:r>
          </a:p>
        </p:txBody>
      </p:sp>
      <p:sp>
        <p:nvSpPr>
          <p:cNvPr id="73" name="Google Shape;7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 (0:30) HENRIQUE</a:t>
            </a:r>
          </a:p>
          <a:p>
            <a:r>
              <a:t>- Hi, I'm Henrique; this is Danilo.</a:t>
            </a:r>
          </a:p>
          <a:p>
            <a:r>
              <a:t>- 20 minutes, one question, a live demo, then questions.</a:t>
            </a:r>
          </a:p>
          <a:p>
            <a:r>
              <a:t>- (Danilo: terminal open with demo/load.sh typed, not run. Grafana screen 1 in the next app.)</a:t>
            </a:r>
          </a:p>
        </p:txBody>
      </p:sp>
      <p:sp>
        <p:nvSpPr>
          <p:cNvPr id="77" name="Google Shape;7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0:30 (1:30) HENRIQUE</a:t>
            </a:r>
          </a:p>
          <a:p>
            <a:r>
              <a:t>- Say exactly: "Two vLLM pods. Same model, same GPU type, same traffic. One reserved 8% of GPU memory, the other 90%. Which one is in trouble?"</a:t>
            </a:r>
          </a:p>
          <a:p>
            <a:r>
              <a:t>- Hands up for each option. Count roughly out loud.</a:t>
            </a:r>
          </a:p>
          <a:p>
            <a:r>
              <a:t>- Do NOT reveal. "Hold that. Danilo will answer it live."</a:t>
            </a:r>
          </a:p>
          <a:p>
            <a:r>
              <a:t>- This is a test cluster we built for this talk: say it now.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2:00 (1:30) HENRIQUE</a:t>
            </a:r>
          </a:p>
          <a:p>
            <a:r>
              <a:t>- The four we all watch measure resources. Fine, but none of them sees the server's queue.</a:t>
            </a:r>
          </a:p>
          <a:p>
            <a:r>
              <a:t>- GPU memory: vLLM takes 92% at startup by default. After that it does not move.</a:t>
            </a:r>
          </a:p>
          <a:p>
            <a:r>
              <a:t>- Say: "GPU memory is a setting, not a signal."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3:30 (2:30) HENRIQUE</a:t>
            </a:r>
          </a:p>
          <a:p>
            <a:r>
              <a:t>- Most of that 92% is the KV cache: the server's working memory for requests in flight.</a:t>
            </a:r>
          </a:p>
          <a:p>
            <a:r>
              <a:t>- Think connection pool: you set its size, requests hold a slot, when it is full new ones wait. Latency climbs, nothing else looks wrong.</a:t>
            </a:r>
          </a:p>
          <a:p>
            <a:r>
              <a:t>- vLLM prints how full it is every 10 s in a log line you already ship.</a:t>
            </a:r>
          </a:p>
          <a:p>
            <a:r>
              <a:t>- No pod named here: the demo answers the vote.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6:00 (9:00) HENRIQUE hands over: "Danilo, which one is in trouble?"</a:t>
            </a:r>
          </a:p>
          <a:p>
            <a:r>
              <a:t>DANILO</a:t>
            </a:r>
          </a:p>
          <a:p>
            <a:r>
              <a:t>- Cmd+Tab to Grafana screen 1. Terminal has demo/load.sh typed.</a:t>
            </a:r>
          </a:p>
          <a:p>
            <a:r>
              <a:t>- Script: DEMO-SCRIPT.md. Same strip on every screen: 1 GPU &gt; 2 Log &gt; 3 Trace &gt; 4 Answer.</a:t>
            </a:r>
          </a:p>
          <a:p>
            <a:r>
              <a:t>- Rig dead? Clean video (gpu-obs-demo-v8-clean.mp4) on this laptop, Space to pause, keep the same lines.</a:t>
            </a:r>
          </a:p>
          <a:p>
            <a:r>
              <a:t>- Out: after screen 4, Cmd+Tab back here and advance to slide 4.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HIDDEN. Red (8%): memory-constrained, 2.0 GB, 100% KV, 5.9 s to first token. Blue (90%): over-provisioned, 20.6 GB, 30%, 80 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15:00 (2:30) HENRIQUE</a:t>
            </a:r>
          </a:p>
          <a:p>
            <a:r>
              <a:t>- Open: "Our first load test didn't stress anything." It took unique prompts to make it struggle, and the GPU dashboard never noticed either way.</a:t>
            </a:r>
          </a:p>
          <a:p>
            <a:r>
              <a:t>- Cardinality: promised in the abstract. 14 live, 56 after 3 rollouts.</a:t>
            </a:r>
          </a:p>
          <a:p>
            <a:r>
              <a:t>- CUT RULE: if this slide starts after 16:30, skip "An unfair test".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17:30 (1:30) HENRIQUE</a:t>
            </a:r>
          </a:p>
          <a:p>
            <a:r>
              <a:t>- Say: "Who voted both? You were right."</a:t>
            </a:r>
          </a:p>
          <a:p>
            <a:r>
              <a:t>- Takeaway line, word for word.</a:t>
            </a:r>
          </a:p>
          <a:p>
            <a:r>
              <a:t>- Three lines of config, one per tool. Everything else is in the repo (QR).</a:t>
            </a:r>
          </a:p>
          <a:p>
            <a:r>
              <a:t>- Rule of thumb: say it is ours.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19:00 (6:00) BOTH</a:t>
            </a:r>
          </a:p>
          <a:p>
            <a:r>
              <a:t>- Leave this up for all of Q&amp;A (feedback QR).</a:t>
            </a:r>
          </a:p>
          <a:p>
            <a:r>
              <a:t>- Q&amp;A backups: deep-dive dashboard gpu-inference-deep (cardinality panel), hidden backup slide.</a:t>
            </a:r>
          </a:p>
          <a:p>
            <a:r>
              <a:t>- TODO before the talk: replace [original author].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Slide">
  <p:cSld name="2_Title Slide">
    <p:bg>
      <p:bgPr>
        <a:solidFill>
          <a:srgbClr val="991346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03927" y="278179"/>
            <a:ext cx="9384146" cy="6098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solidFill>
          <a:srgbClr val="991346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982742" y="-281699"/>
            <a:ext cx="2977544" cy="19350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phical user interface&#10;&#10;Description automatically generated with medium confidence" id="16" name="Google Shape;16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19515" y="1195753"/>
            <a:ext cx="1591131" cy="7054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colorful background with a few rectangles&#10;&#10;Description automatically generated with medium confidence" id="17" name="Google Shape;17;p11"/>
          <p:cNvPicPr preferRelativeResize="0"/>
          <p:nvPr/>
        </p:nvPicPr>
        <p:blipFill rotWithShape="1">
          <a:blip r:embed="rId3">
            <a:alphaModFix/>
          </a:blip>
          <a:srcRect b="84051" l="0" r="0" t="0"/>
          <a:stretch/>
        </p:blipFill>
        <p:spPr>
          <a:xfrm>
            <a:off x="0" y="0"/>
            <a:ext cx="12192000" cy="973013"/>
          </a:xfrm>
          <a:prstGeom prst="rect">
            <a:avLst/>
          </a:prstGeom>
          <a:solidFill>
            <a:srgbClr val="466BB0"/>
          </a:solidFill>
          <a:ln>
            <a:noFill/>
          </a:ln>
        </p:spPr>
      </p:pic>
      <p:sp>
        <p:nvSpPr>
          <p:cNvPr id="18" name="Google Shape;18;p11"/>
          <p:cNvSpPr/>
          <p:nvPr/>
        </p:nvSpPr>
        <p:spPr>
          <a:xfrm>
            <a:off x="0" y="0"/>
            <a:ext cx="12192000" cy="973013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" name="Google Shape;1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08810" y="-360174"/>
            <a:ext cx="2605700" cy="169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bg>
      <p:bgPr>
        <a:solidFill>
          <a:srgbClr val="99134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">
    <p:bg>
      <p:bgPr>
        <a:solidFill>
          <a:srgbClr val="991346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2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4" name="Google Shape;2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88074" y="2724912"/>
            <a:ext cx="5396396" cy="1847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2">
    <p:bg>
      <p:bgPr>
        <a:solidFill>
          <a:srgbClr val="991346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5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8" name="Google Shape;2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66941" y="3001197"/>
            <a:ext cx="6406456" cy="14153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3">
    <p:bg>
      <p:bgPr>
        <a:solidFill>
          <a:srgbClr val="991346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3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" name="Google Shape;32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45628" y="2798064"/>
            <a:ext cx="4700744" cy="186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4">
    <p:bg>
      <p:bgPr>
        <a:solidFill>
          <a:srgbClr val="991346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4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6" name="Google Shape;36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66632" y="2935051"/>
            <a:ext cx="5658736" cy="148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5">
    <p:bg>
      <p:bgPr>
        <a:solidFill>
          <a:srgbClr val="991346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7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52292" y="3053751"/>
            <a:ext cx="5652911" cy="1259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6">
    <p:bg>
      <p:bgPr>
        <a:solidFill>
          <a:srgbClr val="991346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6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6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Sponsors!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4" name="Google Shape;4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33089" y="2338977"/>
            <a:ext cx="2681328" cy="9177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77580" y="2376970"/>
            <a:ext cx="2335677" cy="9268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08578" y="4285905"/>
            <a:ext cx="2811678" cy="736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843" y="4330017"/>
            <a:ext cx="3106371" cy="69209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85737" y="2495115"/>
            <a:ext cx="3191774" cy="705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7">
    <p:bg>
      <p:bgPr>
        <a:solidFill>
          <a:srgbClr val="991346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8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1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45098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SESSION RECORDING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2" name="Google Shape;5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88074" y="2724912"/>
            <a:ext cx="5396396" cy="1847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"/>
          <p:cNvSpPr txBox="1"/>
          <p:nvPr/>
        </p:nvSpPr>
        <p:spPr>
          <a:xfrm>
            <a:off x="729046" y="393192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b="0" i="1" lang="en-CA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Henrique Santana, Principal Cloud Engineer, AWS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600" i="1">
                <a:solidFill>
                  <a:srgbClr val="FFFFFF"/>
                </a:solidFill>
                <a:latin typeface="Arial"/>
              </a:rPr>
              <a:t>Danilo Silva, Senior Delivery Consultant, AWS</a:t>
            </a:r>
          </a:p>
        </p:txBody>
      </p:sp>
      <p:sp>
        <p:nvSpPr>
          <p:cNvPr id="80" name="Google Shape;80;p2"/>
          <p:cNvSpPr txBox="1"/>
          <p:nvPr/>
        </p:nvSpPr>
        <p:spPr>
          <a:xfrm>
            <a:off x="627791" y="1371600"/>
            <a:ext cx="10515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Inference Is a Black Box: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3000" b="0">
                <a:solidFill>
                  <a:srgbClr val="FFFFFF"/>
                </a:solidFill>
                <a:latin typeface="Arial"/>
              </a:rPr>
              <a:t>How We Built GPU-Aware Observability with Fluent Bit and OpenTelemetry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Which one is in trouble?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6B6B76"/>
                </a:solidFill>
                <a:latin typeface="Arial"/>
              </a:rPr>
              <a:t>Two vLLM pods. Same model, same GPU type, same traffic.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4068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38528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D7263D"/>
                </a:solidFill>
                <a:latin typeface="Arial"/>
              </a:rPr>
              <a:t>Pod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846320" cy="1234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 i="0">
                <a:solidFill>
                  <a:srgbClr val="D7263D"/>
                </a:solidFill>
                <a:latin typeface="Arial"/>
              </a:rPr>
              <a:t>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F1F24"/>
                </a:solidFill>
                <a:latin typeface="Arial"/>
              </a:rPr>
              <a:t>of GPU memory reserved for vLLM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44068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2F6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F6FDB"/>
                </a:solidFill>
                <a:latin typeface="Arial"/>
              </a:rPr>
              <a:t>Pod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1234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 i="0">
                <a:solidFill>
                  <a:srgbClr val="2F6FDB"/>
                </a:solidFill>
                <a:latin typeface="Arial"/>
              </a:rPr>
              <a:t>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70332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F1F24"/>
                </a:solidFill>
                <a:latin typeface="Arial"/>
              </a:rPr>
              <a:t>of GPU memory reserved for vLLM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Hands up: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214884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5029200"/>
            <a:ext cx="214884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800" y="502920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90%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59" y="5029200"/>
            <a:ext cx="214884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502920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both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19" y="502920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502920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can't tell from 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GPU memory is a setting, not a signal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how busy the cores 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RAM the container uses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bytes in and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Disk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reads and writes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778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1">
                <a:solidFill>
                  <a:srgbClr val="6B6B76"/>
                </a:solidFill>
                <a:latin typeface="Arial"/>
              </a:rPr>
              <a:t>Node and container resources. None of them sees the server's queue.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9913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8360" y="1920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GPU memory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2423160"/>
            <a:ext cx="1600200" cy="685800"/>
          </a:xfrm>
          <a:prstGeom prst="rect">
            <a:avLst/>
          </a:prstGeom>
          <a:solidFill>
            <a:srgbClr val="F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829800" y="2514600"/>
            <a:ext cx="1600200" cy="0"/>
          </a:xfrm>
          <a:prstGeom prst="line">
            <a:avLst/>
          </a:prstGeom>
          <a:ln w="50800">
            <a:solidFill>
              <a:srgbClr val="991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875520" y="2578608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991346"/>
                </a:solidFill>
                <a:latin typeface="Arial"/>
              </a:rPr>
              <a:t>92%, flat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127248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F1F24"/>
                </a:solidFill>
                <a:latin typeface="Arial"/>
              </a:rPr>
              <a:t>set at startup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4340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vLLM reserves 92% of GPU memory when it starts. </a:t>
            </a:r>
            <a:r>
              <a:rPr sz="2400" b="0" i="0">
                <a:solidFill>
                  <a:srgbClr val="1F1F24"/>
                </a:solidFill>
                <a:latin typeface="Arial"/>
              </a:rPr>
              <a:t>Busy or idle, that number stays put. So the chart we page on can't tell a struggling server from a quiet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76"/>
                </a:solidFill>
                <a:latin typeface="Arial"/>
              </a:rPr>
              <a:t>vLLM default: gpu_memory_utilization = 0.92 (vllm/config/cache.py, vLLM main, Oct 2026)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What runs out first: room for requests in flight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One GPU, as vLLM uses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097280" cy="822960"/>
          </a:xfrm>
          <a:prstGeom prst="rect">
            <a:avLst/>
          </a:prstGeom>
          <a:solidFill>
            <a:srgbClr val="33333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weights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19" y="1737360"/>
            <a:ext cx="3108960" cy="822960"/>
          </a:xfrm>
          <a:prstGeom prst="rect">
            <a:avLst/>
          </a:prstGeom>
          <a:solidFill>
            <a:srgbClr val="991346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19" y="1737360"/>
            <a:ext cx="3108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KV cache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737360"/>
            <a:ext cx="822960" cy="822960"/>
          </a:xfrm>
          <a:prstGeom prst="rect">
            <a:avLst/>
          </a:prstGeom>
          <a:solidFill>
            <a:srgbClr val="D5D5D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73736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1F1F24"/>
                </a:solidFill>
                <a:latin typeface="Arial"/>
              </a:rPr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room for requests in flight. Its size is set by --gpu-memory-utilization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It behaves like a connection pool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630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774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all slots in use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3337560" y="4224528"/>
            <a:ext cx="320040" cy="0"/>
          </a:xfrm>
          <a:prstGeom prst="line">
            <a:avLst/>
          </a:prstGeom>
          <a:ln w="31750">
            <a:solidFill>
              <a:srgbClr val="6B6B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3794760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78808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62856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30952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452628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waiting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72200" y="205740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306324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Connection pool</a:t>
                      </a:r>
                    </a:p>
                  </a:txBody>
                  <a:tcPr marL="109728" marR="109728" anchor="ctr"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vLLM KV cache</a:t>
                      </a:r>
                    </a:p>
                  </a:txBody>
                  <a:tcPr marL="109728" marR="109728" anchor="ctr">
                    <a:solidFill>
                      <a:srgbClr val="9913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Pool size: you set it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24"/>
                          </a:solidFill>
                          <a:latin typeface="Consolas"/>
                        </a:rPr>
                        <a:t>--gpu-memory-utilization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Connections in use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KV cache usage 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Waiting for a connection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Requests waiting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Latency climbs, CPU looks fine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Time to first token climbs, GPU memory flat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991346"/>
                </a:solidFill>
                <a:latin typeface="Arial"/>
              </a:rPr>
              <a:t>vLLM tells you how full it is, every 10 seconds, in its log.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76"/>
                </a:solidFill>
                <a:latin typeface="Arial"/>
              </a:rPr>
              <a:t>Intro structure inspired by Jimmy Song, jimmysong.io/blog/gpu-to-token-observability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4C2D4"/>
                </a:solidFill>
                <a:latin typeface="Arial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Is 8% too low? Is 90% too high?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1  GPU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566160"/>
            <a:ext cx="365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2 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566160"/>
            <a:ext cx="365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3  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566160"/>
            <a:ext cx="365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4 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FFFFFF"/>
                </a:solidFill>
                <a:latin typeface="Arial"/>
              </a:rPr>
              <a:t>Two vLLM pods  ·  same model  ·  same GPU type  ·  same traffic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Backup: what screen 4 showed (recorded 16 Oct)</a:t>
            </a:r>
          </a:p>
        </p:txBody>
      </p:sp>
      <p:pic>
        <p:nvPicPr>
          <p:cNvPr id="3" name="Picture 2" descr="backup-screen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143000"/>
            <a:ext cx="9981349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76"/>
                </a:solidFill>
                <a:latin typeface="Arial"/>
              </a:rPr>
              <a:t>Hidden slide. Only if the rig is down AND the video will not play.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What broke while we built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1">
                <a:solidFill>
                  <a:srgbClr val="991346"/>
                </a:solidFill>
                <a:latin typeface="Arial"/>
              </a:rPr>
              <a:t>Our first load test didn't stress anything.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1760" y="18288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B6B76"/>
                </a:solidFill>
                <a:latin typeface="Arial"/>
              </a:rPr>
              <a:t>What we saw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1828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B6B76"/>
                </a:solidFill>
                <a:latin typeface="Arial"/>
              </a:rPr>
              <a:t>What we learned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8288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Prefix caching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240280"/>
            <a:ext cx="42062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Identical prompts. vLLM shared the cache between them, so nothing filled 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240280"/>
            <a:ext cx="44348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A unique prefix on every prompt. A load test with repeated prompts is lying to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18288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Cardinality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566160"/>
            <a:ext cx="42062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The pod name on every GPU metric: 14 series live, 56 after 3 rollouts.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566160"/>
            <a:ext cx="44348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Every restart mints a new set of series. Budget retention for pod churn.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9204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92040"/>
            <a:ext cx="18288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An unfair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892040"/>
            <a:ext cx="42062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More traffic to one pod: 12 s vs 0.13 s. Too good to be true.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892040"/>
            <a:ext cx="44348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Same traffic to both: 5.9 s vs 0.08 s to the first token. Test with your own traffic.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Take this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991346"/>
                </a:solidFill>
                <a:latin typeface="Arial"/>
              </a:rPr>
              <a:t>Who voted both? You were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93268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F1F24"/>
                </a:solidFill>
                <a:latin typeface="Arial"/>
              </a:rPr>
              <a:t>GPU memory can't tell you an inference server is in trouble. Read the server's own 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0175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2743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dcgm-exporter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B6B76"/>
                </a:solidFill>
                <a:latin typeface="Arial"/>
              </a:rPr>
              <a:t>GPU  → 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657600"/>
            <a:ext cx="2798064" cy="1188720"/>
          </a:xfrm>
          <a:prstGeom prst="roundRect">
            <a:avLst>
              <a:gd name="adj" fmla="val 5000"/>
            </a:avLst>
          </a:prstGeom>
          <a:solidFill>
            <a:srgbClr val="F1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703320"/>
            <a:ext cx="2724912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1F24"/>
                </a:solidFill>
                <a:latin typeface="Consolas"/>
              </a:rPr>
              <a:t>--kubernetes=true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743200"/>
            <a:ext cx="30175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834640"/>
            <a:ext cx="2743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Fluent 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46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B6B76"/>
                </a:solidFill>
                <a:latin typeface="Arial"/>
              </a:rPr>
              <a:t>log line  →  KV cache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3048" y="3657600"/>
            <a:ext cx="2798064" cy="1188720"/>
          </a:xfrm>
          <a:prstGeom prst="roundRect">
            <a:avLst>
              <a:gd name="adj" fmla="val 5000"/>
            </a:avLst>
          </a:prstGeom>
          <a:solidFill>
            <a:srgbClr val="F1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58768" y="3703320"/>
            <a:ext cx="2724912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1F24"/>
                </a:solidFill>
                <a:latin typeface="Consolas"/>
              </a:rPr>
              <a:t>string.match(line,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1F24"/>
                </a:solidFill>
                <a:latin typeface="Consolas"/>
              </a:rPr>
              <a:t>"KV cache usage:%s*([%d%.]+)%%")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743200"/>
            <a:ext cx="30175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2834640"/>
            <a:ext cx="2743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OTel Collector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246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B6B76"/>
                </a:solidFill>
                <a:latin typeface="Arial"/>
              </a:rPr>
              <a:t>trace  →  pod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67728" y="3657600"/>
            <a:ext cx="2798064" cy="1188720"/>
          </a:xfrm>
          <a:prstGeom prst="roundRect">
            <a:avLst>
              <a:gd name="adj" fmla="val 5000"/>
            </a:avLst>
          </a:prstGeom>
          <a:solidFill>
            <a:srgbClr val="F1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3448" y="3703320"/>
            <a:ext cx="2724912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1F24"/>
                </a:solidFill>
                <a:latin typeface="Consolas"/>
              </a:rPr>
              <a:t>k8sattributes: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1F24"/>
                </a:solidFill>
                <a:latin typeface="Consolas"/>
              </a:rPr>
              <a:t>  extract: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1F24"/>
                </a:solidFill>
                <a:latin typeface="Consolas"/>
              </a:rPr>
              <a:t>    metadata: [k8s.pod.name]</a:t>
            </a:r>
          </a:p>
        </p:txBody>
      </p:sp>
      <p:pic>
        <p:nvPicPr>
          <p:cNvPr id="20" name="Picture 19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743200"/>
            <a:ext cx="1554480" cy="1554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012680" y="4343400"/>
            <a:ext cx="20116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1F1F24"/>
                </a:solidFill>
                <a:latin typeface="Arial"/>
              </a:rPr>
              <a:t>All configs, deployable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3892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1F24"/>
                </a:solidFill>
                <a:latin typeface="Arial"/>
              </a:rPr>
              <a:t>Rule of thumb (ours, not vLLM's): </a:t>
            </a:r>
            <a:r>
              <a:rPr sz="1700" b="0" i="0">
                <a:solidFill>
                  <a:srgbClr val="1F1F24"/>
                </a:solidFill>
                <a:latin typeface="Arial"/>
              </a:rPr>
              <a:t>peak KV cache under your traffic. Above 90%: too small. Below 40%: too big.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704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991346"/>
                </a:solidFill>
                <a:latin typeface="Consolas"/>
              </a:rPr>
              <a:t>github.com/danilosilvase/gpu-observability-kubecon-na-2026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694944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i="0">
                <a:solidFill>
                  <a:srgbClr val="FFFFFF"/>
                </a:solidFill>
                <a:latin typeface="Arial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69494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Arial"/>
              </a:rPr>
              <a:t>Henrique Santana, Principal Cloud Engineer, AWS</a:t>
            </a:r>
          </a:p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Arial"/>
              </a:rPr>
              <a:t>Danilo Silva, Senior Delivery Consultant,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694944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Original idea: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[original author]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Further reading: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jimmysong.io/blog/gpu-to-token-observability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Repo: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github.com/danilosilvase/gpu-observability-kubecon-na-2026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2103120"/>
            <a:ext cx="310896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r-feedback-cn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192" y="2157984"/>
            <a:ext cx="2912640" cy="2999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53035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Rate this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2019-07-29T21:37:05Z</dcterms:created>
  <dc:creator>Alex Contini</dc:creator>
</cp:coreProperties>
</file>